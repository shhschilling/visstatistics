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75" r:id="rId2"/>
    <p:sldId id="276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73" userDrawn="1">
          <p15:clr>
            <a:srgbClr val="A4A3A4"/>
          </p15:clr>
        </p15:guide>
        <p15:guide id="2" pos="347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2F92"/>
    <a:srgbClr val="C55A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08"/>
    <p:restoredTop sz="79317"/>
  </p:normalViewPr>
  <p:slideViewPr>
    <p:cSldViewPr snapToGrid="0" snapToObjects="1" showGuides="1">
      <p:cViewPr>
        <p:scale>
          <a:sx n="116" d="100"/>
          <a:sy n="116" d="100"/>
        </p:scale>
        <p:origin x="-1016" y="-408"/>
      </p:cViewPr>
      <p:guideLst>
        <p:guide orient="horz" pos="2273"/>
        <p:guide pos="3477"/>
      </p:guideLst>
    </p:cSldViewPr>
  </p:slideViewPr>
  <p:notesTextViewPr>
    <p:cViewPr>
      <p:scale>
        <a:sx n="20" d="100"/>
        <a:sy n="2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ECA108-3915-9043-8428-B4BE4472B821}" type="datetimeFigureOut">
              <a:rPr lang="de-DE" smtClean="0"/>
              <a:t>26.05.26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B21A6D-3249-074E-BBD6-BCFA953678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3666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677AA-2D02-C294-F1F2-EEB3F2EB2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C08177B2-679D-B01E-6976-DA06E15A35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6B5C141-7E16-2F0E-B8F6-2F29BF0126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C38E17-2F54-5C54-9FFF-C56E170153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7B21A6D-3249-074E-BBD6-BCFA95367850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31714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02384-BFA8-41EE-CF88-CE30461BB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082A2CB6-D4A8-4779-F929-ADFAF8AA4B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C754F6E5-99CF-FAA4-2B07-C24DD94D70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88A08EF-1D0A-66F6-DE9C-E8170A7CD2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7B21A6D-3249-074E-BBD6-BCFA95367850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47082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ECEF21-0523-3245-A3FA-5D78C65A5F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75FCB35-54D7-B745-9657-FF74691F5D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3FB4C31-A070-E749-B7E9-CAD5936A1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26.05.26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E4BDDB1-76AF-F240-BE46-91A5D3ACF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5ED5B39-7F00-5F46-862B-911988D34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6349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554BE9-111B-6643-8D26-3DD596FEA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4B77CD3-C0E5-484B-AA36-1FAB6E9417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8AE1DB2-DB10-BF4C-875B-98CAE475B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26.05.26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FA9CC44-0F69-3747-A15E-BACC77796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655398D-D950-0B47-9A96-AABF434F0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11793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EDCAD7-127F-4A49-A00E-1493C9F4F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93E74A8-D7E8-5E47-9B26-F406CD93C6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1EC5F87-4EBC-EC46-BC69-2EA7086C5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26.05.26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6F350A8-A53D-4D41-A2F9-A9AFF938D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818D8E7-39AC-0B46-987D-0950F1CD0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18266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2F7841-3B2B-604F-815C-62EC3AAFD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D4B11C0-B11E-F540-81AE-52BAEDA20D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19245B3-41C8-C343-88E2-BE23F220ED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19DD4A7-C44D-9E43-BF1E-F13205AEE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26.05.26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44D8E9D-4D59-1F45-8E08-61D1A8B65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02EFA05-29DD-0641-A620-7019B4A07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78413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FB19D6-A6D2-AF40-A13C-FA7BE88B6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3ACBB3E-E485-5F42-BEC1-669009E5F8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E955C11-20E8-0348-A806-9CDE1284CE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2D82558-8DBB-944E-BBE0-6A7C6E8343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5F790C5-2F18-8E45-94AA-64F30C096B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BFF6501-64C2-C943-A8E9-C5E1B7491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26.05.26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A95BB371-362A-B645-9C58-F190A3C77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13A6B4C4-5B8D-2241-A404-A2768A846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57205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CCD577-05C9-164F-939D-D883FFD2C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0782072-9B65-E543-BC58-68B5955A0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26.05.26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4A1934E-231F-354D-B826-E7AD8E44F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53B6EAF-2961-3F47-B50E-4F501253E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09639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11E0EEA-87BD-7E4D-BDD1-E816BF786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26.05.26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FA06A65-624C-EA4B-936E-DBCEC9D5E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982C9F7-D6EF-DC40-B7B5-4E48A4586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2319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5B16D9-E2F7-324E-A99A-47378B28E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DB2D12D-5159-294F-8EA7-5F484B3488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C48EA53-C77F-FF44-992C-A85A3C70F2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BCC8764-0DBF-344B-912D-C3453B17B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26.05.26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220CBC3-1569-3744-9FB2-E12E54EAA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850A68D-38F0-CC4E-8DE1-604F3C84E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41960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F1231F-387B-1544-82E5-776081E5C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7BE53984-9ED8-374C-9F9D-A49EB58D00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27C99D1-BB16-F749-B0AB-0A6B34283A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B531638-E076-814A-870C-37518A17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26.05.26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D3AFDA6-425A-4C48-A64B-2FC02B245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FCAA1C2-0368-3F42-B248-087F91717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29740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49C4A6-64B8-904B-959B-523D63313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FA91367-9EA8-B14F-A1E3-0D7488D175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095B52B-F627-0243-95BF-CAF30A424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26.05.26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27D948D-68F0-444F-A060-6F3ECCFE0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A557819-4A50-7C44-911B-582581B34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93412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4E74BDCF-A048-7341-8942-C4374B8484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7FF7B22-2769-8144-A326-25919C1D0D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C5B7B6A-9CEB-6C42-9C7B-F9ED38263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26.05.26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08C4A24-0F26-0840-A896-381E0715D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2341010-5E03-FB4F-AE26-6B22D37B1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5877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18E2AF2-F7FF-0F4F-A4BE-509679ACA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22B262F-55F8-F14A-9AC3-B59BB1C137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21F1D78-192B-D042-83F5-BB397139B2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497422-92ED-3D47-BF28-17000E80E497}" type="datetimeFigureOut">
              <a:rPr lang="de-DE" smtClean="0"/>
              <a:t>26.05.26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294F689-F2F7-294B-8BF5-FD360E11C4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ED99928-F7B0-4B46-865C-13B1B95B4C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64065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540CC-8A73-C021-D968-04CBBCB7F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6D2399E9-90CC-6575-FAB8-005DA7317D93}"/>
              </a:ext>
            </a:extLst>
          </p:cNvPr>
          <p:cNvGrpSpPr/>
          <p:nvPr/>
        </p:nvGrpSpPr>
        <p:grpSpPr>
          <a:xfrm>
            <a:off x="49953" y="571433"/>
            <a:ext cx="10904137" cy="5362211"/>
            <a:chOff x="49953" y="571433"/>
            <a:chExt cx="10904137" cy="5362211"/>
          </a:xfrm>
        </p:grpSpPr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4E91C313-141B-C0EB-7458-C988F814755D}"/>
                </a:ext>
              </a:extLst>
            </p:cNvPr>
            <p:cNvSpPr txBox="1"/>
            <p:nvPr/>
          </p:nvSpPr>
          <p:spPr>
            <a:xfrm>
              <a:off x="5533833" y="746066"/>
              <a:ext cx="5413180" cy="286232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bg1">
                  <a:lumMod val="65000"/>
                </a:schemeClr>
              </a:solidFill>
            </a:ln>
          </p:spPr>
          <p:txBody>
            <a:bodyPr wrap="square">
              <a:spAutoFit/>
            </a:bodyPr>
            <a:lstStyle>
              <a:defPPr>
                <a:defRPr lang="de-DE"/>
              </a:def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               Tests of central tendencies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 </a:t>
              </a:r>
              <a:endPara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57" name="Textfeld 56">
              <a:extLst>
                <a:ext uri="{FF2B5EF4-FFF2-40B4-BE49-F238E27FC236}">
                  <a16:creationId xmlns:a16="http://schemas.microsoft.com/office/drawing/2014/main" id="{8994B425-65B2-49E4-F84C-57A25705E933}"/>
                </a:ext>
              </a:extLst>
            </p:cNvPr>
            <p:cNvSpPr txBox="1"/>
            <p:nvPr/>
          </p:nvSpPr>
          <p:spPr>
            <a:xfrm>
              <a:off x="728606" y="4910779"/>
              <a:ext cx="4320001" cy="276999"/>
            </a:xfrm>
            <a:prstGeom prst="rect">
              <a:avLst/>
            </a:prstGeom>
            <a:solidFill>
              <a:schemeClr val="accent6">
                <a:lumMod val="60000"/>
                <a:lumOff val="40000"/>
                <a:alpha val="19758"/>
              </a:schemeClr>
            </a:solidFill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correlation = TRUE</a:t>
              </a:r>
              <a:endParaRPr kumimoji="0" lang="de-DE" sz="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feld 5">
                  <a:extLst>
                    <a:ext uri="{FF2B5EF4-FFF2-40B4-BE49-F238E27FC236}">
                      <a16:creationId xmlns:a16="http://schemas.microsoft.com/office/drawing/2014/main" id="{850F5D96-EAD6-2EF1-FC49-CD5ADD5C2CF4}"/>
                    </a:ext>
                  </a:extLst>
                </p:cNvPr>
                <p:cNvSpPr txBox="1"/>
                <p:nvPr/>
              </p:nvSpPr>
              <p:spPr>
                <a:xfrm>
                  <a:off x="5554090" y="1006892"/>
                  <a:ext cx="5400000" cy="461665"/>
                </a:xfrm>
                <a:prstGeom prst="rect">
                  <a:avLst/>
                </a:prstGeom>
                <a:solidFill>
                  <a:schemeClr val="accent4">
                    <a:alpha val="2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>
                  <a:defPPr>
                    <a:defRPr lang="de-DE"/>
                  </a:defPPr>
                </a:lstStyle>
                <a:p>
                  <a:pPr lvl="0"/>
                  <a:r>
                    <a:rPr kumimoji="0" 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Cambria Math" panose="02040503050406030204" pitchFamily="18" charset="0"/>
                      <a:cs typeface="+mn-cs"/>
                    </a:rPr>
                    <a:t>parametric tests: </a:t>
                  </a:r>
                  <a14:m>
                    <m:oMath xmlns:m="http://schemas.openxmlformats.org/officeDocument/2006/math">
                      <m:r>
                        <a:rPr kumimoji="0" lang="en-US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 </m:t>
                      </m:r>
                      <m:r>
                        <a:rPr kumimoji="0" lang="en-US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𝑘</m:t>
                      </m:r>
                      <m:r>
                        <a:rPr kumimoji="0" lang="en-US" sz="1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=2</m:t>
                      </m:r>
                    </m:oMath>
                  </a14:m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: </a:t>
                  </a:r>
                  <a:r>
                    <a:rPr kumimoji="0" lang="en-GB" sz="1200" b="0" i="0" u="none" strike="noStrike" kern="1200" cap="none" spc="0" normalizeH="0" baseline="0" noProof="0" dirty="0" err="1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t.test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(</a:t>
                  </a:r>
                  <a:r>
                    <a:rPr lang="en-GB" sz="12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…</a:t>
                  </a:r>
                  <a:r>
                    <a:rPr lang="en-GB" sz="1200" dirty="0" err="1">
                      <a:solidFill>
                        <a:prstClr val="black"/>
                      </a:solidFill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var.equal</a:t>
                  </a:r>
                  <a:r>
                    <a:rPr lang="en-GB" sz="12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=TRUE), </a:t>
                  </a:r>
                  <a:r>
                    <a:rPr lang="en-GB" sz="1200" dirty="0" err="1">
                      <a:solidFill>
                        <a:prstClr val="black"/>
                      </a:solidFill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t.test</a:t>
                  </a:r>
                  <a:r>
                    <a:rPr lang="en-GB" sz="12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()</a:t>
                  </a:r>
                </a:p>
                <a:p>
                  <a:pPr lvl="0"/>
                  <a:r>
                    <a:rPr kumimoji="0" lang="en-US" sz="1200" b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Cambria Math" panose="02040503050406030204" pitchFamily="18" charset="0"/>
                      <a:cs typeface="+mn-cs"/>
                    </a:rPr>
                    <a:t>                               </a:t>
                  </a:r>
                  <a14:m>
                    <m:oMath xmlns:m="http://schemas.openxmlformats.org/officeDocument/2006/math">
                      <m:r>
                        <a:rPr kumimoji="0" lang="en-US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𝑘</m:t>
                      </m:r>
                      <m:r>
                        <a:rPr kumimoji="0" lang="en-US" sz="1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&gt;2</m:t>
                      </m:r>
                    </m:oMath>
                  </a14:m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: </a:t>
                  </a:r>
                  <a:r>
                    <a:rPr kumimoji="0" lang="en-GB" sz="1200" b="0" i="0" u="none" strike="noStrike" kern="1200" cap="none" spc="0" normalizeH="0" baseline="0" noProof="0" dirty="0" err="1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aov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(),                   </a:t>
                  </a:r>
                  <a:r>
                    <a:rPr kumimoji="0" lang="en-GB" sz="1200" b="0" i="0" u="none" strike="noStrike" kern="1200" cap="none" spc="0" normalizeH="0" baseline="0" noProof="0" dirty="0" err="1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oneway.test</a:t>
                  </a:r>
                  <a:endPara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endParaRPr>
                </a:p>
              </p:txBody>
            </p:sp>
          </mc:Choice>
          <mc:Fallback xmlns:p14="http://schemas.microsoft.com/office/powerpoint/2010/main" xmlns:ns5="http://schemas.openxmlformats.org/officeDocument/2006/math" xmlns:a16="http://schemas.microsoft.com/office/drawing/2014/main" xmlns="">
            <p:sp>
              <p:nvSpPr>
                <p:cNvPr id="6" name="Textfeld 5">
                  <a:extLst>
                    <a:ext uri="{FF2B5EF4-FFF2-40B4-BE49-F238E27FC236}">
                      <a16:creationId id="{850F5D96-EAD6-2EF1-FC49-CD5ADD5C2C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54090" y="1006892"/>
                  <a:ext cx="5400000" cy="461665"/>
                </a:xfrm>
                <a:prstGeom prst="rect">
                  <a:avLst/>
                </a:prstGeom>
                <a:blipFill>
                  <a:blip r:embed="rId3"/>
                  <a:stretch>
                    <a:fillRect b="-7692"/>
                  </a:stretch>
                </a:blipFill>
                <a:ln w="127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Textfeld 7">
              <a:extLst>
                <a:ext uri="{FF2B5EF4-FFF2-40B4-BE49-F238E27FC236}">
                  <a16:creationId xmlns:a16="http://schemas.microsoft.com/office/drawing/2014/main" id="{1259E59C-91A3-35E8-5F00-0D83BB6F2314}"/>
                </a:ext>
              </a:extLst>
            </p:cNvPr>
            <p:cNvSpPr txBox="1">
              <a:spLocks/>
            </p:cNvSpPr>
            <p:nvPr/>
          </p:nvSpPr>
          <p:spPr>
            <a:xfrm>
              <a:off x="732015" y="4185311"/>
              <a:ext cx="4320000" cy="64633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numeric  predictor of 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class 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“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numeric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”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 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or “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integer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”</a:t>
              </a:r>
              <a:b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</a:br>
              <a:endPara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endParaRP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numeric response of 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class 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“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numeric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”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 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or “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integer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”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feld 8">
                  <a:extLst>
                    <a:ext uri="{FF2B5EF4-FFF2-40B4-BE49-F238E27FC236}">
                      <a16:creationId xmlns:a16="http://schemas.microsoft.com/office/drawing/2014/main" id="{2C733A43-BA90-EED8-6758-242898D59516}"/>
                    </a:ext>
                  </a:extLst>
                </p:cNvPr>
                <p:cNvSpPr txBox="1"/>
                <p:nvPr/>
              </p:nvSpPr>
              <p:spPr>
                <a:xfrm>
                  <a:off x="5554090" y="2172920"/>
                  <a:ext cx="5400000" cy="461665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>
                  <a:defPPr>
                    <a:defRPr lang="de-DE"/>
                  </a:defPPr>
                </a:lstStyle>
                <a:p>
                  <a:pPr marL="0" marR="0" lvl="0" indent="0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Cambria Math" panose="02040503050406030204" pitchFamily="18" charset="0"/>
                      <a:cs typeface="+mn-cs"/>
                    </a:rPr>
                    <a:t>non-parametric tests: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kumimoji="0" lang="en-US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𝑘</m:t>
                      </m:r>
                      <m:r>
                        <a:rPr kumimoji="0" lang="en-US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=2</m:t>
                      </m:r>
                    </m:oMath>
                  </a14:m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: </a:t>
                  </a:r>
                  <a:r>
                    <a:rPr kumimoji="0" lang="en-GB" sz="1200" b="0" i="0" u="none" strike="noStrike" kern="1200" cap="none" spc="0" normalizeH="0" baseline="0" noProof="0" dirty="0" err="1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wilcox.test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(),</a:t>
                  </a:r>
                </a:p>
                <a:p>
                  <a:pPr marL="0" marR="0" lvl="0" indent="0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Cambria Math" panose="02040503050406030204" pitchFamily="18" charset="0"/>
                      <a:cs typeface="+mn-cs"/>
                    </a:rPr>
                    <a:t>                                         </a:t>
                  </a:r>
                  <a14:m>
                    <m:oMath xmlns:m="http://schemas.openxmlformats.org/officeDocument/2006/math">
                      <m:r>
                        <a:rPr kumimoji="0" lang="en-US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𝑘</m:t>
                      </m:r>
                      <m:r>
                        <a:rPr kumimoji="0" lang="en-US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&gt;2</m:t>
                      </m:r>
                    </m:oMath>
                  </a14:m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: </a:t>
                  </a:r>
                  <a:r>
                    <a:rPr kumimoji="0" lang="en-GB" sz="1200" b="0" i="0" u="none" strike="noStrike" kern="1200" cap="none" spc="0" normalizeH="0" baseline="0" noProof="0" dirty="0" err="1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kruskal.test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()</a:t>
                  </a:r>
                </a:p>
              </p:txBody>
            </p:sp>
          </mc:Choice>
          <mc:Fallback xmlns:p14="http://schemas.microsoft.com/office/powerpoint/2010/main" xmlns:ns5="http://schemas.openxmlformats.org/officeDocument/2006/math" xmlns:a16="http://schemas.microsoft.com/office/drawing/2014/main" xmlns="">
            <p:sp>
              <p:nvSpPr>
                <p:cNvPr id="9" name="Textfeld 8">
                  <a:extLst>
                    <a:ext uri="{FF2B5EF4-FFF2-40B4-BE49-F238E27FC236}">
                      <a16:creationId id="{2C733A43-BA90-EED8-6758-242898D595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54090" y="2172920"/>
                  <a:ext cx="5400000" cy="461665"/>
                </a:xfrm>
                <a:prstGeom prst="rect">
                  <a:avLst/>
                </a:prstGeom>
                <a:blipFill>
                  <a:blip r:embed="rId4"/>
                  <a:stretch>
                    <a:fillRect b="-7895"/>
                  </a:stretch>
                </a:blipFill>
                <a:ln w="127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0F5D9D80-C8ED-1D5F-7CBA-0A72C71AD571}"/>
                </a:ext>
              </a:extLst>
            </p:cNvPr>
            <p:cNvSpPr txBox="1"/>
            <p:nvPr/>
          </p:nvSpPr>
          <p:spPr>
            <a:xfrm>
              <a:off x="5554090" y="4272051"/>
              <a:ext cx="5400000" cy="27699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txBody>
            <a:bodyPr wrap="square">
              <a:spAutoFit/>
            </a:bodyPr>
            <a:lstStyle>
              <a:defPPr>
                <a:defRPr lang="de-DE"/>
              </a:defPPr>
            </a:lstStyle>
            <a:p>
              <a:pPr marL="457200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200" dirty="0">
                  <a:solidFill>
                    <a:prstClr val="black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s</a:t>
              </a:r>
              <a:r>
                <a:rPr kumimoji="0" lang="en-GB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imple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 linear regression:   </a:t>
              </a:r>
              <a:r>
                <a:rPr kumimoji="0" lang="en-GB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lm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()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feld 6">
                  <a:extLst>
                    <a:ext uri="{FF2B5EF4-FFF2-40B4-BE49-F238E27FC236}">
                      <a16:creationId xmlns:a16="http://schemas.microsoft.com/office/drawing/2014/main" id="{F15C4A27-3FC3-4E72-00C0-8FCD121A3D3F}"/>
                    </a:ext>
                  </a:extLst>
                </p:cNvPr>
                <p:cNvSpPr txBox="1"/>
                <p:nvPr/>
              </p:nvSpPr>
              <p:spPr>
                <a:xfrm>
                  <a:off x="716606" y="1006892"/>
                  <a:ext cx="4347222" cy="461665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 marL="171450" marR="0" lvl="0" indent="-17145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categorical predictor of 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class 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“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factor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“  with </a:t>
                  </a:r>
                  <a14:m>
                    <m:oMath xmlns:m="http://schemas.openxmlformats.org/officeDocument/2006/math">
                      <m:r>
                        <a:rPr kumimoji="0" lang="en-US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𝑘</m:t>
                      </m:r>
                    </m:oMath>
                  </a14:m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 levels</a:t>
                  </a:r>
                </a:p>
                <a:p>
                  <a:pPr marL="171450" marR="0" lvl="0" indent="-17145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numeric response of 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class 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“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numeric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”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 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or “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integer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”</a:t>
                  </a:r>
                </a:p>
              </p:txBody>
            </p:sp>
          </mc:Choice>
          <mc:Fallback xmlns:p14="http://schemas.microsoft.com/office/powerpoint/2010/main" xmlns:ns5="http://schemas.openxmlformats.org/officeDocument/2006/math" xmlns:a16="http://schemas.microsoft.com/office/drawing/2014/main" xmlns="">
            <p:sp>
              <p:nvSpPr>
                <p:cNvPr id="7" name="Textfeld 6">
                  <a:extLst>
                    <a:ext uri="{FF2B5EF4-FFF2-40B4-BE49-F238E27FC236}">
                      <a16:creationId id="{F15C4A27-3FC3-4E72-00C0-8FCD121A3D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6606" y="1006892"/>
                  <a:ext cx="4347222" cy="461665"/>
                </a:xfrm>
                <a:prstGeom prst="rect">
                  <a:avLst/>
                </a:prstGeom>
                <a:blipFill>
                  <a:blip r:embed="rId5"/>
                  <a:stretch>
                    <a:fillRect b="-7692"/>
                  </a:stretch>
                </a:blipFill>
                <a:ln w="127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6" name="Textfeld 35">
              <a:extLst>
                <a:ext uri="{FF2B5EF4-FFF2-40B4-BE49-F238E27FC236}">
                  <a16:creationId xmlns:a16="http://schemas.microsoft.com/office/drawing/2014/main" id="{E4B8EE02-0F90-3F09-7990-89B6B3DCBB2E}"/>
                </a:ext>
              </a:extLst>
            </p:cNvPr>
            <p:cNvSpPr txBox="1"/>
            <p:nvPr/>
          </p:nvSpPr>
          <p:spPr>
            <a:xfrm>
              <a:off x="743828" y="5471979"/>
              <a:ext cx="4320000" cy="46166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en-GB" sz="1200" dirty="0">
                  <a:solidFill>
                    <a:prstClr val="black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b</a:t>
              </a:r>
              <a:r>
                <a:rPr kumimoji="0" lang="en-GB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oth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 variables  of  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class 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“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factor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 “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endParaRPr>
            </a:p>
          </p:txBody>
        </p:sp>
        <p:cxnSp>
          <p:nvCxnSpPr>
            <p:cNvPr id="37" name="Gerade Verbindung mit Pfeil 36">
              <a:extLst>
                <a:ext uri="{FF2B5EF4-FFF2-40B4-BE49-F238E27FC236}">
                  <a16:creationId xmlns:a16="http://schemas.microsoft.com/office/drawing/2014/main" id="{D0C86A91-FDA7-431A-A97E-45AB5F8F86AC}"/>
                </a:ext>
              </a:extLst>
            </p:cNvPr>
            <p:cNvCxnSpPr>
              <a:cxnSpLocks/>
              <a:stCxn id="36" idx="3"/>
              <a:endCxn id="40" idx="1"/>
            </p:cNvCxnSpPr>
            <p:nvPr/>
          </p:nvCxnSpPr>
          <p:spPr>
            <a:xfrm>
              <a:off x="5063828" y="5702812"/>
              <a:ext cx="490262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feld 39">
              <a:extLst>
                <a:ext uri="{FF2B5EF4-FFF2-40B4-BE49-F238E27FC236}">
                  <a16:creationId xmlns:a16="http://schemas.microsoft.com/office/drawing/2014/main" id="{50FC18BF-DA43-100C-15F7-046360CBE26F}"/>
                </a:ext>
              </a:extLst>
            </p:cNvPr>
            <p:cNvSpPr txBox="1"/>
            <p:nvPr/>
          </p:nvSpPr>
          <p:spPr>
            <a:xfrm>
              <a:off x="5554090" y="5471979"/>
              <a:ext cx="5400000" cy="46166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txBody>
            <a:bodyPr wrap="square">
              <a:spAutoFit/>
            </a:bodyPr>
            <a:lstStyle>
              <a:defPPr>
                <a:defRPr lang="de-DE"/>
              </a:def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            comparing proportions:</a:t>
              </a:r>
              <a:b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chisq.test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(), </a:t>
              </a:r>
              <a:r>
                <a:rPr kumimoji="0" lang="en-GB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fisher.test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() 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feld 4">
                  <a:extLst>
                    <a:ext uri="{FF2B5EF4-FFF2-40B4-BE49-F238E27FC236}">
                      <a16:creationId xmlns:a16="http://schemas.microsoft.com/office/drawing/2014/main" id="{D88560B6-0A0F-0760-6149-6FF3B7B24210}"/>
                    </a:ext>
                  </a:extLst>
                </p:cNvPr>
                <p:cNvSpPr txBox="1"/>
                <p:nvPr/>
              </p:nvSpPr>
              <p:spPr>
                <a:xfrm>
                  <a:off x="720963" y="2010444"/>
                  <a:ext cx="4320000" cy="646331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 marL="171450" marR="0" lvl="0" indent="-17145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categorical predictor of 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class 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“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factor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“  with </a:t>
                  </a:r>
                  <a14:m>
                    <m:oMath xmlns:m="http://schemas.openxmlformats.org/officeDocument/2006/math">
                      <m:r>
                        <a:rPr kumimoji="0" lang="en-US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𝑘</m:t>
                      </m:r>
                    </m:oMath>
                  </a14:m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 levels</a:t>
                  </a:r>
                </a:p>
                <a:p>
                  <a:pPr marL="171450" marR="0" lvl="0" indent="-17145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categorical response of 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class 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“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factor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“   and</a:t>
                  </a:r>
                  <a:b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</a:b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                                                         “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ordered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“ with </a:t>
                  </a:r>
                  <a14:m>
                    <m:oMath xmlns:m="http://schemas.openxmlformats.org/officeDocument/2006/math">
                      <m:r>
                        <a:rPr kumimoji="0" lang="en-US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𝑗</m:t>
                      </m:r>
                    </m:oMath>
                  </a14:m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 levels</a:t>
                  </a:r>
                </a:p>
              </p:txBody>
            </p:sp>
          </mc:Choice>
          <mc:Fallback xmlns:p14="http://schemas.microsoft.com/office/powerpoint/2010/main" xmlns:ns5="http://schemas.openxmlformats.org/officeDocument/2006/math" xmlns:a16="http://schemas.microsoft.com/office/drawing/2014/main" xmlns="">
            <p:sp>
              <p:nvSpPr>
                <p:cNvPr id="5" name="Textfeld 4">
                  <a:extLst>
                    <a:ext uri="{FF2B5EF4-FFF2-40B4-BE49-F238E27FC236}">
                      <a16:creationId id="{D88560B6-0A0F-0760-6149-6FF3B7B242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0963" y="2010444"/>
                  <a:ext cx="4320000" cy="646331"/>
                </a:xfrm>
                <a:prstGeom prst="rect">
                  <a:avLst/>
                </a:prstGeom>
                <a:blipFill>
                  <a:blip r:embed="rId6"/>
                  <a:stretch>
                    <a:fillRect b="-7547"/>
                  </a:stretch>
                </a:blipFill>
                <a:ln w="127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Gerade Verbindung mit Pfeil 9">
              <a:extLst>
                <a:ext uri="{FF2B5EF4-FFF2-40B4-BE49-F238E27FC236}">
                  <a16:creationId xmlns:a16="http://schemas.microsoft.com/office/drawing/2014/main" id="{7FFB23BA-1A56-EA09-897C-EAA0A7C46798}"/>
                </a:ext>
              </a:extLst>
            </p:cNvPr>
            <p:cNvCxnSpPr>
              <a:cxnSpLocks/>
              <a:stCxn id="7" idx="3"/>
            </p:cNvCxnSpPr>
            <p:nvPr/>
          </p:nvCxnSpPr>
          <p:spPr>
            <a:xfrm>
              <a:off x="5063828" y="1237725"/>
              <a:ext cx="477082" cy="107724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Gerade Verbindung mit Pfeil 15">
              <a:extLst>
                <a:ext uri="{FF2B5EF4-FFF2-40B4-BE49-F238E27FC236}">
                  <a16:creationId xmlns:a16="http://schemas.microsoft.com/office/drawing/2014/main" id="{95EE3751-2F94-DC07-D76A-B01575DBC8AF}"/>
                </a:ext>
              </a:extLst>
            </p:cNvPr>
            <p:cNvCxnSpPr>
              <a:cxnSpLocks/>
            </p:cNvCxnSpPr>
            <p:nvPr/>
          </p:nvCxnSpPr>
          <p:spPr>
            <a:xfrm>
              <a:off x="5073032" y="2383220"/>
              <a:ext cx="512499" cy="505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Gerade Verbindung mit Pfeil 48">
              <a:extLst>
                <a:ext uri="{FF2B5EF4-FFF2-40B4-BE49-F238E27FC236}">
                  <a16:creationId xmlns:a16="http://schemas.microsoft.com/office/drawing/2014/main" id="{C057720C-4C0C-4DDC-5805-67C405AC5729}"/>
                </a:ext>
              </a:extLst>
            </p:cNvPr>
            <p:cNvCxnSpPr>
              <a:cxnSpLocks/>
            </p:cNvCxnSpPr>
            <p:nvPr/>
          </p:nvCxnSpPr>
          <p:spPr>
            <a:xfrm>
              <a:off x="5055423" y="4429423"/>
              <a:ext cx="512499" cy="505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feld 10">
                  <a:extLst>
                    <a:ext uri="{FF2B5EF4-FFF2-40B4-BE49-F238E27FC236}">
                      <a16:creationId xmlns:a16="http://schemas.microsoft.com/office/drawing/2014/main" id="{FB9B848B-7023-14FC-D384-3530FD90ECCA}"/>
                    </a:ext>
                  </a:extLst>
                </p:cNvPr>
                <p:cNvSpPr txBox="1">
                  <a:spLocks noChangeAspect="1"/>
                </p:cNvSpPr>
                <p:nvPr/>
              </p:nvSpPr>
              <p:spPr>
                <a:xfrm>
                  <a:off x="716606" y="2795230"/>
                  <a:ext cx="4320000" cy="830997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 marL="171450" marR="0" lvl="0" indent="-17145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en-GB" sz="120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categorical predictor  of </a:t>
                  </a:r>
                  <a:r>
                    <a:rPr kumimoji="0" lang="en-GB" sz="120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class </a:t>
                  </a:r>
                  <a:r>
                    <a:rPr kumimoji="0" lang="en-GB" sz="120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“</a:t>
                  </a:r>
                  <a:r>
                    <a:rPr kumimoji="0" lang="en-GB" sz="120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factor</a:t>
                  </a:r>
                  <a:r>
                    <a:rPr kumimoji="0" lang="en-GB" sz="120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“  and</a:t>
                  </a:r>
                  <a:br>
                    <a:rPr kumimoji="0" lang="en-GB" sz="120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</a:br>
                  <a:r>
                    <a:rPr kumimoji="0" lang="en-GB" sz="120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                                                         “</a:t>
                  </a:r>
                  <a:r>
                    <a:rPr kumimoji="0" lang="en-GB" sz="120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ordered</a:t>
                  </a:r>
                  <a:r>
                    <a:rPr kumimoji="0" lang="en-GB" sz="120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“ with </a:t>
                  </a:r>
                  <a14:m>
                    <m:oMath xmlns:m="http://schemas.openxmlformats.org/officeDocument/2006/math">
                      <m:r>
                        <a:rPr kumimoji="0" lang="en-US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𝑘</m:t>
                      </m:r>
                    </m:oMath>
                  </a14:m>
                  <a:r>
                    <a:rPr kumimoji="0" lang="en-GB" sz="120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 levels</a:t>
                  </a:r>
                </a:p>
                <a:p>
                  <a:pPr marL="171450" marR="0" lvl="0" indent="-17145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en-GB" sz="120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categorical response of </a:t>
                  </a:r>
                  <a:r>
                    <a:rPr kumimoji="0" lang="en-GB" sz="120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class </a:t>
                  </a:r>
                  <a:r>
                    <a:rPr kumimoji="0" lang="en-GB" sz="120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“</a:t>
                  </a:r>
                  <a:r>
                    <a:rPr kumimoji="0" lang="en-GB" sz="120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factor</a:t>
                  </a:r>
                  <a:r>
                    <a:rPr kumimoji="0" lang="en-GB" sz="120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“  and</a:t>
                  </a:r>
                  <a:br>
                    <a:rPr kumimoji="0" lang="en-GB" sz="120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</a:br>
                  <a:r>
                    <a:rPr kumimoji="0" lang="en-GB" sz="120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                                                         “</a:t>
                  </a:r>
                  <a:r>
                    <a:rPr kumimoji="0" lang="en-GB" sz="120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ordered</a:t>
                  </a:r>
                  <a:r>
                    <a:rPr kumimoji="0" lang="en-GB" sz="120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“ with j levels</a:t>
                  </a:r>
                </a:p>
              </p:txBody>
            </p:sp>
          </mc:Choice>
          <mc:Fallback xmlns:p14="http://schemas.microsoft.com/office/powerpoint/2010/main" xmlns:ns5="http://schemas.openxmlformats.org/officeDocument/2006/math" xmlns:a16="http://schemas.microsoft.com/office/drawing/2014/main" xmlns="">
            <p:sp>
              <p:nvSpPr>
                <p:cNvPr id="11" name="Textfeld 10">
                  <a:extLst>
                    <a:ext uri="{FF2B5EF4-FFF2-40B4-BE49-F238E27FC236}">
                      <a16:creationId id="{FB9B848B-7023-14FC-D384-3530FD90EC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6606" y="2795230"/>
                  <a:ext cx="4320000" cy="830997"/>
                </a:xfrm>
                <a:prstGeom prst="rect">
                  <a:avLst/>
                </a:prstGeom>
                <a:blipFill>
                  <a:blip r:embed="rId7"/>
                  <a:stretch>
                    <a:fillRect b="-2941"/>
                  </a:stretch>
                </a:blipFill>
                <a:ln w="127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C93B1E64-77B3-996B-0C03-74605808B38D}"/>
                </a:ext>
              </a:extLst>
            </p:cNvPr>
            <p:cNvSpPr txBox="1"/>
            <p:nvPr/>
          </p:nvSpPr>
          <p:spPr>
            <a:xfrm>
              <a:off x="5554090" y="4910779"/>
              <a:ext cx="5400000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txBody>
            <a:bodyPr wrap="square">
              <a:spAutoFit/>
            </a:bodyPr>
            <a:lstStyle>
              <a:defPPr>
                <a:defRPr lang="de-DE"/>
              </a:defPPr>
            </a:lstStyle>
            <a:p>
              <a:pPr marL="457200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Spearman rank correlation : </a:t>
              </a:r>
              <a:r>
                <a:rPr kumimoji="0" lang="en-GB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cor.test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(…,method=“spearman”)</a:t>
              </a:r>
            </a:p>
          </p:txBody>
        </p:sp>
        <p:cxnSp>
          <p:nvCxnSpPr>
            <p:cNvPr id="15" name="Gerade Verbindung mit Pfeil 14">
              <a:extLst>
                <a:ext uri="{FF2B5EF4-FFF2-40B4-BE49-F238E27FC236}">
                  <a16:creationId xmlns:a16="http://schemas.microsoft.com/office/drawing/2014/main" id="{A6B56266-E50F-E630-DFBD-3065C4177F4D}"/>
                </a:ext>
              </a:extLst>
            </p:cNvPr>
            <p:cNvCxnSpPr>
              <a:cxnSpLocks/>
            </p:cNvCxnSpPr>
            <p:nvPr/>
          </p:nvCxnSpPr>
          <p:spPr>
            <a:xfrm>
              <a:off x="5054061" y="3812717"/>
              <a:ext cx="512499" cy="5057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Gerade Verbindung mit Pfeil 66">
              <a:extLst>
                <a:ext uri="{FF2B5EF4-FFF2-40B4-BE49-F238E27FC236}">
                  <a16:creationId xmlns:a16="http://schemas.microsoft.com/office/drawing/2014/main" id="{90D9A013-B638-2CFA-D596-D590570520DD}"/>
                </a:ext>
              </a:extLst>
            </p:cNvPr>
            <p:cNvCxnSpPr>
              <a:cxnSpLocks/>
            </p:cNvCxnSpPr>
            <p:nvPr/>
          </p:nvCxnSpPr>
          <p:spPr>
            <a:xfrm>
              <a:off x="5055423" y="5075778"/>
              <a:ext cx="512499" cy="5057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feld 67">
              <a:extLst>
                <a:ext uri="{FF2B5EF4-FFF2-40B4-BE49-F238E27FC236}">
                  <a16:creationId xmlns:a16="http://schemas.microsoft.com/office/drawing/2014/main" id="{E005EFC1-18B1-0452-D704-9026052FF006}"/>
                </a:ext>
              </a:extLst>
            </p:cNvPr>
            <p:cNvSpPr txBox="1"/>
            <p:nvPr/>
          </p:nvSpPr>
          <p:spPr>
            <a:xfrm>
              <a:off x="5554090" y="3691915"/>
              <a:ext cx="5400000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txBody>
            <a:bodyPr wrap="square">
              <a:spAutoFit/>
            </a:bodyPr>
            <a:lstStyle>
              <a:defPPr>
                <a:defRPr lang="de-DE"/>
              </a:defPPr>
            </a:lstStyle>
            <a:p>
              <a:pPr marL="457200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Kendall rank correlation : </a:t>
              </a:r>
              <a:r>
                <a:rPr kumimoji="0" lang="en-GB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cor.test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(…,method=“</a:t>
              </a:r>
              <a:r>
                <a:rPr kumimoji="0" lang="en-GB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kendall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”)</a:t>
              </a:r>
            </a:p>
          </p:txBody>
        </p:sp>
        <p:cxnSp>
          <p:nvCxnSpPr>
            <p:cNvPr id="83" name="Gerade Verbindung mit Pfeil 82">
              <a:extLst>
                <a:ext uri="{FF2B5EF4-FFF2-40B4-BE49-F238E27FC236}">
                  <a16:creationId xmlns:a16="http://schemas.microsoft.com/office/drawing/2014/main" id="{277F9311-EB83-9B97-DA2A-A783B756E3C6}"/>
                </a:ext>
              </a:extLst>
            </p:cNvPr>
            <p:cNvCxnSpPr>
              <a:cxnSpLocks/>
              <a:endCxn id="6" idx="1"/>
            </p:cNvCxnSpPr>
            <p:nvPr/>
          </p:nvCxnSpPr>
          <p:spPr>
            <a:xfrm flipV="1">
              <a:off x="5084085" y="1237725"/>
              <a:ext cx="470005" cy="289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feld 84">
              <a:extLst>
                <a:ext uri="{FF2B5EF4-FFF2-40B4-BE49-F238E27FC236}">
                  <a16:creationId xmlns:a16="http://schemas.microsoft.com/office/drawing/2014/main" id="{7A4D2BFC-D9DC-E3A8-A99F-C8E1E1FB67D8}"/>
                </a:ext>
              </a:extLst>
            </p:cNvPr>
            <p:cNvSpPr txBox="1"/>
            <p:nvPr/>
          </p:nvSpPr>
          <p:spPr>
            <a:xfrm>
              <a:off x="720803" y="3691915"/>
              <a:ext cx="4320000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correlation = TRUE</a:t>
              </a:r>
              <a:endParaRPr kumimoji="0" lang="de-DE" sz="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endParaRPr>
            </a:p>
          </p:txBody>
        </p:sp>
        <p:cxnSp>
          <p:nvCxnSpPr>
            <p:cNvPr id="86" name="Gerade Verbindung mit Pfeil 85">
              <a:extLst>
                <a:ext uri="{FF2B5EF4-FFF2-40B4-BE49-F238E27FC236}">
                  <a16:creationId xmlns:a16="http://schemas.microsoft.com/office/drawing/2014/main" id="{5E3E9684-F568-DFE2-B115-681F2311D058}"/>
                </a:ext>
              </a:extLst>
            </p:cNvPr>
            <p:cNvCxnSpPr>
              <a:cxnSpLocks/>
              <a:stCxn id="11" idx="3"/>
            </p:cNvCxnSpPr>
            <p:nvPr/>
          </p:nvCxnSpPr>
          <p:spPr>
            <a:xfrm flipV="1">
              <a:off x="5036606" y="2496538"/>
              <a:ext cx="449748" cy="71419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Textfeld 3">
              <a:extLst>
                <a:ext uri="{FF2B5EF4-FFF2-40B4-BE49-F238E27FC236}">
                  <a16:creationId xmlns:a16="http://schemas.microsoft.com/office/drawing/2014/main" id="{F417F758-CA76-D532-21B6-735C47519F0F}"/>
                </a:ext>
              </a:extLst>
            </p:cNvPr>
            <p:cNvSpPr txBox="1"/>
            <p:nvPr/>
          </p:nvSpPr>
          <p:spPr>
            <a:xfrm>
              <a:off x="239524" y="1099225"/>
              <a:ext cx="236184" cy="215444"/>
            </a:xfrm>
            <a:prstGeom prst="rect">
              <a:avLst/>
            </a:prstGeom>
            <a:solidFill>
              <a:schemeClr val="bg2">
                <a:lumMod val="90000"/>
                <a:alpha val="19758"/>
              </a:schemeClr>
            </a:solidFill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800" noProof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B8105820-9E2B-EE1E-03D4-B81791A38D81}"/>
                </a:ext>
              </a:extLst>
            </p:cNvPr>
            <p:cNvSpPr txBox="1"/>
            <p:nvPr/>
          </p:nvSpPr>
          <p:spPr>
            <a:xfrm>
              <a:off x="49953" y="571433"/>
              <a:ext cx="691375" cy="27699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Route</a:t>
              </a:r>
            </a:p>
          </p:txBody>
        </p:sp>
        <p:sp>
          <p:nvSpPr>
            <p:cNvPr id="18" name="Rechteck 17">
              <a:extLst>
                <a:ext uri="{FF2B5EF4-FFF2-40B4-BE49-F238E27FC236}">
                  <a16:creationId xmlns:a16="http://schemas.microsoft.com/office/drawing/2014/main" id="{A0BE9EB5-D803-DFA9-50B5-0875D1465580}"/>
                </a:ext>
              </a:extLst>
            </p:cNvPr>
            <p:cNvSpPr/>
            <p:nvPr/>
          </p:nvSpPr>
          <p:spPr>
            <a:xfrm>
              <a:off x="221016" y="1006892"/>
              <a:ext cx="347696" cy="461665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0" name="Rechteck 19">
              <a:extLst>
                <a:ext uri="{FF2B5EF4-FFF2-40B4-BE49-F238E27FC236}">
                  <a16:creationId xmlns:a16="http://schemas.microsoft.com/office/drawing/2014/main" id="{7BFDF4DF-9E89-51BE-38BA-2941AA19B2D2}"/>
                </a:ext>
              </a:extLst>
            </p:cNvPr>
            <p:cNvSpPr/>
            <p:nvPr/>
          </p:nvSpPr>
          <p:spPr>
            <a:xfrm>
              <a:off x="215127" y="2010443"/>
              <a:ext cx="347696" cy="1958471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1" name="Rechteck 20">
              <a:extLst>
                <a:ext uri="{FF2B5EF4-FFF2-40B4-BE49-F238E27FC236}">
                  <a16:creationId xmlns:a16="http://schemas.microsoft.com/office/drawing/2014/main" id="{D6F1D490-F1DA-72C5-A6CE-912541970EB7}"/>
                </a:ext>
              </a:extLst>
            </p:cNvPr>
            <p:cNvSpPr/>
            <p:nvPr/>
          </p:nvSpPr>
          <p:spPr>
            <a:xfrm>
              <a:off x="215127" y="4185311"/>
              <a:ext cx="347696" cy="100246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FA244EA9-C7AB-8F81-B117-74B499E420BC}"/>
                </a:ext>
              </a:extLst>
            </p:cNvPr>
            <p:cNvSpPr/>
            <p:nvPr/>
          </p:nvSpPr>
          <p:spPr>
            <a:xfrm>
              <a:off x="244786" y="5471979"/>
              <a:ext cx="347696" cy="46166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chemeClr val="tx1"/>
                  </a:solidFill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525690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1BF47-D452-B262-5BF0-10ACE1E31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90EC85E6-6247-3409-383E-13273E0F13CB}"/>
              </a:ext>
            </a:extLst>
          </p:cNvPr>
          <p:cNvGrpSpPr/>
          <p:nvPr/>
        </p:nvGrpSpPr>
        <p:grpSpPr>
          <a:xfrm>
            <a:off x="67669" y="743867"/>
            <a:ext cx="10904137" cy="5366238"/>
            <a:chOff x="49953" y="567406"/>
            <a:chExt cx="10904137" cy="5366238"/>
          </a:xfrm>
        </p:grpSpPr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3A3ABC52-8E59-CBFF-B010-4BEB353C5710}"/>
                </a:ext>
              </a:extLst>
            </p:cNvPr>
            <p:cNvSpPr txBox="1"/>
            <p:nvPr/>
          </p:nvSpPr>
          <p:spPr>
            <a:xfrm>
              <a:off x="5512504" y="567406"/>
              <a:ext cx="5441586" cy="286232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bg1">
                  <a:lumMod val="65000"/>
                </a:schemeClr>
              </a:solidFill>
            </a:ln>
          </p:spPr>
          <p:txBody>
            <a:bodyPr wrap="square">
              <a:spAutoFit/>
            </a:bodyPr>
            <a:lstStyle>
              <a:defPPr>
                <a:defRPr lang="de-DE"/>
              </a:def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               Tests of central tendencies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GB" sz="1200" dirty="0">
                <a:solidFill>
                  <a:prstClr val="black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GB" sz="1200" dirty="0">
                <a:solidFill>
                  <a:prstClr val="black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 </a:t>
              </a:r>
              <a:endPara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57" name="Textfeld 56">
              <a:extLst>
                <a:ext uri="{FF2B5EF4-FFF2-40B4-BE49-F238E27FC236}">
                  <a16:creationId xmlns:a16="http://schemas.microsoft.com/office/drawing/2014/main" id="{9FF77907-607C-A2C2-5590-CE00C94B6273}"/>
                </a:ext>
              </a:extLst>
            </p:cNvPr>
            <p:cNvSpPr txBox="1"/>
            <p:nvPr/>
          </p:nvSpPr>
          <p:spPr>
            <a:xfrm>
              <a:off x="728606" y="4910779"/>
              <a:ext cx="4320001" cy="276999"/>
            </a:xfrm>
            <a:prstGeom prst="rect">
              <a:avLst/>
            </a:prstGeom>
            <a:solidFill>
              <a:schemeClr val="accent6">
                <a:lumMod val="60000"/>
                <a:lumOff val="40000"/>
                <a:alpha val="19758"/>
              </a:schemeClr>
            </a:solidFill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correlation = TRUE</a:t>
              </a:r>
              <a:endParaRPr kumimoji="0" lang="de-DE" sz="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feld 5">
                  <a:extLst>
                    <a:ext uri="{FF2B5EF4-FFF2-40B4-BE49-F238E27FC236}">
                      <a16:creationId xmlns:a16="http://schemas.microsoft.com/office/drawing/2014/main" id="{D4038EA5-9C29-C59B-8B45-3A9306C432B3}"/>
                    </a:ext>
                  </a:extLst>
                </p:cNvPr>
                <p:cNvSpPr txBox="1"/>
                <p:nvPr/>
              </p:nvSpPr>
              <p:spPr>
                <a:xfrm>
                  <a:off x="5554090" y="1006892"/>
                  <a:ext cx="5400000" cy="461665"/>
                </a:xfrm>
                <a:prstGeom prst="rect">
                  <a:avLst/>
                </a:prstGeom>
                <a:solidFill>
                  <a:schemeClr val="accent4">
                    <a:alpha val="2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>
                  <a:defPPr>
                    <a:defRPr lang="de-DE"/>
                  </a:defPPr>
                </a:lstStyle>
                <a:p>
                  <a:pPr lvl="0"/>
                  <a:r>
                    <a:rPr kumimoji="0" 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Cambria Math" panose="02040503050406030204" pitchFamily="18" charset="0"/>
                      <a:cs typeface="+mn-cs"/>
                    </a:rPr>
                    <a:t>parametric tests: </a:t>
                  </a:r>
                  <a14:m>
                    <m:oMath xmlns:m="http://schemas.openxmlformats.org/officeDocument/2006/math">
                      <m:r>
                        <a:rPr kumimoji="0" lang="en-US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 </m:t>
                      </m:r>
                      <m:r>
                        <a:rPr kumimoji="0" lang="en-US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𝑘</m:t>
                      </m:r>
                      <m:r>
                        <a:rPr kumimoji="0" lang="en-US" sz="1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=2</m:t>
                      </m:r>
                    </m:oMath>
                  </a14:m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: </a:t>
                  </a:r>
                  <a:r>
                    <a:rPr kumimoji="0" lang="en-GB" sz="1200" b="0" i="0" u="none" strike="noStrike" kern="1200" cap="none" spc="0" normalizeH="0" baseline="0" noProof="0" dirty="0" err="1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t.test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(</a:t>
                  </a:r>
                  <a:r>
                    <a:rPr lang="en-GB" sz="12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…</a:t>
                  </a:r>
                  <a:r>
                    <a:rPr lang="en-GB" sz="1200" dirty="0" err="1">
                      <a:solidFill>
                        <a:prstClr val="black"/>
                      </a:solidFill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var.equal</a:t>
                  </a:r>
                  <a:r>
                    <a:rPr lang="en-GB" sz="12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=TRUE), </a:t>
                  </a:r>
                  <a:r>
                    <a:rPr lang="en-GB" sz="1200" dirty="0" err="1">
                      <a:solidFill>
                        <a:prstClr val="black"/>
                      </a:solidFill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t.test</a:t>
                  </a:r>
                  <a:r>
                    <a:rPr lang="en-GB" sz="12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()</a:t>
                  </a:r>
                </a:p>
                <a:p>
                  <a:pPr lvl="0"/>
                  <a:r>
                    <a:rPr kumimoji="0" lang="en-US" sz="1200" b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Cambria Math" panose="02040503050406030204" pitchFamily="18" charset="0"/>
                      <a:cs typeface="+mn-cs"/>
                    </a:rPr>
                    <a:t>                               </a:t>
                  </a:r>
                  <a14:m>
                    <m:oMath xmlns:m="http://schemas.openxmlformats.org/officeDocument/2006/math">
                      <m:r>
                        <a:rPr kumimoji="0" lang="en-US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𝑘</m:t>
                      </m:r>
                      <m:r>
                        <a:rPr kumimoji="0" lang="en-US" sz="1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&gt;2</m:t>
                      </m:r>
                    </m:oMath>
                  </a14:m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: </a:t>
                  </a:r>
                  <a:r>
                    <a:rPr kumimoji="0" lang="en-GB" sz="1200" b="0" i="0" u="none" strike="noStrike" kern="1200" cap="none" spc="0" normalizeH="0" baseline="0" noProof="0" dirty="0" err="1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aov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(),                   </a:t>
                  </a:r>
                  <a:r>
                    <a:rPr kumimoji="0" lang="en-GB" sz="1200" b="0" i="0" u="none" strike="noStrike" kern="1200" cap="none" spc="0" normalizeH="0" baseline="0" noProof="0" dirty="0" err="1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oneway.test</a:t>
                  </a:r>
                  <a:endPara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Cambria Math" panose="02040503050406030204" pitchFamily="18" charset="0"/>
                    <a:cs typeface="Courier New" panose="02070309020205020404" pitchFamily="49" charset="0"/>
                  </a:endParaRPr>
                </a:p>
              </p:txBody>
            </p:sp>
          </mc:Choice>
          <mc:Fallback xmlns:p14="http://schemas.microsoft.com/office/powerpoint/2010/main" xmlns:ns5="http://schemas.openxmlformats.org/officeDocument/2006/math" xmlns:a16="http://schemas.microsoft.com/office/drawing/2014/main" xmlns="">
            <p:sp>
              <p:nvSpPr>
                <p:cNvPr id="6" name="Textfeld 5">
                  <a:extLst>
                    <a:ext uri="{FF2B5EF4-FFF2-40B4-BE49-F238E27FC236}">
                      <a16:creationId id="{850F5D96-EAD6-2EF1-FC49-CD5ADD5C2C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54090" y="1006892"/>
                  <a:ext cx="5400000" cy="461665"/>
                </a:xfrm>
                <a:prstGeom prst="rect">
                  <a:avLst/>
                </a:prstGeom>
                <a:blipFill>
                  <a:blip r:embed="rId3"/>
                  <a:stretch>
                    <a:fillRect b="-7692"/>
                  </a:stretch>
                </a:blipFill>
                <a:ln w="127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Textfeld 7">
              <a:extLst>
                <a:ext uri="{FF2B5EF4-FFF2-40B4-BE49-F238E27FC236}">
                  <a16:creationId xmlns:a16="http://schemas.microsoft.com/office/drawing/2014/main" id="{42042875-6C69-62F6-1D96-944872B3A63B}"/>
                </a:ext>
              </a:extLst>
            </p:cNvPr>
            <p:cNvSpPr txBox="1">
              <a:spLocks/>
            </p:cNvSpPr>
            <p:nvPr/>
          </p:nvSpPr>
          <p:spPr>
            <a:xfrm>
              <a:off x="732015" y="4185311"/>
              <a:ext cx="4320000" cy="64633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numeric  predictor of 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class 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“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numeric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”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 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or “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integer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”</a:t>
              </a:r>
              <a:b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</a:br>
              <a:endPara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endParaRP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numeric response of 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class 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“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numeric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”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 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or “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integer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”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feld 8">
                  <a:extLst>
                    <a:ext uri="{FF2B5EF4-FFF2-40B4-BE49-F238E27FC236}">
                      <a16:creationId xmlns:a16="http://schemas.microsoft.com/office/drawing/2014/main" id="{D319C66F-315A-35E8-A537-1463B8D19147}"/>
                    </a:ext>
                  </a:extLst>
                </p:cNvPr>
                <p:cNvSpPr txBox="1"/>
                <p:nvPr/>
              </p:nvSpPr>
              <p:spPr>
                <a:xfrm>
                  <a:off x="5554090" y="2172920"/>
                  <a:ext cx="5400000" cy="461665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>
                  <a:defPPr>
                    <a:defRPr lang="de-DE"/>
                  </a:defPPr>
                </a:lstStyle>
                <a:p>
                  <a:pPr marL="0" marR="0" lvl="0" indent="0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Cambria Math" panose="02040503050406030204" pitchFamily="18" charset="0"/>
                      <a:cs typeface="+mn-cs"/>
                    </a:rPr>
                    <a:t>non-parametric tests: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kumimoji="0" lang="en-US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𝑘</m:t>
                      </m:r>
                      <m:r>
                        <a:rPr kumimoji="0" lang="en-US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=2</m:t>
                      </m:r>
                    </m:oMath>
                  </a14:m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: </a:t>
                  </a:r>
                  <a:r>
                    <a:rPr kumimoji="0" lang="en-GB" sz="1200" b="0" i="0" u="none" strike="noStrike" kern="1200" cap="none" spc="0" normalizeH="0" baseline="0" noProof="0" dirty="0" err="1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wilcox.test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(),</a:t>
                  </a:r>
                </a:p>
                <a:p>
                  <a:pPr marL="0" marR="0" lvl="0" indent="0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Cambria Math" panose="02040503050406030204" pitchFamily="18" charset="0"/>
                      <a:cs typeface="+mn-cs"/>
                    </a:rPr>
                    <a:t>                                         </a:t>
                  </a:r>
                  <a14:m>
                    <m:oMath xmlns:m="http://schemas.openxmlformats.org/officeDocument/2006/math">
                      <m:r>
                        <a:rPr kumimoji="0" lang="en-US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𝑘</m:t>
                      </m:r>
                      <m:r>
                        <a:rPr kumimoji="0" lang="en-US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&gt;2</m:t>
                      </m:r>
                    </m:oMath>
                  </a14:m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: </a:t>
                  </a:r>
                  <a:r>
                    <a:rPr kumimoji="0" lang="en-GB" sz="1200" b="0" i="0" u="none" strike="noStrike" kern="1200" cap="none" spc="0" normalizeH="0" baseline="0" noProof="0" dirty="0" err="1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kruskal.test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()</a:t>
                  </a:r>
                </a:p>
              </p:txBody>
            </p:sp>
          </mc:Choice>
          <mc:Fallback xmlns:p14="http://schemas.microsoft.com/office/powerpoint/2010/main" xmlns:ns5="http://schemas.openxmlformats.org/officeDocument/2006/math" xmlns:a16="http://schemas.microsoft.com/office/drawing/2014/main" xmlns="">
            <p:sp>
              <p:nvSpPr>
                <p:cNvPr id="9" name="Textfeld 8">
                  <a:extLst>
                    <a:ext uri="{FF2B5EF4-FFF2-40B4-BE49-F238E27FC236}">
                      <a16:creationId id="{2C733A43-BA90-EED8-6758-242898D595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54090" y="2172920"/>
                  <a:ext cx="5400000" cy="461665"/>
                </a:xfrm>
                <a:prstGeom prst="rect">
                  <a:avLst/>
                </a:prstGeom>
                <a:blipFill>
                  <a:blip r:embed="rId4"/>
                  <a:stretch>
                    <a:fillRect b="-7895"/>
                  </a:stretch>
                </a:blipFill>
                <a:ln w="127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AA478053-A0C1-7880-2095-C777375F04A7}"/>
                </a:ext>
              </a:extLst>
            </p:cNvPr>
            <p:cNvSpPr txBox="1"/>
            <p:nvPr/>
          </p:nvSpPr>
          <p:spPr>
            <a:xfrm>
              <a:off x="5554090" y="4272051"/>
              <a:ext cx="5400000" cy="27699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txBody>
            <a:bodyPr wrap="square">
              <a:spAutoFit/>
            </a:bodyPr>
            <a:lstStyle>
              <a:defPPr>
                <a:defRPr lang="de-DE"/>
              </a:defPPr>
            </a:lstStyle>
            <a:p>
              <a:pPr marL="457200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200" dirty="0">
                  <a:solidFill>
                    <a:prstClr val="black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s</a:t>
              </a:r>
              <a:r>
                <a:rPr kumimoji="0" lang="en-GB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imple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 linear regression:   </a:t>
              </a:r>
              <a:r>
                <a:rPr kumimoji="0" lang="en-GB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lm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()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feld 6">
                  <a:extLst>
                    <a:ext uri="{FF2B5EF4-FFF2-40B4-BE49-F238E27FC236}">
                      <a16:creationId xmlns:a16="http://schemas.microsoft.com/office/drawing/2014/main" id="{7B21F80B-C604-84CE-685C-059208DF8437}"/>
                    </a:ext>
                  </a:extLst>
                </p:cNvPr>
                <p:cNvSpPr txBox="1"/>
                <p:nvPr/>
              </p:nvSpPr>
              <p:spPr>
                <a:xfrm>
                  <a:off x="716606" y="1006892"/>
                  <a:ext cx="4347222" cy="461665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 marL="171450" marR="0" lvl="0" indent="-17145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categorical predictor of 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class 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“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factor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“  with </a:t>
                  </a:r>
                  <a14:m>
                    <m:oMath xmlns:m="http://schemas.openxmlformats.org/officeDocument/2006/math">
                      <m:r>
                        <a:rPr kumimoji="0" lang="en-US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𝑘</m:t>
                      </m:r>
                    </m:oMath>
                  </a14:m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 levels</a:t>
                  </a:r>
                </a:p>
                <a:p>
                  <a:pPr marL="171450" marR="0" lvl="0" indent="-17145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numeric response of 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class 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“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numeric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”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 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or “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integer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”</a:t>
                  </a:r>
                </a:p>
              </p:txBody>
            </p:sp>
          </mc:Choice>
          <mc:Fallback xmlns:p14="http://schemas.microsoft.com/office/powerpoint/2010/main" xmlns:ns5="http://schemas.openxmlformats.org/officeDocument/2006/math" xmlns:a16="http://schemas.microsoft.com/office/drawing/2014/main" xmlns="">
            <p:sp>
              <p:nvSpPr>
                <p:cNvPr id="7" name="Textfeld 6">
                  <a:extLst>
                    <a:ext uri="{FF2B5EF4-FFF2-40B4-BE49-F238E27FC236}">
                      <a16:creationId id="{F15C4A27-3FC3-4E72-00C0-8FCD121A3D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6606" y="1006892"/>
                  <a:ext cx="4347222" cy="461665"/>
                </a:xfrm>
                <a:prstGeom prst="rect">
                  <a:avLst/>
                </a:prstGeom>
                <a:blipFill>
                  <a:blip r:embed="rId5"/>
                  <a:stretch>
                    <a:fillRect b="-7692"/>
                  </a:stretch>
                </a:blipFill>
                <a:ln w="127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6" name="Textfeld 35">
              <a:extLst>
                <a:ext uri="{FF2B5EF4-FFF2-40B4-BE49-F238E27FC236}">
                  <a16:creationId xmlns:a16="http://schemas.microsoft.com/office/drawing/2014/main" id="{C3C0F82D-5D34-AC33-7AE7-24F8A3198563}"/>
                </a:ext>
              </a:extLst>
            </p:cNvPr>
            <p:cNvSpPr txBox="1"/>
            <p:nvPr/>
          </p:nvSpPr>
          <p:spPr>
            <a:xfrm>
              <a:off x="743828" y="5471979"/>
              <a:ext cx="4320000" cy="46166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en-GB" sz="1200" dirty="0">
                  <a:solidFill>
                    <a:prstClr val="black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b</a:t>
              </a:r>
              <a:r>
                <a:rPr kumimoji="0" lang="en-GB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oth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 variables  of  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class 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“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factor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 “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endParaRPr>
            </a:p>
          </p:txBody>
        </p:sp>
        <p:cxnSp>
          <p:nvCxnSpPr>
            <p:cNvPr id="37" name="Gerade Verbindung mit Pfeil 36">
              <a:extLst>
                <a:ext uri="{FF2B5EF4-FFF2-40B4-BE49-F238E27FC236}">
                  <a16:creationId xmlns:a16="http://schemas.microsoft.com/office/drawing/2014/main" id="{517FD4B2-BECA-0AEA-454D-BB3611A96203}"/>
                </a:ext>
              </a:extLst>
            </p:cNvPr>
            <p:cNvCxnSpPr>
              <a:cxnSpLocks/>
              <a:stCxn id="36" idx="3"/>
              <a:endCxn id="40" idx="1"/>
            </p:cNvCxnSpPr>
            <p:nvPr/>
          </p:nvCxnSpPr>
          <p:spPr>
            <a:xfrm>
              <a:off x="5063828" y="5702812"/>
              <a:ext cx="490262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feld 39">
              <a:extLst>
                <a:ext uri="{FF2B5EF4-FFF2-40B4-BE49-F238E27FC236}">
                  <a16:creationId xmlns:a16="http://schemas.microsoft.com/office/drawing/2014/main" id="{1B11DE6F-9E21-795A-D353-0B12A0FA5D58}"/>
                </a:ext>
              </a:extLst>
            </p:cNvPr>
            <p:cNvSpPr txBox="1"/>
            <p:nvPr/>
          </p:nvSpPr>
          <p:spPr>
            <a:xfrm>
              <a:off x="5554090" y="5471979"/>
              <a:ext cx="5400000" cy="46166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txBody>
            <a:bodyPr wrap="square">
              <a:spAutoFit/>
            </a:bodyPr>
            <a:lstStyle>
              <a:defPPr>
                <a:defRPr lang="de-DE"/>
              </a:def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            comparing proportions:</a:t>
              </a:r>
              <a:b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chisq.test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(), </a:t>
              </a:r>
              <a:r>
                <a:rPr kumimoji="0" lang="en-GB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fisher.test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() 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feld 4">
                  <a:extLst>
                    <a:ext uri="{FF2B5EF4-FFF2-40B4-BE49-F238E27FC236}">
                      <a16:creationId xmlns:a16="http://schemas.microsoft.com/office/drawing/2014/main" id="{EBB96333-BBB7-2E6C-2AD3-65ECD93E4381}"/>
                    </a:ext>
                  </a:extLst>
                </p:cNvPr>
                <p:cNvSpPr txBox="1"/>
                <p:nvPr/>
              </p:nvSpPr>
              <p:spPr>
                <a:xfrm>
                  <a:off x="720963" y="2010444"/>
                  <a:ext cx="4320000" cy="646331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 marL="171450" marR="0" lvl="0" indent="-17145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categorical predictor of 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class 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“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factor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“  with </a:t>
                  </a:r>
                  <a14:m>
                    <m:oMath xmlns:m="http://schemas.openxmlformats.org/officeDocument/2006/math">
                      <m:r>
                        <a:rPr kumimoji="0" lang="en-US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𝑘</m:t>
                      </m:r>
                    </m:oMath>
                  </a14:m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 levels</a:t>
                  </a:r>
                </a:p>
                <a:p>
                  <a:pPr marL="171450" marR="0" lvl="0" indent="-17145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categorical response of 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class 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“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factor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“   and</a:t>
                  </a:r>
                  <a:b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</a:b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                                                         “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ordered</a:t>
                  </a:r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“ with </a:t>
                  </a:r>
                  <a14:m>
                    <m:oMath xmlns:m="http://schemas.openxmlformats.org/officeDocument/2006/math">
                      <m:r>
                        <a:rPr kumimoji="0" lang="en-US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𝑗</m:t>
                      </m:r>
                    </m:oMath>
                  </a14:m>
                  <a:r>
                    <a:rPr kumimoji="0" lang="en-GB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 levels</a:t>
                  </a:r>
                </a:p>
              </p:txBody>
            </p:sp>
          </mc:Choice>
          <mc:Fallback xmlns:p14="http://schemas.microsoft.com/office/powerpoint/2010/main" xmlns:ns5="http://schemas.openxmlformats.org/officeDocument/2006/math" xmlns:a16="http://schemas.microsoft.com/office/drawing/2014/main" xmlns="">
            <p:sp>
              <p:nvSpPr>
                <p:cNvPr id="5" name="Textfeld 4">
                  <a:extLst>
                    <a:ext uri="{FF2B5EF4-FFF2-40B4-BE49-F238E27FC236}">
                      <a16:creationId id="{D88560B6-0A0F-0760-6149-6FF3B7B242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0963" y="2010444"/>
                  <a:ext cx="4320000" cy="646331"/>
                </a:xfrm>
                <a:prstGeom prst="rect">
                  <a:avLst/>
                </a:prstGeom>
                <a:blipFill>
                  <a:blip r:embed="rId6"/>
                  <a:stretch>
                    <a:fillRect b="-7547"/>
                  </a:stretch>
                </a:blipFill>
                <a:ln w="127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Gerade Verbindung mit Pfeil 9">
              <a:extLst>
                <a:ext uri="{FF2B5EF4-FFF2-40B4-BE49-F238E27FC236}">
                  <a16:creationId xmlns:a16="http://schemas.microsoft.com/office/drawing/2014/main" id="{1C4B6C03-B00D-064E-BED2-FBC5FBB1FD0E}"/>
                </a:ext>
              </a:extLst>
            </p:cNvPr>
            <p:cNvCxnSpPr>
              <a:cxnSpLocks/>
              <a:stCxn id="7" idx="3"/>
            </p:cNvCxnSpPr>
            <p:nvPr/>
          </p:nvCxnSpPr>
          <p:spPr>
            <a:xfrm>
              <a:off x="5063828" y="1237725"/>
              <a:ext cx="477082" cy="107724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Gerade Verbindung mit Pfeil 15">
              <a:extLst>
                <a:ext uri="{FF2B5EF4-FFF2-40B4-BE49-F238E27FC236}">
                  <a16:creationId xmlns:a16="http://schemas.microsoft.com/office/drawing/2014/main" id="{66100D14-DE96-5AEA-94DB-471916A85966}"/>
                </a:ext>
              </a:extLst>
            </p:cNvPr>
            <p:cNvCxnSpPr>
              <a:cxnSpLocks/>
            </p:cNvCxnSpPr>
            <p:nvPr/>
          </p:nvCxnSpPr>
          <p:spPr>
            <a:xfrm>
              <a:off x="5073032" y="2383220"/>
              <a:ext cx="512499" cy="505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Gerade Verbindung mit Pfeil 48">
              <a:extLst>
                <a:ext uri="{FF2B5EF4-FFF2-40B4-BE49-F238E27FC236}">
                  <a16:creationId xmlns:a16="http://schemas.microsoft.com/office/drawing/2014/main" id="{01943278-80D3-2F15-47B5-217FCB6FEA17}"/>
                </a:ext>
              </a:extLst>
            </p:cNvPr>
            <p:cNvCxnSpPr>
              <a:cxnSpLocks/>
            </p:cNvCxnSpPr>
            <p:nvPr/>
          </p:nvCxnSpPr>
          <p:spPr>
            <a:xfrm>
              <a:off x="5055423" y="4429423"/>
              <a:ext cx="512499" cy="505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feld 10">
                  <a:extLst>
                    <a:ext uri="{FF2B5EF4-FFF2-40B4-BE49-F238E27FC236}">
                      <a16:creationId xmlns:a16="http://schemas.microsoft.com/office/drawing/2014/main" id="{83731F11-EE06-D378-79ED-7FA4AAC8C70A}"/>
                    </a:ext>
                  </a:extLst>
                </p:cNvPr>
                <p:cNvSpPr txBox="1">
                  <a:spLocks noChangeAspect="1"/>
                </p:cNvSpPr>
                <p:nvPr/>
              </p:nvSpPr>
              <p:spPr>
                <a:xfrm>
                  <a:off x="716606" y="2795230"/>
                  <a:ext cx="4320000" cy="830997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 marL="171450" marR="0" lvl="0" indent="-17145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en-GB" sz="120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categorical predictor  of </a:t>
                  </a:r>
                  <a:r>
                    <a:rPr kumimoji="0" lang="en-GB" sz="120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class </a:t>
                  </a:r>
                  <a:r>
                    <a:rPr kumimoji="0" lang="en-GB" sz="120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“</a:t>
                  </a:r>
                  <a:r>
                    <a:rPr kumimoji="0" lang="en-GB" sz="120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factor</a:t>
                  </a:r>
                  <a:r>
                    <a:rPr kumimoji="0" lang="en-GB" sz="120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“  and</a:t>
                  </a:r>
                  <a:br>
                    <a:rPr kumimoji="0" lang="en-GB" sz="120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</a:br>
                  <a:r>
                    <a:rPr kumimoji="0" lang="en-GB" sz="120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                                                         “</a:t>
                  </a:r>
                  <a:r>
                    <a:rPr kumimoji="0" lang="en-GB" sz="120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ordered</a:t>
                  </a:r>
                  <a:r>
                    <a:rPr kumimoji="0" lang="en-GB" sz="120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“ with </a:t>
                  </a:r>
                  <a14:m>
                    <m:oMath xmlns:m="http://schemas.openxmlformats.org/officeDocument/2006/math">
                      <m:r>
                        <a:rPr kumimoji="0" lang="en-US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𝑘</m:t>
                      </m:r>
                    </m:oMath>
                  </a14:m>
                  <a:r>
                    <a:rPr kumimoji="0" lang="en-GB" sz="120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 levels</a:t>
                  </a:r>
                </a:p>
                <a:p>
                  <a:pPr marL="171450" marR="0" lvl="0" indent="-17145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en-GB" sz="120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categorical response of </a:t>
                  </a:r>
                  <a:r>
                    <a:rPr kumimoji="0" lang="en-GB" sz="120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class </a:t>
                  </a:r>
                  <a:r>
                    <a:rPr kumimoji="0" lang="en-GB" sz="120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“</a:t>
                  </a:r>
                  <a:r>
                    <a:rPr kumimoji="0" lang="en-GB" sz="120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factor</a:t>
                  </a:r>
                  <a:r>
                    <a:rPr kumimoji="0" lang="en-GB" sz="120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“  and</a:t>
                  </a:r>
                  <a:br>
                    <a:rPr kumimoji="0" lang="en-GB" sz="120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</a:br>
                  <a:r>
                    <a:rPr kumimoji="0" lang="en-GB" sz="120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                                                         “</a:t>
                  </a:r>
                  <a:r>
                    <a:rPr kumimoji="0" lang="en-GB" sz="120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ordered</a:t>
                  </a:r>
                  <a:r>
                    <a:rPr kumimoji="0" lang="en-GB" sz="120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“ with j levels</a:t>
                  </a:r>
                </a:p>
              </p:txBody>
            </p:sp>
          </mc:Choice>
          <mc:Fallback xmlns:p14="http://schemas.microsoft.com/office/powerpoint/2010/main" xmlns:ns5="http://schemas.openxmlformats.org/officeDocument/2006/math" xmlns:a16="http://schemas.microsoft.com/office/drawing/2014/main" xmlns="">
            <p:sp>
              <p:nvSpPr>
                <p:cNvPr id="11" name="Textfeld 10">
                  <a:extLst>
                    <a:ext uri="{FF2B5EF4-FFF2-40B4-BE49-F238E27FC236}">
                      <a16:creationId id="{FB9B848B-7023-14FC-D384-3530FD90EC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6606" y="2795230"/>
                  <a:ext cx="4320000" cy="830997"/>
                </a:xfrm>
                <a:prstGeom prst="rect">
                  <a:avLst/>
                </a:prstGeom>
                <a:blipFill>
                  <a:blip r:embed="rId7"/>
                  <a:stretch>
                    <a:fillRect b="-2941"/>
                  </a:stretch>
                </a:blipFill>
                <a:ln w="127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762DEE48-CA31-E3F6-90B5-E573727CBB97}"/>
                </a:ext>
              </a:extLst>
            </p:cNvPr>
            <p:cNvSpPr txBox="1"/>
            <p:nvPr/>
          </p:nvSpPr>
          <p:spPr>
            <a:xfrm>
              <a:off x="5554090" y="4910779"/>
              <a:ext cx="5400000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txBody>
            <a:bodyPr wrap="square">
              <a:spAutoFit/>
            </a:bodyPr>
            <a:lstStyle>
              <a:defPPr>
                <a:defRPr lang="de-DE"/>
              </a:defPPr>
            </a:lstStyle>
            <a:p>
              <a:pPr marL="457200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Spearman rank correlation : </a:t>
              </a:r>
              <a:r>
                <a:rPr kumimoji="0" lang="en-GB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cor.test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(…,method=“spearman”)</a:t>
              </a:r>
            </a:p>
          </p:txBody>
        </p:sp>
        <p:cxnSp>
          <p:nvCxnSpPr>
            <p:cNvPr id="15" name="Gerade Verbindung mit Pfeil 14">
              <a:extLst>
                <a:ext uri="{FF2B5EF4-FFF2-40B4-BE49-F238E27FC236}">
                  <a16:creationId xmlns:a16="http://schemas.microsoft.com/office/drawing/2014/main" id="{EBE05DA3-0B2D-51FC-CF59-8AF2ACAE60FE}"/>
                </a:ext>
              </a:extLst>
            </p:cNvPr>
            <p:cNvCxnSpPr>
              <a:cxnSpLocks/>
            </p:cNvCxnSpPr>
            <p:nvPr/>
          </p:nvCxnSpPr>
          <p:spPr>
            <a:xfrm>
              <a:off x="5054061" y="3812717"/>
              <a:ext cx="512499" cy="5057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Gerade Verbindung mit Pfeil 66">
              <a:extLst>
                <a:ext uri="{FF2B5EF4-FFF2-40B4-BE49-F238E27FC236}">
                  <a16:creationId xmlns:a16="http://schemas.microsoft.com/office/drawing/2014/main" id="{479187B3-6C6F-865D-D897-A67FE0752991}"/>
                </a:ext>
              </a:extLst>
            </p:cNvPr>
            <p:cNvCxnSpPr>
              <a:cxnSpLocks/>
            </p:cNvCxnSpPr>
            <p:nvPr/>
          </p:nvCxnSpPr>
          <p:spPr>
            <a:xfrm>
              <a:off x="5055423" y="5075778"/>
              <a:ext cx="512499" cy="5057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feld 67">
              <a:extLst>
                <a:ext uri="{FF2B5EF4-FFF2-40B4-BE49-F238E27FC236}">
                  <a16:creationId xmlns:a16="http://schemas.microsoft.com/office/drawing/2014/main" id="{27A237BE-5E67-5EE4-064A-DFF9108A46CA}"/>
                </a:ext>
              </a:extLst>
            </p:cNvPr>
            <p:cNvSpPr txBox="1"/>
            <p:nvPr/>
          </p:nvSpPr>
          <p:spPr>
            <a:xfrm>
              <a:off x="5525684" y="3653249"/>
              <a:ext cx="5400000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txBody>
            <a:bodyPr wrap="square">
              <a:spAutoFit/>
            </a:bodyPr>
            <a:lstStyle>
              <a:defPPr>
                <a:defRPr lang="de-DE"/>
              </a:defPPr>
            </a:lstStyle>
            <a:p>
              <a:pPr marL="457200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Kendall rank correlation : </a:t>
              </a:r>
              <a:r>
                <a:rPr kumimoji="0" lang="en-GB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cor.test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(…,method=“</a:t>
              </a:r>
              <a:r>
                <a:rPr kumimoji="0" lang="en-GB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kendall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”)</a:t>
              </a:r>
            </a:p>
          </p:txBody>
        </p:sp>
        <p:cxnSp>
          <p:nvCxnSpPr>
            <p:cNvPr id="83" name="Gerade Verbindung mit Pfeil 82">
              <a:extLst>
                <a:ext uri="{FF2B5EF4-FFF2-40B4-BE49-F238E27FC236}">
                  <a16:creationId xmlns:a16="http://schemas.microsoft.com/office/drawing/2014/main" id="{4E1D0C68-8E71-F3BF-5FE5-B6493618EC1A}"/>
                </a:ext>
              </a:extLst>
            </p:cNvPr>
            <p:cNvCxnSpPr>
              <a:cxnSpLocks/>
              <a:endCxn id="6" idx="1"/>
            </p:cNvCxnSpPr>
            <p:nvPr/>
          </p:nvCxnSpPr>
          <p:spPr>
            <a:xfrm flipV="1">
              <a:off x="5084085" y="1237725"/>
              <a:ext cx="470005" cy="289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feld 84">
              <a:extLst>
                <a:ext uri="{FF2B5EF4-FFF2-40B4-BE49-F238E27FC236}">
                  <a16:creationId xmlns:a16="http://schemas.microsoft.com/office/drawing/2014/main" id="{377DF4B7-C9B7-C746-DDA6-5C40FAF39D08}"/>
                </a:ext>
              </a:extLst>
            </p:cNvPr>
            <p:cNvSpPr txBox="1"/>
            <p:nvPr/>
          </p:nvSpPr>
          <p:spPr>
            <a:xfrm>
              <a:off x="716606" y="3694274"/>
              <a:ext cx="4320000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correlation = TRUE</a:t>
              </a:r>
              <a:endParaRPr kumimoji="0" lang="de-DE" sz="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endParaRPr>
            </a:p>
          </p:txBody>
        </p:sp>
        <p:cxnSp>
          <p:nvCxnSpPr>
            <p:cNvPr id="86" name="Gerade Verbindung mit Pfeil 85">
              <a:extLst>
                <a:ext uri="{FF2B5EF4-FFF2-40B4-BE49-F238E27FC236}">
                  <a16:creationId xmlns:a16="http://schemas.microsoft.com/office/drawing/2014/main" id="{1F699D00-C954-9272-C874-712CAE4FB447}"/>
                </a:ext>
              </a:extLst>
            </p:cNvPr>
            <p:cNvCxnSpPr>
              <a:cxnSpLocks/>
              <a:stCxn id="11" idx="3"/>
            </p:cNvCxnSpPr>
            <p:nvPr/>
          </p:nvCxnSpPr>
          <p:spPr>
            <a:xfrm flipV="1">
              <a:off x="5036606" y="2467587"/>
              <a:ext cx="489078" cy="74314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Textfeld 3">
              <a:extLst>
                <a:ext uri="{FF2B5EF4-FFF2-40B4-BE49-F238E27FC236}">
                  <a16:creationId xmlns:a16="http://schemas.microsoft.com/office/drawing/2014/main" id="{E3A71811-FA7E-5CF0-CBE1-9910522AA34F}"/>
                </a:ext>
              </a:extLst>
            </p:cNvPr>
            <p:cNvSpPr txBox="1"/>
            <p:nvPr/>
          </p:nvSpPr>
          <p:spPr>
            <a:xfrm>
              <a:off x="239524" y="1099225"/>
              <a:ext cx="236184" cy="215444"/>
            </a:xfrm>
            <a:prstGeom prst="rect">
              <a:avLst/>
            </a:prstGeom>
            <a:solidFill>
              <a:schemeClr val="bg2">
                <a:lumMod val="90000"/>
                <a:alpha val="19758"/>
              </a:schemeClr>
            </a:solidFill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800" noProof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E8F98D0E-0C80-7F11-67A6-D95657ED1E4B}"/>
                </a:ext>
              </a:extLst>
            </p:cNvPr>
            <p:cNvSpPr txBox="1"/>
            <p:nvPr/>
          </p:nvSpPr>
          <p:spPr>
            <a:xfrm>
              <a:off x="49953" y="571433"/>
              <a:ext cx="691375" cy="27699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Route</a:t>
              </a:r>
            </a:p>
          </p:txBody>
        </p:sp>
        <p:sp>
          <p:nvSpPr>
            <p:cNvPr id="18" name="Rechteck 17">
              <a:extLst>
                <a:ext uri="{FF2B5EF4-FFF2-40B4-BE49-F238E27FC236}">
                  <a16:creationId xmlns:a16="http://schemas.microsoft.com/office/drawing/2014/main" id="{D70FA254-BEA7-921A-2F5E-DDB7D0FA1B39}"/>
                </a:ext>
              </a:extLst>
            </p:cNvPr>
            <p:cNvSpPr/>
            <p:nvPr/>
          </p:nvSpPr>
          <p:spPr>
            <a:xfrm>
              <a:off x="221016" y="1006892"/>
              <a:ext cx="347696" cy="461665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0" name="Rechteck 19">
              <a:extLst>
                <a:ext uri="{FF2B5EF4-FFF2-40B4-BE49-F238E27FC236}">
                  <a16:creationId xmlns:a16="http://schemas.microsoft.com/office/drawing/2014/main" id="{B77CEAB8-6BE9-7371-742F-B5F0AFCDD56A}"/>
                </a:ext>
              </a:extLst>
            </p:cNvPr>
            <p:cNvSpPr/>
            <p:nvPr/>
          </p:nvSpPr>
          <p:spPr>
            <a:xfrm>
              <a:off x="215127" y="2010444"/>
              <a:ext cx="347696" cy="161578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1" name="Rechteck 20">
              <a:extLst>
                <a:ext uri="{FF2B5EF4-FFF2-40B4-BE49-F238E27FC236}">
                  <a16:creationId xmlns:a16="http://schemas.microsoft.com/office/drawing/2014/main" id="{01B1ED2A-E459-5187-0A37-2DBD13DE2366}"/>
                </a:ext>
              </a:extLst>
            </p:cNvPr>
            <p:cNvSpPr/>
            <p:nvPr/>
          </p:nvSpPr>
          <p:spPr>
            <a:xfrm>
              <a:off x="215127" y="4185311"/>
              <a:ext cx="347696" cy="64633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062C235D-FD3A-ED61-210F-2B29511F6113}"/>
                </a:ext>
              </a:extLst>
            </p:cNvPr>
            <p:cNvSpPr/>
            <p:nvPr/>
          </p:nvSpPr>
          <p:spPr>
            <a:xfrm>
              <a:off x="244786" y="5471979"/>
              <a:ext cx="347696" cy="46166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chemeClr val="tx1"/>
                  </a:solidFill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990051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solidFill>
          <a:schemeClr val="accent4">
            <a:alpha val="19758"/>
          </a:schemeClr>
        </a:solidFill>
        <a:ln w="12700">
          <a:noFill/>
        </a:ln>
      </a:spPr>
      <a:bodyPr wrap="square">
        <a:spAutoFit/>
      </a:bodyPr>
      <a:lstStyle>
        <a:defPPr algn="ctr">
          <a:defRPr sz="800" noProof="0" dirty="0" smtClean="0">
            <a:latin typeface="Calibri" panose="020F0502020204030204" pitchFamily="34" charset="0"/>
            <a:ea typeface="Cambria Math" panose="02040503050406030204" pitchFamily="18" charset="0"/>
            <a:cs typeface="Calibri" panose="020F050202020403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628DB25-49C7-9C48-9DEB-221973F78786}">
  <we:reference id="wa104381909" version="3.1.0.0" store="en-US" storeType="OMEX"/>
  <we:alternateReferences>
    <we:reference id="WA104381909" version="3.1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444</Words>
  <Application>Microsoft Macintosh PowerPoint</Application>
  <PresentationFormat>Breitbild</PresentationFormat>
  <Paragraphs>82</Paragraphs>
  <Slides>2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Cambria Math</vt:lpstr>
      <vt:lpstr>Courier New</vt:lpstr>
      <vt:lpstr>Office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Decision trees</dc:title>
  <dc:creator>Schilling Sabine HSLU W</dc:creator>
  <cp:lastModifiedBy>Schilling Sabine HSLU W</cp:lastModifiedBy>
  <cp:revision>40</cp:revision>
  <dcterms:created xsi:type="dcterms:W3CDTF">2023-05-08T12:12:17Z</dcterms:created>
  <dcterms:modified xsi:type="dcterms:W3CDTF">2026-05-26T22:08:03Z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8b0afbd-3cf7-4707-aee4-8dc9d855de29_Enabled">
    <vt:lpwstr>true</vt:lpwstr>
  </property>
  <property fmtid="{D5CDD505-2E9C-101B-9397-08002B2CF9AE}" pid="3" name="MSIP_Label_e8b0afbd-3cf7-4707-aee4-8dc9d855de29_SetDate">
    <vt:lpwstr>2025-05-10T09:29:47Z</vt:lpwstr>
  </property>
  <property fmtid="{D5CDD505-2E9C-101B-9397-08002B2CF9AE}" pid="4" name="MSIP_Label_e8b0afbd-3cf7-4707-aee4-8dc9d855de29_Method">
    <vt:lpwstr>Privileged</vt:lpwstr>
  </property>
  <property fmtid="{D5CDD505-2E9C-101B-9397-08002B2CF9AE}" pid="5" name="MSIP_Label_e8b0afbd-3cf7-4707-aee4-8dc9d855de29_Name">
    <vt:lpwstr>intern</vt:lpwstr>
  </property>
  <property fmtid="{D5CDD505-2E9C-101B-9397-08002B2CF9AE}" pid="6" name="MSIP_Label_e8b0afbd-3cf7-4707-aee4-8dc9d855de29_SiteId">
    <vt:lpwstr>75a34008-d7d1-4924-8e78-31fea86f6e68</vt:lpwstr>
  </property>
  <property fmtid="{D5CDD505-2E9C-101B-9397-08002B2CF9AE}" pid="7" name="MSIP_Label_e8b0afbd-3cf7-4707-aee4-8dc9d855de29_ActionId">
    <vt:lpwstr>8647766f-e017-41ca-968f-3e61e90fbd83</vt:lpwstr>
  </property>
  <property fmtid="{D5CDD505-2E9C-101B-9397-08002B2CF9AE}" pid="8" name="MSIP_Label_e8b0afbd-3cf7-4707-aee4-8dc9d855de29_ContentBits">
    <vt:lpwstr>0</vt:lpwstr>
  </property>
  <property fmtid="{D5CDD505-2E9C-101B-9397-08002B2CF9AE}" pid="9" name="MSIP_Label_e8b0afbd-3cf7-4707-aee4-8dc9d855de29_Tag">
    <vt:lpwstr>50, 0, 1, 1</vt:lpwstr>
  </property>
</Properties>
</file>