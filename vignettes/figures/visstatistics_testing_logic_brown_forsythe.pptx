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456" y="17007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code: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1168" y="1929384"/>
            <a:ext cx="1600200" cy="283464"/>
          </a:xfrm>
          <a:prstGeom prst="rect">
            <a:avLst/>
          </a:prstGeom>
          <a:solidFill>
            <a:srgbClr val="FFF3CD"/>
          </a:solidFill>
          <a:ln>
            <a:solidFill>
              <a:srgbClr val="FFF3C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tests</a:t>
            </a:r>
            <a:endParaRPr lang="en-US" sz="1070" dirty="0"/>
          </a:p>
        </p:txBody>
      </p:sp>
      <p:sp>
        <p:nvSpPr>
          <p:cNvPr id="4" name="Text 2"/>
          <p:cNvSpPr/>
          <p:nvPr/>
        </p:nvSpPr>
        <p:spPr>
          <a:xfrm>
            <a:off x="219456" y="2276856"/>
            <a:ext cx="1600200" cy="283464"/>
          </a:xfrm>
          <a:prstGeom prst="rect">
            <a:avLst/>
          </a:prstGeom>
          <a:solidFill>
            <a:srgbClr val="B4C7E7"/>
          </a:solidFill>
          <a:ln>
            <a:solidFill>
              <a:srgbClr val="B4C7E7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non-parametric tests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37744" y="26791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</a:t>
            </a:r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1 - </a:t>
            </a:r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conf.level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237744" y="289864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sample size of group </a:t>
            </a:r>
            <a:pPr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" y="1664208"/>
            <a:ext cx="2596896" cy="144475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0128" y="1609344"/>
            <a:ext cx="5760720" cy="22860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Categorical predictor of </a:t>
            </a:r>
            <a:pPr indent="0" marL="0">
              <a:buNone/>
            </a:pPr>
            <a:r>
              <a:rPr lang="en-US" sz="10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"factor"</a:t>
            </a:r>
            <a:pPr indent="0" marL="0">
              <a:buNone/>
            </a:pPr>
            <a:r>
              <a:rPr lang="en-US" sz="1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pPr indent="0" marL="0">
              <a:buNone/>
            </a:pPr>
            <a:r>
              <a:rPr lang="en-US" sz="1025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pPr indent="0" marL="0">
              <a:buNone/>
            </a:pPr>
            <a:r>
              <a:rPr lang="en-US" sz="1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levels/groups</a:t>
            </a:r>
            <a:endParaRPr lang="en-US" sz="1025" dirty="0"/>
          </a:p>
        </p:txBody>
      </p:sp>
      <p:sp>
        <p:nvSpPr>
          <p:cNvPr id="9" name="Text 7"/>
          <p:cNvSpPr/>
          <p:nvPr/>
        </p:nvSpPr>
        <p:spPr>
          <a:xfrm>
            <a:off x="3310128" y="1837944"/>
            <a:ext cx="5760720" cy="22860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Numeric response of </a:t>
            </a:r>
            <a:pPr indent="0" marL="0">
              <a:buNone/>
            </a:pPr>
            <a:r>
              <a:rPr lang="en-US" sz="10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"numeric" or "integer"</a:t>
            </a:r>
            <a:endParaRPr lang="en-US" sz="1025" dirty="0"/>
          </a:p>
        </p:txBody>
      </p:sp>
      <p:sp>
        <p:nvSpPr>
          <p:cNvPr id="10" name="Text 8"/>
          <p:cNvSpPr/>
          <p:nvPr/>
        </p:nvSpPr>
        <p:spPr>
          <a:xfrm>
            <a:off x="3310128" y="2066544"/>
            <a:ext cx="5760720" cy="22860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94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4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&lt;- lm(response ~ group);  r &lt;- rstandard(model)</a:t>
            </a:r>
            <a:pPr indent="0" marL="0">
              <a:buNone/>
            </a:pPr>
            <a:r>
              <a:rPr lang="en-US" sz="94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(internally studentized model residuals)</a:t>
            </a:r>
            <a:endParaRPr lang="en-US" sz="945" dirty="0"/>
          </a:p>
        </p:txBody>
      </p:sp>
      <p:sp>
        <p:nvSpPr>
          <p:cNvPr id="11" name="Shape 9"/>
          <p:cNvSpPr/>
          <p:nvPr/>
        </p:nvSpPr>
        <p:spPr>
          <a:xfrm>
            <a:off x="6190488" y="2295144"/>
            <a:ext cx="1147572" cy="38404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206240" y="2679192"/>
            <a:ext cx="6263640" cy="329184"/>
          </a:xfrm>
          <a:prstGeom prst="rect">
            <a:avLst/>
          </a:prstGeom>
          <a:solidFill>
            <a:srgbClr val="E2F0D9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3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Brown-Forsythe test (median-centred Levene) on r by group</a:t>
            </a:r>
            <a:endParaRPr lang="en-US" sz="1035" dirty="0"/>
          </a:p>
        </p:txBody>
      </p:sp>
      <p:sp>
        <p:nvSpPr>
          <p:cNvPr id="13" name="Text 11"/>
          <p:cNvSpPr/>
          <p:nvPr/>
        </p:nvSpPr>
        <p:spPr>
          <a:xfrm>
            <a:off x="10588752" y="2679192"/>
            <a:ext cx="1536192" cy="329184"/>
          </a:xfrm>
          <a:prstGeom prst="rect">
            <a:avLst/>
          </a:prstGeom>
          <a:solidFill>
            <a:srgbClr val="E2F0D9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homoscedasticity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836969" y="3008376"/>
            <a:ext cx="-2745029" cy="53949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736592" y="318211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</a:t>
            </a:r>
            <a:pPr algn="ctr" indent="0" marL="0">
              <a:buNone/>
            </a:pPr>
            <a:r>
              <a:rPr lang="en-US" sz="1220" i="1" baseline="-400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BF</a:t>
            </a:r>
            <a:pPr algn="ctr" indent="0" marL="0">
              <a:buNone/>
            </a:pPr>
            <a:r>
              <a:rPr lang="en-US" sz="122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&lt; α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2423160" y="3547872"/>
            <a:ext cx="3337560" cy="320040"/>
          </a:xfrm>
          <a:prstGeom prst="rect">
            <a:avLst/>
          </a:prstGeom>
          <a:solidFill>
            <a:srgbClr val="FBE5D6"/>
          </a:solidFill>
          <a:ln w="10160">
            <a:solidFill>
              <a:srgbClr val="0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shapiro.test(r)</a:t>
            </a:r>
            <a:pPr algn="ctr" indent="0" marL="0">
              <a:buNone/>
            </a:pPr>
            <a:r>
              <a:rPr lang="en-US" sz="105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within each group</a:t>
            </a:r>
            <a:endParaRPr lang="en-US" sz="1055" dirty="0"/>
          </a:p>
        </p:txBody>
      </p:sp>
      <p:sp>
        <p:nvSpPr>
          <p:cNvPr id="17" name="Shape 15"/>
          <p:cNvSpPr/>
          <p:nvPr/>
        </p:nvSpPr>
        <p:spPr>
          <a:xfrm>
            <a:off x="8590788" y="3008376"/>
            <a:ext cx="-137160" cy="53949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412480" y="318211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</a:t>
            </a:r>
            <a:pPr algn="ctr" indent="0" marL="0">
              <a:buNone/>
            </a:pPr>
            <a:r>
              <a:rPr lang="en-US" sz="1220" i="1" baseline="-400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BF</a:t>
            </a:r>
            <a:pPr algn="ctr" indent="0" marL="0">
              <a:buNone/>
            </a:pPr>
            <a:r>
              <a:rPr lang="en-US" sz="122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≥ α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702552" y="3547872"/>
            <a:ext cx="3502152" cy="320040"/>
          </a:xfrm>
          <a:prstGeom prst="rect">
            <a:avLst/>
          </a:prstGeom>
          <a:solidFill>
            <a:srgbClr val="FBE5D6"/>
          </a:solidFill>
          <a:ln w="10160">
            <a:solidFill>
              <a:srgbClr val="0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shapiro.test(r)</a:t>
            </a:r>
            <a:pPr algn="ctr" indent="0" marL="0">
              <a:buNone/>
            </a:pPr>
            <a:r>
              <a:rPr lang="en-US" sz="105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pooled across groups</a:t>
            </a:r>
            <a:endParaRPr lang="en-US" sz="1055" dirty="0"/>
          </a:p>
        </p:txBody>
      </p:sp>
      <p:sp>
        <p:nvSpPr>
          <p:cNvPr id="20" name="Text 18"/>
          <p:cNvSpPr/>
          <p:nvPr/>
        </p:nvSpPr>
        <p:spPr>
          <a:xfrm>
            <a:off x="10588752" y="3547872"/>
            <a:ext cx="1536192" cy="320040"/>
          </a:xfrm>
          <a:prstGeom prst="rect">
            <a:avLst/>
          </a:prstGeom>
          <a:solidFill>
            <a:srgbClr val="FBE5D6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normality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489704" y="4626864"/>
            <a:ext cx="2834640" cy="283464"/>
          </a:xfrm>
          <a:prstGeom prst="rect">
            <a:avLst/>
          </a:prstGeom>
          <a:solidFill>
            <a:srgbClr val="B4C7E7"/>
          </a:solidFill>
          <a:ln>
            <a:solidFill>
              <a:srgbClr val="B4C7E7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non-parametric tests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91306" y="3867912"/>
            <a:ext cx="-1049274" cy="114300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408736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</a:t>
            </a:r>
            <a:pPr algn="ctr" indent="0" marL="0">
              <a:buNone/>
            </a:pPr>
            <a:r>
              <a:rPr lang="en-US" sz="1160" i="1" baseline="-400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SW,g</a:t>
            </a:r>
            <a:pPr algn="ctr" indent="0" marL="0">
              <a:buNone/>
            </a:pPr>
            <a:r>
              <a:rPr lang="en-US" sz="116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≥ α</a:t>
            </a:r>
            <a:pPr algn="ctr" indent="0" marL="0">
              <a:buNone/>
            </a:pPr>
            <a:r>
              <a:rPr lang="en-US" sz="116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∀ g = 1,…,k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4759452" y="3867912"/>
            <a:ext cx="523951" cy="758952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413248" y="39684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</a:t>
            </a:r>
            <a:pPr algn="ctr" indent="0" marL="0">
              <a:buNone/>
            </a:pPr>
            <a:r>
              <a:rPr lang="en-US" sz="1120" i="1" baseline="-400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SW,g</a:t>
            </a:r>
            <a:pPr algn="ctr" indent="0" marL="0">
              <a:buNone/>
            </a:pPr>
            <a:r>
              <a:rPr lang="en-US" sz="112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&lt; α</a:t>
            </a:r>
            <a:pPr algn="ctr" indent="0" marL="0">
              <a:buNone/>
            </a:pPr>
            <a:r>
              <a:rPr lang="en-US" sz="112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for any g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9154058" y="3867912"/>
            <a:ext cx="465430" cy="114300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02368" y="40782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</a:t>
            </a:r>
            <a:pPr algn="ctr" indent="0" marL="0">
              <a:buNone/>
            </a:pPr>
            <a:r>
              <a:rPr lang="en-US" sz="1220" i="1" baseline="-400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SW</a:t>
            </a:r>
            <a:pPr algn="ctr" indent="0" marL="0">
              <a:buNone/>
            </a:pPr>
            <a:r>
              <a:rPr lang="en-US" sz="122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≥ α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7823241" y="3867912"/>
            <a:ext cx="-1235903" cy="758952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150608" y="407822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</a:t>
            </a:r>
            <a:pPr algn="ctr" indent="0" marL="0">
              <a:buNone/>
            </a:pPr>
            <a:r>
              <a:rPr lang="en-US" sz="1220" i="1" baseline="-400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SW</a:t>
            </a:r>
            <a:pPr algn="ctr" indent="0" marL="0">
              <a:buNone/>
            </a:pPr>
            <a:r>
              <a:rPr lang="en-US" sz="122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&lt; α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1088136" y="502005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2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328416" y="4956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&gt; 2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542032" y="5010912"/>
            <a:ext cx="-1060704" cy="40233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542032" y="5010912"/>
            <a:ext cx="731520" cy="40233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04088" y="5413248"/>
            <a:ext cx="1554480" cy="283464"/>
          </a:xfrm>
          <a:prstGeom prst="rect">
            <a:avLst/>
          </a:prstGeom>
          <a:solidFill>
            <a:srgbClr val="FFF3CD"/>
          </a:solidFill>
          <a:ln w="10160">
            <a:solidFill>
              <a:srgbClr val="0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t.test()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2459736" y="5413248"/>
            <a:ext cx="1627632" cy="283464"/>
          </a:xfrm>
          <a:prstGeom prst="rect">
            <a:avLst/>
          </a:prstGeom>
          <a:solidFill>
            <a:srgbClr val="FFF3CD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oneway.test()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3273552" y="5696712"/>
            <a:ext cx="0" cy="27432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2487168" y="5971032"/>
            <a:ext cx="1664208" cy="283464"/>
          </a:xfrm>
          <a:prstGeom prst="rect">
            <a:avLst/>
          </a:prstGeom>
          <a:solidFill>
            <a:srgbClr val="D0CECE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games.howell()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07024" y="4910328"/>
            <a:ext cx="0" cy="118872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07024" y="5029200"/>
            <a:ext cx="-841248" cy="38404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907024" y="5029200"/>
            <a:ext cx="813816" cy="38404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4663440" y="502005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2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757416" y="49651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&gt; 2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306824" y="5413248"/>
            <a:ext cx="1517904" cy="283464"/>
          </a:xfrm>
          <a:prstGeom prst="rect">
            <a:avLst/>
          </a:prstGeom>
          <a:solidFill>
            <a:srgbClr val="B4C7E7"/>
          </a:solidFill>
          <a:ln w="10160">
            <a:solidFill>
              <a:srgbClr val="0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wilcox.test()</a:t>
            </a:r>
            <a:endParaRPr lang="en-US" sz="1030" dirty="0"/>
          </a:p>
        </p:txBody>
      </p:sp>
      <p:sp>
        <p:nvSpPr>
          <p:cNvPr id="44" name="Text 42"/>
          <p:cNvSpPr/>
          <p:nvPr/>
        </p:nvSpPr>
        <p:spPr>
          <a:xfrm>
            <a:off x="5980176" y="5413248"/>
            <a:ext cx="1600200" cy="283464"/>
          </a:xfrm>
          <a:prstGeom prst="rect">
            <a:avLst/>
          </a:prstGeom>
          <a:solidFill>
            <a:srgbClr val="B4C7E7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kruskal.test()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84848" y="5696712"/>
            <a:ext cx="0" cy="27432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5989320" y="5971032"/>
            <a:ext cx="1600200" cy="283464"/>
          </a:xfrm>
          <a:prstGeom prst="rect">
            <a:avLst/>
          </a:prstGeom>
          <a:solidFill>
            <a:srgbClr val="D0CECE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dunn.test()</a:t>
            </a:r>
            <a:endParaRPr lang="en-US" sz="1010" dirty="0"/>
          </a:p>
        </p:txBody>
      </p:sp>
      <p:sp>
        <p:nvSpPr>
          <p:cNvPr id="47" name="Text 45"/>
          <p:cNvSpPr/>
          <p:nvPr/>
        </p:nvSpPr>
        <p:spPr>
          <a:xfrm>
            <a:off x="8302752" y="502005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2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0369296" y="49651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&gt; 2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9619488" y="5010912"/>
            <a:ext cx="-886968" cy="40233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619488" y="5010912"/>
            <a:ext cx="667512" cy="40233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7735824" y="5413248"/>
            <a:ext cx="1956816" cy="283464"/>
          </a:xfrm>
          <a:prstGeom prst="rect">
            <a:avLst/>
          </a:prstGeom>
          <a:solidFill>
            <a:srgbClr val="FFF3CD"/>
          </a:solidFill>
          <a:ln w="10160">
            <a:solidFill>
              <a:srgbClr val="0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t.test(..., var.equal=TRUE)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9875520" y="5413248"/>
            <a:ext cx="822960" cy="283464"/>
          </a:xfrm>
          <a:prstGeom prst="rect">
            <a:avLst/>
          </a:prstGeom>
          <a:solidFill>
            <a:srgbClr val="FFF3CD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aov()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0287000" y="5696712"/>
            <a:ext cx="0" cy="27432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9765792" y="5971032"/>
            <a:ext cx="1042416" cy="283464"/>
          </a:xfrm>
          <a:prstGeom prst="rect">
            <a:avLst/>
          </a:prstGeom>
          <a:solidFill>
            <a:srgbClr val="D0CECE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TukeyHSD()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10863072" y="5413248"/>
            <a:ext cx="1225296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 selected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863072" y="5971032"/>
            <a:ext cx="1225296" cy="283464"/>
          </a:xfrm>
          <a:prstGeom prst="rect">
            <a:avLst/>
          </a:prstGeom>
          <a:solidFill>
            <a:srgbClr val="D0CECE"/>
          </a:solidFill>
          <a:ln w="10160">
            <a:solidFill>
              <a:srgbClr val="D0CEC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 test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Revised testing logic</dc:title>
  <dc:subject>visStatistics testing logic</dc:subject>
  <dc:creator>OpenAI</dc:creator>
  <cp:lastModifiedBy>OpenAI</cp:lastModifiedBy>
  <cp:revision>1</cp:revision>
  <dcterms:created xsi:type="dcterms:W3CDTF">2026-09-26T09:29:58Z</dcterms:created>
  <dcterms:modified xsi:type="dcterms:W3CDTF">2026-09-26T09:29:58Z</dcterms:modified>
</cp:coreProperties>
</file>