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6" Type="http://schemas.openxmlformats.org/officeDocument/2006/relationships/custom-properties" Target="docProps/custom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8"/>
  </p:notesMasterIdLst>
  <p:sldIdLst>
    <p:sldId id="261" r:id="rId2"/>
    <p:sldId id="262" r:id="rId3"/>
    <p:sldId id="263" r:id="rId4"/>
    <p:sldId id="265" r:id="rId5"/>
    <p:sldId id="266" r:id="rId6"/>
    <p:sldId id="264" r:id="rId7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228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9969"/>
    <p:restoredTop sz="79338"/>
  </p:normalViewPr>
  <p:slideViewPr>
    <p:cSldViewPr snapToGrid="0" snapToObjects="1" showGuides="1">
      <p:cViewPr>
        <p:scale>
          <a:sx n="99" d="100"/>
          <a:sy n="99" d="100"/>
        </p:scale>
        <p:origin x="144" y="24"/>
      </p:cViewPr>
      <p:guideLst>
        <p:guide orient="horz" pos="2228"/>
        <p:guide pos="3840"/>
      </p:guideLst>
    </p:cSldViewPr>
  </p:slideViewPr>
  <p:notesTextViewPr>
    <p:cViewPr>
      <p:scale>
        <a:sx n="20" d="100"/>
        <a:sy n="20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13" Type="http://schemas.microsoft.com/office/2016/11/relationships/changesInfo" Target="changesInfos/changesInfo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Schilling Sabine HSLU W" userId="b0e2af5c-9187-4900-883a-c96514cd8e15" providerId="ADAL" clId="{5E51067F-94D7-505D-9735-0698788361AC}"/>
    <pc:docChg chg="custSel modSld">
      <pc:chgData name="Schilling Sabine HSLU W" userId="b0e2af5c-9187-4900-883a-c96514cd8e15" providerId="ADAL" clId="{5E51067F-94D7-505D-9735-0698788361AC}" dt="2025-12-12T19:17:28.210" v="72" actId="5793"/>
      <pc:docMkLst>
        <pc:docMk/>
      </pc:docMkLst>
      <pc:sldChg chg="delSp modSp mod">
        <pc:chgData name="Schilling Sabine HSLU W" userId="b0e2af5c-9187-4900-883a-c96514cd8e15" providerId="ADAL" clId="{5E51067F-94D7-505D-9735-0698788361AC}" dt="2025-12-12T19:17:28.210" v="72" actId="5793"/>
        <pc:sldMkLst>
          <pc:docMk/>
          <pc:sldMk cId="2856706440" sldId="265"/>
        </pc:sldMkLst>
        <pc:spChg chg="mod">
          <ac:chgData name="Schilling Sabine HSLU W" userId="b0e2af5c-9187-4900-883a-c96514cd8e15" providerId="ADAL" clId="{5E51067F-94D7-505D-9735-0698788361AC}" dt="2025-12-11T22:44:39.442" v="22" actId="20577"/>
          <ac:spMkLst>
            <pc:docMk/>
            <pc:sldMk cId="2856706440" sldId="265"/>
            <ac:spMk id="6" creationId="{601ED97F-F16D-7745-E326-55D340B29DDB}"/>
          </ac:spMkLst>
        </pc:spChg>
        <pc:spChg chg="del">
          <ac:chgData name="Schilling Sabine HSLU W" userId="b0e2af5c-9187-4900-883a-c96514cd8e15" providerId="ADAL" clId="{5E51067F-94D7-505D-9735-0698788361AC}" dt="2025-12-11T22:43:32.460" v="3" actId="478"/>
          <ac:spMkLst>
            <pc:docMk/>
            <pc:sldMk cId="2856706440" sldId="265"/>
            <ac:spMk id="46" creationId="{3FC928C3-7D3C-E275-1CCA-B73CEDC90251}"/>
          </ac:spMkLst>
        </pc:spChg>
        <pc:spChg chg="mod">
          <ac:chgData name="Schilling Sabine HSLU W" userId="b0e2af5c-9187-4900-883a-c96514cd8e15" providerId="ADAL" clId="{5E51067F-94D7-505D-9735-0698788361AC}" dt="2025-12-12T19:17:28.210" v="72" actId="5793"/>
          <ac:spMkLst>
            <pc:docMk/>
            <pc:sldMk cId="2856706440" sldId="265"/>
            <ac:spMk id="93" creationId="{7AE465F4-E6C9-5620-182D-8A6490DFF3E3}"/>
          </ac:spMkLst>
        </pc:spChg>
      </pc:sldChg>
      <pc:sldChg chg="addSp modSp mod">
        <pc:chgData name="Schilling Sabine HSLU W" userId="b0e2af5c-9187-4900-883a-c96514cd8e15" providerId="ADAL" clId="{5E51067F-94D7-505D-9735-0698788361AC}" dt="2025-12-11T22:45:47.443" v="47" actId="20577"/>
        <pc:sldMkLst>
          <pc:docMk/>
          <pc:sldMk cId="741613057" sldId="266"/>
        </pc:sldMkLst>
        <pc:spChg chg="add mod">
          <ac:chgData name="Schilling Sabine HSLU W" userId="b0e2af5c-9187-4900-883a-c96514cd8e15" providerId="ADAL" clId="{5E51067F-94D7-505D-9735-0698788361AC}" dt="2025-12-11T22:43:04.852" v="2" actId="1076"/>
          <ac:spMkLst>
            <pc:docMk/>
            <pc:sldMk cId="741613057" sldId="266"/>
            <ac:spMk id="3" creationId="{1DCF5845-23C4-838A-E1D1-32A582B28FBD}"/>
          </ac:spMkLst>
        </pc:spChg>
        <pc:spChg chg="mod">
          <ac:chgData name="Schilling Sabine HSLU W" userId="b0e2af5c-9187-4900-883a-c96514cd8e15" providerId="ADAL" clId="{5E51067F-94D7-505D-9735-0698788361AC}" dt="2025-12-11T22:45:47.443" v="47" actId="20577"/>
          <ac:spMkLst>
            <pc:docMk/>
            <pc:sldMk cId="741613057" sldId="266"/>
            <ac:spMk id="93" creationId="{C83EAB7E-EC55-3AF9-7904-AE52F1946FC1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AECA108-3915-9043-8428-B4BE4472B821}" type="datetimeFigureOut">
              <a:rPr lang="de-DE" smtClean="0"/>
              <a:t>11.12.25</a:t>
            </a:fld>
            <a:endParaRPr lang="de-DE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7B21A6D-3249-074E-BBD6-BCFA9536785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52366692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11F13F-07D4-A934-FD35-6ECF11F11C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7D301AF7-AF76-5D7C-E948-42503E46B21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D4E8C43C-7B26-055A-5544-B5D0DC4E1AF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712895C5-68DC-C717-7DB5-AC4DEF0DD87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7B21A6D-3249-074E-BBD6-BCFA95367850}" type="slidenum">
              <a:rPr lang="de-DE" smtClean="0"/>
              <a:t>1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0472167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C2CBAC-80CA-C9E5-1A92-02ABE05A3C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3042F94E-FBA1-6FD3-2FDD-8FD64E13A3B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69313A6E-DF05-61B9-CCCC-E311E1AB050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586AFF59-FEAA-3522-91AB-6633E0E540F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7B21A6D-3249-074E-BBD6-BCFA95367850}" type="slidenum">
              <a:rPr lang="de-DE" smtClean="0"/>
              <a:t>3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55886909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E438C7-E035-463A-75D2-94C34E5CE5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D915DDCC-424A-B0AD-41C2-01F88F64737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32FCCE35-FB5C-0487-E59C-461C891E7F7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5283968B-10D8-4B71-8359-52D0D80DB24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7B21A6D-3249-074E-BBD6-BCFA95367850}" type="slidenum">
              <a:rPr lang="de-DE" smtClean="0"/>
              <a:t>4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84455246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1024B0-7C97-EEF9-4EE9-87000410ED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4ED2B6BD-8E77-688C-BA14-074C53DA8CA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82B3410F-5591-A32D-D8AB-CB79C43FED2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38E16B48-F2F4-F787-F151-A13B6A2B0F4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7B21A6D-3249-074E-BBD6-BCFA95367850}" type="slidenum">
              <a:rPr lang="de-DE" smtClean="0"/>
              <a:t>5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34439818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1ECEF21-0523-3245-A3FA-5D78C65A5FD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C75FCB35-54D7-B745-9657-FF74691F5DD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F3FB4C31-A070-E749-B7E9-CAD5936A13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497422-92ED-3D47-BF28-17000E80E497}" type="datetimeFigureOut">
              <a:rPr lang="de-DE" smtClean="0"/>
              <a:t>11.12.25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5E4BDDB1-76AF-F240-BE46-91A5D3ACFD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A5ED5B39-7F00-5F46-862B-911988D345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D4C396-ED43-1B46-9C39-098C07AA861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4634905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A554BE9-111B-6643-8D26-3DD596FEAF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74B77CD3-C0E5-484B-AA36-1FAB6E94178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78AE1DB2-DB10-BF4C-875B-98CAE475BC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497422-92ED-3D47-BF28-17000E80E497}" type="datetimeFigureOut">
              <a:rPr lang="de-DE" smtClean="0"/>
              <a:t>11.12.25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EFA9CC44-0F69-3747-A15E-BACC777969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4655398D-D950-0B47-9A96-AABF434F06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D4C396-ED43-1B46-9C39-098C07AA861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81179305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5EDCAD7-127F-4A49-A00E-1493C9F4FD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F93E74A8-D7E8-5E47-9B26-F406CD93C65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51EC5F87-4EBC-EC46-BC69-2EA7086C5C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497422-92ED-3D47-BF28-17000E80E497}" type="datetimeFigureOut">
              <a:rPr lang="de-DE" smtClean="0"/>
              <a:t>11.12.25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56F350A8-A53D-4D41-A2F9-A9AFF938D8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5818D8E7-39AC-0B46-987D-0950F1CD0F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D4C396-ED43-1B46-9C39-098C07AA861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01826661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82F7841-3B2B-604F-815C-62EC3AAFD7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0D4B11C0-B11E-F540-81AE-52BAEDA20DC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719245B3-41C8-C343-88E2-BE23F220EDF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B19DD4A7-C44D-9E43-BF1E-F13205AEE7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497422-92ED-3D47-BF28-17000E80E497}" type="datetimeFigureOut">
              <a:rPr lang="de-DE" smtClean="0"/>
              <a:t>11.12.25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344D8E9D-4D59-1F45-8E08-61D1A8B6552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E02EFA05-29DD-0641-A620-7019B4A07D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D4C396-ED43-1B46-9C39-098C07AA861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67841303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DFB19D6-A6D2-AF40-A13C-FA7BE88B6E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B3ACBB3E-E485-5F42-BEC1-669009E5F80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DE955C11-20E8-0348-A806-9CDE1284CE9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72D82558-8DBB-944E-BBE0-6A7C6E8343E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C5F790C5-2F18-8E45-94AA-64F30C096BC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ABFF6501-64C2-C943-A8E9-C5E1B7491C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497422-92ED-3D47-BF28-17000E80E497}" type="datetimeFigureOut">
              <a:rPr lang="de-DE" smtClean="0"/>
              <a:t>11.12.25</a:t>
            </a:fld>
            <a:endParaRPr lang="de-DE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A95BB371-362A-B645-9C58-F190A3C7706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13A6B4C4-5B8D-2241-A404-A2768A8467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D4C396-ED43-1B46-9C39-098C07AA861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65720533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2CCD577-05C9-164F-939D-D883FFD2CC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40782072-9B65-E543-BC58-68B5955A03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497422-92ED-3D47-BF28-17000E80E497}" type="datetimeFigureOut">
              <a:rPr lang="de-DE" smtClean="0"/>
              <a:t>11.12.25</a:t>
            </a:fld>
            <a:endParaRPr lang="de-DE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24A1934E-231F-354D-B826-E7AD8E44F7E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253B6EAF-2961-3F47-B50E-4F501253EA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D4C396-ED43-1B46-9C39-098C07AA861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80963998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311E0EEA-87BD-7E4D-BDD1-E816BF7868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497422-92ED-3D47-BF28-17000E80E497}" type="datetimeFigureOut">
              <a:rPr lang="de-DE" smtClean="0"/>
              <a:t>11.12.25</a:t>
            </a:fld>
            <a:endParaRPr lang="de-DE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DFA06A65-624C-EA4B-936E-DBCEC9D5E3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B982C9F7-D6EF-DC40-B7B5-4E48A45868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D4C396-ED43-1B46-9C39-098C07AA861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10231978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B5B16D9-E2F7-324E-A99A-47378B28ED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6DB2D12D-5159-294F-8EA7-5F484B34887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3C48EA53-C77F-FF44-992C-A85A3C70F25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FBCC8764-0DBF-344B-912D-C3453B17BA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497422-92ED-3D47-BF28-17000E80E497}" type="datetimeFigureOut">
              <a:rPr lang="de-DE" smtClean="0"/>
              <a:t>11.12.25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A220CBC3-1569-3744-9FB2-E12E54EAA4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9850A68D-38F0-CC4E-8DE1-604F3C84E6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D4C396-ED43-1B46-9C39-098C07AA861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04196037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3F1231F-387B-1544-82E5-776081E5C6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Bildplatzhalter 2">
            <a:extLst>
              <a:ext uri="{FF2B5EF4-FFF2-40B4-BE49-F238E27FC236}">
                <a16:creationId xmlns:a16="http://schemas.microsoft.com/office/drawing/2014/main" id="{7BE53984-9ED8-374C-9F9D-A49EB58D006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de-DE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E27C99D1-BB16-F749-B0AB-0A6B34283A4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1B531638-E076-814A-870C-37518A177D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497422-92ED-3D47-BF28-17000E80E497}" type="datetimeFigureOut">
              <a:rPr lang="de-DE" smtClean="0"/>
              <a:t>11.12.25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4D3AFDA6-425A-4C48-A64B-2FC02B245F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DFCAA1C2-0368-3F42-B248-087F917176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D4C396-ED43-1B46-9C39-098C07AA861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22974073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249C4A6-64B8-904B-959B-523D63313E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8FA91367-9EA8-B14F-A1E3-0D7488D175A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F095B52B-F627-0243-95BF-CAF30A424B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497422-92ED-3D47-BF28-17000E80E497}" type="datetimeFigureOut">
              <a:rPr lang="de-DE" smtClean="0"/>
              <a:t>11.12.25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027D948D-68F0-444F-A060-6F3ECCFE05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0A557819-4A50-7C44-911B-582581B344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D4C396-ED43-1B46-9C39-098C07AA861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89341266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kaler Titel 1">
            <a:extLst>
              <a:ext uri="{FF2B5EF4-FFF2-40B4-BE49-F238E27FC236}">
                <a16:creationId xmlns:a16="http://schemas.microsoft.com/office/drawing/2014/main" id="{4E74BDCF-A048-7341-8942-C4374B84847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87FF7B22-2769-8144-A326-25919C1D0DE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BC5B7B6A-9CEB-6C42-9C7B-F9ED382632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497422-92ED-3D47-BF28-17000E80E497}" type="datetimeFigureOut">
              <a:rPr lang="de-DE" smtClean="0"/>
              <a:t>11.12.25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B08C4A24-0F26-0840-A896-381E0715D3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82341010-5E03-FB4F-AE26-6B22D37B12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D4C396-ED43-1B46-9C39-098C07AA861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16587766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A18E2AF2-F7FF-0F4F-A4BE-509679ACA8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B22B262F-55F8-F14A-9AC3-B59BB1C1370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D21F1D78-192B-D042-83F5-BB397139B29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3497422-92ED-3D47-BF28-17000E80E497}" type="datetimeFigureOut">
              <a:rPr lang="de-DE" smtClean="0"/>
              <a:t>11.12.25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F294F689-F2F7-294B-8BF5-FD360E11C48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EED99928-F7B0-4B46-865C-13B1B95B4C4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ED4C396-ED43-1B46-9C39-098C07AA861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36406520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22.png"/><Relationship Id="rId13" Type="http://schemas.openxmlformats.org/officeDocument/2006/relationships/image" Target="../media/image26.png"/><Relationship Id="rId18" Type="http://schemas.openxmlformats.org/officeDocument/2006/relationships/image" Target="../media/image16.png"/><Relationship Id="rId3" Type="http://schemas.openxmlformats.org/officeDocument/2006/relationships/image" Target="../media/image1.png"/><Relationship Id="rId7" Type="http://schemas.openxmlformats.org/officeDocument/2006/relationships/image" Target="../media/image21.png"/><Relationship Id="rId12" Type="http://schemas.openxmlformats.org/officeDocument/2006/relationships/image" Target="../media/image25.png"/><Relationship Id="rId2" Type="http://schemas.openxmlformats.org/officeDocument/2006/relationships/notesSlide" Target="../notesSlides/notesSlide1.xml"/><Relationship Id="rId20" Type="http://schemas.openxmlformats.org/officeDocument/2006/relationships/image" Target="../media/image18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0.png"/><Relationship Id="rId11" Type="http://schemas.openxmlformats.org/officeDocument/2006/relationships/image" Target="../media/image9.png"/><Relationship Id="rId5" Type="http://schemas.openxmlformats.org/officeDocument/2006/relationships/image" Target="../media/image19.png"/><Relationship Id="rId10" Type="http://schemas.openxmlformats.org/officeDocument/2006/relationships/image" Target="../media/image24.png"/><Relationship Id="rId19" Type="http://schemas.openxmlformats.org/officeDocument/2006/relationships/image" Target="../media/image17.png"/><Relationship Id="rId4" Type="http://schemas.openxmlformats.org/officeDocument/2006/relationships/image" Target="../media/image2.png"/><Relationship Id="rId9" Type="http://schemas.openxmlformats.org/officeDocument/2006/relationships/image" Target="../media/image23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22.png"/><Relationship Id="rId13" Type="http://schemas.openxmlformats.org/officeDocument/2006/relationships/image" Target="../media/image26.png"/><Relationship Id="rId18" Type="http://schemas.openxmlformats.org/officeDocument/2006/relationships/image" Target="../media/image16.png"/><Relationship Id="rId3" Type="http://schemas.openxmlformats.org/officeDocument/2006/relationships/image" Target="../media/image1.png"/><Relationship Id="rId7" Type="http://schemas.openxmlformats.org/officeDocument/2006/relationships/image" Target="../media/image21.png"/><Relationship Id="rId12" Type="http://schemas.openxmlformats.org/officeDocument/2006/relationships/image" Target="../media/image25.png"/><Relationship Id="rId2" Type="http://schemas.openxmlformats.org/officeDocument/2006/relationships/notesSlide" Target="../notesSlides/notesSlide2.xml"/><Relationship Id="rId20" Type="http://schemas.openxmlformats.org/officeDocument/2006/relationships/image" Target="../media/image18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0.png"/><Relationship Id="rId11" Type="http://schemas.openxmlformats.org/officeDocument/2006/relationships/image" Target="../media/image9.png"/><Relationship Id="rId5" Type="http://schemas.openxmlformats.org/officeDocument/2006/relationships/image" Target="../media/image19.png"/><Relationship Id="rId10" Type="http://schemas.openxmlformats.org/officeDocument/2006/relationships/image" Target="../media/image24.png"/><Relationship Id="rId19" Type="http://schemas.openxmlformats.org/officeDocument/2006/relationships/image" Target="../media/image17.png"/><Relationship Id="rId4" Type="http://schemas.openxmlformats.org/officeDocument/2006/relationships/image" Target="../media/image2.png"/><Relationship Id="rId9" Type="http://schemas.openxmlformats.org/officeDocument/2006/relationships/image" Target="../media/image23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13" Type="http://schemas.openxmlformats.org/officeDocument/2006/relationships/image" Target="../media/image14.png"/><Relationship Id="rId3" Type="http://schemas.openxmlformats.org/officeDocument/2006/relationships/image" Target="../media/image3.png"/><Relationship Id="rId7" Type="http://schemas.openxmlformats.org/officeDocument/2006/relationships/image" Target="../media/image7.png"/><Relationship Id="rId12" Type="http://schemas.openxmlformats.org/officeDocument/2006/relationships/image" Target="../media/image1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.png"/><Relationship Id="rId11" Type="http://schemas.openxmlformats.org/officeDocument/2006/relationships/image" Target="../media/image12.png"/><Relationship Id="rId5" Type="http://schemas.openxmlformats.org/officeDocument/2006/relationships/image" Target="../media/image5.png"/><Relationship Id="rId10" Type="http://schemas.openxmlformats.org/officeDocument/2006/relationships/image" Target="../media/image11.png"/><Relationship Id="rId4" Type="http://schemas.openxmlformats.org/officeDocument/2006/relationships/image" Target="../media/image4.png"/><Relationship Id="rId9" Type="http://schemas.openxmlformats.org/officeDocument/2006/relationships/image" Target="../media/image10.png"/><Relationship Id="rId14" Type="http://schemas.openxmlformats.org/officeDocument/2006/relationships/image" Target="../media/image15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32.png"/><Relationship Id="rId3" Type="http://schemas.openxmlformats.org/officeDocument/2006/relationships/image" Target="../media/image28.png"/><Relationship Id="rId7" Type="http://schemas.openxmlformats.org/officeDocument/2006/relationships/image" Target="../media/image3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3.png"/><Relationship Id="rId5" Type="http://schemas.openxmlformats.org/officeDocument/2006/relationships/image" Target="../media/image30.png"/><Relationship Id="rId4" Type="http://schemas.openxmlformats.org/officeDocument/2006/relationships/image" Target="../media/image29.pn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085427-4A64-702B-9163-D84D61A2F7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Textfeld 17">
            <a:extLst>
              <a:ext uri="{FF2B5EF4-FFF2-40B4-BE49-F238E27FC236}">
                <a16:creationId xmlns:a16="http://schemas.microsoft.com/office/drawing/2014/main" id="{6B313EE7-478A-0AAC-A308-F43BA3BD9FA8}"/>
              </a:ext>
            </a:extLst>
          </p:cNvPr>
          <p:cNvSpPr txBox="1"/>
          <p:nvPr/>
        </p:nvSpPr>
        <p:spPr>
          <a:xfrm>
            <a:off x="262794" y="2202514"/>
            <a:ext cx="2959748" cy="276999"/>
          </a:xfrm>
          <a:prstGeom prst="rect">
            <a:avLst/>
          </a:prstGeom>
          <a:solidFill>
            <a:schemeClr val="accent2">
              <a:alpha val="19906"/>
            </a:schemeClr>
          </a:solidFill>
          <a:ln w="12700"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en-GB" sz="1200" noProof="0" dirty="0" err="1">
                <a:latin typeface="Courier New" panose="02070309020205020404" pitchFamily="49" charset="0"/>
                <a:ea typeface="Cambria Math" panose="02040503050406030204" pitchFamily="18" charset="0"/>
                <a:cs typeface="Courier New" panose="02070309020205020404" pitchFamily="49" charset="0"/>
              </a:rPr>
              <a:t>shapiro.test</a:t>
            </a:r>
            <a:r>
              <a:rPr lang="en-GB" sz="1200" noProof="0" dirty="0">
                <a:latin typeface="Courier New" panose="02070309020205020404" pitchFamily="49" charset="0"/>
                <a:ea typeface="Cambria Math" panose="02040503050406030204" pitchFamily="18" charset="0"/>
                <a:cs typeface="Courier New" panose="02070309020205020404" pitchFamily="49" charset="0"/>
              </a:rPr>
              <a:t>()</a:t>
            </a:r>
            <a:r>
              <a:rPr lang="en-GB" sz="1200" noProof="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for both levels</a:t>
            </a:r>
          </a:p>
        </p:txBody>
      </p:sp>
      <p:sp>
        <p:nvSpPr>
          <p:cNvPr id="160" name="Textfeld 159">
            <a:extLst>
              <a:ext uri="{FF2B5EF4-FFF2-40B4-BE49-F238E27FC236}">
                <a16:creationId xmlns:a16="http://schemas.microsoft.com/office/drawing/2014/main" id="{2D81EBD4-ABC7-BD04-F3FC-5DE26B768280}"/>
              </a:ext>
            </a:extLst>
          </p:cNvPr>
          <p:cNvSpPr txBox="1"/>
          <p:nvPr/>
        </p:nvSpPr>
        <p:spPr>
          <a:xfrm>
            <a:off x="10508890" y="2202514"/>
            <a:ext cx="1618428" cy="276999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12700">
            <a:solidFill>
              <a:schemeClr val="accent1">
                <a:lumMod val="20000"/>
                <a:lumOff val="80000"/>
              </a:schemeClr>
            </a:solidFill>
          </a:ln>
        </p:spPr>
        <p:txBody>
          <a:bodyPr wrap="square">
            <a:spAutoFit/>
          </a:bodyPr>
          <a:lstStyle>
            <a:defPPr>
              <a:defRPr lang="de-DE"/>
            </a:defPPr>
            <a:lvl1pPr algn="ctr">
              <a:defRPr sz="1200"/>
            </a:lvl1pPr>
          </a:lstStyle>
          <a:p>
            <a:r>
              <a:rPr lang="en-GB" noProof="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Check normality</a:t>
            </a:r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43159668-ED57-4913-C175-44EB70EE5798}"/>
              </a:ext>
            </a:extLst>
          </p:cNvPr>
          <p:cNvSpPr txBox="1"/>
          <p:nvPr/>
        </p:nvSpPr>
        <p:spPr>
          <a:xfrm>
            <a:off x="5130837" y="2201318"/>
            <a:ext cx="5300726" cy="276999"/>
          </a:xfrm>
          <a:prstGeom prst="rect">
            <a:avLst/>
          </a:prstGeom>
          <a:solidFill>
            <a:schemeClr val="accent2">
              <a:alpha val="19906"/>
            </a:schemeClr>
          </a:solidFill>
          <a:ln w="12700"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en-GB" sz="1200" noProof="0" dirty="0" err="1">
                <a:latin typeface="Courier New" panose="02070309020205020404" pitchFamily="49" charset="0"/>
                <a:ea typeface="Cambria Math" panose="02040503050406030204" pitchFamily="18" charset="0"/>
                <a:cs typeface="Courier New" panose="02070309020205020404" pitchFamily="49" charset="0"/>
              </a:rPr>
              <a:t>shapiro.test</a:t>
            </a:r>
            <a:r>
              <a:rPr lang="en-GB" sz="1200" noProof="0" dirty="0">
                <a:latin typeface="Courier New" panose="02070309020205020404" pitchFamily="49" charset="0"/>
                <a:ea typeface="Cambria Math" panose="02040503050406030204" pitchFamily="18" charset="0"/>
                <a:cs typeface="Courier New" panose="02070309020205020404" pitchFamily="49" charset="0"/>
              </a:rPr>
              <a:t>()</a:t>
            </a:r>
            <a:r>
              <a:rPr lang="en-GB" sz="1200" noProof="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en-GB" sz="12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of residuals</a:t>
            </a:r>
            <a:endParaRPr lang="en-GB" sz="1200" noProof="0" dirty="0">
              <a:latin typeface="Calibri" panose="020F0502020204030204" pitchFamily="34" charset="0"/>
              <a:ea typeface="Cambria Math" panose="02040503050406030204" pitchFamily="18" charset="0"/>
              <a:cs typeface="Calibri" panose="020F0502020204030204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feld 6">
                <a:extLst>
                  <a:ext uri="{FF2B5EF4-FFF2-40B4-BE49-F238E27FC236}">
                    <a16:creationId xmlns:a16="http://schemas.microsoft.com/office/drawing/2014/main" id="{24802BBD-0262-E7F6-6C54-2597D007CE1E}"/>
                  </a:ext>
                </a:extLst>
              </p:cNvPr>
              <p:cNvSpPr txBox="1"/>
              <p:nvPr/>
            </p:nvSpPr>
            <p:spPr>
              <a:xfrm>
                <a:off x="3982498" y="268315"/>
                <a:ext cx="4305145" cy="461665"/>
              </a:xfrm>
              <a:prstGeom prst="rect">
                <a:avLst/>
              </a:prstGeom>
              <a:noFill/>
              <a:ln w="6350">
                <a:solidFill>
                  <a:schemeClr val="bg1">
                    <a:lumMod val="85000"/>
                  </a:schemeClr>
                </a:solidFill>
              </a:ln>
            </p:spPr>
            <p:txBody>
              <a:bodyPr wrap="square">
                <a:spAutoFit/>
              </a:bodyPr>
              <a:lstStyle/>
              <a:p>
                <a:pPr marL="171450" indent="-171450">
                  <a:buFont typeface="Arial" panose="020B0604020202020204" pitchFamily="34" charset="0"/>
                  <a:buChar char="•"/>
                </a:pPr>
                <a:r>
                  <a:rPr lang="en-GB" sz="120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C</a:t>
                </a:r>
                <a:r>
                  <a:rPr lang="en-GB" sz="1200" noProof="0" dirty="0" err="1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ategorical</a:t>
                </a:r>
                <a:r>
                  <a:rPr lang="en-GB" sz="1200" noProof="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 predictor of </a:t>
                </a:r>
                <a:r>
                  <a:rPr lang="en-GB" sz="1200" noProof="0" dirty="0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class </a:t>
                </a:r>
                <a:r>
                  <a:rPr lang="en-GB" sz="120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“</a:t>
                </a:r>
                <a:r>
                  <a:rPr lang="en-GB" sz="1200" dirty="0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factor</a:t>
                </a:r>
                <a:r>
                  <a:rPr lang="en-GB" sz="1200" noProof="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“  with </a:t>
                </a:r>
                <a14:m>
                  <m:oMath xmlns:m="http://schemas.openxmlformats.org/officeDocument/2006/math">
                    <m:r>
                      <a:rPr lang="en-GB" sz="1200" i="1" noProof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𝑁</m:t>
                    </m:r>
                  </m:oMath>
                </a14:m>
                <a:r>
                  <a:rPr lang="en-GB" sz="1200" noProof="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 levels</a:t>
                </a:r>
              </a:p>
              <a:p>
                <a:pPr marL="171450" indent="-171450">
                  <a:buFont typeface="Arial" panose="020B0604020202020204" pitchFamily="34" charset="0"/>
                  <a:buChar char="•"/>
                </a:pPr>
                <a:r>
                  <a:rPr lang="en-GB" sz="120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N</a:t>
                </a:r>
                <a:r>
                  <a:rPr lang="en-GB" sz="1200" noProof="0" dirty="0" err="1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umeric</a:t>
                </a:r>
                <a:r>
                  <a:rPr lang="en-GB" sz="1200" noProof="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 response of </a:t>
                </a:r>
                <a:r>
                  <a:rPr lang="en-GB" sz="1200" noProof="0" dirty="0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class </a:t>
                </a:r>
                <a:r>
                  <a:rPr lang="en-GB" sz="120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“</a:t>
                </a:r>
                <a:r>
                  <a:rPr lang="en-GB" sz="1200" noProof="0" dirty="0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numeric</a:t>
                </a:r>
                <a:r>
                  <a:rPr lang="en-GB" sz="120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”</a:t>
                </a:r>
                <a:r>
                  <a:rPr lang="en-GB" sz="1200" dirty="0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 </a:t>
                </a:r>
                <a:r>
                  <a:rPr lang="en-GB" sz="1200" noProof="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or “</a:t>
                </a:r>
                <a:r>
                  <a:rPr lang="en-GB" sz="1200" noProof="0" dirty="0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integer</a:t>
                </a:r>
                <a:r>
                  <a:rPr lang="en-GB" sz="120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”</a:t>
                </a:r>
                <a:endParaRPr lang="en-GB" sz="1200" noProof="0" dirty="0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endParaRPr>
              </a:p>
            </p:txBody>
          </p:sp>
        </mc:Choice>
        <mc:Fallback xmlns="">
          <p:sp>
            <p:nvSpPr>
              <p:cNvPr id="7" name="Textfeld 6">
                <a:extLst>
                  <a:ext uri="{FF2B5EF4-FFF2-40B4-BE49-F238E27FC236}">
                    <a16:creationId xmlns:a16="http://schemas.microsoft.com/office/drawing/2014/main" id="{D954AB4D-A237-C043-A913-633703A9C26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82498" y="268315"/>
                <a:ext cx="4305145" cy="461665"/>
              </a:xfrm>
              <a:prstGeom prst="rect">
                <a:avLst/>
              </a:prstGeom>
              <a:blipFill>
                <a:blip r:embed="rId3"/>
                <a:stretch>
                  <a:fillRect b="-5263"/>
                </a:stretch>
              </a:blipFill>
              <a:ln w="6350">
                <a:solidFill>
                  <a:schemeClr val="bg1">
                    <a:lumMod val="85000"/>
                  </a:schemeClr>
                </a:solidFill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feld 7">
                <a:extLst>
                  <a:ext uri="{FF2B5EF4-FFF2-40B4-BE49-F238E27FC236}">
                    <a16:creationId xmlns:a16="http://schemas.microsoft.com/office/drawing/2014/main" id="{C46BE5EB-9EA9-6440-EB52-274F49A2AA2D}"/>
                  </a:ext>
                </a:extLst>
              </p:cNvPr>
              <p:cNvSpPr txBox="1"/>
              <p:nvPr/>
            </p:nvSpPr>
            <p:spPr>
              <a:xfrm>
                <a:off x="262794" y="832787"/>
                <a:ext cx="4514400" cy="276999"/>
              </a:xfrm>
              <a:prstGeom prst="rect">
                <a:avLst/>
              </a:prstGeom>
              <a:noFill/>
              <a:ln w="12700">
                <a:solidFill>
                  <a:schemeClr val="tx1"/>
                </a:solidFill>
              </a:ln>
            </p:spPr>
            <p:txBody>
              <a:bodyPr wrap="square">
                <a:spAutoFit/>
              </a:bodyPr>
              <a:lstStyle>
                <a:defPPr>
                  <a:defRPr lang="de-DE"/>
                </a:defPPr>
              </a:lstStyle>
              <a:p>
                <a:pPr algn="ctr"/>
                <a:r>
                  <a:rPr lang="en-GB" sz="120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predictor</a:t>
                </a:r>
                <a:r>
                  <a:rPr lang="en-GB" sz="1200" noProof="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: </a:t>
                </a:r>
                <a14:m>
                  <m:oMath xmlns:m="http://schemas.openxmlformats.org/officeDocument/2006/math">
                    <m:r>
                      <a:rPr lang="en-GB" sz="1200" i="1" noProof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𝑁</m:t>
                    </m:r>
                    <m:r>
                      <a:rPr lang="en-GB" sz="1200" i="1" noProof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=2 </m:t>
                    </m:r>
                  </m:oMath>
                </a14:m>
                <a:r>
                  <a:rPr lang="en-GB" sz="1200" noProof="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levels  with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sz="1200" b="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1200" b="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𝑛</m:t>
                        </m:r>
                      </m:e>
                      <m:sub>
                        <m:r>
                          <a:rPr lang="en-GB" sz="1200" b="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GB" sz="1200" noProof="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 resp.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sz="1200" b="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1200" b="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𝑛</m:t>
                        </m:r>
                      </m:e>
                      <m:sub>
                        <m:r>
                          <a:rPr lang="en-GB" sz="1200" b="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GB" sz="1200" noProof="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 entries in each level</a:t>
                </a:r>
              </a:p>
            </p:txBody>
          </p:sp>
        </mc:Choice>
        <mc:Fallback xmlns="">
          <p:sp>
            <p:nvSpPr>
              <p:cNvPr id="8" name="Textfeld 7">
                <a:extLst>
                  <a:ext uri="{FF2B5EF4-FFF2-40B4-BE49-F238E27FC236}">
                    <a16:creationId xmlns:a16="http://schemas.microsoft.com/office/drawing/2014/main" id="{295FEA9A-D31C-504B-9808-C226C7EA070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2794" y="832787"/>
                <a:ext cx="4514400" cy="276999"/>
              </a:xfrm>
              <a:prstGeom prst="rect">
                <a:avLst/>
              </a:prstGeom>
              <a:blipFill>
                <a:blip r:embed="rId4"/>
                <a:stretch>
                  <a:fillRect b="-13043"/>
                </a:stretch>
              </a:blipFill>
              <a:ln w="1270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feld 8">
                <a:extLst>
                  <a:ext uri="{FF2B5EF4-FFF2-40B4-BE49-F238E27FC236}">
                    <a16:creationId xmlns:a16="http://schemas.microsoft.com/office/drawing/2014/main" id="{ABC84E86-D454-4E88-1982-B7D0844FF777}"/>
                  </a:ext>
                </a:extLst>
              </p:cNvPr>
              <p:cNvSpPr txBox="1"/>
              <p:nvPr/>
            </p:nvSpPr>
            <p:spPr>
              <a:xfrm>
                <a:off x="5127496" y="832787"/>
                <a:ext cx="5304067" cy="276999"/>
              </a:xfrm>
              <a:prstGeom prst="rect">
                <a:avLst/>
              </a:prstGeom>
              <a:noFill/>
              <a:ln w="12700">
                <a:solidFill>
                  <a:schemeClr val="accent1">
                    <a:lumMod val="40000"/>
                    <a:lumOff val="60000"/>
                  </a:schemeClr>
                </a:solidFill>
              </a:ln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GB" sz="120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predictor</a:t>
                </a:r>
                <a:r>
                  <a:rPr lang="en-GB" sz="1200" noProof="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:  </a:t>
                </a:r>
                <a14:m>
                  <m:oMath xmlns:m="http://schemas.openxmlformats.org/officeDocument/2006/math">
                    <m:r>
                      <a:rPr lang="en-GB" sz="1200" b="0" i="1" noProof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𝑁</m:t>
                    </m:r>
                    <m:r>
                      <a:rPr lang="en-GB" sz="1200" b="0" i="1" noProof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&gt;2</m:t>
                    </m:r>
                  </m:oMath>
                </a14:m>
                <a:r>
                  <a:rPr lang="en-GB" sz="1200" noProof="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 levels</a:t>
                </a:r>
              </a:p>
            </p:txBody>
          </p:sp>
        </mc:Choice>
        <mc:Fallback xmlns="">
          <p:sp>
            <p:nvSpPr>
              <p:cNvPr id="9" name="Textfeld 8">
                <a:extLst>
                  <a:ext uri="{FF2B5EF4-FFF2-40B4-BE49-F238E27FC236}">
                    <a16:creationId xmlns:a16="http://schemas.microsoft.com/office/drawing/2014/main" id="{8503CA89-315E-D465-88DB-CCE4B312717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27496" y="832787"/>
                <a:ext cx="5304067" cy="276999"/>
              </a:xfrm>
              <a:prstGeom prst="rect">
                <a:avLst/>
              </a:prstGeom>
              <a:blipFill>
                <a:blip r:embed="rId5"/>
                <a:stretch>
                  <a:fillRect b="-13043"/>
                </a:stretch>
              </a:blipFill>
              <a:ln w="12700">
                <a:solidFill>
                  <a:schemeClr val="accent1">
                    <a:lumMod val="40000"/>
                    <a:lumOff val="60000"/>
                  </a:schemeClr>
                </a:solidFill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feld 12">
                <a:extLst>
                  <a:ext uri="{FF2B5EF4-FFF2-40B4-BE49-F238E27FC236}">
                    <a16:creationId xmlns:a16="http://schemas.microsoft.com/office/drawing/2014/main" id="{ABCD3EE2-CF4F-C458-FAE6-2B49D5E8CB09}"/>
                  </a:ext>
                </a:extLst>
              </p:cNvPr>
              <p:cNvSpPr txBox="1"/>
              <p:nvPr/>
            </p:nvSpPr>
            <p:spPr>
              <a:xfrm>
                <a:off x="3296687" y="1721123"/>
                <a:ext cx="1490532" cy="276999"/>
              </a:xfrm>
              <a:prstGeom prst="rect">
                <a:avLst/>
              </a:prstGeom>
              <a:noFill/>
              <a:ln w="12700">
                <a:solidFill>
                  <a:schemeClr val="tx1"/>
                </a:solidFill>
              </a:ln>
            </p:spPr>
            <p:txBody>
              <a:bodyPr wrap="square">
                <a:spAutoFit/>
              </a:bodyPr>
              <a:lstStyle>
                <a:defPPr>
                  <a:defRPr lang="de-DE"/>
                </a:defPPr>
              </a:lstStyle>
              <a:p>
                <a:pPr algn="ctr"/>
                <a14:m>
                  <m:oMath xmlns:m="http://schemas.openxmlformats.org/officeDocument/2006/math">
                    <m:sSub>
                      <m:sSubPr>
                        <m:ctrlPr>
                          <a:rPr lang="en-GB" sz="1200" b="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1200" b="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𝑛</m:t>
                        </m:r>
                      </m:e>
                      <m:sub>
                        <m:r>
                          <a:rPr lang="en-GB" sz="1200" b="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GB" sz="1200" noProof="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sz="120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120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𝑛</m:t>
                        </m:r>
                      </m:e>
                      <m:sub>
                        <m:r>
                          <a:rPr lang="en-GB" sz="1200" b="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GB" sz="1200" b="0" i="1" noProof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&gt;30</m:t>
                    </m:r>
                  </m:oMath>
                </a14:m>
                <a:r>
                  <a:rPr lang="en-GB" sz="1200" noProof="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 </a:t>
                </a:r>
              </a:p>
            </p:txBody>
          </p:sp>
        </mc:Choice>
        <mc:Fallback xmlns="">
          <p:sp>
            <p:nvSpPr>
              <p:cNvPr id="13" name="Textfeld 12">
                <a:extLst>
                  <a:ext uri="{FF2B5EF4-FFF2-40B4-BE49-F238E27FC236}">
                    <a16:creationId xmlns:a16="http://schemas.microsoft.com/office/drawing/2014/main" id="{E013A2E8-9419-9082-A924-2FDA53C069E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96687" y="1721123"/>
                <a:ext cx="1490532" cy="276999"/>
              </a:xfrm>
              <a:prstGeom prst="rect">
                <a:avLst/>
              </a:prstGeom>
              <a:blipFill>
                <a:blip r:embed="rId6"/>
                <a:stretch>
                  <a:fillRect b="-12500"/>
                </a:stretch>
              </a:blipFill>
              <a:ln w="1270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feld 14">
                <a:extLst>
                  <a:ext uri="{FF2B5EF4-FFF2-40B4-BE49-F238E27FC236}">
                    <a16:creationId xmlns:a16="http://schemas.microsoft.com/office/drawing/2014/main" id="{94756C1F-A31C-5037-B552-BDE9328D426E}"/>
                  </a:ext>
                </a:extLst>
              </p:cNvPr>
              <p:cNvSpPr txBox="1"/>
              <p:nvPr/>
            </p:nvSpPr>
            <p:spPr>
              <a:xfrm>
                <a:off x="271610" y="1721123"/>
                <a:ext cx="2950932" cy="276999"/>
              </a:xfrm>
              <a:prstGeom prst="rect">
                <a:avLst/>
              </a:prstGeom>
              <a:noFill/>
              <a:ln w="12700">
                <a:solidFill>
                  <a:schemeClr val="tx1"/>
                </a:solidFill>
              </a:ln>
            </p:spPr>
            <p:txBody>
              <a:bodyPr wrap="square">
                <a:spAutoFit/>
              </a:bodyPr>
              <a:lstStyle>
                <a:defPPr>
                  <a:defRPr lang="de-DE"/>
                </a:defPPr>
              </a:lstStyle>
              <a:p>
                <a:pPr algn="ctr"/>
                <a14:m>
                  <m:oMath xmlns:m="http://schemas.openxmlformats.org/officeDocument/2006/math">
                    <m:sSub>
                      <m:sSubPr>
                        <m:ctrlPr>
                          <a:rPr lang="en-GB" sz="1200" b="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1200" b="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𝑛</m:t>
                        </m:r>
                      </m:e>
                      <m:sub>
                        <m:r>
                          <a:rPr lang="en-GB" sz="1200" b="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GB" sz="1200" noProof="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 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sz="120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anose="020F0502020204030204" pitchFamily="34" charset="0"/>
                          </a:rPr>
                        </m:ctrlPr>
                      </m:sSubPr>
                      <m:e>
                        <m:r>
                          <a:rPr lang="en-GB" sz="120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𝑛</m:t>
                        </m:r>
                      </m:e>
                      <m:sub>
                        <m:r>
                          <a:rPr lang="en-GB" sz="120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GB" sz="1200" i="1" noProof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≤30</m:t>
                    </m:r>
                    <m:r>
                      <a:rPr lang="en-GB" sz="1200" i="1" noProof="0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m:t> </m:t>
                    </m:r>
                  </m:oMath>
                </a14:m>
                <a:endParaRPr lang="en-GB" sz="1200" noProof="0" dirty="0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endParaRPr>
              </a:p>
            </p:txBody>
          </p:sp>
        </mc:Choice>
        <mc:Fallback xmlns="">
          <p:sp>
            <p:nvSpPr>
              <p:cNvPr id="15" name="Textfeld 14">
                <a:extLst>
                  <a:ext uri="{FF2B5EF4-FFF2-40B4-BE49-F238E27FC236}">
                    <a16:creationId xmlns:a16="http://schemas.microsoft.com/office/drawing/2014/main" id="{2A7C589D-90CE-28E1-F515-49850CAABBC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1610" y="1721123"/>
                <a:ext cx="2950932" cy="276999"/>
              </a:xfrm>
              <a:prstGeom prst="rect">
                <a:avLst/>
              </a:prstGeom>
              <a:blipFill>
                <a:blip r:embed="rId7"/>
                <a:stretch>
                  <a:fillRect b="-12500"/>
                </a:stretch>
              </a:blipFill>
              <a:ln w="1270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feld 18">
                <a:extLst>
                  <a:ext uri="{FF2B5EF4-FFF2-40B4-BE49-F238E27FC236}">
                    <a16:creationId xmlns:a16="http://schemas.microsoft.com/office/drawing/2014/main" id="{EFAF1AC6-90E7-2A55-B785-52B2C29B18B8}"/>
                  </a:ext>
                </a:extLst>
              </p:cNvPr>
              <p:cNvSpPr txBox="1"/>
              <p:nvPr/>
            </p:nvSpPr>
            <p:spPr>
              <a:xfrm>
                <a:off x="1782316" y="3003780"/>
                <a:ext cx="1440000" cy="276999"/>
              </a:xfrm>
              <a:prstGeom prst="rect">
                <a:avLst/>
              </a:prstGeom>
              <a:noFill/>
              <a:ln w="12700">
                <a:solidFill>
                  <a:schemeClr val="tx1"/>
                </a:solidFill>
              </a:ln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GB" sz="1200" b="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1200" b="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GB" sz="1200" b="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GB" sz="1200" b="0" i="1" noProof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≥</m:t>
                    </m:r>
                    <m:r>
                      <a:rPr lang="en-GB" sz="1200" b="0" i="1" noProof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en-GB" sz="1200" noProof="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sz="1200" b="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1200" b="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GB" sz="1200" b="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GB" sz="1200" b="0" i="1" noProof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≥</m:t>
                    </m:r>
                    <m:r>
                      <a:rPr lang="en-GB" sz="1200" b="0" i="1" noProof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en-GB" sz="1200" noProof="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 </a:t>
                </a:r>
              </a:p>
            </p:txBody>
          </p:sp>
        </mc:Choice>
        <mc:Fallback xmlns="">
          <p:sp>
            <p:nvSpPr>
              <p:cNvPr id="19" name="Textfeld 18">
                <a:extLst>
                  <a:ext uri="{FF2B5EF4-FFF2-40B4-BE49-F238E27FC236}">
                    <a16:creationId xmlns:a16="http://schemas.microsoft.com/office/drawing/2014/main" id="{738B4D66-E2FD-3D06-F527-A82D7C3BDF1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82316" y="3003780"/>
                <a:ext cx="1440000" cy="276999"/>
              </a:xfrm>
              <a:prstGeom prst="rect">
                <a:avLst/>
              </a:prstGeom>
              <a:blipFill>
                <a:blip r:embed="rId8"/>
                <a:stretch>
                  <a:fillRect b="-13043"/>
                </a:stretch>
              </a:blipFill>
              <a:ln w="1270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feld 21">
                <a:extLst>
                  <a:ext uri="{FF2B5EF4-FFF2-40B4-BE49-F238E27FC236}">
                    <a16:creationId xmlns:a16="http://schemas.microsoft.com/office/drawing/2014/main" id="{A030B03B-5138-C1B5-576C-D5123D95FDBA}"/>
                  </a:ext>
                </a:extLst>
              </p:cNvPr>
              <p:cNvSpPr txBox="1"/>
              <p:nvPr/>
            </p:nvSpPr>
            <p:spPr>
              <a:xfrm>
                <a:off x="271610" y="3003780"/>
                <a:ext cx="1440000" cy="276999"/>
              </a:xfrm>
              <a:prstGeom prst="rect">
                <a:avLst/>
              </a:prstGeom>
              <a:noFill/>
              <a:ln w="12700">
                <a:solidFill>
                  <a:schemeClr val="tx1"/>
                </a:solidFill>
              </a:ln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GB" sz="1200" b="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1200" b="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GB" sz="1200" b="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GB" sz="1200" b="0" i="1" noProof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&lt;</m:t>
                    </m:r>
                    <m:r>
                      <a:rPr lang="en-GB" sz="1200" b="0" i="1" noProof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𝛼</m:t>
                    </m:r>
                    <m:r>
                      <a:rPr lang="en-GB" sz="1200" b="0" i="1" noProof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 </m:t>
                    </m:r>
                  </m:oMath>
                </a14:m>
                <a:r>
                  <a:rPr lang="en-GB" sz="1200" noProof="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sz="120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120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GB" sz="1200" b="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GB" sz="1200" i="1" noProof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&lt;</m:t>
                    </m:r>
                    <m:r>
                      <a:rPr lang="en-GB" sz="1200" i="1" noProof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en-GB" sz="1200" noProof="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 </a:t>
                </a:r>
              </a:p>
            </p:txBody>
          </p:sp>
        </mc:Choice>
        <mc:Fallback xmlns="">
          <p:sp>
            <p:nvSpPr>
              <p:cNvPr id="22" name="Textfeld 21">
                <a:extLst>
                  <a:ext uri="{FF2B5EF4-FFF2-40B4-BE49-F238E27FC236}">
                    <a16:creationId xmlns:a16="http://schemas.microsoft.com/office/drawing/2014/main" id="{935D93BB-1C95-A787-6B51-42A0FF2A924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1610" y="3003780"/>
                <a:ext cx="1440000" cy="276999"/>
              </a:xfrm>
              <a:prstGeom prst="rect">
                <a:avLst/>
              </a:prstGeom>
              <a:blipFill>
                <a:blip r:embed="rId9"/>
                <a:stretch>
                  <a:fillRect b="-13043"/>
                </a:stretch>
              </a:blipFill>
              <a:ln w="1270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3" name="Textfeld 22">
            <a:extLst>
              <a:ext uri="{FF2B5EF4-FFF2-40B4-BE49-F238E27FC236}">
                <a16:creationId xmlns:a16="http://schemas.microsoft.com/office/drawing/2014/main" id="{743E7F75-A4AC-7D85-FEB9-2656D4688F17}"/>
              </a:ext>
            </a:extLst>
          </p:cNvPr>
          <p:cNvSpPr txBox="1"/>
          <p:nvPr/>
        </p:nvSpPr>
        <p:spPr>
          <a:xfrm>
            <a:off x="219834" y="4971020"/>
            <a:ext cx="1447008" cy="276999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w="12700">
            <a:solidFill>
              <a:schemeClr val="tx1"/>
            </a:solidFill>
          </a:ln>
        </p:spPr>
        <p:txBody>
          <a:bodyPr wrap="square">
            <a:spAutoFit/>
          </a:bodyPr>
          <a:lstStyle>
            <a:defPPr>
              <a:defRPr lang="de-DE"/>
            </a:defPPr>
            <a:lvl1pPr algn="ctr">
              <a:defRPr sz="1200"/>
            </a:lvl1pPr>
          </a:lstStyle>
          <a:p>
            <a:r>
              <a:rPr lang="en-GB" noProof="0" dirty="0" err="1">
                <a:latin typeface="Courier New" panose="02070309020205020404" pitchFamily="49" charset="0"/>
                <a:ea typeface="Cambria Math" panose="02040503050406030204" pitchFamily="18" charset="0"/>
                <a:cs typeface="Courier New" panose="02070309020205020404" pitchFamily="49" charset="0"/>
              </a:rPr>
              <a:t>wilcox.test</a:t>
            </a:r>
            <a:r>
              <a:rPr lang="en-GB" noProof="0" dirty="0">
                <a:latin typeface="Courier New" panose="02070309020205020404" pitchFamily="49" charset="0"/>
                <a:ea typeface="Cambria Math" panose="02040503050406030204" pitchFamily="18" charset="0"/>
                <a:cs typeface="Courier New" panose="02070309020205020404" pitchFamily="49" charset="0"/>
              </a:rPr>
              <a:t>()</a:t>
            </a:r>
          </a:p>
        </p:txBody>
      </p:sp>
      <p:sp>
        <p:nvSpPr>
          <p:cNvPr id="27" name="Textfeld 26">
            <a:extLst>
              <a:ext uri="{FF2B5EF4-FFF2-40B4-BE49-F238E27FC236}">
                <a16:creationId xmlns:a16="http://schemas.microsoft.com/office/drawing/2014/main" id="{849D1520-361E-ACB7-4450-5002EB1D23CC}"/>
              </a:ext>
            </a:extLst>
          </p:cNvPr>
          <p:cNvSpPr txBox="1"/>
          <p:nvPr/>
        </p:nvSpPr>
        <p:spPr>
          <a:xfrm>
            <a:off x="5130837" y="4971019"/>
            <a:ext cx="2338435" cy="276999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w="12700">
            <a:solidFill>
              <a:schemeClr val="accent1">
                <a:lumMod val="40000"/>
                <a:lumOff val="60000"/>
              </a:schemeClr>
            </a:solidFill>
          </a:ln>
        </p:spPr>
        <p:txBody>
          <a:bodyPr wrap="square">
            <a:spAutoFit/>
          </a:bodyPr>
          <a:lstStyle>
            <a:defPPr>
              <a:defRPr lang="de-DE"/>
            </a:defPPr>
            <a:lvl1pPr algn="ctr">
              <a:defRPr sz="1200"/>
            </a:lvl1pPr>
          </a:lstStyle>
          <a:p>
            <a:r>
              <a:rPr lang="en-GB" noProof="0" dirty="0" err="1">
                <a:latin typeface="Courier New" panose="02070309020205020404" pitchFamily="49" charset="0"/>
                <a:ea typeface="Cambria Math" panose="02040503050406030204" pitchFamily="18" charset="0"/>
                <a:cs typeface="Courier New" panose="02070309020205020404" pitchFamily="49" charset="0"/>
              </a:rPr>
              <a:t>kruskal.test</a:t>
            </a:r>
            <a:r>
              <a:rPr lang="en-GB" noProof="0" dirty="0">
                <a:latin typeface="Courier New" panose="02070309020205020404" pitchFamily="49" charset="0"/>
                <a:ea typeface="Cambria Math" panose="02040503050406030204" pitchFamily="18" charset="0"/>
                <a:cs typeface="Courier New" panose="02070309020205020404" pitchFamily="49" charset="0"/>
              </a:rPr>
              <a:t>()</a:t>
            </a:r>
          </a:p>
        </p:txBody>
      </p:sp>
      <p:sp>
        <p:nvSpPr>
          <p:cNvPr id="28" name="Textfeld 27">
            <a:extLst>
              <a:ext uri="{FF2B5EF4-FFF2-40B4-BE49-F238E27FC236}">
                <a16:creationId xmlns:a16="http://schemas.microsoft.com/office/drawing/2014/main" id="{DBB7D267-1E52-0B13-53D5-F9C1DDFB927A}"/>
              </a:ext>
            </a:extLst>
          </p:cNvPr>
          <p:cNvSpPr txBox="1"/>
          <p:nvPr/>
        </p:nvSpPr>
        <p:spPr>
          <a:xfrm>
            <a:off x="7636562" y="3878295"/>
            <a:ext cx="2795001" cy="280863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12700">
            <a:solidFill>
              <a:schemeClr val="accent1">
                <a:lumMod val="40000"/>
                <a:lumOff val="60000"/>
              </a:schemeClr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en-GB" sz="1200" dirty="0" err="1">
                <a:latin typeface="Courier New" panose="02070309020205020404" pitchFamily="49" charset="0"/>
                <a:ea typeface="Cambria Math" panose="02040503050406030204" pitchFamily="18" charset="0"/>
                <a:cs typeface="Courier New" panose="02070309020205020404" pitchFamily="49" charset="0"/>
              </a:rPr>
              <a:t>levene</a:t>
            </a:r>
            <a:r>
              <a:rPr lang="en-GB" sz="1200" noProof="0" dirty="0">
                <a:latin typeface="Courier New" panose="02070309020205020404" pitchFamily="49" charset="0"/>
                <a:ea typeface="Cambria Math" panose="02040503050406030204" pitchFamily="18" charset="0"/>
                <a:cs typeface="Courier New" panose="02070309020205020404" pitchFamily="49" charset="0"/>
              </a:rPr>
              <a:t>.test()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9" name="Textfeld 28">
                <a:extLst>
                  <a:ext uri="{FF2B5EF4-FFF2-40B4-BE49-F238E27FC236}">
                    <a16:creationId xmlns:a16="http://schemas.microsoft.com/office/drawing/2014/main" id="{8113821A-D6F4-A2CE-3EE0-34D6C3BFE470}"/>
                  </a:ext>
                </a:extLst>
              </p:cNvPr>
              <p:cNvSpPr txBox="1"/>
              <p:nvPr/>
            </p:nvSpPr>
            <p:spPr>
              <a:xfrm>
                <a:off x="9351563" y="4482840"/>
                <a:ext cx="1080000" cy="277200"/>
              </a:xfrm>
              <a:prstGeom prst="rect">
                <a:avLst/>
              </a:prstGeom>
              <a:noFill/>
              <a:ln w="12700">
                <a:solidFill>
                  <a:schemeClr val="accent1">
                    <a:lumMod val="40000"/>
                    <a:lumOff val="60000"/>
                  </a:schemeClr>
                </a:solidFill>
              </a:ln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1200" b="0" i="1" noProof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𝑝</m:t>
                      </m:r>
                      <m:r>
                        <a:rPr lang="en-GB" sz="1200" b="0" i="1" noProof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≥</m:t>
                      </m:r>
                      <m:r>
                        <a:rPr lang="en-GB" sz="1200" b="0" i="1" noProof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𝛼</m:t>
                      </m:r>
                    </m:oMath>
                  </m:oMathPara>
                </a14:m>
                <a:endParaRPr lang="en-GB" sz="1200" noProof="0" dirty="0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endParaRPr>
              </a:p>
            </p:txBody>
          </p:sp>
        </mc:Choice>
        <mc:Fallback xmlns="">
          <p:sp>
            <p:nvSpPr>
              <p:cNvPr id="29" name="Textfeld 28">
                <a:extLst>
                  <a:ext uri="{FF2B5EF4-FFF2-40B4-BE49-F238E27FC236}">
                    <a16:creationId xmlns:a16="http://schemas.microsoft.com/office/drawing/2014/main" id="{6A843E82-AE36-2049-F32E-7DB7C257BD0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351563" y="4482840"/>
                <a:ext cx="1080000" cy="277200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  <a:ln w="12700">
                <a:solidFill>
                  <a:schemeClr val="accent1">
                    <a:lumMod val="40000"/>
                    <a:lumOff val="60000"/>
                  </a:schemeClr>
                </a:solidFill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0" name="Textfeld 29">
                <a:extLst>
                  <a:ext uri="{FF2B5EF4-FFF2-40B4-BE49-F238E27FC236}">
                    <a16:creationId xmlns:a16="http://schemas.microsoft.com/office/drawing/2014/main" id="{5C9A15C2-7CF0-23A3-D572-F3963B427E63}"/>
                  </a:ext>
                </a:extLst>
              </p:cNvPr>
              <p:cNvSpPr txBox="1"/>
              <p:nvPr/>
            </p:nvSpPr>
            <p:spPr>
              <a:xfrm>
                <a:off x="7582544" y="4472251"/>
                <a:ext cx="1080000" cy="276999"/>
              </a:xfrm>
              <a:prstGeom prst="rect">
                <a:avLst/>
              </a:prstGeom>
              <a:noFill/>
              <a:ln w="12700">
                <a:solidFill>
                  <a:schemeClr val="accent1">
                    <a:lumMod val="40000"/>
                    <a:lumOff val="60000"/>
                  </a:schemeClr>
                </a:solidFill>
              </a:ln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1200" b="0" i="1" noProof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𝑝</m:t>
                      </m:r>
                      <m:r>
                        <a:rPr lang="en-GB" sz="1200" b="0" i="1" noProof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&lt;</m:t>
                      </m:r>
                      <m:r>
                        <a:rPr lang="en-GB" sz="1200" b="0" i="1" noProof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𝛼</m:t>
                      </m:r>
                    </m:oMath>
                  </m:oMathPara>
                </a14:m>
                <a:endParaRPr lang="en-GB" sz="1200" noProof="0" dirty="0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endParaRPr>
              </a:p>
            </p:txBody>
          </p:sp>
        </mc:Choice>
        <mc:Fallback xmlns="">
          <p:sp>
            <p:nvSpPr>
              <p:cNvPr id="30" name="Textfeld 29">
                <a:extLst>
                  <a:ext uri="{FF2B5EF4-FFF2-40B4-BE49-F238E27FC236}">
                    <a16:creationId xmlns:a16="http://schemas.microsoft.com/office/drawing/2014/main" id="{5E44A5B4-1C65-9447-A4FA-813B5715A60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82544" y="4472251"/>
                <a:ext cx="1080000" cy="276999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  <a:ln w="12700">
                <a:solidFill>
                  <a:schemeClr val="accent1">
                    <a:lumMod val="40000"/>
                    <a:lumOff val="60000"/>
                  </a:schemeClr>
                </a:solidFill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1" name="Textfeld 30">
            <a:extLst>
              <a:ext uri="{FF2B5EF4-FFF2-40B4-BE49-F238E27FC236}">
                <a16:creationId xmlns:a16="http://schemas.microsoft.com/office/drawing/2014/main" id="{EC96271C-6ED1-D290-081B-E3C7E413F6D5}"/>
              </a:ext>
            </a:extLst>
          </p:cNvPr>
          <p:cNvSpPr txBox="1"/>
          <p:nvPr/>
        </p:nvSpPr>
        <p:spPr>
          <a:xfrm>
            <a:off x="7579542" y="4968485"/>
            <a:ext cx="1457998" cy="276999"/>
          </a:xfrm>
          <a:prstGeom prst="rect">
            <a:avLst/>
          </a:prstGeom>
          <a:solidFill>
            <a:schemeClr val="accent4">
              <a:alpha val="19758"/>
            </a:schemeClr>
          </a:solidFill>
          <a:ln w="12700">
            <a:solidFill>
              <a:schemeClr val="accent1">
                <a:lumMod val="40000"/>
                <a:lumOff val="60000"/>
              </a:schemeClr>
            </a:solidFill>
          </a:ln>
        </p:spPr>
        <p:txBody>
          <a:bodyPr wrap="square">
            <a:spAutoFit/>
          </a:bodyPr>
          <a:lstStyle>
            <a:defPPr>
              <a:defRPr lang="de-DE"/>
            </a:defPPr>
            <a:lvl1pPr algn="ctr">
              <a:defRPr sz="1200"/>
            </a:lvl1pPr>
          </a:lstStyle>
          <a:p>
            <a:r>
              <a:rPr lang="en-GB" noProof="0" dirty="0" err="1">
                <a:latin typeface="Courier New" panose="02070309020205020404" pitchFamily="49" charset="0"/>
                <a:ea typeface="Cambria Math" panose="02040503050406030204" pitchFamily="18" charset="0"/>
                <a:cs typeface="Courier New" panose="02070309020205020404" pitchFamily="49" charset="0"/>
              </a:rPr>
              <a:t>oneway.test</a:t>
            </a:r>
            <a:r>
              <a:rPr lang="en-GB" noProof="0" dirty="0">
                <a:latin typeface="Courier New" panose="02070309020205020404" pitchFamily="49" charset="0"/>
                <a:ea typeface="Cambria Math" panose="02040503050406030204" pitchFamily="18" charset="0"/>
                <a:cs typeface="Courier New" panose="02070309020205020404" pitchFamily="49" charset="0"/>
              </a:rPr>
              <a:t>()</a:t>
            </a:r>
          </a:p>
        </p:txBody>
      </p:sp>
      <p:sp>
        <p:nvSpPr>
          <p:cNvPr id="32" name="Textfeld 31">
            <a:extLst>
              <a:ext uri="{FF2B5EF4-FFF2-40B4-BE49-F238E27FC236}">
                <a16:creationId xmlns:a16="http://schemas.microsoft.com/office/drawing/2014/main" id="{1851ACE8-3789-7F14-1006-C88A2D2B6D83}"/>
              </a:ext>
            </a:extLst>
          </p:cNvPr>
          <p:cNvSpPr txBox="1"/>
          <p:nvPr/>
        </p:nvSpPr>
        <p:spPr>
          <a:xfrm>
            <a:off x="9262621" y="4968284"/>
            <a:ext cx="1168942" cy="276999"/>
          </a:xfrm>
          <a:prstGeom prst="rect">
            <a:avLst/>
          </a:prstGeom>
          <a:solidFill>
            <a:schemeClr val="accent4">
              <a:alpha val="19758"/>
            </a:schemeClr>
          </a:solidFill>
          <a:ln w="12700">
            <a:solidFill>
              <a:schemeClr val="accent1">
                <a:lumMod val="40000"/>
                <a:lumOff val="60000"/>
              </a:schemeClr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en-GB" sz="1200" noProof="0" dirty="0" err="1">
                <a:latin typeface="Courier New" panose="02070309020205020404" pitchFamily="49" charset="0"/>
                <a:ea typeface="Cambria Math" panose="02040503050406030204" pitchFamily="18" charset="0"/>
                <a:cs typeface="Courier New" panose="02070309020205020404" pitchFamily="49" charset="0"/>
              </a:rPr>
              <a:t>aov</a:t>
            </a:r>
            <a:r>
              <a:rPr lang="en-GB" sz="1200" noProof="0" dirty="0">
                <a:latin typeface="Courier New" panose="02070309020205020404" pitchFamily="49" charset="0"/>
                <a:ea typeface="Cambria Math" panose="02040503050406030204" pitchFamily="18" charset="0"/>
                <a:cs typeface="Courier New" panose="02070309020205020404" pitchFamily="49" charset="0"/>
              </a:rPr>
              <a:t>()</a:t>
            </a:r>
          </a:p>
        </p:txBody>
      </p:sp>
      <p:grpSp>
        <p:nvGrpSpPr>
          <p:cNvPr id="427" name="Gruppieren 426">
            <a:extLst>
              <a:ext uri="{FF2B5EF4-FFF2-40B4-BE49-F238E27FC236}">
                <a16:creationId xmlns:a16="http://schemas.microsoft.com/office/drawing/2014/main" id="{D09F6AFC-B815-576E-4600-FE8EFA1ABA3E}"/>
              </a:ext>
            </a:extLst>
          </p:cNvPr>
          <p:cNvGrpSpPr/>
          <p:nvPr/>
        </p:nvGrpSpPr>
        <p:grpSpPr>
          <a:xfrm>
            <a:off x="8296125" y="4173488"/>
            <a:ext cx="1289076" cy="305400"/>
            <a:chOff x="8002301" y="4581613"/>
            <a:chExt cx="1289076" cy="305400"/>
          </a:xfrm>
        </p:grpSpPr>
        <p:cxnSp>
          <p:nvCxnSpPr>
            <p:cNvPr id="85" name="Gerade Verbindung mit Pfeil 84">
              <a:extLst>
                <a:ext uri="{FF2B5EF4-FFF2-40B4-BE49-F238E27FC236}">
                  <a16:creationId xmlns:a16="http://schemas.microsoft.com/office/drawing/2014/main" id="{CF310334-7163-DACC-E5C7-DBDACE235CD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8002301" y="4581613"/>
              <a:ext cx="639486" cy="30540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6" name="Gerade Verbindung mit Pfeil 85">
              <a:extLst>
                <a:ext uri="{FF2B5EF4-FFF2-40B4-BE49-F238E27FC236}">
                  <a16:creationId xmlns:a16="http://schemas.microsoft.com/office/drawing/2014/main" id="{137AD157-3F86-DF6B-ECDD-49AF2DFF4C42}"/>
                </a:ext>
              </a:extLst>
            </p:cNvPr>
            <p:cNvCxnSpPr>
              <a:cxnSpLocks/>
            </p:cNvCxnSpPr>
            <p:nvPr/>
          </p:nvCxnSpPr>
          <p:spPr>
            <a:xfrm>
              <a:off x="8641787" y="4581613"/>
              <a:ext cx="649590" cy="30540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93" name="Textfeld 92">
            <a:extLst>
              <a:ext uri="{FF2B5EF4-FFF2-40B4-BE49-F238E27FC236}">
                <a16:creationId xmlns:a16="http://schemas.microsoft.com/office/drawing/2014/main" id="{1816C4C5-9900-56B2-070D-4FC7DE63AB37}"/>
              </a:ext>
            </a:extLst>
          </p:cNvPr>
          <p:cNvSpPr txBox="1"/>
          <p:nvPr/>
        </p:nvSpPr>
        <p:spPr>
          <a:xfrm>
            <a:off x="7588433" y="5449810"/>
            <a:ext cx="2838737" cy="284869"/>
          </a:xfrm>
          <a:prstGeom prst="rect">
            <a:avLst/>
          </a:prstGeom>
          <a:solidFill>
            <a:schemeClr val="bg2">
              <a:lumMod val="90000"/>
            </a:schemeClr>
          </a:solidFill>
          <a:ln w="12700">
            <a:solidFill>
              <a:schemeClr val="accent1">
                <a:lumMod val="40000"/>
                <a:lumOff val="60000"/>
              </a:schemeClr>
            </a:solidFill>
          </a:ln>
        </p:spPr>
        <p:txBody>
          <a:bodyPr wrap="square">
            <a:spAutoFit/>
          </a:bodyPr>
          <a:lstStyle>
            <a:defPPr>
              <a:defRPr lang="de-DE"/>
            </a:defPPr>
            <a:lvl1pPr algn="ctr">
              <a:defRPr sz="1200"/>
            </a:lvl1pPr>
          </a:lstStyle>
          <a:p>
            <a:r>
              <a:rPr lang="en-GB" noProof="0" dirty="0" err="1">
                <a:latin typeface="Courier New" panose="02070309020205020404" pitchFamily="49" charset="0"/>
                <a:ea typeface="Cambria Math" panose="02040503050406030204" pitchFamily="18" charset="0"/>
                <a:cs typeface="Courier New" panose="02070309020205020404" pitchFamily="49" charset="0"/>
              </a:rPr>
              <a:t>TukeyHSD</a:t>
            </a:r>
            <a:r>
              <a:rPr lang="en-GB" noProof="0" dirty="0">
                <a:latin typeface="Courier New" panose="02070309020205020404" pitchFamily="49" charset="0"/>
                <a:ea typeface="Cambria Math" panose="02040503050406030204" pitchFamily="18" charset="0"/>
                <a:cs typeface="Courier New" panose="02070309020205020404" pitchFamily="49" charset="0"/>
              </a:rPr>
              <a:t>()</a:t>
            </a:r>
          </a:p>
        </p:txBody>
      </p:sp>
      <p:sp>
        <p:nvSpPr>
          <p:cNvPr id="94" name="Textfeld 93">
            <a:extLst>
              <a:ext uri="{FF2B5EF4-FFF2-40B4-BE49-F238E27FC236}">
                <a16:creationId xmlns:a16="http://schemas.microsoft.com/office/drawing/2014/main" id="{04816788-AF21-588C-C893-9A3FCC982798}"/>
              </a:ext>
            </a:extLst>
          </p:cNvPr>
          <p:cNvSpPr txBox="1"/>
          <p:nvPr/>
        </p:nvSpPr>
        <p:spPr>
          <a:xfrm>
            <a:off x="5130837" y="5449811"/>
            <a:ext cx="2341205" cy="276999"/>
          </a:xfrm>
          <a:prstGeom prst="rect">
            <a:avLst/>
          </a:prstGeom>
          <a:solidFill>
            <a:schemeClr val="bg2">
              <a:lumMod val="90000"/>
            </a:schemeClr>
          </a:solidFill>
          <a:ln w="12700">
            <a:solidFill>
              <a:schemeClr val="accent1">
                <a:lumMod val="40000"/>
                <a:lumOff val="60000"/>
              </a:schemeClr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en-GB" sz="1200" noProof="0" dirty="0" err="1">
                <a:latin typeface="Courier New" panose="02070309020205020404" pitchFamily="49" charset="0"/>
                <a:ea typeface="Cambria Math" panose="02040503050406030204" pitchFamily="18" charset="0"/>
                <a:cs typeface="Courier New" panose="02070309020205020404" pitchFamily="49" charset="0"/>
              </a:rPr>
              <a:t>pairwise.wilcox.test</a:t>
            </a:r>
            <a:r>
              <a:rPr lang="en-GB" sz="1200" noProof="0" dirty="0">
                <a:latin typeface="Courier New" panose="02070309020205020404" pitchFamily="49" charset="0"/>
                <a:ea typeface="Cambria Math" panose="02040503050406030204" pitchFamily="18" charset="0"/>
                <a:cs typeface="Courier New" panose="02070309020205020404" pitchFamily="49" charset="0"/>
              </a:rPr>
              <a:t>()</a:t>
            </a:r>
          </a:p>
        </p:txBody>
      </p:sp>
      <p:cxnSp>
        <p:nvCxnSpPr>
          <p:cNvPr id="2" name="Gerade Verbindung mit Pfeil 1">
            <a:extLst>
              <a:ext uri="{FF2B5EF4-FFF2-40B4-BE49-F238E27FC236}">
                <a16:creationId xmlns:a16="http://schemas.microsoft.com/office/drawing/2014/main" id="{442ABA59-9984-CC9C-22E8-4CD2259C18BC}"/>
              </a:ext>
            </a:extLst>
          </p:cNvPr>
          <p:cNvCxnSpPr>
            <a:cxnSpLocks/>
          </p:cNvCxnSpPr>
          <p:nvPr/>
        </p:nvCxnSpPr>
        <p:spPr>
          <a:xfrm flipH="1">
            <a:off x="4041194" y="1992541"/>
            <a:ext cx="15604" cy="2920119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" name="Textfeld 49">
            <a:extLst>
              <a:ext uri="{FF2B5EF4-FFF2-40B4-BE49-F238E27FC236}">
                <a16:creationId xmlns:a16="http://schemas.microsoft.com/office/drawing/2014/main" id="{6B44DB3D-B95D-EFAC-75E5-157A6CC47CE5}"/>
              </a:ext>
            </a:extLst>
          </p:cNvPr>
          <p:cNvSpPr txBox="1"/>
          <p:nvPr/>
        </p:nvSpPr>
        <p:spPr>
          <a:xfrm>
            <a:off x="1792997" y="4971020"/>
            <a:ext cx="3053668" cy="276999"/>
          </a:xfrm>
          <a:prstGeom prst="rect">
            <a:avLst/>
          </a:prstGeom>
          <a:solidFill>
            <a:schemeClr val="accent4">
              <a:alpha val="19758"/>
            </a:schemeClr>
          </a:solidFill>
          <a:ln w="12700"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en-GB" sz="1200" noProof="0" dirty="0" err="1">
                <a:latin typeface="Courier New" panose="02070309020205020404" pitchFamily="49" charset="0"/>
                <a:ea typeface="Cambria Math" panose="02040503050406030204" pitchFamily="18" charset="0"/>
                <a:cs typeface="Courier New" panose="02070309020205020404" pitchFamily="49" charset="0"/>
              </a:rPr>
              <a:t>t.test</a:t>
            </a:r>
            <a:r>
              <a:rPr lang="en-GB" sz="1200" noProof="0" dirty="0">
                <a:latin typeface="Courier New" panose="02070309020205020404" pitchFamily="49" charset="0"/>
                <a:ea typeface="Cambria Math" panose="02040503050406030204" pitchFamily="18" charset="0"/>
                <a:cs typeface="Courier New" panose="02070309020205020404" pitchFamily="49" charset="0"/>
              </a:rPr>
              <a:t>()</a:t>
            </a:r>
          </a:p>
        </p:txBody>
      </p:sp>
      <p:cxnSp>
        <p:nvCxnSpPr>
          <p:cNvPr id="51" name="Gerade Verbindung mit Pfeil 50">
            <a:extLst>
              <a:ext uri="{FF2B5EF4-FFF2-40B4-BE49-F238E27FC236}">
                <a16:creationId xmlns:a16="http://schemas.microsoft.com/office/drawing/2014/main" id="{26243798-860B-2ACA-D728-5E3E3765CAF3}"/>
              </a:ext>
            </a:extLst>
          </p:cNvPr>
          <p:cNvCxnSpPr>
            <a:cxnSpLocks/>
            <a:stCxn id="22" idx="2"/>
            <a:endCxn id="23" idx="0"/>
          </p:cNvCxnSpPr>
          <p:nvPr/>
        </p:nvCxnSpPr>
        <p:spPr>
          <a:xfrm flipH="1">
            <a:off x="943338" y="3280779"/>
            <a:ext cx="48272" cy="1690241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69" name="Gruppieren 68">
            <a:extLst>
              <a:ext uri="{FF2B5EF4-FFF2-40B4-BE49-F238E27FC236}">
                <a16:creationId xmlns:a16="http://schemas.microsoft.com/office/drawing/2014/main" id="{54B2A6BE-D508-A351-28B4-83ED32FE15FF}"/>
              </a:ext>
            </a:extLst>
          </p:cNvPr>
          <p:cNvGrpSpPr/>
          <p:nvPr/>
        </p:nvGrpSpPr>
        <p:grpSpPr>
          <a:xfrm>
            <a:off x="824372" y="2492447"/>
            <a:ext cx="1552397" cy="469922"/>
            <a:chOff x="2719572" y="1536945"/>
            <a:chExt cx="1289076" cy="305400"/>
          </a:xfrm>
        </p:grpSpPr>
        <p:cxnSp>
          <p:nvCxnSpPr>
            <p:cNvPr id="70" name="Gerade Verbindung mit Pfeil 69">
              <a:extLst>
                <a:ext uri="{FF2B5EF4-FFF2-40B4-BE49-F238E27FC236}">
                  <a16:creationId xmlns:a16="http://schemas.microsoft.com/office/drawing/2014/main" id="{D200E892-AEC3-6065-5388-73EFE83A92D7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719572" y="1536945"/>
              <a:ext cx="639486" cy="30540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1" name="Gerade Verbindung mit Pfeil 70">
              <a:extLst>
                <a:ext uri="{FF2B5EF4-FFF2-40B4-BE49-F238E27FC236}">
                  <a16:creationId xmlns:a16="http://schemas.microsoft.com/office/drawing/2014/main" id="{8395A6F8-FDF1-5AAD-57E2-7013C1DC307B}"/>
                </a:ext>
              </a:extLst>
            </p:cNvPr>
            <p:cNvCxnSpPr>
              <a:cxnSpLocks/>
            </p:cNvCxnSpPr>
            <p:nvPr/>
          </p:nvCxnSpPr>
          <p:spPr>
            <a:xfrm>
              <a:off x="3359058" y="1536945"/>
              <a:ext cx="649590" cy="30540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82" name="Textfeld 81">
                <a:extLst>
                  <a:ext uri="{FF2B5EF4-FFF2-40B4-BE49-F238E27FC236}">
                    <a16:creationId xmlns:a16="http://schemas.microsoft.com/office/drawing/2014/main" id="{FF8AA592-C660-3782-5CA1-25F1FB0AAFB5}"/>
                  </a:ext>
                </a:extLst>
              </p:cNvPr>
              <p:cNvSpPr txBox="1"/>
              <p:nvPr/>
            </p:nvSpPr>
            <p:spPr>
              <a:xfrm>
                <a:off x="5130837" y="3111855"/>
                <a:ext cx="2338425" cy="276999"/>
              </a:xfrm>
              <a:prstGeom prst="rect">
                <a:avLst/>
              </a:prstGeom>
              <a:noFill/>
              <a:ln w="12700">
                <a:solidFill>
                  <a:schemeClr val="accent1">
                    <a:lumMod val="40000"/>
                    <a:lumOff val="60000"/>
                  </a:schemeClr>
                </a:solidFill>
              </a:ln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12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𝑝</m:t>
                      </m:r>
                      <m:r>
                        <a:rPr lang="en-GB" sz="12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&lt;</m:t>
                      </m:r>
                      <m:r>
                        <a:rPr lang="en-GB" sz="12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𝛼</m:t>
                      </m:r>
                    </m:oMath>
                  </m:oMathPara>
                </a14:m>
                <a:endParaRPr lang="en-GB" sz="1200" noProof="0" dirty="0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endParaRPr>
              </a:p>
            </p:txBody>
          </p:sp>
        </mc:Choice>
        <mc:Fallback xmlns="">
          <p:sp>
            <p:nvSpPr>
              <p:cNvPr id="82" name="Textfeld 81">
                <a:extLst>
                  <a:ext uri="{FF2B5EF4-FFF2-40B4-BE49-F238E27FC236}">
                    <a16:creationId xmlns:a16="http://schemas.microsoft.com/office/drawing/2014/main" id="{74CB43FD-F472-800C-0BC9-D288FF8733B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30837" y="3111855"/>
                <a:ext cx="2338425" cy="276999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  <a:ln w="12700">
                <a:solidFill>
                  <a:schemeClr val="accent1">
                    <a:lumMod val="40000"/>
                    <a:lumOff val="60000"/>
                  </a:schemeClr>
                </a:solidFill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8" name="Textfeld 87">
                <a:extLst>
                  <a:ext uri="{FF2B5EF4-FFF2-40B4-BE49-F238E27FC236}">
                    <a16:creationId xmlns:a16="http://schemas.microsoft.com/office/drawing/2014/main" id="{EA598DBA-4B0B-AAE3-7F99-27798F6877BE}"/>
                  </a:ext>
                </a:extLst>
              </p:cNvPr>
              <p:cNvSpPr txBox="1"/>
              <p:nvPr/>
            </p:nvSpPr>
            <p:spPr>
              <a:xfrm>
                <a:off x="7625917" y="3100255"/>
                <a:ext cx="2805646" cy="276999"/>
              </a:xfrm>
              <a:prstGeom prst="rect">
                <a:avLst/>
              </a:prstGeom>
              <a:noFill/>
              <a:ln w="12700">
                <a:solidFill>
                  <a:schemeClr val="accent1">
                    <a:lumMod val="40000"/>
                    <a:lumOff val="60000"/>
                  </a:schemeClr>
                </a:solidFill>
              </a:ln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1200" b="0" i="1" noProof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𝑝</m:t>
                      </m:r>
                      <m:r>
                        <a:rPr lang="en-GB" sz="1200" b="0" i="1" noProof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≥</m:t>
                      </m:r>
                      <m:r>
                        <a:rPr lang="en-GB" sz="1200" b="0" i="1" noProof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𝛼</m:t>
                      </m:r>
                    </m:oMath>
                  </m:oMathPara>
                </a14:m>
                <a:endParaRPr lang="en-GB" sz="1200" noProof="0" dirty="0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endParaRPr>
              </a:p>
            </p:txBody>
          </p:sp>
        </mc:Choice>
        <mc:Fallback xmlns="">
          <p:sp>
            <p:nvSpPr>
              <p:cNvPr id="88" name="Textfeld 87">
                <a:extLst>
                  <a:ext uri="{FF2B5EF4-FFF2-40B4-BE49-F238E27FC236}">
                    <a16:creationId xmlns:a16="http://schemas.microsoft.com/office/drawing/2014/main" id="{436DE9B5-559B-6581-9440-FF83D251A49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25917" y="3100255"/>
                <a:ext cx="2805646" cy="276999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  <a:ln w="12700">
                <a:solidFill>
                  <a:schemeClr val="accent1">
                    <a:lumMod val="40000"/>
                    <a:lumOff val="60000"/>
                  </a:schemeClr>
                </a:solidFill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Textfeld 3">
            <a:extLst>
              <a:ext uri="{FF2B5EF4-FFF2-40B4-BE49-F238E27FC236}">
                <a16:creationId xmlns:a16="http://schemas.microsoft.com/office/drawing/2014/main" id="{8034E0AE-CBAC-2B8E-9BAE-94624C86B232}"/>
              </a:ext>
            </a:extLst>
          </p:cNvPr>
          <p:cNvSpPr txBox="1"/>
          <p:nvPr/>
        </p:nvSpPr>
        <p:spPr>
          <a:xfrm>
            <a:off x="10508557" y="5453366"/>
            <a:ext cx="1618426" cy="277200"/>
          </a:xfrm>
          <a:prstGeom prst="rect">
            <a:avLst/>
          </a:prstGeom>
          <a:solidFill>
            <a:schemeClr val="bg2">
              <a:lumMod val="90000"/>
            </a:schemeClr>
          </a:solidFill>
          <a:ln w="12700">
            <a:solidFill>
              <a:schemeClr val="bg2">
                <a:lumMod val="90000"/>
              </a:schemeClr>
            </a:solidFill>
          </a:ln>
        </p:spPr>
        <p:txBody>
          <a:bodyPr wrap="square">
            <a:spAutoFit/>
          </a:bodyPr>
          <a:lstStyle>
            <a:defPPr>
              <a:defRPr lang="de-DE"/>
            </a:defPPr>
            <a:lvl1pPr algn="ctr">
              <a:defRPr sz="1200"/>
            </a:lvl1pPr>
          </a:lstStyle>
          <a:p>
            <a:r>
              <a:rPr lang="en-GB" noProof="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Post-hoc test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feld 10">
                <a:extLst>
                  <a:ext uri="{FF2B5EF4-FFF2-40B4-BE49-F238E27FC236}">
                    <a16:creationId xmlns:a16="http://schemas.microsoft.com/office/drawing/2014/main" id="{660F1CCB-0E89-EC4D-FE95-51F423E84B38}"/>
                  </a:ext>
                </a:extLst>
              </p:cNvPr>
              <p:cNvSpPr txBox="1"/>
              <p:nvPr/>
            </p:nvSpPr>
            <p:spPr>
              <a:xfrm>
                <a:off x="9967683" y="5959220"/>
                <a:ext cx="2082384" cy="461665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GB" sz="1200" i="1" noProof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𝛼</m:t>
                    </m:r>
                    <m:r>
                      <a:rPr lang="en-GB" sz="1200" b="0" i="1" noProof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=1−</m:t>
                    </m:r>
                  </m:oMath>
                </a14:m>
                <a:r>
                  <a:rPr lang="en-GB" sz="1200" noProof="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 </a:t>
                </a:r>
                <a:r>
                  <a:rPr lang="en-GB" sz="1200" noProof="0" dirty="0" err="1">
                    <a:latin typeface="Courier New" panose="02070309020205020404" pitchFamily="49" charset="0"/>
                    <a:ea typeface="CMU Bright Roman" panose="02000603000000000000" pitchFamily="2" charset="0"/>
                    <a:cs typeface="Courier New" panose="02070309020205020404" pitchFamily="49" charset="0"/>
                  </a:rPr>
                  <a:t>conf.level</a:t>
                </a:r>
                <a:r>
                  <a:rPr lang="en-GB" sz="800" noProof="0" dirty="0">
                    <a:latin typeface="CMU Bright Roman" panose="02000603000000000000" pitchFamily="2" charset="0"/>
                    <a:ea typeface="CMU Bright Roman" panose="02000603000000000000" pitchFamily="2" charset="0"/>
                    <a:cs typeface="CMU Bright Roman" panose="02000603000000000000" pitchFamily="2" charset="0"/>
                  </a:rPr>
                  <a:t> 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GB" sz="120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120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GB" sz="120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sz="1200" b="0" i="0" noProof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en-GB" sz="1200" noProof="0" dirty="0"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GB" sz="1200" i="1" noProof="0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𝑝</m:t>
                    </m:r>
                  </m:oMath>
                </a14:m>
                <a:r>
                  <a:rPr lang="en-GB" sz="1200" noProof="0" dirty="0">
                    <a:ea typeface="Cambria Math" panose="02040503050406030204" pitchFamily="18" charset="0"/>
                  </a:rPr>
                  <a:t>-value of level </a:t>
                </a:r>
                <a14:m>
                  <m:oMath xmlns:m="http://schemas.openxmlformats.org/officeDocument/2006/math">
                    <m:r>
                      <a:rPr lang="en-GB" sz="1200" i="1" noProof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𝑖</m:t>
                    </m:r>
                    <m:r>
                      <a:rPr lang="en-GB" sz="1200" i="1" noProof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</m:t>
                    </m:r>
                  </m:oMath>
                </a14:m>
                <a:r>
                  <a:rPr lang="en-GB" sz="1200" noProof="0" dirty="0"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GB" sz="1200" i="1" noProof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𝑖</m:t>
                    </m:r>
                    <m:r>
                      <a:rPr lang="en-GB" sz="1200" i="1" noProof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=1,2</m:t>
                    </m:r>
                  </m:oMath>
                </a14:m>
                <a:endParaRPr lang="en-GB" sz="1200" noProof="0" dirty="0">
                  <a:latin typeface="CMU Bright Roman" panose="02000603000000000000" pitchFamily="2" charset="0"/>
                  <a:ea typeface="CMU Bright Roman" panose="02000603000000000000" pitchFamily="2" charset="0"/>
                  <a:cs typeface="CMU Bright Roman" panose="02000603000000000000" pitchFamily="2" charset="0"/>
                </a:endParaRPr>
              </a:p>
            </p:txBody>
          </p:sp>
        </mc:Choice>
        <mc:Fallback xmlns="">
          <p:sp>
            <p:nvSpPr>
              <p:cNvPr id="11" name="Textfeld 10">
                <a:extLst>
                  <a:ext uri="{FF2B5EF4-FFF2-40B4-BE49-F238E27FC236}">
                    <a16:creationId xmlns:a16="http://schemas.microsoft.com/office/drawing/2014/main" id="{BEADCB87-2FE2-B735-89A2-59CFEE3B937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67683" y="5959220"/>
                <a:ext cx="2082384" cy="461665"/>
              </a:xfrm>
              <a:prstGeom prst="rect">
                <a:avLst/>
              </a:prstGeom>
              <a:blipFill>
                <a:blip r:embed="rId18"/>
                <a:stretch>
                  <a:fillRect t="-2703" b="-10811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9" name="Textfeld 148">
            <a:extLst>
              <a:ext uri="{FF2B5EF4-FFF2-40B4-BE49-F238E27FC236}">
                <a16:creationId xmlns:a16="http://schemas.microsoft.com/office/drawing/2014/main" id="{E18EDFC7-E6F5-7AD6-1BF9-8BE154A0C051}"/>
              </a:ext>
            </a:extLst>
          </p:cNvPr>
          <p:cNvSpPr txBox="1"/>
          <p:nvPr/>
        </p:nvSpPr>
        <p:spPr>
          <a:xfrm>
            <a:off x="10508891" y="4951684"/>
            <a:ext cx="1618427" cy="276999"/>
          </a:xfrm>
          <a:prstGeom prst="rect">
            <a:avLst/>
          </a:prstGeom>
          <a:noFill/>
          <a:ln w="12700">
            <a:solidFill>
              <a:schemeClr val="bg2">
                <a:lumMod val="90000"/>
              </a:schemeClr>
            </a:solidFill>
          </a:ln>
        </p:spPr>
        <p:txBody>
          <a:bodyPr wrap="square">
            <a:spAutoFit/>
          </a:bodyPr>
          <a:lstStyle>
            <a:defPPr>
              <a:defRPr lang="de-DE"/>
            </a:defPPr>
            <a:lvl1pPr algn="ctr">
              <a:defRPr sz="1200"/>
            </a:lvl1pPr>
          </a:lstStyle>
          <a:p>
            <a:r>
              <a:rPr lang="en-GB" noProof="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Final test selected </a:t>
            </a:r>
          </a:p>
        </p:txBody>
      </p:sp>
      <p:sp>
        <p:nvSpPr>
          <p:cNvPr id="159" name="Textfeld 158">
            <a:extLst>
              <a:ext uri="{FF2B5EF4-FFF2-40B4-BE49-F238E27FC236}">
                <a16:creationId xmlns:a16="http://schemas.microsoft.com/office/drawing/2014/main" id="{D01F2F02-B5B5-CDEA-DC9F-C49B13E8C5AC}"/>
              </a:ext>
            </a:extLst>
          </p:cNvPr>
          <p:cNvSpPr txBox="1"/>
          <p:nvPr/>
        </p:nvSpPr>
        <p:spPr>
          <a:xfrm>
            <a:off x="10508557" y="3876296"/>
            <a:ext cx="1618761" cy="2772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12700">
            <a:solidFill>
              <a:schemeClr val="accent1">
                <a:lumMod val="20000"/>
                <a:lumOff val="80000"/>
              </a:schemeClr>
            </a:solidFill>
          </a:ln>
        </p:spPr>
        <p:txBody>
          <a:bodyPr wrap="square">
            <a:spAutoFit/>
          </a:bodyPr>
          <a:lstStyle>
            <a:defPPr>
              <a:defRPr lang="de-DE"/>
            </a:defPPr>
            <a:lvl1pPr algn="ctr">
              <a:defRPr sz="1200"/>
            </a:lvl1pPr>
          </a:lstStyle>
          <a:p>
            <a:r>
              <a:rPr lang="en-GB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C</a:t>
            </a:r>
            <a:r>
              <a:rPr lang="en-GB" noProof="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heck </a:t>
            </a:r>
            <a:r>
              <a:rPr lang="en-GB" noProof="0" dirty="0" err="1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homoscedacity</a:t>
            </a:r>
            <a:r>
              <a:rPr lang="en-GB" noProof="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</a:p>
        </p:txBody>
      </p:sp>
      <p:cxnSp>
        <p:nvCxnSpPr>
          <p:cNvPr id="182" name="Gewinkelte Verbindung 181">
            <a:extLst>
              <a:ext uri="{FF2B5EF4-FFF2-40B4-BE49-F238E27FC236}">
                <a16:creationId xmlns:a16="http://schemas.microsoft.com/office/drawing/2014/main" id="{2B1DB2AC-11C9-33FF-0221-1D77F8B25059}"/>
              </a:ext>
            </a:extLst>
          </p:cNvPr>
          <p:cNvCxnSpPr>
            <a:cxnSpLocks/>
            <a:stCxn id="7" idx="1"/>
            <a:endCxn id="8" idx="0"/>
          </p:cNvCxnSpPr>
          <p:nvPr/>
        </p:nvCxnSpPr>
        <p:spPr>
          <a:xfrm rot="10800000" flipV="1">
            <a:off x="2519994" y="499147"/>
            <a:ext cx="1462504" cy="333639"/>
          </a:xfrm>
          <a:prstGeom prst="bentConnector2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5" name="Gewinkelte Verbindung 184">
            <a:extLst>
              <a:ext uri="{FF2B5EF4-FFF2-40B4-BE49-F238E27FC236}">
                <a16:creationId xmlns:a16="http://schemas.microsoft.com/office/drawing/2014/main" id="{B4465E71-B3EF-DC5B-4146-90C0A29DC7E5}"/>
              </a:ext>
            </a:extLst>
          </p:cNvPr>
          <p:cNvCxnSpPr>
            <a:cxnSpLocks/>
            <a:stCxn id="7" idx="3"/>
          </p:cNvCxnSpPr>
          <p:nvPr/>
        </p:nvCxnSpPr>
        <p:spPr>
          <a:xfrm>
            <a:off x="8287643" y="499148"/>
            <a:ext cx="1512594" cy="334194"/>
          </a:xfrm>
          <a:prstGeom prst="bentConnector3">
            <a:avLst>
              <a:gd name="adj1" fmla="val 101482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0" name="Gerade Verbindung mit Pfeil 319">
            <a:extLst>
              <a:ext uri="{FF2B5EF4-FFF2-40B4-BE49-F238E27FC236}">
                <a16:creationId xmlns:a16="http://schemas.microsoft.com/office/drawing/2014/main" id="{541C7AAA-B3A8-9D92-DE50-39F0A7FC41EC}"/>
              </a:ext>
            </a:extLst>
          </p:cNvPr>
          <p:cNvCxnSpPr>
            <a:cxnSpLocks/>
          </p:cNvCxnSpPr>
          <p:nvPr/>
        </p:nvCxnSpPr>
        <p:spPr>
          <a:xfrm>
            <a:off x="6189491" y="3402561"/>
            <a:ext cx="0" cy="151009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3" name="Gerade Verbindung mit Pfeil 362">
            <a:extLst>
              <a:ext uri="{FF2B5EF4-FFF2-40B4-BE49-F238E27FC236}">
                <a16:creationId xmlns:a16="http://schemas.microsoft.com/office/drawing/2014/main" id="{0620544F-8BDB-0246-4FCA-0500489D7CD2}"/>
              </a:ext>
            </a:extLst>
          </p:cNvPr>
          <p:cNvCxnSpPr>
            <a:cxnSpLocks/>
            <a:stCxn id="19" idx="2"/>
          </p:cNvCxnSpPr>
          <p:nvPr/>
        </p:nvCxnSpPr>
        <p:spPr>
          <a:xfrm>
            <a:off x="2502316" y="3280779"/>
            <a:ext cx="0" cy="1670905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extfeld 4">
            <a:extLst>
              <a:ext uri="{FF2B5EF4-FFF2-40B4-BE49-F238E27FC236}">
                <a16:creationId xmlns:a16="http://schemas.microsoft.com/office/drawing/2014/main" id="{C7B9B6B0-E0F5-E570-B1D7-EFDDAC4CD8CE}"/>
              </a:ext>
            </a:extLst>
          </p:cNvPr>
          <p:cNvSpPr txBox="1"/>
          <p:nvPr/>
        </p:nvSpPr>
        <p:spPr>
          <a:xfrm>
            <a:off x="305981" y="6396835"/>
            <a:ext cx="1868481" cy="281831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w="12700">
            <a:noFill/>
          </a:ln>
        </p:spPr>
        <p:txBody>
          <a:bodyPr wrap="square">
            <a:spAutoFit/>
          </a:bodyPr>
          <a:lstStyle>
            <a:defPPr>
              <a:defRPr lang="de-DE"/>
            </a:defPPr>
            <a:lvl1pPr algn="ctr">
              <a:defRPr sz="1200"/>
            </a:lvl1pPr>
          </a:lstStyle>
          <a:p>
            <a:r>
              <a:rPr lang="en-GB" noProof="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non-parametric tests </a:t>
            </a:r>
          </a:p>
        </p:txBody>
      </p:sp>
      <p:sp>
        <p:nvSpPr>
          <p:cNvPr id="148" name="Textfeld 147">
            <a:extLst>
              <a:ext uri="{FF2B5EF4-FFF2-40B4-BE49-F238E27FC236}">
                <a16:creationId xmlns:a16="http://schemas.microsoft.com/office/drawing/2014/main" id="{2C4D11F2-4EFC-38E2-5A76-DAD361E4EF56}"/>
              </a:ext>
            </a:extLst>
          </p:cNvPr>
          <p:cNvSpPr txBox="1"/>
          <p:nvPr/>
        </p:nvSpPr>
        <p:spPr>
          <a:xfrm>
            <a:off x="305981" y="5974839"/>
            <a:ext cx="1859022" cy="281831"/>
          </a:xfrm>
          <a:prstGeom prst="rect">
            <a:avLst/>
          </a:prstGeom>
          <a:solidFill>
            <a:schemeClr val="accent4">
              <a:alpha val="19758"/>
            </a:schemeClr>
          </a:solidFill>
          <a:ln w="12700">
            <a:noFill/>
          </a:ln>
        </p:spPr>
        <p:txBody>
          <a:bodyPr wrap="square">
            <a:spAutoFit/>
          </a:bodyPr>
          <a:lstStyle/>
          <a:p>
            <a:pPr algn="ctr"/>
            <a:r>
              <a:rPr lang="en-GB" sz="1200" noProof="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parametric tests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67" name="Textfeld 466">
                <a:extLst>
                  <a:ext uri="{FF2B5EF4-FFF2-40B4-BE49-F238E27FC236}">
                    <a16:creationId xmlns:a16="http://schemas.microsoft.com/office/drawing/2014/main" id="{29F8B6C9-4A2D-DF13-DB81-DAAAFFA4FF1C}"/>
                  </a:ext>
                </a:extLst>
              </p:cNvPr>
              <p:cNvSpPr txBox="1"/>
              <p:nvPr/>
            </p:nvSpPr>
            <p:spPr>
              <a:xfrm>
                <a:off x="2248265" y="5954905"/>
                <a:ext cx="2538462" cy="281831"/>
              </a:xfrm>
              <a:prstGeom prst="rect">
                <a:avLst/>
              </a:prstGeom>
              <a:noFill/>
              <a:ln w="12700">
                <a:solidFill>
                  <a:schemeClr val="tx1"/>
                </a:solidFill>
              </a:ln>
            </p:spPr>
            <p:txBody>
              <a:bodyPr wrap="square">
                <a:spAutoFit/>
              </a:bodyPr>
              <a:lstStyle>
                <a:defPPr>
                  <a:defRPr lang="de-DE"/>
                </a:defPPr>
                <a:lvl1pPr algn="ctr">
                  <a:defRPr sz="1200"/>
                </a:lvl1pPr>
              </a:lstStyle>
              <a:p>
                <a:r>
                  <a:rPr lang="en-GB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predictor</a:t>
                </a:r>
                <a:r>
                  <a:rPr lang="en-GB" noProof="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 with </a:t>
                </a:r>
                <a14:m>
                  <m:oMath xmlns:m="http://schemas.openxmlformats.org/officeDocument/2006/math">
                    <m:r>
                      <a:rPr lang="en-GB" i="1" noProof="0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m:t>𝑁</m:t>
                    </m:r>
                    <m:r>
                      <a:rPr lang="en-GB" i="1" noProof="0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m:t>=2</m:t>
                    </m:r>
                  </m:oMath>
                </a14:m>
                <a:r>
                  <a:rPr lang="en-GB" noProof="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 levels </a:t>
                </a:r>
              </a:p>
            </p:txBody>
          </p:sp>
        </mc:Choice>
        <mc:Fallback xmlns="">
          <p:sp>
            <p:nvSpPr>
              <p:cNvPr id="467" name="Textfeld 466">
                <a:extLst>
                  <a:ext uri="{FF2B5EF4-FFF2-40B4-BE49-F238E27FC236}">
                    <a16:creationId xmlns:a16="http://schemas.microsoft.com/office/drawing/2014/main" id="{9F3DB9C3-A6B3-DC3B-D937-ACB248DD189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48265" y="5954905"/>
                <a:ext cx="2538462" cy="281831"/>
              </a:xfrm>
              <a:prstGeom prst="rect">
                <a:avLst/>
              </a:prstGeom>
              <a:blipFill>
                <a:blip r:embed="rId19"/>
                <a:stretch>
                  <a:fillRect b="-8333"/>
                </a:stretch>
              </a:blipFill>
              <a:ln w="1270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68" name="Textfeld 467">
                <a:extLst>
                  <a:ext uri="{FF2B5EF4-FFF2-40B4-BE49-F238E27FC236}">
                    <a16:creationId xmlns:a16="http://schemas.microsoft.com/office/drawing/2014/main" id="{98215D10-AA82-4137-BC4D-73F96F508950}"/>
                  </a:ext>
                </a:extLst>
              </p:cNvPr>
              <p:cNvSpPr txBox="1"/>
              <p:nvPr/>
            </p:nvSpPr>
            <p:spPr>
              <a:xfrm>
                <a:off x="2238790" y="6376901"/>
                <a:ext cx="2543546" cy="276999"/>
              </a:xfrm>
              <a:prstGeom prst="rect">
                <a:avLst/>
              </a:prstGeom>
              <a:noFill/>
              <a:ln w="12700">
                <a:solidFill>
                  <a:schemeClr val="accent1">
                    <a:lumMod val="40000"/>
                    <a:lumOff val="60000"/>
                  </a:schemeClr>
                </a:solidFill>
              </a:ln>
            </p:spPr>
            <p:txBody>
              <a:bodyPr wrap="square">
                <a:spAutoFit/>
              </a:bodyPr>
              <a:lstStyle>
                <a:defPPr>
                  <a:defRPr lang="de-DE"/>
                </a:defPPr>
                <a:lvl1pPr algn="ctr">
                  <a:defRPr sz="1200"/>
                </a:lvl1pPr>
              </a:lstStyle>
              <a:p>
                <a:r>
                  <a:rPr lang="en-GB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predictor</a:t>
                </a:r>
                <a:r>
                  <a:rPr lang="en-GB" noProof="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 with </a:t>
                </a:r>
                <a14:m>
                  <m:oMath xmlns:m="http://schemas.openxmlformats.org/officeDocument/2006/math">
                    <m:r>
                      <a:rPr lang="en-GB" i="1" noProof="0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m:t>𝑁</m:t>
                    </m:r>
                    <m:r>
                      <a:rPr lang="en-GB" i="1" noProof="0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m:t>&gt; 2 </m:t>
                    </m:r>
                  </m:oMath>
                </a14:m>
                <a:r>
                  <a:rPr lang="en-GB" noProof="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levels </a:t>
                </a:r>
              </a:p>
            </p:txBody>
          </p:sp>
        </mc:Choice>
        <mc:Fallback xmlns="">
          <p:sp>
            <p:nvSpPr>
              <p:cNvPr id="468" name="Textfeld 467">
                <a:extLst>
                  <a:ext uri="{FF2B5EF4-FFF2-40B4-BE49-F238E27FC236}">
                    <a16:creationId xmlns:a16="http://schemas.microsoft.com/office/drawing/2014/main" id="{706DE281-AE3D-2689-6BA1-030155DAFDD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38790" y="6376901"/>
                <a:ext cx="2543546" cy="276999"/>
              </a:xfrm>
              <a:prstGeom prst="rect">
                <a:avLst/>
              </a:prstGeom>
              <a:blipFill>
                <a:blip r:embed="rId20"/>
                <a:stretch>
                  <a:fillRect b="-12500"/>
                </a:stretch>
              </a:blipFill>
              <a:ln w="12700">
                <a:solidFill>
                  <a:schemeClr val="accent1">
                    <a:lumMod val="40000"/>
                    <a:lumOff val="60000"/>
                  </a:schemeClr>
                </a:solidFill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77" name="Textfeld 476">
            <a:extLst>
              <a:ext uri="{FF2B5EF4-FFF2-40B4-BE49-F238E27FC236}">
                <a16:creationId xmlns:a16="http://schemas.microsoft.com/office/drawing/2014/main" id="{694F209D-AE15-3C11-6D5D-136CF693359B}"/>
              </a:ext>
            </a:extLst>
          </p:cNvPr>
          <p:cNvSpPr txBox="1"/>
          <p:nvPr/>
        </p:nvSpPr>
        <p:spPr>
          <a:xfrm>
            <a:off x="305981" y="5743382"/>
            <a:ext cx="1091245" cy="281831"/>
          </a:xfrm>
          <a:prstGeom prst="rect">
            <a:avLst/>
          </a:prstGeom>
          <a:noFill/>
          <a:ln w="12700">
            <a:noFill/>
          </a:ln>
        </p:spPr>
        <p:txBody>
          <a:bodyPr wrap="square">
            <a:spAutoFit/>
          </a:bodyPr>
          <a:lstStyle>
            <a:defPPr>
              <a:defRPr lang="de-DE"/>
            </a:defPPr>
            <a:lvl1pPr algn="ctr">
              <a:defRPr sz="1200"/>
            </a:lvl1pPr>
          </a:lstStyle>
          <a:p>
            <a:pPr algn="l"/>
            <a:r>
              <a:rPr lang="en-GB" noProof="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Colour code: </a:t>
            </a:r>
          </a:p>
        </p:txBody>
      </p:sp>
      <p:grpSp>
        <p:nvGrpSpPr>
          <p:cNvPr id="491" name="Gruppieren 490">
            <a:extLst>
              <a:ext uri="{FF2B5EF4-FFF2-40B4-BE49-F238E27FC236}">
                <a16:creationId xmlns:a16="http://schemas.microsoft.com/office/drawing/2014/main" id="{3BEF4251-E783-6997-81AF-73FA2A62F8C2}"/>
              </a:ext>
            </a:extLst>
          </p:cNvPr>
          <p:cNvGrpSpPr/>
          <p:nvPr/>
        </p:nvGrpSpPr>
        <p:grpSpPr>
          <a:xfrm>
            <a:off x="1666842" y="1127125"/>
            <a:ext cx="1785240" cy="542165"/>
            <a:chOff x="2719572" y="1536945"/>
            <a:chExt cx="1289076" cy="305400"/>
          </a:xfrm>
        </p:grpSpPr>
        <p:cxnSp>
          <p:nvCxnSpPr>
            <p:cNvPr id="492" name="Gerade Verbindung mit Pfeil 491">
              <a:extLst>
                <a:ext uri="{FF2B5EF4-FFF2-40B4-BE49-F238E27FC236}">
                  <a16:creationId xmlns:a16="http://schemas.microsoft.com/office/drawing/2014/main" id="{C2D3EC66-2791-4F1C-501D-1BB263EEE32A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719572" y="1536945"/>
              <a:ext cx="639486" cy="30540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3" name="Gerade Verbindung mit Pfeil 492">
              <a:extLst>
                <a:ext uri="{FF2B5EF4-FFF2-40B4-BE49-F238E27FC236}">
                  <a16:creationId xmlns:a16="http://schemas.microsoft.com/office/drawing/2014/main" id="{625E0312-D230-8901-EE53-C7074AB39DF3}"/>
                </a:ext>
              </a:extLst>
            </p:cNvPr>
            <p:cNvCxnSpPr>
              <a:cxnSpLocks/>
            </p:cNvCxnSpPr>
            <p:nvPr/>
          </p:nvCxnSpPr>
          <p:spPr>
            <a:xfrm>
              <a:off x="3359058" y="1536945"/>
              <a:ext cx="649590" cy="30540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461" name="Gerade Verbindung mit Pfeil 460">
            <a:extLst>
              <a:ext uri="{FF2B5EF4-FFF2-40B4-BE49-F238E27FC236}">
                <a16:creationId xmlns:a16="http://schemas.microsoft.com/office/drawing/2014/main" id="{B8535EFA-6F94-0EE5-B427-A5E577793C6E}"/>
              </a:ext>
            </a:extLst>
          </p:cNvPr>
          <p:cNvCxnSpPr>
            <a:cxnSpLocks/>
          </p:cNvCxnSpPr>
          <p:nvPr/>
        </p:nvCxnSpPr>
        <p:spPr>
          <a:xfrm flipH="1">
            <a:off x="8287643" y="4758610"/>
            <a:ext cx="4391" cy="180489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5" name="Gerade Verbindung mit Pfeil 464">
            <a:extLst>
              <a:ext uri="{FF2B5EF4-FFF2-40B4-BE49-F238E27FC236}">
                <a16:creationId xmlns:a16="http://schemas.microsoft.com/office/drawing/2014/main" id="{D06C3080-1070-97B4-78A3-EB48C636F88F}"/>
              </a:ext>
            </a:extLst>
          </p:cNvPr>
          <p:cNvCxnSpPr>
            <a:cxnSpLocks/>
          </p:cNvCxnSpPr>
          <p:nvPr/>
        </p:nvCxnSpPr>
        <p:spPr>
          <a:xfrm flipH="1">
            <a:off x="9767473" y="4763372"/>
            <a:ext cx="4391" cy="180489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6" name="Gerade Verbindung mit Pfeil 465">
            <a:extLst>
              <a:ext uri="{FF2B5EF4-FFF2-40B4-BE49-F238E27FC236}">
                <a16:creationId xmlns:a16="http://schemas.microsoft.com/office/drawing/2014/main" id="{B9B089EB-341B-4C1A-279C-AEFB2282C6A0}"/>
              </a:ext>
            </a:extLst>
          </p:cNvPr>
          <p:cNvCxnSpPr>
            <a:cxnSpLocks/>
          </p:cNvCxnSpPr>
          <p:nvPr/>
        </p:nvCxnSpPr>
        <p:spPr>
          <a:xfrm flipH="1">
            <a:off x="8287643" y="5246480"/>
            <a:ext cx="4391" cy="180489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9" name="Gerade Verbindung mit Pfeil 468">
            <a:extLst>
              <a:ext uri="{FF2B5EF4-FFF2-40B4-BE49-F238E27FC236}">
                <a16:creationId xmlns:a16="http://schemas.microsoft.com/office/drawing/2014/main" id="{F87DBCB6-F331-0B0E-92E8-49B95251FE7D}"/>
              </a:ext>
            </a:extLst>
          </p:cNvPr>
          <p:cNvCxnSpPr>
            <a:cxnSpLocks/>
          </p:cNvCxnSpPr>
          <p:nvPr/>
        </p:nvCxnSpPr>
        <p:spPr>
          <a:xfrm flipH="1">
            <a:off x="9767473" y="5251947"/>
            <a:ext cx="4391" cy="180489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0" name="Gerade Verbindung mit Pfeil 469">
            <a:extLst>
              <a:ext uri="{FF2B5EF4-FFF2-40B4-BE49-F238E27FC236}">
                <a16:creationId xmlns:a16="http://schemas.microsoft.com/office/drawing/2014/main" id="{C02C6353-A580-F09F-5950-72AFB94CF120}"/>
              </a:ext>
            </a:extLst>
          </p:cNvPr>
          <p:cNvCxnSpPr>
            <a:cxnSpLocks/>
          </p:cNvCxnSpPr>
          <p:nvPr/>
        </p:nvCxnSpPr>
        <p:spPr>
          <a:xfrm flipH="1">
            <a:off x="6182061" y="5264410"/>
            <a:ext cx="4391" cy="180489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6" name="Gerade Verbindung mit Pfeil 495">
            <a:extLst>
              <a:ext uri="{FF2B5EF4-FFF2-40B4-BE49-F238E27FC236}">
                <a16:creationId xmlns:a16="http://schemas.microsoft.com/office/drawing/2014/main" id="{8B851C1B-D9B5-D945-19A5-F7938D5CD3A1}"/>
              </a:ext>
            </a:extLst>
          </p:cNvPr>
          <p:cNvCxnSpPr>
            <a:cxnSpLocks/>
          </p:cNvCxnSpPr>
          <p:nvPr/>
        </p:nvCxnSpPr>
        <p:spPr>
          <a:xfrm flipH="1">
            <a:off x="8946555" y="3270049"/>
            <a:ext cx="7967" cy="597516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" name="Gerade Verbindung mit Pfeil 76">
            <a:extLst>
              <a:ext uri="{FF2B5EF4-FFF2-40B4-BE49-F238E27FC236}">
                <a16:creationId xmlns:a16="http://schemas.microsoft.com/office/drawing/2014/main" id="{E58B5024-72E9-BF24-2F70-4C93506905A1}"/>
              </a:ext>
            </a:extLst>
          </p:cNvPr>
          <p:cNvCxnSpPr>
            <a:cxnSpLocks/>
            <a:stCxn id="9" idx="2"/>
            <a:endCxn id="6" idx="0"/>
          </p:cNvCxnSpPr>
          <p:nvPr/>
        </p:nvCxnSpPr>
        <p:spPr>
          <a:xfrm>
            <a:off x="7779530" y="1109786"/>
            <a:ext cx="1670" cy="1091532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8" name="Gerade Verbindung mit Pfeil 77">
            <a:extLst>
              <a:ext uri="{FF2B5EF4-FFF2-40B4-BE49-F238E27FC236}">
                <a16:creationId xmlns:a16="http://schemas.microsoft.com/office/drawing/2014/main" id="{A976BA90-C577-0271-8A7E-30EDF616A86D}"/>
              </a:ext>
            </a:extLst>
          </p:cNvPr>
          <p:cNvCxnSpPr>
            <a:cxnSpLocks/>
          </p:cNvCxnSpPr>
          <p:nvPr/>
        </p:nvCxnSpPr>
        <p:spPr>
          <a:xfrm flipH="1">
            <a:off x="1572292" y="1996567"/>
            <a:ext cx="4391" cy="180489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9" name="Rechteck 78">
            <a:extLst>
              <a:ext uri="{FF2B5EF4-FFF2-40B4-BE49-F238E27FC236}">
                <a16:creationId xmlns:a16="http://schemas.microsoft.com/office/drawing/2014/main" id="{DC688577-4FC9-203C-8BF7-B9332F066223}"/>
              </a:ext>
            </a:extLst>
          </p:cNvPr>
          <p:cNvSpPr/>
          <p:nvPr/>
        </p:nvSpPr>
        <p:spPr>
          <a:xfrm>
            <a:off x="243603" y="5730875"/>
            <a:ext cx="4603061" cy="999264"/>
          </a:xfrm>
          <a:prstGeom prst="rect">
            <a:avLst/>
          </a:prstGeom>
          <a:noFill/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grpSp>
        <p:nvGrpSpPr>
          <p:cNvPr id="17" name="Gruppieren 16">
            <a:extLst>
              <a:ext uri="{FF2B5EF4-FFF2-40B4-BE49-F238E27FC236}">
                <a16:creationId xmlns:a16="http://schemas.microsoft.com/office/drawing/2014/main" id="{A8F6590F-D0D3-C8CF-DA7E-CF6D94FE78DB}"/>
              </a:ext>
            </a:extLst>
          </p:cNvPr>
          <p:cNvGrpSpPr/>
          <p:nvPr/>
        </p:nvGrpSpPr>
        <p:grpSpPr>
          <a:xfrm>
            <a:off x="6911252" y="2511762"/>
            <a:ext cx="1552397" cy="469922"/>
            <a:chOff x="2719572" y="1536945"/>
            <a:chExt cx="1289076" cy="305400"/>
          </a:xfrm>
        </p:grpSpPr>
        <p:cxnSp>
          <p:nvCxnSpPr>
            <p:cNvPr id="20" name="Gerade Verbindung mit Pfeil 19">
              <a:extLst>
                <a:ext uri="{FF2B5EF4-FFF2-40B4-BE49-F238E27FC236}">
                  <a16:creationId xmlns:a16="http://schemas.microsoft.com/office/drawing/2014/main" id="{90AAC1B5-81A6-8756-6A74-272E6E3E8F2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719572" y="1536945"/>
              <a:ext cx="639486" cy="30540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Gerade Verbindung mit Pfeil 20">
              <a:extLst>
                <a:ext uri="{FF2B5EF4-FFF2-40B4-BE49-F238E27FC236}">
                  <a16:creationId xmlns:a16="http://schemas.microsoft.com/office/drawing/2014/main" id="{5F189AB0-A0A6-23BC-E7AC-F37F653109ED}"/>
                </a:ext>
              </a:extLst>
            </p:cNvPr>
            <p:cNvCxnSpPr>
              <a:cxnSpLocks/>
            </p:cNvCxnSpPr>
            <p:nvPr/>
          </p:nvCxnSpPr>
          <p:spPr>
            <a:xfrm>
              <a:off x="3359058" y="1536945"/>
              <a:ext cx="649590" cy="30540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4823486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Corrected Logic: Normality Checks in Welch Tests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7315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/>
          </a:p>
          <a:p>
            <a:pPr>
              <a:defRPr sz="1600">
                <a:solidFill>
                  <a:srgbClr val="000000"/>
                </a:solidFill>
                <a:latin typeface="Calibri"/>
              </a:defRPr>
            </a:pPr>
            <a:r>
              <a:t>Correction to Slide 3: Residual-based normality checks are only valid in linear models (e.g., aov, lm). Welch’s tests (t-test with var.equal = FALSE or oneway.test) are not GLMs and do not have meaningful residuals.</a:t>
            </a:r>
            <a:br/>
            <a:br/>
            <a:r>
              <a:t>Revised Decision Logic:</a:t>
            </a:r>
            <a:br/>
            <a:r>
              <a:t>1. If predictor has 2 levels and n₁, n₂ ≥ 30 → use Welch’s t-test.</a:t>
            </a:r>
            <a:br/>
            <a:r>
              <a:t>2. If either n₁ or n₂ &lt; 30 → run shapiro.test() on both groups.</a:t>
            </a:r>
            <a:br/>
            <a:r>
              <a:t>    • If both p &gt; α → Welch’s t-test.</a:t>
            </a:r>
            <a:br/>
            <a:r>
              <a:t>    • If either p ≤ α → use wilcox.test().</a:t>
            </a:r>
            <a:br/>
            <a:br/>
            <a:r>
              <a:t>3. If predictor has &gt; 2 levels:</a:t>
            </a:r>
            <a:br/>
            <a:r>
              <a:t>    • Run shapiro.test() per group.</a:t>
            </a:r>
            <a:br/>
            <a:r>
              <a:t>    • If any p ≤ α → use kruskal.test() and pairwise.wilcox.test().</a:t>
            </a:r>
            <a:br/>
            <a:r>
              <a:t>    • If all p &gt; α → test homogeneity via levene.test():</a:t>
            </a:r>
            <a:br/>
            <a:r>
              <a:t>        – If variances are equal: use aov() + TukeyHSD().</a:t>
            </a:r>
            <a:br/>
            <a:r>
              <a:t>        – If not: use oneway.test() + TukeyHSD().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7E5473-8372-0CB0-FE4D-728CA10730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Textfeld 17">
            <a:extLst>
              <a:ext uri="{FF2B5EF4-FFF2-40B4-BE49-F238E27FC236}">
                <a16:creationId xmlns:a16="http://schemas.microsoft.com/office/drawing/2014/main" id="{5E35EA9C-FEBE-F7AA-BDC9-ED635780E393}"/>
              </a:ext>
            </a:extLst>
          </p:cNvPr>
          <p:cNvSpPr txBox="1"/>
          <p:nvPr/>
        </p:nvSpPr>
        <p:spPr>
          <a:xfrm>
            <a:off x="262794" y="2202514"/>
            <a:ext cx="2959748" cy="276999"/>
          </a:xfrm>
          <a:prstGeom prst="rect">
            <a:avLst/>
          </a:prstGeom>
          <a:solidFill>
            <a:schemeClr val="accent2">
              <a:alpha val="19906"/>
            </a:schemeClr>
          </a:solidFill>
          <a:ln w="12700"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en-GB" sz="1200" noProof="0" dirty="0" err="1">
                <a:latin typeface="Courier New" panose="02070309020205020404" pitchFamily="49" charset="0"/>
                <a:ea typeface="Cambria Math" panose="02040503050406030204" pitchFamily="18" charset="0"/>
                <a:cs typeface="Courier New" panose="02070309020205020404" pitchFamily="49" charset="0"/>
              </a:rPr>
              <a:t>shapiro.test</a:t>
            </a:r>
            <a:r>
              <a:rPr lang="en-GB" sz="1200" noProof="0" dirty="0">
                <a:latin typeface="Courier New" panose="02070309020205020404" pitchFamily="49" charset="0"/>
                <a:ea typeface="Cambria Math" panose="02040503050406030204" pitchFamily="18" charset="0"/>
                <a:cs typeface="Courier New" panose="02070309020205020404" pitchFamily="49" charset="0"/>
              </a:rPr>
              <a:t>()</a:t>
            </a:r>
            <a:r>
              <a:rPr lang="en-GB" sz="1200" noProof="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for both levels</a:t>
            </a:r>
          </a:p>
        </p:txBody>
      </p:sp>
      <p:sp>
        <p:nvSpPr>
          <p:cNvPr id="160" name="Textfeld 159">
            <a:extLst>
              <a:ext uri="{FF2B5EF4-FFF2-40B4-BE49-F238E27FC236}">
                <a16:creationId xmlns:a16="http://schemas.microsoft.com/office/drawing/2014/main" id="{78C569E1-DB23-CB0C-A928-57D8BBA49D6A}"/>
              </a:ext>
            </a:extLst>
          </p:cNvPr>
          <p:cNvSpPr txBox="1"/>
          <p:nvPr/>
        </p:nvSpPr>
        <p:spPr>
          <a:xfrm>
            <a:off x="10508890" y="2202514"/>
            <a:ext cx="1618428" cy="276999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12700">
            <a:solidFill>
              <a:schemeClr val="accent1">
                <a:lumMod val="20000"/>
                <a:lumOff val="80000"/>
              </a:schemeClr>
            </a:solidFill>
          </a:ln>
        </p:spPr>
        <p:txBody>
          <a:bodyPr wrap="square">
            <a:spAutoFit/>
          </a:bodyPr>
          <a:lstStyle>
            <a:defPPr>
              <a:defRPr lang="de-DE"/>
            </a:defPPr>
            <a:lvl1pPr algn="ctr">
              <a:defRPr sz="1200"/>
            </a:lvl1pPr>
          </a:lstStyle>
          <a:p>
            <a:r>
              <a:rPr lang="en-GB" noProof="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Check normality</a:t>
            </a:r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89E9B517-669A-A3E8-F15A-202DABAD7FF4}"/>
              </a:ext>
            </a:extLst>
          </p:cNvPr>
          <p:cNvSpPr txBox="1"/>
          <p:nvPr/>
        </p:nvSpPr>
        <p:spPr>
          <a:xfrm>
            <a:off x="5130837" y="2201318"/>
            <a:ext cx="5300726" cy="276999"/>
          </a:xfrm>
          <a:prstGeom prst="rect">
            <a:avLst/>
          </a:prstGeom>
          <a:solidFill>
            <a:schemeClr val="accent2">
              <a:alpha val="19906"/>
            </a:schemeClr>
          </a:solidFill>
          <a:ln w="12700"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en-GB" sz="1200" noProof="0" dirty="0" err="1">
                <a:latin typeface="Courier New" panose="02070309020205020404" pitchFamily="49" charset="0"/>
                <a:ea typeface="Cambria Math" panose="02040503050406030204" pitchFamily="18" charset="0"/>
                <a:cs typeface="Courier New" panose="02070309020205020404" pitchFamily="49" charset="0"/>
              </a:rPr>
              <a:t>shapiro.test</a:t>
            </a:r>
            <a:r>
              <a:rPr lang="en-GB" sz="1200" noProof="0" dirty="0">
                <a:latin typeface="Courier New" panose="02070309020205020404" pitchFamily="49" charset="0"/>
                <a:ea typeface="Cambria Math" panose="02040503050406030204" pitchFamily="18" charset="0"/>
                <a:cs typeface="Courier New" panose="02070309020205020404" pitchFamily="49" charset="0"/>
              </a:rPr>
              <a:t>()</a:t>
            </a:r>
            <a:r>
              <a:rPr lang="en-GB" sz="1200" noProof="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en-GB" sz="12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of residuals</a:t>
            </a:r>
            <a:endParaRPr lang="en-GB" sz="1200" noProof="0" dirty="0">
              <a:latin typeface="Calibri" panose="020F0502020204030204" pitchFamily="34" charset="0"/>
              <a:ea typeface="Cambria Math" panose="02040503050406030204" pitchFamily="18" charset="0"/>
              <a:cs typeface="Calibri" panose="020F0502020204030204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feld 6">
                <a:extLst>
                  <a:ext uri="{FF2B5EF4-FFF2-40B4-BE49-F238E27FC236}">
                    <a16:creationId xmlns:a16="http://schemas.microsoft.com/office/drawing/2014/main" id="{22EC0F17-6444-0146-79F6-B0A0994E06CF}"/>
                  </a:ext>
                </a:extLst>
              </p:cNvPr>
              <p:cNvSpPr txBox="1"/>
              <p:nvPr/>
            </p:nvSpPr>
            <p:spPr>
              <a:xfrm>
                <a:off x="3982498" y="268315"/>
                <a:ext cx="4305145" cy="461665"/>
              </a:xfrm>
              <a:prstGeom prst="rect">
                <a:avLst/>
              </a:prstGeom>
              <a:noFill/>
              <a:ln w="6350">
                <a:solidFill>
                  <a:schemeClr val="bg1">
                    <a:lumMod val="85000"/>
                  </a:schemeClr>
                </a:solidFill>
              </a:ln>
            </p:spPr>
            <p:txBody>
              <a:bodyPr wrap="square">
                <a:spAutoFit/>
              </a:bodyPr>
              <a:lstStyle/>
              <a:p>
                <a:pPr marL="171450" indent="-171450">
                  <a:buFont typeface="Arial" panose="020B0604020202020204" pitchFamily="34" charset="0"/>
                  <a:buChar char="•"/>
                </a:pPr>
                <a:r>
                  <a:rPr lang="en-GB" sz="120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C</a:t>
                </a:r>
                <a:r>
                  <a:rPr lang="en-GB" sz="1200" noProof="0" dirty="0" err="1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ategorical</a:t>
                </a:r>
                <a:r>
                  <a:rPr lang="en-GB" sz="1200" noProof="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 predictor of </a:t>
                </a:r>
                <a:r>
                  <a:rPr lang="en-GB" sz="1200" noProof="0" dirty="0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class </a:t>
                </a:r>
                <a:r>
                  <a:rPr lang="en-GB" sz="120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“</a:t>
                </a:r>
                <a:r>
                  <a:rPr lang="en-GB" sz="1200" dirty="0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factor</a:t>
                </a:r>
                <a:r>
                  <a:rPr lang="en-GB" sz="1200" noProof="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“  with </a:t>
                </a:r>
                <a14:m>
                  <m:oMath xmlns:m="http://schemas.openxmlformats.org/officeDocument/2006/math">
                    <m:r>
                      <a:rPr lang="en-GB" sz="1200" i="1" noProof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𝑁</m:t>
                    </m:r>
                  </m:oMath>
                </a14:m>
                <a:r>
                  <a:rPr lang="en-GB" sz="1200" noProof="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 levels</a:t>
                </a:r>
              </a:p>
              <a:p>
                <a:pPr marL="171450" indent="-171450">
                  <a:buFont typeface="Arial" panose="020B0604020202020204" pitchFamily="34" charset="0"/>
                  <a:buChar char="•"/>
                </a:pPr>
                <a:r>
                  <a:rPr lang="en-GB" sz="120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N</a:t>
                </a:r>
                <a:r>
                  <a:rPr lang="en-GB" sz="1200" noProof="0" dirty="0" err="1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umeric</a:t>
                </a:r>
                <a:r>
                  <a:rPr lang="en-GB" sz="1200" noProof="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 response of </a:t>
                </a:r>
                <a:r>
                  <a:rPr lang="en-GB" sz="1200" noProof="0" dirty="0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class </a:t>
                </a:r>
                <a:r>
                  <a:rPr lang="en-GB" sz="120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“</a:t>
                </a:r>
                <a:r>
                  <a:rPr lang="en-GB" sz="1200" noProof="0" dirty="0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numeric</a:t>
                </a:r>
                <a:r>
                  <a:rPr lang="en-GB" sz="120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”</a:t>
                </a:r>
                <a:r>
                  <a:rPr lang="en-GB" sz="1200" dirty="0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 </a:t>
                </a:r>
                <a:r>
                  <a:rPr lang="en-GB" sz="1200" noProof="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or “</a:t>
                </a:r>
                <a:r>
                  <a:rPr lang="en-GB" sz="1200" noProof="0" dirty="0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integer</a:t>
                </a:r>
                <a:r>
                  <a:rPr lang="en-GB" sz="120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”</a:t>
                </a:r>
                <a:endParaRPr lang="en-GB" sz="1200" noProof="0" dirty="0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endParaRPr>
              </a:p>
            </p:txBody>
          </p:sp>
        </mc:Choice>
        <mc:Fallback xmlns="">
          <p:sp>
            <p:nvSpPr>
              <p:cNvPr id="7" name="Textfeld 6">
                <a:extLst>
                  <a:ext uri="{FF2B5EF4-FFF2-40B4-BE49-F238E27FC236}">
                    <a16:creationId xmlns:a16="http://schemas.microsoft.com/office/drawing/2014/main" id="{D954AB4D-A237-C043-A913-633703A9C26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82498" y="268315"/>
                <a:ext cx="4305145" cy="461665"/>
              </a:xfrm>
              <a:prstGeom prst="rect">
                <a:avLst/>
              </a:prstGeom>
              <a:blipFill>
                <a:blip r:embed="rId3"/>
                <a:stretch>
                  <a:fillRect b="-5263"/>
                </a:stretch>
              </a:blipFill>
              <a:ln w="6350">
                <a:solidFill>
                  <a:schemeClr val="bg1">
                    <a:lumMod val="85000"/>
                  </a:schemeClr>
                </a:solidFill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feld 7">
                <a:extLst>
                  <a:ext uri="{FF2B5EF4-FFF2-40B4-BE49-F238E27FC236}">
                    <a16:creationId xmlns:a16="http://schemas.microsoft.com/office/drawing/2014/main" id="{73D3A366-6D44-C26E-6E05-62A8E58EE9A0}"/>
                  </a:ext>
                </a:extLst>
              </p:cNvPr>
              <p:cNvSpPr txBox="1"/>
              <p:nvPr/>
            </p:nvSpPr>
            <p:spPr>
              <a:xfrm>
                <a:off x="262794" y="832787"/>
                <a:ext cx="4514400" cy="276999"/>
              </a:xfrm>
              <a:prstGeom prst="rect">
                <a:avLst/>
              </a:prstGeom>
              <a:noFill/>
              <a:ln w="12700">
                <a:solidFill>
                  <a:schemeClr val="tx1"/>
                </a:solidFill>
              </a:ln>
            </p:spPr>
            <p:txBody>
              <a:bodyPr wrap="square">
                <a:spAutoFit/>
              </a:bodyPr>
              <a:lstStyle>
                <a:defPPr>
                  <a:defRPr lang="de-DE"/>
                </a:defPPr>
              </a:lstStyle>
              <a:p>
                <a:pPr algn="ctr"/>
                <a:r>
                  <a:rPr lang="en-GB" sz="120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predictor</a:t>
                </a:r>
                <a:r>
                  <a:rPr lang="en-GB" sz="1200" noProof="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: </a:t>
                </a:r>
                <a14:m>
                  <m:oMath xmlns:m="http://schemas.openxmlformats.org/officeDocument/2006/math">
                    <m:r>
                      <a:rPr lang="en-GB" sz="1200" i="1" noProof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𝑁</m:t>
                    </m:r>
                    <m:r>
                      <a:rPr lang="en-GB" sz="1200" i="1" noProof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=2 </m:t>
                    </m:r>
                  </m:oMath>
                </a14:m>
                <a:r>
                  <a:rPr lang="en-GB" sz="1200" noProof="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levels  with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sz="1200" b="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1200" b="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𝑛</m:t>
                        </m:r>
                      </m:e>
                      <m:sub>
                        <m:r>
                          <a:rPr lang="en-GB" sz="1200" b="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GB" sz="1200" noProof="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 resp.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sz="1200" b="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1200" b="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𝑛</m:t>
                        </m:r>
                      </m:e>
                      <m:sub>
                        <m:r>
                          <a:rPr lang="en-GB" sz="1200" b="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GB" sz="1200" noProof="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 entries in each level</a:t>
                </a:r>
              </a:p>
            </p:txBody>
          </p:sp>
        </mc:Choice>
        <mc:Fallback xmlns="">
          <p:sp>
            <p:nvSpPr>
              <p:cNvPr id="8" name="Textfeld 7">
                <a:extLst>
                  <a:ext uri="{FF2B5EF4-FFF2-40B4-BE49-F238E27FC236}">
                    <a16:creationId xmlns:a16="http://schemas.microsoft.com/office/drawing/2014/main" id="{295FEA9A-D31C-504B-9808-C226C7EA070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2794" y="832787"/>
                <a:ext cx="4514400" cy="276999"/>
              </a:xfrm>
              <a:prstGeom prst="rect">
                <a:avLst/>
              </a:prstGeom>
              <a:blipFill>
                <a:blip r:embed="rId4"/>
                <a:stretch>
                  <a:fillRect b="-13043"/>
                </a:stretch>
              </a:blipFill>
              <a:ln w="1270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feld 8">
                <a:extLst>
                  <a:ext uri="{FF2B5EF4-FFF2-40B4-BE49-F238E27FC236}">
                    <a16:creationId xmlns:a16="http://schemas.microsoft.com/office/drawing/2014/main" id="{4B24B84B-57BA-D657-EE83-DC6EA07ECD63}"/>
                  </a:ext>
                </a:extLst>
              </p:cNvPr>
              <p:cNvSpPr txBox="1"/>
              <p:nvPr/>
            </p:nvSpPr>
            <p:spPr>
              <a:xfrm>
                <a:off x="5127496" y="832787"/>
                <a:ext cx="5304067" cy="276999"/>
              </a:xfrm>
              <a:prstGeom prst="rect">
                <a:avLst/>
              </a:prstGeom>
              <a:noFill/>
              <a:ln w="12700">
                <a:solidFill>
                  <a:schemeClr val="accent1">
                    <a:lumMod val="40000"/>
                    <a:lumOff val="60000"/>
                  </a:schemeClr>
                </a:solidFill>
              </a:ln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GB" sz="120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predictor</a:t>
                </a:r>
                <a:r>
                  <a:rPr lang="en-GB" sz="1200" noProof="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:  </a:t>
                </a:r>
                <a14:m>
                  <m:oMath xmlns:m="http://schemas.openxmlformats.org/officeDocument/2006/math">
                    <m:r>
                      <a:rPr lang="en-GB" sz="1200" b="0" i="1" noProof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𝑁</m:t>
                    </m:r>
                    <m:r>
                      <a:rPr lang="en-GB" sz="1200" b="0" i="1" noProof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&gt;2</m:t>
                    </m:r>
                  </m:oMath>
                </a14:m>
                <a:r>
                  <a:rPr lang="en-GB" sz="1200" noProof="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 levels</a:t>
                </a:r>
              </a:p>
            </p:txBody>
          </p:sp>
        </mc:Choice>
        <mc:Fallback xmlns="">
          <p:sp>
            <p:nvSpPr>
              <p:cNvPr id="9" name="Textfeld 8">
                <a:extLst>
                  <a:ext uri="{FF2B5EF4-FFF2-40B4-BE49-F238E27FC236}">
                    <a16:creationId xmlns:a16="http://schemas.microsoft.com/office/drawing/2014/main" id="{8503CA89-315E-D465-88DB-CCE4B312717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27496" y="832787"/>
                <a:ext cx="5304067" cy="276999"/>
              </a:xfrm>
              <a:prstGeom prst="rect">
                <a:avLst/>
              </a:prstGeom>
              <a:blipFill>
                <a:blip r:embed="rId5"/>
                <a:stretch>
                  <a:fillRect b="-13043"/>
                </a:stretch>
              </a:blipFill>
              <a:ln w="12700">
                <a:solidFill>
                  <a:schemeClr val="accent1">
                    <a:lumMod val="40000"/>
                    <a:lumOff val="60000"/>
                  </a:schemeClr>
                </a:solidFill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feld 12">
                <a:extLst>
                  <a:ext uri="{FF2B5EF4-FFF2-40B4-BE49-F238E27FC236}">
                    <a16:creationId xmlns:a16="http://schemas.microsoft.com/office/drawing/2014/main" id="{989A3D29-1F28-5710-4322-8E0E843FD63E}"/>
                  </a:ext>
                </a:extLst>
              </p:cNvPr>
              <p:cNvSpPr txBox="1"/>
              <p:nvPr/>
            </p:nvSpPr>
            <p:spPr>
              <a:xfrm>
                <a:off x="3296687" y="1721123"/>
                <a:ext cx="1490532" cy="276999"/>
              </a:xfrm>
              <a:prstGeom prst="rect">
                <a:avLst/>
              </a:prstGeom>
              <a:noFill/>
              <a:ln w="12700">
                <a:solidFill>
                  <a:schemeClr val="tx1"/>
                </a:solidFill>
              </a:ln>
            </p:spPr>
            <p:txBody>
              <a:bodyPr wrap="square">
                <a:spAutoFit/>
              </a:bodyPr>
              <a:lstStyle>
                <a:defPPr>
                  <a:defRPr lang="de-DE"/>
                </a:defPPr>
              </a:lstStyle>
              <a:p>
                <a:pPr algn="ctr"/>
                <a14:m>
                  <m:oMath xmlns:m="http://schemas.openxmlformats.org/officeDocument/2006/math">
                    <m:sSub>
                      <m:sSubPr>
                        <m:ctrlPr>
                          <a:rPr lang="en-GB" sz="1200" b="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1200" b="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𝑛</m:t>
                        </m:r>
                      </m:e>
                      <m:sub>
                        <m:r>
                          <a:rPr lang="en-GB" sz="1200" b="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GB" sz="1200" noProof="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sz="120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120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𝑛</m:t>
                        </m:r>
                      </m:e>
                      <m:sub>
                        <m:r>
                          <a:rPr lang="en-GB" sz="1200" b="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GB" sz="1200" b="0" i="1" noProof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&gt;30</m:t>
                    </m:r>
                  </m:oMath>
                </a14:m>
                <a:r>
                  <a:rPr lang="en-GB" sz="1200" noProof="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 </a:t>
                </a:r>
              </a:p>
            </p:txBody>
          </p:sp>
        </mc:Choice>
        <mc:Fallback xmlns="">
          <p:sp>
            <p:nvSpPr>
              <p:cNvPr id="13" name="Textfeld 12">
                <a:extLst>
                  <a:ext uri="{FF2B5EF4-FFF2-40B4-BE49-F238E27FC236}">
                    <a16:creationId xmlns:a16="http://schemas.microsoft.com/office/drawing/2014/main" id="{E013A2E8-9419-9082-A924-2FDA53C069E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96687" y="1721123"/>
                <a:ext cx="1490532" cy="276999"/>
              </a:xfrm>
              <a:prstGeom prst="rect">
                <a:avLst/>
              </a:prstGeom>
              <a:blipFill>
                <a:blip r:embed="rId6"/>
                <a:stretch>
                  <a:fillRect b="-12500"/>
                </a:stretch>
              </a:blipFill>
              <a:ln w="1270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feld 14">
                <a:extLst>
                  <a:ext uri="{FF2B5EF4-FFF2-40B4-BE49-F238E27FC236}">
                    <a16:creationId xmlns:a16="http://schemas.microsoft.com/office/drawing/2014/main" id="{27925C57-B83F-F4ED-E44E-2D5AFFE41E46}"/>
                  </a:ext>
                </a:extLst>
              </p:cNvPr>
              <p:cNvSpPr txBox="1"/>
              <p:nvPr/>
            </p:nvSpPr>
            <p:spPr>
              <a:xfrm>
                <a:off x="271610" y="1721123"/>
                <a:ext cx="2950932" cy="276999"/>
              </a:xfrm>
              <a:prstGeom prst="rect">
                <a:avLst/>
              </a:prstGeom>
              <a:noFill/>
              <a:ln w="12700">
                <a:solidFill>
                  <a:schemeClr val="tx1"/>
                </a:solidFill>
              </a:ln>
            </p:spPr>
            <p:txBody>
              <a:bodyPr wrap="square">
                <a:spAutoFit/>
              </a:bodyPr>
              <a:lstStyle>
                <a:defPPr>
                  <a:defRPr lang="de-DE"/>
                </a:defPPr>
              </a:lstStyle>
              <a:p>
                <a:pPr algn="ctr"/>
                <a14:m>
                  <m:oMath xmlns:m="http://schemas.openxmlformats.org/officeDocument/2006/math">
                    <m:sSub>
                      <m:sSubPr>
                        <m:ctrlPr>
                          <a:rPr lang="en-GB" sz="1200" b="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1200" b="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𝑛</m:t>
                        </m:r>
                      </m:e>
                      <m:sub>
                        <m:r>
                          <a:rPr lang="en-GB" sz="1200" b="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GB" sz="1200" noProof="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 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sz="120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anose="020F0502020204030204" pitchFamily="34" charset="0"/>
                          </a:rPr>
                        </m:ctrlPr>
                      </m:sSubPr>
                      <m:e>
                        <m:r>
                          <a:rPr lang="en-GB" sz="120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𝑛</m:t>
                        </m:r>
                      </m:e>
                      <m:sub>
                        <m:r>
                          <a:rPr lang="en-GB" sz="120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GB" sz="1200" i="1" noProof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≤30</m:t>
                    </m:r>
                    <m:r>
                      <a:rPr lang="en-GB" sz="1200" i="1" noProof="0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m:t> </m:t>
                    </m:r>
                  </m:oMath>
                </a14:m>
                <a:endParaRPr lang="en-GB" sz="1200" noProof="0" dirty="0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endParaRPr>
              </a:p>
            </p:txBody>
          </p:sp>
        </mc:Choice>
        <mc:Fallback xmlns="">
          <p:sp>
            <p:nvSpPr>
              <p:cNvPr id="15" name="Textfeld 14">
                <a:extLst>
                  <a:ext uri="{FF2B5EF4-FFF2-40B4-BE49-F238E27FC236}">
                    <a16:creationId xmlns:a16="http://schemas.microsoft.com/office/drawing/2014/main" id="{2A7C589D-90CE-28E1-F515-49850CAABBC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1610" y="1721123"/>
                <a:ext cx="2950932" cy="276999"/>
              </a:xfrm>
              <a:prstGeom prst="rect">
                <a:avLst/>
              </a:prstGeom>
              <a:blipFill>
                <a:blip r:embed="rId7"/>
                <a:stretch>
                  <a:fillRect b="-12500"/>
                </a:stretch>
              </a:blipFill>
              <a:ln w="1270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feld 18">
                <a:extLst>
                  <a:ext uri="{FF2B5EF4-FFF2-40B4-BE49-F238E27FC236}">
                    <a16:creationId xmlns:a16="http://schemas.microsoft.com/office/drawing/2014/main" id="{73093B7A-6007-2278-6E11-375A18299E1E}"/>
                  </a:ext>
                </a:extLst>
              </p:cNvPr>
              <p:cNvSpPr txBox="1"/>
              <p:nvPr/>
            </p:nvSpPr>
            <p:spPr>
              <a:xfrm>
                <a:off x="1782316" y="3003780"/>
                <a:ext cx="1440000" cy="276999"/>
              </a:xfrm>
              <a:prstGeom prst="rect">
                <a:avLst/>
              </a:prstGeom>
              <a:noFill/>
              <a:ln w="12700">
                <a:solidFill>
                  <a:schemeClr val="tx1"/>
                </a:solidFill>
              </a:ln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GB" sz="1200" b="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1200" b="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GB" sz="1200" b="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GB" sz="1200" b="0" i="1" noProof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≥</m:t>
                    </m:r>
                    <m:r>
                      <a:rPr lang="en-GB" sz="1200" b="0" i="1" noProof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en-GB" sz="1200" noProof="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sz="1200" b="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1200" b="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GB" sz="1200" b="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GB" sz="1200" b="0" i="1" noProof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≥</m:t>
                    </m:r>
                    <m:r>
                      <a:rPr lang="en-GB" sz="1200" b="0" i="1" noProof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en-GB" sz="1200" noProof="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 </a:t>
                </a:r>
              </a:p>
            </p:txBody>
          </p:sp>
        </mc:Choice>
        <mc:Fallback xmlns="">
          <p:sp>
            <p:nvSpPr>
              <p:cNvPr id="19" name="Textfeld 18">
                <a:extLst>
                  <a:ext uri="{FF2B5EF4-FFF2-40B4-BE49-F238E27FC236}">
                    <a16:creationId xmlns:a16="http://schemas.microsoft.com/office/drawing/2014/main" id="{738B4D66-E2FD-3D06-F527-A82D7C3BDF1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82316" y="3003780"/>
                <a:ext cx="1440000" cy="276999"/>
              </a:xfrm>
              <a:prstGeom prst="rect">
                <a:avLst/>
              </a:prstGeom>
              <a:blipFill>
                <a:blip r:embed="rId8"/>
                <a:stretch>
                  <a:fillRect b="-13043"/>
                </a:stretch>
              </a:blipFill>
              <a:ln w="1270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feld 21">
                <a:extLst>
                  <a:ext uri="{FF2B5EF4-FFF2-40B4-BE49-F238E27FC236}">
                    <a16:creationId xmlns:a16="http://schemas.microsoft.com/office/drawing/2014/main" id="{52EA55DF-447D-32B6-2670-C126520193D4}"/>
                  </a:ext>
                </a:extLst>
              </p:cNvPr>
              <p:cNvSpPr txBox="1"/>
              <p:nvPr/>
            </p:nvSpPr>
            <p:spPr>
              <a:xfrm>
                <a:off x="271610" y="3003780"/>
                <a:ext cx="1440000" cy="276999"/>
              </a:xfrm>
              <a:prstGeom prst="rect">
                <a:avLst/>
              </a:prstGeom>
              <a:noFill/>
              <a:ln w="12700">
                <a:solidFill>
                  <a:schemeClr val="tx1"/>
                </a:solidFill>
              </a:ln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GB" sz="1200" b="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1200" b="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GB" sz="1200" b="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GB" sz="1200" b="0" i="1" noProof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&lt;</m:t>
                    </m:r>
                    <m:r>
                      <a:rPr lang="en-GB" sz="1200" b="0" i="1" noProof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𝛼</m:t>
                    </m:r>
                    <m:r>
                      <a:rPr lang="en-GB" sz="1200" b="0" i="1" noProof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 </m:t>
                    </m:r>
                  </m:oMath>
                </a14:m>
                <a:r>
                  <a:rPr lang="en-GB" sz="1200" noProof="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sz="120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120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GB" sz="1200" b="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GB" sz="1200" i="1" noProof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&lt;</m:t>
                    </m:r>
                    <m:r>
                      <a:rPr lang="en-GB" sz="1200" i="1" noProof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en-GB" sz="1200" noProof="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 </a:t>
                </a:r>
              </a:p>
            </p:txBody>
          </p:sp>
        </mc:Choice>
        <mc:Fallback xmlns="">
          <p:sp>
            <p:nvSpPr>
              <p:cNvPr id="22" name="Textfeld 21">
                <a:extLst>
                  <a:ext uri="{FF2B5EF4-FFF2-40B4-BE49-F238E27FC236}">
                    <a16:creationId xmlns:a16="http://schemas.microsoft.com/office/drawing/2014/main" id="{935D93BB-1C95-A787-6B51-42A0FF2A924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1610" y="3003780"/>
                <a:ext cx="1440000" cy="276999"/>
              </a:xfrm>
              <a:prstGeom prst="rect">
                <a:avLst/>
              </a:prstGeom>
              <a:blipFill>
                <a:blip r:embed="rId9"/>
                <a:stretch>
                  <a:fillRect b="-13043"/>
                </a:stretch>
              </a:blipFill>
              <a:ln w="1270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3" name="Textfeld 22">
            <a:extLst>
              <a:ext uri="{FF2B5EF4-FFF2-40B4-BE49-F238E27FC236}">
                <a16:creationId xmlns:a16="http://schemas.microsoft.com/office/drawing/2014/main" id="{2B274C57-47A5-0ABA-DFF5-81AAB63B3B97}"/>
              </a:ext>
            </a:extLst>
          </p:cNvPr>
          <p:cNvSpPr txBox="1"/>
          <p:nvPr/>
        </p:nvSpPr>
        <p:spPr>
          <a:xfrm>
            <a:off x="219834" y="4971020"/>
            <a:ext cx="1447008" cy="276999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w="12700">
            <a:solidFill>
              <a:schemeClr val="tx1"/>
            </a:solidFill>
          </a:ln>
        </p:spPr>
        <p:txBody>
          <a:bodyPr wrap="square">
            <a:spAutoFit/>
          </a:bodyPr>
          <a:lstStyle>
            <a:defPPr>
              <a:defRPr lang="de-DE"/>
            </a:defPPr>
            <a:lvl1pPr algn="ctr">
              <a:defRPr sz="1200"/>
            </a:lvl1pPr>
          </a:lstStyle>
          <a:p>
            <a:r>
              <a:rPr lang="en-GB" noProof="0" dirty="0" err="1">
                <a:latin typeface="Courier New" panose="02070309020205020404" pitchFamily="49" charset="0"/>
                <a:ea typeface="Cambria Math" panose="02040503050406030204" pitchFamily="18" charset="0"/>
                <a:cs typeface="Courier New" panose="02070309020205020404" pitchFamily="49" charset="0"/>
              </a:rPr>
              <a:t>wilcox.test</a:t>
            </a:r>
            <a:r>
              <a:rPr lang="en-GB" noProof="0" dirty="0">
                <a:latin typeface="Courier New" panose="02070309020205020404" pitchFamily="49" charset="0"/>
                <a:ea typeface="Cambria Math" panose="02040503050406030204" pitchFamily="18" charset="0"/>
                <a:cs typeface="Courier New" panose="02070309020205020404" pitchFamily="49" charset="0"/>
              </a:rPr>
              <a:t>()</a:t>
            </a:r>
          </a:p>
        </p:txBody>
      </p:sp>
      <p:sp>
        <p:nvSpPr>
          <p:cNvPr id="27" name="Textfeld 26">
            <a:extLst>
              <a:ext uri="{FF2B5EF4-FFF2-40B4-BE49-F238E27FC236}">
                <a16:creationId xmlns:a16="http://schemas.microsoft.com/office/drawing/2014/main" id="{0A91E6A1-C0DD-A8BF-FDE5-EF1CAEFB82C9}"/>
              </a:ext>
            </a:extLst>
          </p:cNvPr>
          <p:cNvSpPr txBox="1"/>
          <p:nvPr/>
        </p:nvSpPr>
        <p:spPr>
          <a:xfrm>
            <a:off x="5130837" y="4971019"/>
            <a:ext cx="2338435" cy="276999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w="12700">
            <a:solidFill>
              <a:schemeClr val="accent1">
                <a:lumMod val="40000"/>
                <a:lumOff val="60000"/>
              </a:schemeClr>
            </a:solidFill>
          </a:ln>
        </p:spPr>
        <p:txBody>
          <a:bodyPr wrap="square">
            <a:spAutoFit/>
          </a:bodyPr>
          <a:lstStyle>
            <a:defPPr>
              <a:defRPr lang="de-DE"/>
            </a:defPPr>
            <a:lvl1pPr algn="ctr">
              <a:defRPr sz="1200"/>
            </a:lvl1pPr>
          </a:lstStyle>
          <a:p>
            <a:r>
              <a:rPr lang="en-GB" noProof="0" dirty="0" err="1">
                <a:latin typeface="Courier New" panose="02070309020205020404" pitchFamily="49" charset="0"/>
                <a:ea typeface="Cambria Math" panose="02040503050406030204" pitchFamily="18" charset="0"/>
                <a:cs typeface="Courier New" panose="02070309020205020404" pitchFamily="49" charset="0"/>
              </a:rPr>
              <a:t>kruskal.test</a:t>
            </a:r>
            <a:r>
              <a:rPr lang="en-GB" noProof="0" dirty="0">
                <a:latin typeface="Courier New" panose="02070309020205020404" pitchFamily="49" charset="0"/>
                <a:ea typeface="Cambria Math" panose="02040503050406030204" pitchFamily="18" charset="0"/>
                <a:cs typeface="Courier New" panose="02070309020205020404" pitchFamily="49" charset="0"/>
              </a:rPr>
              <a:t>()</a:t>
            </a:r>
          </a:p>
        </p:txBody>
      </p:sp>
      <p:sp>
        <p:nvSpPr>
          <p:cNvPr id="28" name="Textfeld 27">
            <a:extLst>
              <a:ext uri="{FF2B5EF4-FFF2-40B4-BE49-F238E27FC236}">
                <a16:creationId xmlns:a16="http://schemas.microsoft.com/office/drawing/2014/main" id="{5EA86F72-8DEC-9E26-7B92-C8A6805A32A3}"/>
              </a:ext>
            </a:extLst>
          </p:cNvPr>
          <p:cNvSpPr txBox="1"/>
          <p:nvPr/>
        </p:nvSpPr>
        <p:spPr>
          <a:xfrm>
            <a:off x="7636562" y="3878295"/>
            <a:ext cx="2795001" cy="280863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12700">
            <a:solidFill>
              <a:schemeClr val="accent1">
                <a:lumMod val="40000"/>
                <a:lumOff val="60000"/>
              </a:schemeClr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en-GB" sz="1200" dirty="0" err="1">
                <a:latin typeface="Courier New" panose="02070309020205020404" pitchFamily="49" charset="0"/>
                <a:ea typeface="Cambria Math" panose="02040503050406030204" pitchFamily="18" charset="0"/>
                <a:cs typeface="Courier New" panose="02070309020205020404" pitchFamily="49" charset="0"/>
              </a:rPr>
              <a:t>levene</a:t>
            </a:r>
            <a:r>
              <a:rPr lang="en-GB" sz="1200" noProof="0" dirty="0">
                <a:latin typeface="Courier New" panose="02070309020205020404" pitchFamily="49" charset="0"/>
                <a:ea typeface="Cambria Math" panose="02040503050406030204" pitchFamily="18" charset="0"/>
                <a:cs typeface="Courier New" panose="02070309020205020404" pitchFamily="49" charset="0"/>
              </a:rPr>
              <a:t>.test()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9" name="Textfeld 28">
                <a:extLst>
                  <a:ext uri="{FF2B5EF4-FFF2-40B4-BE49-F238E27FC236}">
                    <a16:creationId xmlns:a16="http://schemas.microsoft.com/office/drawing/2014/main" id="{B99A58F1-01F8-4DBA-2D1D-988946B9BD12}"/>
                  </a:ext>
                </a:extLst>
              </p:cNvPr>
              <p:cNvSpPr txBox="1"/>
              <p:nvPr/>
            </p:nvSpPr>
            <p:spPr>
              <a:xfrm>
                <a:off x="9351563" y="4482840"/>
                <a:ext cx="1080000" cy="277200"/>
              </a:xfrm>
              <a:prstGeom prst="rect">
                <a:avLst/>
              </a:prstGeom>
              <a:noFill/>
              <a:ln w="12700">
                <a:solidFill>
                  <a:schemeClr val="accent1">
                    <a:lumMod val="40000"/>
                    <a:lumOff val="60000"/>
                  </a:schemeClr>
                </a:solidFill>
              </a:ln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1200" b="0" i="1" noProof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𝑝</m:t>
                      </m:r>
                      <m:r>
                        <a:rPr lang="en-GB" sz="1200" b="0" i="1" noProof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≥</m:t>
                      </m:r>
                      <m:r>
                        <a:rPr lang="en-GB" sz="1200" b="0" i="1" noProof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𝛼</m:t>
                      </m:r>
                    </m:oMath>
                  </m:oMathPara>
                </a14:m>
                <a:endParaRPr lang="en-GB" sz="1200" noProof="0" dirty="0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endParaRPr>
              </a:p>
            </p:txBody>
          </p:sp>
        </mc:Choice>
        <mc:Fallback xmlns="">
          <p:sp>
            <p:nvSpPr>
              <p:cNvPr id="29" name="Textfeld 28">
                <a:extLst>
                  <a:ext uri="{FF2B5EF4-FFF2-40B4-BE49-F238E27FC236}">
                    <a16:creationId xmlns:a16="http://schemas.microsoft.com/office/drawing/2014/main" id="{6A843E82-AE36-2049-F32E-7DB7C257BD0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351563" y="4482840"/>
                <a:ext cx="1080000" cy="277200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  <a:ln w="12700">
                <a:solidFill>
                  <a:schemeClr val="accent1">
                    <a:lumMod val="40000"/>
                    <a:lumOff val="60000"/>
                  </a:schemeClr>
                </a:solidFill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0" name="Textfeld 29">
                <a:extLst>
                  <a:ext uri="{FF2B5EF4-FFF2-40B4-BE49-F238E27FC236}">
                    <a16:creationId xmlns:a16="http://schemas.microsoft.com/office/drawing/2014/main" id="{41C1E7D8-E33E-CC3D-E8E0-DCB76ABCD3E1}"/>
                  </a:ext>
                </a:extLst>
              </p:cNvPr>
              <p:cNvSpPr txBox="1"/>
              <p:nvPr/>
            </p:nvSpPr>
            <p:spPr>
              <a:xfrm>
                <a:off x="7582544" y="4472251"/>
                <a:ext cx="1080000" cy="276999"/>
              </a:xfrm>
              <a:prstGeom prst="rect">
                <a:avLst/>
              </a:prstGeom>
              <a:noFill/>
              <a:ln w="12700">
                <a:solidFill>
                  <a:schemeClr val="accent1">
                    <a:lumMod val="40000"/>
                    <a:lumOff val="60000"/>
                  </a:schemeClr>
                </a:solidFill>
              </a:ln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1200" b="0" i="1" noProof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𝑝</m:t>
                      </m:r>
                      <m:r>
                        <a:rPr lang="en-GB" sz="1200" b="0" i="1" noProof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&lt;</m:t>
                      </m:r>
                      <m:r>
                        <a:rPr lang="en-GB" sz="1200" b="0" i="1" noProof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𝛼</m:t>
                      </m:r>
                    </m:oMath>
                  </m:oMathPara>
                </a14:m>
                <a:endParaRPr lang="en-GB" sz="1200" noProof="0" dirty="0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endParaRPr>
              </a:p>
            </p:txBody>
          </p:sp>
        </mc:Choice>
        <mc:Fallback xmlns="">
          <p:sp>
            <p:nvSpPr>
              <p:cNvPr id="30" name="Textfeld 29">
                <a:extLst>
                  <a:ext uri="{FF2B5EF4-FFF2-40B4-BE49-F238E27FC236}">
                    <a16:creationId xmlns:a16="http://schemas.microsoft.com/office/drawing/2014/main" id="{5E44A5B4-1C65-9447-A4FA-813B5715A60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82544" y="4472251"/>
                <a:ext cx="1080000" cy="276999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  <a:ln w="12700">
                <a:solidFill>
                  <a:schemeClr val="accent1">
                    <a:lumMod val="40000"/>
                    <a:lumOff val="60000"/>
                  </a:schemeClr>
                </a:solidFill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1" name="Textfeld 30">
            <a:extLst>
              <a:ext uri="{FF2B5EF4-FFF2-40B4-BE49-F238E27FC236}">
                <a16:creationId xmlns:a16="http://schemas.microsoft.com/office/drawing/2014/main" id="{E0379432-4374-6AE3-86A1-F42903CFF5C6}"/>
              </a:ext>
            </a:extLst>
          </p:cNvPr>
          <p:cNvSpPr txBox="1"/>
          <p:nvPr/>
        </p:nvSpPr>
        <p:spPr>
          <a:xfrm>
            <a:off x="7579542" y="4968485"/>
            <a:ext cx="1457998" cy="276999"/>
          </a:xfrm>
          <a:prstGeom prst="rect">
            <a:avLst/>
          </a:prstGeom>
          <a:solidFill>
            <a:schemeClr val="accent4">
              <a:alpha val="19758"/>
            </a:schemeClr>
          </a:solidFill>
          <a:ln w="12700">
            <a:solidFill>
              <a:schemeClr val="accent1">
                <a:lumMod val="40000"/>
                <a:lumOff val="60000"/>
              </a:schemeClr>
            </a:solidFill>
          </a:ln>
        </p:spPr>
        <p:txBody>
          <a:bodyPr wrap="square">
            <a:spAutoFit/>
          </a:bodyPr>
          <a:lstStyle>
            <a:defPPr>
              <a:defRPr lang="de-DE"/>
            </a:defPPr>
            <a:lvl1pPr algn="ctr">
              <a:defRPr sz="1200"/>
            </a:lvl1pPr>
          </a:lstStyle>
          <a:p>
            <a:r>
              <a:rPr lang="en-GB" noProof="0" dirty="0" err="1">
                <a:latin typeface="Courier New" panose="02070309020205020404" pitchFamily="49" charset="0"/>
                <a:ea typeface="Cambria Math" panose="02040503050406030204" pitchFamily="18" charset="0"/>
                <a:cs typeface="Courier New" panose="02070309020205020404" pitchFamily="49" charset="0"/>
              </a:rPr>
              <a:t>oneway.test</a:t>
            </a:r>
            <a:r>
              <a:rPr lang="en-GB" noProof="0" dirty="0">
                <a:latin typeface="Courier New" panose="02070309020205020404" pitchFamily="49" charset="0"/>
                <a:ea typeface="Cambria Math" panose="02040503050406030204" pitchFamily="18" charset="0"/>
                <a:cs typeface="Courier New" panose="02070309020205020404" pitchFamily="49" charset="0"/>
              </a:rPr>
              <a:t>()</a:t>
            </a:r>
          </a:p>
        </p:txBody>
      </p:sp>
      <p:sp>
        <p:nvSpPr>
          <p:cNvPr id="32" name="Textfeld 31">
            <a:extLst>
              <a:ext uri="{FF2B5EF4-FFF2-40B4-BE49-F238E27FC236}">
                <a16:creationId xmlns:a16="http://schemas.microsoft.com/office/drawing/2014/main" id="{F6F34D79-5CDD-0689-6F44-C61920B40278}"/>
              </a:ext>
            </a:extLst>
          </p:cNvPr>
          <p:cNvSpPr txBox="1"/>
          <p:nvPr/>
        </p:nvSpPr>
        <p:spPr>
          <a:xfrm>
            <a:off x="9262621" y="4968284"/>
            <a:ext cx="1168942" cy="276999"/>
          </a:xfrm>
          <a:prstGeom prst="rect">
            <a:avLst/>
          </a:prstGeom>
          <a:solidFill>
            <a:schemeClr val="accent4">
              <a:alpha val="19758"/>
            </a:schemeClr>
          </a:solidFill>
          <a:ln w="12700">
            <a:solidFill>
              <a:schemeClr val="accent1">
                <a:lumMod val="40000"/>
                <a:lumOff val="60000"/>
              </a:schemeClr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en-GB" sz="1200" noProof="0" dirty="0" err="1">
                <a:latin typeface="Courier New" panose="02070309020205020404" pitchFamily="49" charset="0"/>
                <a:ea typeface="Cambria Math" panose="02040503050406030204" pitchFamily="18" charset="0"/>
                <a:cs typeface="Courier New" panose="02070309020205020404" pitchFamily="49" charset="0"/>
              </a:rPr>
              <a:t>aov</a:t>
            </a:r>
            <a:r>
              <a:rPr lang="en-GB" sz="1200" noProof="0" dirty="0">
                <a:latin typeface="Courier New" panose="02070309020205020404" pitchFamily="49" charset="0"/>
                <a:ea typeface="Cambria Math" panose="02040503050406030204" pitchFamily="18" charset="0"/>
                <a:cs typeface="Courier New" panose="02070309020205020404" pitchFamily="49" charset="0"/>
              </a:rPr>
              <a:t>()</a:t>
            </a:r>
          </a:p>
        </p:txBody>
      </p:sp>
      <p:grpSp>
        <p:nvGrpSpPr>
          <p:cNvPr id="427" name="Gruppieren 426">
            <a:extLst>
              <a:ext uri="{FF2B5EF4-FFF2-40B4-BE49-F238E27FC236}">
                <a16:creationId xmlns:a16="http://schemas.microsoft.com/office/drawing/2014/main" id="{2EA0EA9D-5FDD-E9DD-B4FD-BC8D1109708C}"/>
              </a:ext>
            </a:extLst>
          </p:cNvPr>
          <p:cNvGrpSpPr/>
          <p:nvPr/>
        </p:nvGrpSpPr>
        <p:grpSpPr>
          <a:xfrm>
            <a:off x="8296125" y="4173488"/>
            <a:ext cx="1289076" cy="305400"/>
            <a:chOff x="8002301" y="4581613"/>
            <a:chExt cx="1289076" cy="305400"/>
          </a:xfrm>
        </p:grpSpPr>
        <p:cxnSp>
          <p:nvCxnSpPr>
            <p:cNvPr id="85" name="Gerade Verbindung mit Pfeil 84">
              <a:extLst>
                <a:ext uri="{FF2B5EF4-FFF2-40B4-BE49-F238E27FC236}">
                  <a16:creationId xmlns:a16="http://schemas.microsoft.com/office/drawing/2014/main" id="{C5E55242-8FEE-C716-197D-84242C897957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8002301" y="4581613"/>
              <a:ext cx="639486" cy="30540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6" name="Gerade Verbindung mit Pfeil 85">
              <a:extLst>
                <a:ext uri="{FF2B5EF4-FFF2-40B4-BE49-F238E27FC236}">
                  <a16:creationId xmlns:a16="http://schemas.microsoft.com/office/drawing/2014/main" id="{27FA3C4D-2D8F-FA43-4753-4E4263927BD2}"/>
                </a:ext>
              </a:extLst>
            </p:cNvPr>
            <p:cNvCxnSpPr>
              <a:cxnSpLocks/>
            </p:cNvCxnSpPr>
            <p:nvPr/>
          </p:nvCxnSpPr>
          <p:spPr>
            <a:xfrm>
              <a:off x="8641787" y="4581613"/>
              <a:ext cx="649590" cy="30540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93" name="Textfeld 92">
            <a:extLst>
              <a:ext uri="{FF2B5EF4-FFF2-40B4-BE49-F238E27FC236}">
                <a16:creationId xmlns:a16="http://schemas.microsoft.com/office/drawing/2014/main" id="{EBFAA465-492F-79DA-DAEC-99C7CFF168FB}"/>
              </a:ext>
            </a:extLst>
          </p:cNvPr>
          <p:cNvSpPr txBox="1"/>
          <p:nvPr/>
        </p:nvSpPr>
        <p:spPr>
          <a:xfrm>
            <a:off x="7588433" y="5449810"/>
            <a:ext cx="2838737" cy="284869"/>
          </a:xfrm>
          <a:prstGeom prst="rect">
            <a:avLst/>
          </a:prstGeom>
          <a:solidFill>
            <a:schemeClr val="bg2">
              <a:lumMod val="90000"/>
            </a:schemeClr>
          </a:solidFill>
          <a:ln w="12700">
            <a:solidFill>
              <a:schemeClr val="accent1">
                <a:lumMod val="40000"/>
                <a:lumOff val="60000"/>
              </a:schemeClr>
            </a:solidFill>
          </a:ln>
        </p:spPr>
        <p:txBody>
          <a:bodyPr wrap="square">
            <a:spAutoFit/>
          </a:bodyPr>
          <a:lstStyle>
            <a:defPPr>
              <a:defRPr lang="de-DE"/>
            </a:defPPr>
            <a:lvl1pPr algn="ctr">
              <a:defRPr sz="1200"/>
            </a:lvl1pPr>
          </a:lstStyle>
          <a:p>
            <a:r>
              <a:rPr lang="en-GB" noProof="0" dirty="0" err="1">
                <a:latin typeface="Courier New" panose="02070309020205020404" pitchFamily="49" charset="0"/>
                <a:ea typeface="Cambria Math" panose="02040503050406030204" pitchFamily="18" charset="0"/>
                <a:cs typeface="Courier New" panose="02070309020205020404" pitchFamily="49" charset="0"/>
              </a:rPr>
              <a:t>TukeyHSD</a:t>
            </a:r>
            <a:r>
              <a:rPr lang="en-GB" noProof="0" dirty="0">
                <a:latin typeface="Courier New" panose="02070309020205020404" pitchFamily="49" charset="0"/>
                <a:ea typeface="Cambria Math" panose="02040503050406030204" pitchFamily="18" charset="0"/>
                <a:cs typeface="Courier New" panose="02070309020205020404" pitchFamily="49" charset="0"/>
              </a:rPr>
              <a:t>()</a:t>
            </a:r>
          </a:p>
        </p:txBody>
      </p:sp>
      <p:sp>
        <p:nvSpPr>
          <p:cNvPr id="94" name="Textfeld 93">
            <a:extLst>
              <a:ext uri="{FF2B5EF4-FFF2-40B4-BE49-F238E27FC236}">
                <a16:creationId xmlns:a16="http://schemas.microsoft.com/office/drawing/2014/main" id="{843673E2-5838-CB1B-F1EC-DA40D4442EBB}"/>
              </a:ext>
            </a:extLst>
          </p:cNvPr>
          <p:cNvSpPr txBox="1"/>
          <p:nvPr/>
        </p:nvSpPr>
        <p:spPr>
          <a:xfrm>
            <a:off x="5130837" y="5449811"/>
            <a:ext cx="2341205" cy="276999"/>
          </a:xfrm>
          <a:prstGeom prst="rect">
            <a:avLst/>
          </a:prstGeom>
          <a:solidFill>
            <a:schemeClr val="bg2">
              <a:lumMod val="90000"/>
            </a:schemeClr>
          </a:solidFill>
          <a:ln w="12700">
            <a:solidFill>
              <a:schemeClr val="accent1">
                <a:lumMod val="40000"/>
                <a:lumOff val="60000"/>
              </a:schemeClr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en-GB" sz="1200" noProof="0" dirty="0" err="1">
                <a:latin typeface="Courier New" panose="02070309020205020404" pitchFamily="49" charset="0"/>
                <a:ea typeface="Cambria Math" panose="02040503050406030204" pitchFamily="18" charset="0"/>
                <a:cs typeface="Courier New" panose="02070309020205020404" pitchFamily="49" charset="0"/>
              </a:rPr>
              <a:t>pairwise.wilcox.test</a:t>
            </a:r>
            <a:r>
              <a:rPr lang="en-GB" sz="1200" noProof="0" dirty="0">
                <a:latin typeface="Courier New" panose="02070309020205020404" pitchFamily="49" charset="0"/>
                <a:ea typeface="Cambria Math" panose="02040503050406030204" pitchFamily="18" charset="0"/>
                <a:cs typeface="Courier New" panose="02070309020205020404" pitchFamily="49" charset="0"/>
              </a:rPr>
              <a:t>()</a:t>
            </a:r>
          </a:p>
        </p:txBody>
      </p:sp>
      <p:cxnSp>
        <p:nvCxnSpPr>
          <p:cNvPr id="2" name="Gerade Verbindung mit Pfeil 1">
            <a:extLst>
              <a:ext uri="{FF2B5EF4-FFF2-40B4-BE49-F238E27FC236}">
                <a16:creationId xmlns:a16="http://schemas.microsoft.com/office/drawing/2014/main" id="{7A395117-29A5-67C2-D655-F21F5248D8DA}"/>
              </a:ext>
            </a:extLst>
          </p:cNvPr>
          <p:cNvCxnSpPr>
            <a:cxnSpLocks/>
          </p:cNvCxnSpPr>
          <p:nvPr/>
        </p:nvCxnSpPr>
        <p:spPr>
          <a:xfrm flipH="1">
            <a:off x="4041194" y="1992541"/>
            <a:ext cx="15604" cy="2920119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" name="Textfeld 49">
            <a:extLst>
              <a:ext uri="{FF2B5EF4-FFF2-40B4-BE49-F238E27FC236}">
                <a16:creationId xmlns:a16="http://schemas.microsoft.com/office/drawing/2014/main" id="{1107BE33-5F0E-0B16-46BA-9A49241DD8D8}"/>
              </a:ext>
            </a:extLst>
          </p:cNvPr>
          <p:cNvSpPr txBox="1"/>
          <p:nvPr/>
        </p:nvSpPr>
        <p:spPr>
          <a:xfrm>
            <a:off x="1792997" y="4971020"/>
            <a:ext cx="3053668" cy="276999"/>
          </a:xfrm>
          <a:prstGeom prst="rect">
            <a:avLst/>
          </a:prstGeom>
          <a:solidFill>
            <a:schemeClr val="accent4">
              <a:alpha val="19758"/>
            </a:schemeClr>
          </a:solidFill>
          <a:ln w="12700"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en-GB" sz="1200" noProof="0" dirty="0" err="1">
                <a:latin typeface="Courier New" panose="02070309020205020404" pitchFamily="49" charset="0"/>
                <a:ea typeface="Cambria Math" panose="02040503050406030204" pitchFamily="18" charset="0"/>
                <a:cs typeface="Courier New" panose="02070309020205020404" pitchFamily="49" charset="0"/>
              </a:rPr>
              <a:t>t.test</a:t>
            </a:r>
            <a:r>
              <a:rPr lang="en-GB" sz="1200" noProof="0" dirty="0">
                <a:latin typeface="Courier New" panose="02070309020205020404" pitchFamily="49" charset="0"/>
                <a:ea typeface="Cambria Math" panose="02040503050406030204" pitchFamily="18" charset="0"/>
                <a:cs typeface="Courier New" panose="02070309020205020404" pitchFamily="49" charset="0"/>
              </a:rPr>
              <a:t>()</a:t>
            </a:r>
          </a:p>
        </p:txBody>
      </p:sp>
      <p:cxnSp>
        <p:nvCxnSpPr>
          <p:cNvPr id="51" name="Gerade Verbindung mit Pfeil 50">
            <a:extLst>
              <a:ext uri="{FF2B5EF4-FFF2-40B4-BE49-F238E27FC236}">
                <a16:creationId xmlns:a16="http://schemas.microsoft.com/office/drawing/2014/main" id="{15DFC6D8-0DD5-6B4B-5B93-49719EF391A3}"/>
              </a:ext>
            </a:extLst>
          </p:cNvPr>
          <p:cNvCxnSpPr>
            <a:cxnSpLocks/>
            <a:stCxn id="22" idx="2"/>
            <a:endCxn id="23" idx="0"/>
          </p:cNvCxnSpPr>
          <p:nvPr/>
        </p:nvCxnSpPr>
        <p:spPr>
          <a:xfrm flipH="1">
            <a:off x="943338" y="3280779"/>
            <a:ext cx="48272" cy="1690241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69" name="Gruppieren 68">
            <a:extLst>
              <a:ext uri="{FF2B5EF4-FFF2-40B4-BE49-F238E27FC236}">
                <a16:creationId xmlns:a16="http://schemas.microsoft.com/office/drawing/2014/main" id="{1DA53DAE-E716-E427-B882-40E7846D7FBB}"/>
              </a:ext>
            </a:extLst>
          </p:cNvPr>
          <p:cNvGrpSpPr/>
          <p:nvPr/>
        </p:nvGrpSpPr>
        <p:grpSpPr>
          <a:xfrm>
            <a:off x="824372" y="2492447"/>
            <a:ext cx="1552397" cy="469922"/>
            <a:chOff x="2719572" y="1536945"/>
            <a:chExt cx="1289076" cy="305400"/>
          </a:xfrm>
        </p:grpSpPr>
        <p:cxnSp>
          <p:nvCxnSpPr>
            <p:cNvPr id="70" name="Gerade Verbindung mit Pfeil 69">
              <a:extLst>
                <a:ext uri="{FF2B5EF4-FFF2-40B4-BE49-F238E27FC236}">
                  <a16:creationId xmlns:a16="http://schemas.microsoft.com/office/drawing/2014/main" id="{A4BEFDE1-F611-30A7-9CD5-DA3B588D9F3B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719572" y="1536945"/>
              <a:ext cx="639486" cy="30540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1" name="Gerade Verbindung mit Pfeil 70">
              <a:extLst>
                <a:ext uri="{FF2B5EF4-FFF2-40B4-BE49-F238E27FC236}">
                  <a16:creationId xmlns:a16="http://schemas.microsoft.com/office/drawing/2014/main" id="{7B772305-1CE9-CCF4-F9F3-1FFD1173E9E2}"/>
                </a:ext>
              </a:extLst>
            </p:cNvPr>
            <p:cNvCxnSpPr>
              <a:cxnSpLocks/>
            </p:cNvCxnSpPr>
            <p:nvPr/>
          </p:nvCxnSpPr>
          <p:spPr>
            <a:xfrm>
              <a:off x="3359058" y="1536945"/>
              <a:ext cx="649590" cy="30540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82" name="Textfeld 81">
                <a:extLst>
                  <a:ext uri="{FF2B5EF4-FFF2-40B4-BE49-F238E27FC236}">
                    <a16:creationId xmlns:a16="http://schemas.microsoft.com/office/drawing/2014/main" id="{AD6D20C0-C256-5115-7C27-86F3B7ED4CE6}"/>
                  </a:ext>
                </a:extLst>
              </p:cNvPr>
              <p:cNvSpPr txBox="1"/>
              <p:nvPr/>
            </p:nvSpPr>
            <p:spPr>
              <a:xfrm>
                <a:off x="5130837" y="3111855"/>
                <a:ext cx="2338425" cy="276999"/>
              </a:xfrm>
              <a:prstGeom prst="rect">
                <a:avLst/>
              </a:prstGeom>
              <a:noFill/>
              <a:ln w="12700">
                <a:solidFill>
                  <a:schemeClr val="accent1">
                    <a:lumMod val="40000"/>
                    <a:lumOff val="60000"/>
                  </a:schemeClr>
                </a:solidFill>
              </a:ln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12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𝑝</m:t>
                      </m:r>
                      <m:r>
                        <a:rPr lang="en-GB" sz="12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&lt;</m:t>
                      </m:r>
                      <m:r>
                        <a:rPr lang="en-GB" sz="12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𝛼</m:t>
                      </m:r>
                    </m:oMath>
                  </m:oMathPara>
                </a14:m>
                <a:endParaRPr lang="en-GB" sz="1200" noProof="0" dirty="0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endParaRPr>
              </a:p>
            </p:txBody>
          </p:sp>
        </mc:Choice>
        <mc:Fallback xmlns="">
          <p:sp>
            <p:nvSpPr>
              <p:cNvPr id="82" name="Textfeld 81">
                <a:extLst>
                  <a:ext uri="{FF2B5EF4-FFF2-40B4-BE49-F238E27FC236}">
                    <a16:creationId xmlns:a16="http://schemas.microsoft.com/office/drawing/2014/main" id="{74CB43FD-F472-800C-0BC9-D288FF8733B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30837" y="3111855"/>
                <a:ext cx="2338425" cy="276999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  <a:ln w="12700">
                <a:solidFill>
                  <a:schemeClr val="accent1">
                    <a:lumMod val="40000"/>
                    <a:lumOff val="60000"/>
                  </a:schemeClr>
                </a:solidFill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8" name="Textfeld 87">
                <a:extLst>
                  <a:ext uri="{FF2B5EF4-FFF2-40B4-BE49-F238E27FC236}">
                    <a16:creationId xmlns:a16="http://schemas.microsoft.com/office/drawing/2014/main" id="{544F275D-B8E4-7AF3-D04D-F6AEE1A74FC2}"/>
                  </a:ext>
                </a:extLst>
              </p:cNvPr>
              <p:cNvSpPr txBox="1"/>
              <p:nvPr/>
            </p:nvSpPr>
            <p:spPr>
              <a:xfrm>
                <a:off x="7625917" y="3100255"/>
                <a:ext cx="2805646" cy="276999"/>
              </a:xfrm>
              <a:prstGeom prst="rect">
                <a:avLst/>
              </a:prstGeom>
              <a:noFill/>
              <a:ln w="12700">
                <a:solidFill>
                  <a:schemeClr val="accent1">
                    <a:lumMod val="40000"/>
                    <a:lumOff val="60000"/>
                  </a:schemeClr>
                </a:solidFill>
              </a:ln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1200" b="0" i="1" noProof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𝑝</m:t>
                      </m:r>
                      <m:r>
                        <a:rPr lang="en-GB" sz="1200" b="0" i="1" noProof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≥</m:t>
                      </m:r>
                      <m:r>
                        <a:rPr lang="en-GB" sz="1200" b="0" i="1" noProof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𝛼</m:t>
                      </m:r>
                    </m:oMath>
                  </m:oMathPara>
                </a14:m>
                <a:endParaRPr lang="en-GB" sz="1200" noProof="0" dirty="0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endParaRPr>
              </a:p>
            </p:txBody>
          </p:sp>
        </mc:Choice>
        <mc:Fallback xmlns="">
          <p:sp>
            <p:nvSpPr>
              <p:cNvPr id="88" name="Textfeld 87">
                <a:extLst>
                  <a:ext uri="{FF2B5EF4-FFF2-40B4-BE49-F238E27FC236}">
                    <a16:creationId xmlns:a16="http://schemas.microsoft.com/office/drawing/2014/main" id="{436DE9B5-559B-6581-9440-FF83D251A49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25917" y="3100255"/>
                <a:ext cx="2805646" cy="276999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  <a:ln w="12700">
                <a:solidFill>
                  <a:schemeClr val="accent1">
                    <a:lumMod val="40000"/>
                    <a:lumOff val="60000"/>
                  </a:schemeClr>
                </a:solidFill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Textfeld 3">
            <a:extLst>
              <a:ext uri="{FF2B5EF4-FFF2-40B4-BE49-F238E27FC236}">
                <a16:creationId xmlns:a16="http://schemas.microsoft.com/office/drawing/2014/main" id="{05FBAA0A-4C91-C249-6337-082A6C113E9D}"/>
              </a:ext>
            </a:extLst>
          </p:cNvPr>
          <p:cNvSpPr txBox="1"/>
          <p:nvPr/>
        </p:nvSpPr>
        <p:spPr>
          <a:xfrm>
            <a:off x="10508557" y="5453366"/>
            <a:ext cx="1618426" cy="277200"/>
          </a:xfrm>
          <a:prstGeom prst="rect">
            <a:avLst/>
          </a:prstGeom>
          <a:solidFill>
            <a:schemeClr val="bg2">
              <a:lumMod val="90000"/>
            </a:schemeClr>
          </a:solidFill>
          <a:ln w="12700">
            <a:solidFill>
              <a:schemeClr val="bg2">
                <a:lumMod val="90000"/>
              </a:schemeClr>
            </a:solidFill>
          </a:ln>
        </p:spPr>
        <p:txBody>
          <a:bodyPr wrap="square">
            <a:spAutoFit/>
          </a:bodyPr>
          <a:lstStyle>
            <a:defPPr>
              <a:defRPr lang="de-DE"/>
            </a:defPPr>
            <a:lvl1pPr algn="ctr">
              <a:defRPr sz="1200"/>
            </a:lvl1pPr>
          </a:lstStyle>
          <a:p>
            <a:r>
              <a:rPr lang="en-GB" noProof="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Post-hoc test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feld 10">
                <a:extLst>
                  <a:ext uri="{FF2B5EF4-FFF2-40B4-BE49-F238E27FC236}">
                    <a16:creationId xmlns:a16="http://schemas.microsoft.com/office/drawing/2014/main" id="{D19C72BB-9E44-2D20-AF7C-1861A2F5A8AD}"/>
                  </a:ext>
                </a:extLst>
              </p:cNvPr>
              <p:cNvSpPr txBox="1"/>
              <p:nvPr/>
            </p:nvSpPr>
            <p:spPr>
              <a:xfrm>
                <a:off x="9967683" y="5959220"/>
                <a:ext cx="2082384" cy="461665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GB" sz="1200" i="1" noProof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𝛼</m:t>
                    </m:r>
                    <m:r>
                      <a:rPr lang="en-GB" sz="1200" b="0" i="1" noProof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=1−</m:t>
                    </m:r>
                  </m:oMath>
                </a14:m>
                <a:r>
                  <a:rPr lang="en-GB" sz="1200" noProof="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 </a:t>
                </a:r>
                <a:r>
                  <a:rPr lang="en-GB" sz="1200" noProof="0" dirty="0" err="1">
                    <a:latin typeface="Courier New" panose="02070309020205020404" pitchFamily="49" charset="0"/>
                    <a:ea typeface="CMU Bright Roman" panose="02000603000000000000" pitchFamily="2" charset="0"/>
                    <a:cs typeface="Courier New" panose="02070309020205020404" pitchFamily="49" charset="0"/>
                  </a:rPr>
                  <a:t>conf.level</a:t>
                </a:r>
                <a:r>
                  <a:rPr lang="en-GB" sz="800" noProof="0" dirty="0">
                    <a:latin typeface="CMU Bright Roman" panose="02000603000000000000" pitchFamily="2" charset="0"/>
                    <a:ea typeface="CMU Bright Roman" panose="02000603000000000000" pitchFamily="2" charset="0"/>
                    <a:cs typeface="CMU Bright Roman" panose="02000603000000000000" pitchFamily="2" charset="0"/>
                  </a:rPr>
                  <a:t> 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GB" sz="120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120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GB" sz="120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sz="1200" b="0" i="0" noProof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en-GB" sz="1200" noProof="0" dirty="0"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GB" sz="1200" i="1" noProof="0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𝑝</m:t>
                    </m:r>
                  </m:oMath>
                </a14:m>
                <a:r>
                  <a:rPr lang="en-GB" sz="1200" noProof="0" dirty="0">
                    <a:ea typeface="Cambria Math" panose="02040503050406030204" pitchFamily="18" charset="0"/>
                  </a:rPr>
                  <a:t>-value of level </a:t>
                </a:r>
                <a14:m>
                  <m:oMath xmlns:m="http://schemas.openxmlformats.org/officeDocument/2006/math">
                    <m:r>
                      <a:rPr lang="en-GB" sz="1200" i="1" noProof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𝑖</m:t>
                    </m:r>
                    <m:r>
                      <a:rPr lang="en-GB" sz="1200" i="1" noProof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</m:t>
                    </m:r>
                  </m:oMath>
                </a14:m>
                <a:r>
                  <a:rPr lang="en-GB" sz="1200" noProof="0" dirty="0"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GB" sz="1200" i="1" noProof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𝑖</m:t>
                    </m:r>
                    <m:r>
                      <a:rPr lang="en-GB" sz="1200" i="1" noProof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=1,2</m:t>
                    </m:r>
                  </m:oMath>
                </a14:m>
                <a:endParaRPr lang="en-GB" sz="1200" noProof="0" dirty="0">
                  <a:latin typeface="CMU Bright Roman" panose="02000603000000000000" pitchFamily="2" charset="0"/>
                  <a:ea typeface="CMU Bright Roman" panose="02000603000000000000" pitchFamily="2" charset="0"/>
                  <a:cs typeface="CMU Bright Roman" panose="02000603000000000000" pitchFamily="2" charset="0"/>
                </a:endParaRPr>
              </a:p>
            </p:txBody>
          </p:sp>
        </mc:Choice>
        <mc:Fallback xmlns="">
          <p:sp>
            <p:nvSpPr>
              <p:cNvPr id="11" name="Textfeld 10">
                <a:extLst>
                  <a:ext uri="{FF2B5EF4-FFF2-40B4-BE49-F238E27FC236}">
                    <a16:creationId xmlns:a16="http://schemas.microsoft.com/office/drawing/2014/main" id="{BEADCB87-2FE2-B735-89A2-59CFEE3B937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67683" y="5959220"/>
                <a:ext cx="2082384" cy="461665"/>
              </a:xfrm>
              <a:prstGeom prst="rect">
                <a:avLst/>
              </a:prstGeom>
              <a:blipFill>
                <a:blip r:embed="rId18"/>
                <a:stretch>
                  <a:fillRect t="-2703" b="-10811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9" name="Textfeld 148">
            <a:extLst>
              <a:ext uri="{FF2B5EF4-FFF2-40B4-BE49-F238E27FC236}">
                <a16:creationId xmlns:a16="http://schemas.microsoft.com/office/drawing/2014/main" id="{4273F74C-1571-139D-1F0B-19208F3E1D81}"/>
              </a:ext>
            </a:extLst>
          </p:cNvPr>
          <p:cNvSpPr txBox="1"/>
          <p:nvPr/>
        </p:nvSpPr>
        <p:spPr>
          <a:xfrm>
            <a:off x="10508891" y="4951684"/>
            <a:ext cx="1618427" cy="276999"/>
          </a:xfrm>
          <a:prstGeom prst="rect">
            <a:avLst/>
          </a:prstGeom>
          <a:noFill/>
          <a:ln w="12700">
            <a:solidFill>
              <a:schemeClr val="bg2">
                <a:lumMod val="90000"/>
              </a:schemeClr>
            </a:solidFill>
          </a:ln>
        </p:spPr>
        <p:txBody>
          <a:bodyPr wrap="square">
            <a:spAutoFit/>
          </a:bodyPr>
          <a:lstStyle>
            <a:defPPr>
              <a:defRPr lang="de-DE"/>
            </a:defPPr>
            <a:lvl1pPr algn="ctr">
              <a:defRPr sz="1200"/>
            </a:lvl1pPr>
          </a:lstStyle>
          <a:p>
            <a:r>
              <a:rPr lang="en-GB" noProof="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Final test selected </a:t>
            </a:r>
          </a:p>
        </p:txBody>
      </p:sp>
      <p:sp>
        <p:nvSpPr>
          <p:cNvPr id="159" name="Textfeld 158">
            <a:extLst>
              <a:ext uri="{FF2B5EF4-FFF2-40B4-BE49-F238E27FC236}">
                <a16:creationId xmlns:a16="http://schemas.microsoft.com/office/drawing/2014/main" id="{19AA40CE-7A40-924F-336E-94C4F2CAB151}"/>
              </a:ext>
            </a:extLst>
          </p:cNvPr>
          <p:cNvSpPr txBox="1"/>
          <p:nvPr/>
        </p:nvSpPr>
        <p:spPr>
          <a:xfrm>
            <a:off x="10508557" y="3876296"/>
            <a:ext cx="1618761" cy="2772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12700">
            <a:solidFill>
              <a:schemeClr val="accent1">
                <a:lumMod val="20000"/>
                <a:lumOff val="80000"/>
              </a:schemeClr>
            </a:solidFill>
          </a:ln>
        </p:spPr>
        <p:txBody>
          <a:bodyPr wrap="square">
            <a:spAutoFit/>
          </a:bodyPr>
          <a:lstStyle>
            <a:defPPr>
              <a:defRPr lang="de-DE"/>
            </a:defPPr>
            <a:lvl1pPr algn="ctr">
              <a:defRPr sz="1200"/>
            </a:lvl1pPr>
          </a:lstStyle>
          <a:p>
            <a:r>
              <a:rPr lang="en-GB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C</a:t>
            </a:r>
            <a:r>
              <a:rPr lang="en-GB" noProof="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heck </a:t>
            </a:r>
            <a:r>
              <a:rPr lang="en-GB" noProof="0" dirty="0" err="1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homoscedacity</a:t>
            </a:r>
            <a:r>
              <a:rPr lang="en-GB" noProof="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</a:p>
        </p:txBody>
      </p:sp>
      <p:cxnSp>
        <p:nvCxnSpPr>
          <p:cNvPr id="182" name="Gewinkelte Verbindung 181">
            <a:extLst>
              <a:ext uri="{FF2B5EF4-FFF2-40B4-BE49-F238E27FC236}">
                <a16:creationId xmlns:a16="http://schemas.microsoft.com/office/drawing/2014/main" id="{FE3309F6-0EE8-5E2C-AD82-03DFBC40BA1F}"/>
              </a:ext>
            </a:extLst>
          </p:cNvPr>
          <p:cNvCxnSpPr>
            <a:cxnSpLocks/>
            <a:stCxn id="7" idx="1"/>
            <a:endCxn id="8" idx="0"/>
          </p:cNvCxnSpPr>
          <p:nvPr/>
        </p:nvCxnSpPr>
        <p:spPr>
          <a:xfrm rot="10800000" flipV="1">
            <a:off x="2519994" y="499147"/>
            <a:ext cx="1462504" cy="333639"/>
          </a:xfrm>
          <a:prstGeom prst="bentConnector2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5" name="Gewinkelte Verbindung 184">
            <a:extLst>
              <a:ext uri="{FF2B5EF4-FFF2-40B4-BE49-F238E27FC236}">
                <a16:creationId xmlns:a16="http://schemas.microsoft.com/office/drawing/2014/main" id="{6B29723A-91FD-720B-C456-74289C7ECE37}"/>
              </a:ext>
            </a:extLst>
          </p:cNvPr>
          <p:cNvCxnSpPr>
            <a:cxnSpLocks/>
            <a:stCxn id="7" idx="3"/>
          </p:cNvCxnSpPr>
          <p:nvPr/>
        </p:nvCxnSpPr>
        <p:spPr>
          <a:xfrm>
            <a:off x="8287643" y="499148"/>
            <a:ext cx="1512594" cy="334194"/>
          </a:xfrm>
          <a:prstGeom prst="bentConnector3">
            <a:avLst>
              <a:gd name="adj1" fmla="val 101482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0" name="Gerade Verbindung mit Pfeil 319">
            <a:extLst>
              <a:ext uri="{FF2B5EF4-FFF2-40B4-BE49-F238E27FC236}">
                <a16:creationId xmlns:a16="http://schemas.microsoft.com/office/drawing/2014/main" id="{01CE49E9-A60B-4E73-FB07-684539534307}"/>
              </a:ext>
            </a:extLst>
          </p:cNvPr>
          <p:cNvCxnSpPr>
            <a:cxnSpLocks/>
          </p:cNvCxnSpPr>
          <p:nvPr/>
        </p:nvCxnSpPr>
        <p:spPr>
          <a:xfrm>
            <a:off x="6189491" y="3402561"/>
            <a:ext cx="0" cy="151009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3" name="Gerade Verbindung mit Pfeil 362">
            <a:extLst>
              <a:ext uri="{FF2B5EF4-FFF2-40B4-BE49-F238E27FC236}">
                <a16:creationId xmlns:a16="http://schemas.microsoft.com/office/drawing/2014/main" id="{3EB721E9-D597-9613-FA0A-FB6AD278B9E1}"/>
              </a:ext>
            </a:extLst>
          </p:cNvPr>
          <p:cNvCxnSpPr>
            <a:cxnSpLocks/>
            <a:stCxn id="19" idx="2"/>
          </p:cNvCxnSpPr>
          <p:nvPr/>
        </p:nvCxnSpPr>
        <p:spPr>
          <a:xfrm>
            <a:off x="2502316" y="3280779"/>
            <a:ext cx="0" cy="1670905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extfeld 4">
            <a:extLst>
              <a:ext uri="{FF2B5EF4-FFF2-40B4-BE49-F238E27FC236}">
                <a16:creationId xmlns:a16="http://schemas.microsoft.com/office/drawing/2014/main" id="{4AC7D614-E1DB-4BC0-616B-DC2A395F7239}"/>
              </a:ext>
            </a:extLst>
          </p:cNvPr>
          <p:cNvSpPr txBox="1"/>
          <p:nvPr/>
        </p:nvSpPr>
        <p:spPr>
          <a:xfrm>
            <a:off x="305981" y="6396835"/>
            <a:ext cx="1868481" cy="281831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w="12700">
            <a:noFill/>
          </a:ln>
        </p:spPr>
        <p:txBody>
          <a:bodyPr wrap="square">
            <a:spAutoFit/>
          </a:bodyPr>
          <a:lstStyle>
            <a:defPPr>
              <a:defRPr lang="de-DE"/>
            </a:defPPr>
            <a:lvl1pPr algn="ctr">
              <a:defRPr sz="1200"/>
            </a:lvl1pPr>
          </a:lstStyle>
          <a:p>
            <a:r>
              <a:rPr lang="en-GB" noProof="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non-parametric tests </a:t>
            </a:r>
          </a:p>
        </p:txBody>
      </p:sp>
      <p:sp>
        <p:nvSpPr>
          <p:cNvPr id="148" name="Textfeld 147">
            <a:extLst>
              <a:ext uri="{FF2B5EF4-FFF2-40B4-BE49-F238E27FC236}">
                <a16:creationId xmlns:a16="http://schemas.microsoft.com/office/drawing/2014/main" id="{9BAC8A48-0ACF-3143-9D20-B737A9C1918E}"/>
              </a:ext>
            </a:extLst>
          </p:cNvPr>
          <p:cNvSpPr txBox="1"/>
          <p:nvPr/>
        </p:nvSpPr>
        <p:spPr>
          <a:xfrm>
            <a:off x="305981" y="5974839"/>
            <a:ext cx="1859022" cy="281831"/>
          </a:xfrm>
          <a:prstGeom prst="rect">
            <a:avLst/>
          </a:prstGeom>
          <a:solidFill>
            <a:schemeClr val="accent4">
              <a:alpha val="19758"/>
            </a:schemeClr>
          </a:solidFill>
          <a:ln w="12700">
            <a:noFill/>
          </a:ln>
        </p:spPr>
        <p:txBody>
          <a:bodyPr wrap="square">
            <a:spAutoFit/>
          </a:bodyPr>
          <a:lstStyle/>
          <a:p>
            <a:pPr algn="ctr"/>
            <a:r>
              <a:rPr lang="en-GB" sz="1200" noProof="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parametric tests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67" name="Textfeld 466">
                <a:extLst>
                  <a:ext uri="{FF2B5EF4-FFF2-40B4-BE49-F238E27FC236}">
                    <a16:creationId xmlns:a16="http://schemas.microsoft.com/office/drawing/2014/main" id="{F4E3AFD6-CA5A-EEED-1733-9FF6C0B3FD10}"/>
                  </a:ext>
                </a:extLst>
              </p:cNvPr>
              <p:cNvSpPr txBox="1"/>
              <p:nvPr/>
            </p:nvSpPr>
            <p:spPr>
              <a:xfrm>
                <a:off x="2248265" y="5954905"/>
                <a:ext cx="2538462" cy="281831"/>
              </a:xfrm>
              <a:prstGeom prst="rect">
                <a:avLst/>
              </a:prstGeom>
              <a:noFill/>
              <a:ln w="12700">
                <a:solidFill>
                  <a:schemeClr val="tx1"/>
                </a:solidFill>
              </a:ln>
            </p:spPr>
            <p:txBody>
              <a:bodyPr wrap="square">
                <a:spAutoFit/>
              </a:bodyPr>
              <a:lstStyle>
                <a:defPPr>
                  <a:defRPr lang="de-DE"/>
                </a:defPPr>
                <a:lvl1pPr algn="ctr">
                  <a:defRPr sz="1200"/>
                </a:lvl1pPr>
              </a:lstStyle>
              <a:p>
                <a:r>
                  <a:rPr lang="en-GB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predictor</a:t>
                </a:r>
                <a:r>
                  <a:rPr lang="en-GB" noProof="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 with </a:t>
                </a:r>
                <a14:m>
                  <m:oMath xmlns:m="http://schemas.openxmlformats.org/officeDocument/2006/math">
                    <m:r>
                      <a:rPr lang="en-GB" i="1" noProof="0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m:t>𝑁</m:t>
                    </m:r>
                    <m:r>
                      <a:rPr lang="en-GB" i="1" noProof="0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m:t>=2</m:t>
                    </m:r>
                  </m:oMath>
                </a14:m>
                <a:r>
                  <a:rPr lang="en-GB" noProof="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 levels </a:t>
                </a:r>
              </a:p>
            </p:txBody>
          </p:sp>
        </mc:Choice>
        <mc:Fallback xmlns="">
          <p:sp>
            <p:nvSpPr>
              <p:cNvPr id="467" name="Textfeld 466">
                <a:extLst>
                  <a:ext uri="{FF2B5EF4-FFF2-40B4-BE49-F238E27FC236}">
                    <a16:creationId xmlns:a16="http://schemas.microsoft.com/office/drawing/2014/main" id="{9F3DB9C3-A6B3-DC3B-D937-ACB248DD189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48265" y="5954905"/>
                <a:ext cx="2538462" cy="281831"/>
              </a:xfrm>
              <a:prstGeom prst="rect">
                <a:avLst/>
              </a:prstGeom>
              <a:blipFill>
                <a:blip r:embed="rId19"/>
                <a:stretch>
                  <a:fillRect b="-8333"/>
                </a:stretch>
              </a:blipFill>
              <a:ln w="1270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68" name="Textfeld 467">
                <a:extLst>
                  <a:ext uri="{FF2B5EF4-FFF2-40B4-BE49-F238E27FC236}">
                    <a16:creationId xmlns:a16="http://schemas.microsoft.com/office/drawing/2014/main" id="{381CB54D-CA19-996C-B3BE-8DF8B63153F3}"/>
                  </a:ext>
                </a:extLst>
              </p:cNvPr>
              <p:cNvSpPr txBox="1"/>
              <p:nvPr/>
            </p:nvSpPr>
            <p:spPr>
              <a:xfrm>
                <a:off x="2238790" y="6376901"/>
                <a:ext cx="2543546" cy="276999"/>
              </a:xfrm>
              <a:prstGeom prst="rect">
                <a:avLst/>
              </a:prstGeom>
              <a:noFill/>
              <a:ln w="12700">
                <a:solidFill>
                  <a:schemeClr val="accent1">
                    <a:lumMod val="40000"/>
                    <a:lumOff val="60000"/>
                  </a:schemeClr>
                </a:solidFill>
              </a:ln>
            </p:spPr>
            <p:txBody>
              <a:bodyPr wrap="square">
                <a:spAutoFit/>
              </a:bodyPr>
              <a:lstStyle>
                <a:defPPr>
                  <a:defRPr lang="de-DE"/>
                </a:defPPr>
                <a:lvl1pPr algn="ctr">
                  <a:defRPr sz="1200"/>
                </a:lvl1pPr>
              </a:lstStyle>
              <a:p>
                <a:r>
                  <a:rPr lang="en-GB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predictor</a:t>
                </a:r>
                <a:r>
                  <a:rPr lang="en-GB" noProof="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 with </a:t>
                </a:r>
                <a14:m>
                  <m:oMath xmlns:m="http://schemas.openxmlformats.org/officeDocument/2006/math">
                    <m:r>
                      <a:rPr lang="en-GB" i="1" noProof="0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m:t>𝑁</m:t>
                    </m:r>
                    <m:r>
                      <a:rPr lang="en-GB" i="1" noProof="0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m:t>&gt; 2 </m:t>
                    </m:r>
                  </m:oMath>
                </a14:m>
                <a:r>
                  <a:rPr lang="en-GB" noProof="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levels </a:t>
                </a:r>
              </a:p>
            </p:txBody>
          </p:sp>
        </mc:Choice>
        <mc:Fallback xmlns="">
          <p:sp>
            <p:nvSpPr>
              <p:cNvPr id="468" name="Textfeld 467">
                <a:extLst>
                  <a:ext uri="{FF2B5EF4-FFF2-40B4-BE49-F238E27FC236}">
                    <a16:creationId xmlns:a16="http://schemas.microsoft.com/office/drawing/2014/main" id="{706DE281-AE3D-2689-6BA1-030155DAFDD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38790" y="6376901"/>
                <a:ext cx="2543546" cy="276999"/>
              </a:xfrm>
              <a:prstGeom prst="rect">
                <a:avLst/>
              </a:prstGeom>
              <a:blipFill>
                <a:blip r:embed="rId20"/>
                <a:stretch>
                  <a:fillRect b="-12500"/>
                </a:stretch>
              </a:blipFill>
              <a:ln w="12700">
                <a:solidFill>
                  <a:schemeClr val="accent1">
                    <a:lumMod val="40000"/>
                    <a:lumOff val="60000"/>
                  </a:schemeClr>
                </a:solidFill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77" name="Textfeld 476">
            <a:extLst>
              <a:ext uri="{FF2B5EF4-FFF2-40B4-BE49-F238E27FC236}">
                <a16:creationId xmlns:a16="http://schemas.microsoft.com/office/drawing/2014/main" id="{0B777EA6-19F2-E874-204F-646EC1A02411}"/>
              </a:ext>
            </a:extLst>
          </p:cNvPr>
          <p:cNvSpPr txBox="1"/>
          <p:nvPr/>
        </p:nvSpPr>
        <p:spPr>
          <a:xfrm>
            <a:off x="305981" y="5743382"/>
            <a:ext cx="1091245" cy="281831"/>
          </a:xfrm>
          <a:prstGeom prst="rect">
            <a:avLst/>
          </a:prstGeom>
          <a:noFill/>
          <a:ln w="12700">
            <a:noFill/>
          </a:ln>
        </p:spPr>
        <p:txBody>
          <a:bodyPr wrap="square">
            <a:spAutoFit/>
          </a:bodyPr>
          <a:lstStyle>
            <a:defPPr>
              <a:defRPr lang="de-DE"/>
            </a:defPPr>
            <a:lvl1pPr algn="ctr">
              <a:defRPr sz="1200"/>
            </a:lvl1pPr>
          </a:lstStyle>
          <a:p>
            <a:pPr algn="l"/>
            <a:r>
              <a:rPr lang="en-GB" noProof="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Colour code: </a:t>
            </a:r>
          </a:p>
        </p:txBody>
      </p:sp>
      <p:grpSp>
        <p:nvGrpSpPr>
          <p:cNvPr id="491" name="Gruppieren 490">
            <a:extLst>
              <a:ext uri="{FF2B5EF4-FFF2-40B4-BE49-F238E27FC236}">
                <a16:creationId xmlns:a16="http://schemas.microsoft.com/office/drawing/2014/main" id="{B93FC86A-558E-D7EC-B464-F59F6AFA4123}"/>
              </a:ext>
            </a:extLst>
          </p:cNvPr>
          <p:cNvGrpSpPr/>
          <p:nvPr/>
        </p:nvGrpSpPr>
        <p:grpSpPr>
          <a:xfrm>
            <a:off x="1666842" y="1127125"/>
            <a:ext cx="1785240" cy="542165"/>
            <a:chOff x="2719572" y="1536945"/>
            <a:chExt cx="1289076" cy="305400"/>
          </a:xfrm>
        </p:grpSpPr>
        <p:cxnSp>
          <p:nvCxnSpPr>
            <p:cNvPr id="492" name="Gerade Verbindung mit Pfeil 491">
              <a:extLst>
                <a:ext uri="{FF2B5EF4-FFF2-40B4-BE49-F238E27FC236}">
                  <a16:creationId xmlns:a16="http://schemas.microsoft.com/office/drawing/2014/main" id="{402B47C1-CE38-711E-9CB3-A6884AE48647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719572" y="1536945"/>
              <a:ext cx="639486" cy="30540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3" name="Gerade Verbindung mit Pfeil 492">
              <a:extLst>
                <a:ext uri="{FF2B5EF4-FFF2-40B4-BE49-F238E27FC236}">
                  <a16:creationId xmlns:a16="http://schemas.microsoft.com/office/drawing/2014/main" id="{9F6A4626-37AD-E831-FC98-2DD7A9779D7B}"/>
                </a:ext>
              </a:extLst>
            </p:cNvPr>
            <p:cNvCxnSpPr>
              <a:cxnSpLocks/>
            </p:cNvCxnSpPr>
            <p:nvPr/>
          </p:nvCxnSpPr>
          <p:spPr>
            <a:xfrm>
              <a:off x="3359058" y="1536945"/>
              <a:ext cx="649590" cy="30540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461" name="Gerade Verbindung mit Pfeil 460">
            <a:extLst>
              <a:ext uri="{FF2B5EF4-FFF2-40B4-BE49-F238E27FC236}">
                <a16:creationId xmlns:a16="http://schemas.microsoft.com/office/drawing/2014/main" id="{1FEA84E7-3312-B918-AA56-41FEC8BF6477}"/>
              </a:ext>
            </a:extLst>
          </p:cNvPr>
          <p:cNvCxnSpPr>
            <a:cxnSpLocks/>
          </p:cNvCxnSpPr>
          <p:nvPr/>
        </p:nvCxnSpPr>
        <p:spPr>
          <a:xfrm flipH="1">
            <a:off x="8287643" y="4758610"/>
            <a:ext cx="4391" cy="180489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5" name="Gerade Verbindung mit Pfeil 464">
            <a:extLst>
              <a:ext uri="{FF2B5EF4-FFF2-40B4-BE49-F238E27FC236}">
                <a16:creationId xmlns:a16="http://schemas.microsoft.com/office/drawing/2014/main" id="{ECE5EB49-AD5A-BEB2-5D0B-54321CE4865F}"/>
              </a:ext>
            </a:extLst>
          </p:cNvPr>
          <p:cNvCxnSpPr>
            <a:cxnSpLocks/>
          </p:cNvCxnSpPr>
          <p:nvPr/>
        </p:nvCxnSpPr>
        <p:spPr>
          <a:xfrm flipH="1">
            <a:off x="9767473" y="4763372"/>
            <a:ext cx="4391" cy="180489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6" name="Gerade Verbindung mit Pfeil 465">
            <a:extLst>
              <a:ext uri="{FF2B5EF4-FFF2-40B4-BE49-F238E27FC236}">
                <a16:creationId xmlns:a16="http://schemas.microsoft.com/office/drawing/2014/main" id="{A92DDC36-A79D-8A9E-2E72-D086E5D5B063}"/>
              </a:ext>
            </a:extLst>
          </p:cNvPr>
          <p:cNvCxnSpPr>
            <a:cxnSpLocks/>
          </p:cNvCxnSpPr>
          <p:nvPr/>
        </p:nvCxnSpPr>
        <p:spPr>
          <a:xfrm flipH="1">
            <a:off x="8287643" y="5246480"/>
            <a:ext cx="4391" cy="180489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9" name="Gerade Verbindung mit Pfeil 468">
            <a:extLst>
              <a:ext uri="{FF2B5EF4-FFF2-40B4-BE49-F238E27FC236}">
                <a16:creationId xmlns:a16="http://schemas.microsoft.com/office/drawing/2014/main" id="{07A7613D-DE2D-0E14-3906-D084E6AFB2E3}"/>
              </a:ext>
            </a:extLst>
          </p:cNvPr>
          <p:cNvCxnSpPr>
            <a:cxnSpLocks/>
          </p:cNvCxnSpPr>
          <p:nvPr/>
        </p:nvCxnSpPr>
        <p:spPr>
          <a:xfrm flipH="1">
            <a:off x="9767473" y="5251947"/>
            <a:ext cx="4391" cy="180489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0" name="Gerade Verbindung mit Pfeil 469">
            <a:extLst>
              <a:ext uri="{FF2B5EF4-FFF2-40B4-BE49-F238E27FC236}">
                <a16:creationId xmlns:a16="http://schemas.microsoft.com/office/drawing/2014/main" id="{6FDDA7AC-5983-20E7-25C7-95261A18365D}"/>
              </a:ext>
            </a:extLst>
          </p:cNvPr>
          <p:cNvCxnSpPr>
            <a:cxnSpLocks/>
          </p:cNvCxnSpPr>
          <p:nvPr/>
        </p:nvCxnSpPr>
        <p:spPr>
          <a:xfrm flipH="1">
            <a:off x="6182061" y="5264410"/>
            <a:ext cx="4391" cy="180489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6" name="Gerade Verbindung mit Pfeil 495">
            <a:extLst>
              <a:ext uri="{FF2B5EF4-FFF2-40B4-BE49-F238E27FC236}">
                <a16:creationId xmlns:a16="http://schemas.microsoft.com/office/drawing/2014/main" id="{4CE60F72-BD69-479D-537D-5139143210F5}"/>
              </a:ext>
            </a:extLst>
          </p:cNvPr>
          <p:cNvCxnSpPr>
            <a:cxnSpLocks/>
          </p:cNvCxnSpPr>
          <p:nvPr/>
        </p:nvCxnSpPr>
        <p:spPr>
          <a:xfrm flipH="1">
            <a:off x="8946555" y="3270049"/>
            <a:ext cx="7967" cy="597516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" name="Gerade Verbindung mit Pfeil 76">
            <a:extLst>
              <a:ext uri="{FF2B5EF4-FFF2-40B4-BE49-F238E27FC236}">
                <a16:creationId xmlns:a16="http://schemas.microsoft.com/office/drawing/2014/main" id="{8365221F-68D1-CF4F-1F64-3E730F1492F4}"/>
              </a:ext>
            </a:extLst>
          </p:cNvPr>
          <p:cNvCxnSpPr>
            <a:cxnSpLocks/>
            <a:stCxn id="9" idx="2"/>
            <a:endCxn id="6" idx="0"/>
          </p:cNvCxnSpPr>
          <p:nvPr/>
        </p:nvCxnSpPr>
        <p:spPr>
          <a:xfrm>
            <a:off x="7779530" y="1109786"/>
            <a:ext cx="1670" cy="1091532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8" name="Gerade Verbindung mit Pfeil 77">
            <a:extLst>
              <a:ext uri="{FF2B5EF4-FFF2-40B4-BE49-F238E27FC236}">
                <a16:creationId xmlns:a16="http://schemas.microsoft.com/office/drawing/2014/main" id="{E259B30F-FD48-CC56-E299-9C67857DBBA5}"/>
              </a:ext>
            </a:extLst>
          </p:cNvPr>
          <p:cNvCxnSpPr>
            <a:cxnSpLocks/>
          </p:cNvCxnSpPr>
          <p:nvPr/>
        </p:nvCxnSpPr>
        <p:spPr>
          <a:xfrm flipH="1">
            <a:off x="1572292" y="1996567"/>
            <a:ext cx="4391" cy="180489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9" name="Rechteck 78">
            <a:extLst>
              <a:ext uri="{FF2B5EF4-FFF2-40B4-BE49-F238E27FC236}">
                <a16:creationId xmlns:a16="http://schemas.microsoft.com/office/drawing/2014/main" id="{0CC0A9A9-2F6E-C5DA-3CA7-43172D8E36EC}"/>
              </a:ext>
            </a:extLst>
          </p:cNvPr>
          <p:cNvSpPr/>
          <p:nvPr/>
        </p:nvSpPr>
        <p:spPr>
          <a:xfrm>
            <a:off x="243603" y="5730875"/>
            <a:ext cx="4603061" cy="999264"/>
          </a:xfrm>
          <a:prstGeom prst="rect">
            <a:avLst/>
          </a:prstGeom>
          <a:noFill/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grpSp>
        <p:nvGrpSpPr>
          <p:cNvPr id="17" name="Gruppieren 16">
            <a:extLst>
              <a:ext uri="{FF2B5EF4-FFF2-40B4-BE49-F238E27FC236}">
                <a16:creationId xmlns:a16="http://schemas.microsoft.com/office/drawing/2014/main" id="{4BD88BE5-F3C3-7F3B-4D2E-DD503DC300B8}"/>
              </a:ext>
            </a:extLst>
          </p:cNvPr>
          <p:cNvGrpSpPr/>
          <p:nvPr/>
        </p:nvGrpSpPr>
        <p:grpSpPr>
          <a:xfrm>
            <a:off x="6911252" y="2511762"/>
            <a:ext cx="1552397" cy="469922"/>
            <a:chOff x="2719572" y="1536945"/>
            <a:chExt cx="1289076" cy="305400"/>
          </a:xfrm>
        </p:grpSpPr>
        <p:cxnSp>
          <p:nvCxnSpPr>
            <p:cNvPr id="20" name="Gerade Verbindung mit Pfeil 19">
              <a:extLst>
                <a:ext uri="{FF2B5EF4-FFF2-40B4-BE49-F238E27FC236}">
                  <a16:creationId xmlns:a16="http://schemas.microsoft.com/office/drawing/2014/main" id="{6354D577-C14C-4B2E-AC54-4E5E8655DCC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719572" y="1536945"/>
              <a:ext cx="639486" cy="30540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Gerade Verbindung mit Pfeil 20">
              <a:extLst>
                <a:ext uri="{FF2B5EF4-FFF2-40B4-BE49-F238E27FC236}">
                  <a16:creationId xmlns:a16="http://schemas.microsoft.com/office/drawing/2014/main" id="{4DBC2560-38BF-85A3-1E53-70453BB01498}"/>
                </a:ext>
              </a:extLst>
            </p:cNvPr>
            <p:cNvCxnSpPr>
              <a:cxnSpLocks/>
            </p:cNvCxnSpPr>
            <p:nvPr/>
          </p:nvCxnSpPr>
          <p:spPr>
            <a:xfrm>
              <a:off x="3359058" y="1536945"/>
              <a:ext cx="649590" cy="30540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46627712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286B89-47FA-7B26-1D68-D1B45778BA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Textfeld 17">
            <a:extLst>
              <a:ext uri="{FF2B5EF4-FFF2-40B4-BE49-F238E27FC236}">
                <a16:creationId xmlns:a16="http://schemas.microsoft.com/office/drawing/2014/main" id="{18AF861B-382D-6149-6A32-F27427D32285}"/>
              </a:ext>
            </a:extLst>
          </p:cNvPr>
          <p:cNvSpPr txBox="1"/>
          <p:nvPr/>
        </p:nvSpPr>
        <p:spPr>
          <a:xfrm>
            <a:off x="262794" y="2202514"/>
            <a:ext cx="2959748" cy="276999"/>
          </a:xfrm>
          <a:prstGeom prst="rect">
            <a:avLst/>
          </a:prstGeom>
          <a:solidFill>
            <a:schemeClr val="accent2">
              <a:alpha val="19906"/>
            </a:schemeClr>
          </a:solidFill>
          <a:ln w="12700"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en-GB" sz="1200" noProof="0" dirty="0" err="1">
                <a:latin typeface="Courier New" panose="02070309020205020404" pitchFamily="49" charset="0"/>
                <a:ea typeface="Cambria Math" panose="02040503050406030204" pitchFamily="18" charset="0"/>
                <a:cs typeface="Courier New" panose="02070309020205020404" pitchFamily="49" charset="0"/>
              </a:rPr>
              <a:t>shapiro.test</a:t>
            </a:r>
            <a:r>
              <a:rPr lang="en-GB" sz="1200" noProof="0" dirty="0">
                <a:latin typeface="Courier New" panose="02070309020205020404" pitchFamily="49" charset="0"/>
                <a:ea typeface="Cambria Math" panose="02040503050406030204" pitchFamily="18" charset="0"/>
                <a:cs typeface="Courier New" panose="02070309020205020404" pitchFamily="49" charset="0"/>
              </a:rPr>
              <a:t>()</a:t>
            </a:r>
            <a:r>
              <a:rPr lang="en-GB" sz="1200" noProof="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for both levels</a:t>
            </a:r>
          </a:p>
        </p:txBody>
      </p:sp>
      <p:sp>
        <p:nvSpPr>
          <p:cNvPr id="160" name="Textfeld 159">
            <a:extLst>
              <a:ext uri="{FF2B5EF4-FFF2-40B4-BE49-F238E27FC236}">
                <a16:creationId xmlns:a16="http://schemas.microsoft.com/office/drawing/2014/main" id="{653E9265-31C5-635F-8B04-A35BBC6B8947}"/>
              </a:ext>
            </a:extLst>
          </p:cNvPr>
          <p:cNvSpPr txBox="1"/>
          <p:nvPr/>
        </p:nvSpPr>
        <p:spPr>
          <a:xfrm>
            <a:off x="10508890" y="2202514"/>
            <a:ext cx="1618428" cy="276999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12700">
            <a:solidFill>
              <a:schemeClr val="accent1">
                <a:lumMod val="20000"/>
                <a:lumOff val="80000"/>
              </a:schemeClr>
            </a:solidFill>
          </a:ln>
        </p:spPr>
        <p:txBody>
          <a:bodyPr wrap="square">
            <a:spAutoFit/>
          </a:bodyPr>
          <a:lstStyle>
            <a:defPPr>
              <a:defRPr lang="de-DE"/>
            </a:defPPr>
            <a:lvl1pPr algn="ctr">
              <a:defRPr sz="1200"/>
            </a:lvl1pPr>
          </a:lstStyle>
          <a:p>
            <a:r>
              <a:rPr lang="en-GB" noProof="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Check normality</a:t>
            </a:r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601ED97F-F16D-7745-E326-55D340B29DDB}"/>
              </a:ext>
            </a:extLst>
          </p:cNvPr>
          <p:cNvSpPr txBox="1"/>
          <p:nvPr/>
        </p:nvSpPr>
        <p:spPr>
          <a:xfrm>
            <a:off x="5130836" y="2267167"/>
            <a:ext cx="3906703" cy="276999"/>
          </a:xfrm>
          <a:prstGeom prst="rect">
            <a:avLst/>
          </a:prstGeom>
          <a:solidFill>
            <a:schemeClr val="accent2">
              <a:alpha val="19906"/>
            </a:schemeClr>
          </a:solidFill>
          <a:ln w="12700">
            <a:solidFill>
              <a:schemeClr val="accent1">
                <a:lumMod val="40000"/>
                <a:lumOff val="60000"/>
              </a:schemeClr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en-GB" sz="1200" noProof="0" dirty="0" err="1">
                <a:latin typeface="Courier New" panose="02070309020205020404" pitchFamily="49" charset="0"/>
                <a:ea typeface="Cambria Math" panose="02040503050406030204" pitchFamily="18" charset="0"/>
                <a:cs typeface="Courier New" panose="02070309020205020404" pitchFamily="49" charset="0"/>
              </a:rPr>
              <a:t>shapiro.test</a:t>
            </a:r>
            <a:r>
              <a:rPr lang="en-GB" sz="1200" noProof="0" dirty="0">
                <a:latin typeface="Courier New" panose="02070309020205020404" pitchFamily="49" charset="0"/>
                <a:ea typeface="Cambria Math" panose="02040503050406030204" pitchFamily="18" charset="0"/>
                <a:cs typeface="Courier New" panose="02070309020205020404" pitchFamily="49" charset="0"/>
              </a:rPr>
              <a:t>()</a:t>
            </a:r>
            <a:r>
              <a:rPr lang="en-GB" sz="1200" noProof="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en-GB" sz="12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of residuals</a:t>
            </a:r>
            <a:endParaRPr lang="en-GB" sz="1200" noProof="0" dirty="0">
              <a:latin typeface="Calibri" panose="020F0502020204030204" pitchFamily="34" charset="0"/>
              <a:ea typeface="Cambria Math" panose="02040503050406030204" pitchFamily="18" charset="0"/>
              <a:cs typeface="Calibri" panose="020F0502020204030204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feld 6">
                <a:extLst>
                  <a:ext uri="{FF2B5EF4-FFF2-40B4-BE49-F238E27FC236}">
                    <a16:creationId xmlns:a16="http://schemas.microsoft.com/office/drawing/2014/main" id="{974384E5-D805-22AA-19B7-9C3A76BBD6C4}"/>
                  </a:ext>
                </a:extLst>
              </p:cNvPr>
              <p:cNvSpPr txBox="1"/>
              <p:nvPr/>
            </p:nvSpPr>
            <p:spPr>
              <a:xfrm>
                <a:off x="3982498" y="268315"/>
                <a:ext cx="4305145" cy="461665"/>
              </a:xfrm>
              <a:prstGeom prst="rect">
                <a:avLst/>
              </a:prstGeom>
              <a:noFill/>
              <a:ln w="6350">
                <a:solidFill>
                  <a:schemeClr val="bg1">
                    <a:lumMod val="85000"/>
                  </a:schemeClr>
                </a:solidFill>
              </a:ln>
            </p:spPr>
            <p:txBody>
              <a:bodyPr wrap="square">
                <a:spAutoFit/>
              </a:bodyPr>
              <a:lstStyle/>
              <a:p>
                <a:pPr marL="171450" indent="-171450">
                  <a:buFont typeface="Arial" panose="020B0604020202020204" pitchFamily="34" charset="0"/>
                  <a:buChar char="•"/>
                </a:pPr>
                <a:r>
                  <a:rPr lang="en-GB" sz="120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C</a:t>
                </a:r>
                <a:r>
                  <a:rPr lang="en-GB" sz="1200" noProof="0" dirty="0" err="1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ategorical</a:t>
                </a:r>
                <a:r>
                  <a:rPr lang="en-GB" sz="1200" noProof="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 predictor of </a:t>
                </a:r>
                <a:r>
                  <a:rPr lang="en-GB" sz="1200" noProof="0" dirty="0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class </a:t>
                </a:r>
                <a:r>
                  <a:rPr lang="en-GB" sz="120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“</a:t>
                </a:r>
                <a:r>
                  <a:rPr lang="en-GB" sz="1200" dirty="0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factor</a:t>
                </a:r>
                <a:r>
                  <a:rPr lang="en-GB" sz="1200" noProof="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“  with </a:t>
                </a:r>
                <a14:m>
                  <m:oMath xmlns:m="http://schemas.openxmlformats.org/officeDocument/2006/math">
                    <m:r>
                      <a:rPr lang="en-GB" sz="1200" i="1" noProof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𝑁</m:t>
                    </m:r>
                  </m:oMath>
                </a14:m>
                <a:r>
                  <a:rPr lang="en-GB" sz="1200" noProof="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 levels</a:t>
                </a:r>
              </a:p>
              <a:p>
                <a:pPr marL="171450" indent="-171450">
                  <a:buFont typeface="Arial" panose="020B0604020202020204" pitchFamily="34" charset="0"/>
                  <a:buChar char="•"/>
                </a:pPr>
                <a:r>
                  <a:rPr lang="en-GB" sz="120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N</a:t>
                </a:r>
                <a:r>
                  <a:rPr lang="en-GB" sz="1200" noProof="0" dirty="0" err="1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umeric</a:t>
                </a:r>
                <a:r>
                  <a:rPr lang="en-GB" sz="1200" noProof="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 response of </a:t>
                </a:r>
                <a:r>
                  <a:rPr lang="en-GB" sz="1200" noProof="0" dirty="0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class </a:t>
                </a:r>
                <a:r>
                  <a:rPr lang="en-GB" sz="120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“</a:t>
                </a:r>
                <a:r>
                  <a:rPr lang="en-GB" sz="1200" noProof="0" dirty="0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numeric</a:t>
                </a:r>
                <a:r>
                  <a:rPr lang="en-GB" sz="120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”</a:t>
                </a:r>
                <a:r>
                  <a:rPr lang="en-GB" sz="1200" dirty="0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 </a:t>
                </a:r>
                <a:r>
                  <a:rPr lang="en-GB" sz="1200" noProof="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or “</a:t>
                </a:r>
                <a:r>
                  <a:rPr lang="en-GB" sz="1200" noProof="0" dirty="0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integer</a:t>
                </a:r>
                <a:r>
                  <a:rPr lang="en-GB" sz="120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”</a:t>
                </a:r>
                <a:endParaRPr lang="en-GB" sz="1200" noProof="0" dirty="0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endParaRPr>
              </a:p>
            </p:txBody>
          </p:sp>
        </mc:Choice>
        <mc:Fallback xmlns="">
          <p:sp>
            <p:nvSpPr>
              <p:cNvPr id="7" name="Textfeld 6">
                <a:extLst>
                  <a:ext uri="{FF2B5EF4-FFF2-40B4-BE49-F238E27FC236}">
                    <a16:creationId xmlns:a16="http://schemas.microsoft.com/office/drawing/2014/main" id="{974384E5-D805-22AA-19B7-9C3A76BBD6C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82498" y="268315"/>
                <a:ext cx="4305145" cy="461665"/>
              </a:xfrm>
              <a:prstGeom prst="rect">
                <a:avLst/>
              </a:prstGeom>
              <a:blipFill>
                <a:blip r:embed="rId3"/>
                <a:stretch>
                  <a:fillRect b="-5263"/>
                </a:stretch>
              </a:blipFill>
              <a:ln w="6350">
                <a:solidFill>
                  <a:schemeClr val="bg1">
                    <a:lumMod val="85000"/>
                  </a:schemeClr>
                </a:solidFill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feld 7">
                <a:extLst>
                  <a:ext uri="{FF2B5EF4-FFF2-40B4-BE49-F238E27FC236}">
                    <a16:creationId xmlns:a16="http://schemas.microsoft.com/office/drawing/2014/main" id="{6B0DEDE8-76A9-9210-BB11-0F0F88B10A82}"/>
                  </a:ext>
                </a:extLst>
              </p:cNvPr>
              <p:cNvSpPr txBox="1"/>
              <p:nvPr/>
            </p:nvSpPr>
            <p:spPr>
              <a:xfrm>
                <a:off x="262794" y="832787"/>
                <a:ext cx="4514400" cy="276999"/>
              </a:xfrm>
              <a:prstGeom prst="rect">
                <a:avLst/>
              </a:prstGeom>
              <a:noFill/>
              <a:ln w="12700">
                <a:solidFill>
                  <a:schemeClr val="tx1"/>
                </a:solidFill>
              </a:ln>
            </p:spPr>
            <p:txBody>
              <a:bodyPr wrap="square">
                <a:spAutoFit/>
              </a:bodyPr>
              <a:lstStyle>
                <a:defPPr>
                  <a:defRPr lang="de-DE"/>
                </a:defPPr>
              </a:lstStyle>
              <a:p>
                <a:pPr algn="ctr"/>
                <a:r>
                  <a:rPr lang="en-GB" sz="120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predictor</a:t>
                </a:r>
                <a:r>
                  <a:rPr lang="en-GB" sz="1200" noProof="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: </a:t>
                </a:r>
                <a14:m>
                  <m:oMath xmlns:m="http://schemas.openxmlformats.org/officeDocument/2006/math">
                    <m:r>
                      <a:rPr lang="en-GB" sz="1200" i="1" noProof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𝑁</m:t>
                    </m:r>
                    <m:r>
                      <a:rPr lang="en-GB" sz="1200" i="1" noProof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=2 </m:t>
                    </m:r>
                  </m:oMath>
                </a14:m>
                <a:r>
                  <a:rPr lang="en-GB" sz="1200" noProof="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levels  with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sz="1200" b="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1200" b="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𝑛</m:t>
                        </m:r>
                      </m:e>
                      <m:sub>
                        <m:r>
                          <a:rPr lang="en-GB" sz="1200" b="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GB" sz="1200" noProof="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 resp.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sz="1200" b="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1200" b="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𝑛</m:t>
                        </m:r>
                      </m:e>
                      <m:sub>
                        <m:r>
                          <a:rPr lang="en-GB" sz="1200" b="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GB" sz="1200" noProof="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 entries in each level</a:t>
                </a:r>
              </a:p>
            </p:txBody>
          </p:sp>
        </mc:Choice>
        <mc:Fallback xmlns="">
          <p:sp>
            <p:nvSpPr>
              <p:cNvPr id="8" name="Textfeld 7">
                <a:extLst>
                  <a:ext uri="{FF2B5EF4-FFF2-40B4-BE49-F238E27FC236}">
                    <a16:creationId xmlns:a16="http://schemas.microsoft.com/office/drawing/2014/main" id="{6B0DEDE8-76A9-9210-BB11-0F0F88B10A8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2794" y="832787"/>
                <a:ext cx="4514400" cy="276999"/>
              </a:xfrm>
              <a:prstGeom prst="rect">
                <a:avLst/>
              </a:prstGeom>
              <a:blipFill>
                <a:blip r:embed="rId4"/>
                <a:stretch>
                  <a:fillRect b="-13043"/>
                </a:stretch>
              </a:blipFill>
              <a:ln w="1270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feld 8">
                <a:extLst>
                  <a:ext uri="{FF2B5EF4-FFF2-40B4-BE49-F238E27FC236}">
                    <a16:creationId xmlns:a16="http://schemas.microsoft.com/office/drawing/2014/main" id="{85AE5A75-C1D3-3837-99E5-60C1B77C03E4}"/>
                  </a:ext>
                </a:extLst>
              </p:cNvPr>
              <p:cNvSpPr txBox="1"/>
              <p:nvPr/>
            </p:nvSpPr>
            <p:spPr>
              <a:xfrm>
                <a:off x="5127496" y="832787"/>
                <a:ext cx="5418007" cy="276999"/>
              </a:xfrm>
              <a:prstGeom prst="rect">
                <a:avLst/>
              </a:prstGeom>
              <a:noFill/>
              <a:ln w="12700">
                <a:solidFill>
                  <a:schemeClr val="accent1">
                    <a:lumMod val="40000"/>
                    <a:lumOff val="60000"/>
                  </a:schemeClr>
                </a:solidFill>
              </a:ln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GB" sz="120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predictor</a:t>
                </a:r>
                <a:r>
                  <a:rPr lang="en-GB" sz="1200" noProof="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:  </a:t>
                </a:r>
                <a14:m>
                  <m:oMath xmlns:m="http://schemas.openxmlformats.org/officeDocument/2006/math">
                    <m:r>
                      <a:rPr lang="en-GB" sz="1200" b="0" i="1" noProof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𝑁</m:t>
                    </m:r>
                    <m:r>
                      <a:rPr lang="en-US" sz="1200" b="0" i="1" noProof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GB" sz="120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&gt;2 l</a:t>
                </a:r>
                <a:r>
                  <a:rPr lang="en-GB" sz="1200" noProof="0" dirty="0" err="1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evels</a:t>
                </a:r>
                <a:r>
                  <a:rPr lang="en-GB" sz="120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 with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sz="1200" i="1" noProof="0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anose="020F0502020204030204" pitchFamily="34" charset="0"/>
                          </a:rPr>
                        </m:ctrlPr>
                      </m:sSubPr>
                      <m:e>
                        <m:r>
                          <a:rPr lang="en-GB" sz="1200" i="1" noProof="0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anose="020F0502020204030204" pitchFamily="34" charset="0"/>
                          </a:rPr>
                          <m:t>𝑛</m:t>
                        </m:r>
                      </m:e>
                      <m:sub>
                        <m:r>
                          <a:rPr lang="en-GB" sz="1200" i="1" noProof="0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anose="020F0502020204030204" pitchFamily="34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GB" sz="1200" noProof="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 entries in each level </a:t>
                </a:r>
                <a14:m>
                  <m:oMath xmlns:m="http://schemas.openxmlformats.org/officeDocument/2006/math">
                    <m:r>
                      <a:rPr lang="en-GB" sz="1200" i="1" dirty="0">
                        <a:latin typeface="Cambria Math" panose="02040503050406030204" pitchFamily="18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m:t>, </m:t>
                    </m:r>
                    <m:r>
                      <a:rPr lang="en-GB" sz="1200" i="1" dirty="0" err="1">
                        <a:latin typeface="Cambria Math" panose="02040503050406030204" pitchFamily="18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m:t>𝑖</m:t>
                    </m:r>
                    <m:r>
                      <a:rPr lang="en-GB" sz="1200" i="1" dirty="0">
                        <a:latin typeface="Cambria Math" panose="02040503050406030204" pitchFamily="18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m:t>=1,2,…,</m:t>
                    </m:r>
                    <m:r>
                      <a:rPr lang="en-GB" sz="1200" i="1" dirty="0">
                        <a:latin typeface="Cambria Math" panose="02040503050406030204" pitchFamily="18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m:t>𝑁</m:t>
                    </m:r>
                  </m:oMath>
                </a14:m>
                <a:r>
                  <a:rPr lang="en-GB" sz="120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 </a:t>
                </a:r>
              </a:p>
            </p:txBody>
          </p:sp>
        </mc:Choice>
        <mc:Fallback xmlns="">
          <p:sp>
            <p:nvSpPr>
              <p:cNvPr id="9" name="Textfeld 8">
                <a:extLst>
                  <a:ext uri="{FF2B5EF4-FFF2-40B4-BE49-F238E27FC236}">
                    <a16:creationId xmlns:a16="http://schemas.microsoft.com/office/drawing/2014/main" id="{85AE5A75-C1D3-3837-99E5-60C1B77C03E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27496" y="832787"/>
                <a:ext cx="5418007" cy="276999"/>
              </a:xfrm>
              <a:prstGeom prst="rect">
                <a:avLst/>
              </a:prstGeom>
              <a:blipFill>
                <a:blip r:embed="rId5"/>
                <a:stretch>
                  <a:fillRect b="-13043"/>
                </a:stretch>
              </a:blipFill>
              <a:ln w="12700">
                <a:solidFill>
                  <a:schemeClr val="accent1">
                    <a:lumMod val="40000"/>
                    <a:lumOff val="60000"/>
                  </a:schemeClr>
                </a:solidFill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feld 12">
                <a:extLst>
                  <a:ext uri="{FF2B5EF4-FFF2-40B4-BE49-F238E27FC236}">
                    <a16:creationId xmlns:a16="http://schemas.microsoft.com/office/drawing/2014/main" id="{14A20B2B-EDC8-6677-771B-A7CDDBF4C957}"/>
                  </a:ext>
                </a:extLst>
              </p:cNvPr>
              <p:cNvSpPr txBox="1"/>
              <p:nvPr/>
            </p:nvSpPr>
            <p:spPr>
              <a:xfrm>
                <a:off x="3296687" y="1721123"/>
                <a:ext cx="1490532" cy="276999"/>
              </a:xfrm>
              <a:prstGeom prst="rect">
                <a:avLst/>
              </a:prstGeom>
              <a:noFill/>
              <a:ln w="12700">
                <a:solidFill>
                  <a:schemeClr val="tx1"/>
                </a:solidFill>
              </a:ln>
            </p:spPr>
            <p:txBody>
              <a:bodyPr wrap="square">
                <a:spAutoFit/>
              </a:bodyPr>
              <a:lstStyle>
                <a:defPPr>
                  <a:defRPr lang="de-DE"/>
                </a:defPPr>
              </a:lstStyle>
              <a:p>
                <a:pPr algn="ctr"/>
                <a14:m>
                  <m:oMath xmlns:m="http://schemas.openxmlformats.org/officeDocument/2006/math">
                    <m:sSub>
                      <m:sSubPr>
                        <m:ctrlPr>
                          <a:rPr lang="en-GB" sz="1200" b="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1200" b="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𝑛</m:t>
                        </m:r>
                      </m:e>
                      <m:sub>
                        <m:r>
                          <a:rPr lang="en-GB" sz="1200" b="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GB" sz="1200" noProof="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sz="120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120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𝑛</m:t>
                        </m:r>
                      </m:e>
                      <m:sub>
                        <m:r>
                          <a:rPr lang="en-GB" sz="1200" b="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GB" sz="1200" b="0" i="1" noProof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&gt;30</m:t>
                    </m:r>
                  </m:oMath>
                </a14:m>
                <a:r>
                  <a:rPr lang="en-GB" sz="1200" noProof="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 </a:t>
                </a:r>
              </a:p>
            </p:txBody>
          </p:sp>
        </mc:Choice>
        <mc:Fallback xmlns="">
          <p:sp>
            <p:nvSpPr>
              <p:cNvPr id="13" name="Textfeld 12">
                <a:extLst>
                  <a:ext uri="{FF2B5EF4-FFF2-40B4-BE49-F238E27FC236}">
                    <a16:creationId xmlns:a16="http://schemas.microsoft.com/office/drawing/2014/main" id="{14A20B2B-EDC8-6677-771B-A7CDDBF4C95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96687" y="1721123"/>
                <a:ext cx="1490532" cy="276999"/>
              </a:xfrm>
              <a:prstGeom prst="rect">
                <a:avLst/>
              </a:prstGeom>
              <a:blipFill>
                <a:blip r:embed="rId6"/>
                <a:stretch>
                  <a:fillRect b="-12500"/>
                </a:stretch>
              </a:blipFill>
              <a:ln w="1270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feld 14">
                <a:extLst>
                  <a:ext uri="{FF2B5EF4-FFF2-40B4-BE49-F238E27FC236}">
                    <a16:creationId xmlns:a16="http://schemas.microsoft.com/office/drawing/2014/main" id="{9A0F7AB7-8E8E-03EA-8D14-A4F238C885A4}"/>
                  </a:ext>
                </a:extLst>
              </p:cNvPr>
              <p:cNvSpPr txBox="1"/>
              <p:nvPr/>
            </p:nvSpPr>
            <p:spPr>
              <a:xfrm>
                <a:off x="271610" y="1721123"/>
                <a:ext cx="2950932" cy="276999"/>
              </a:xfrm>
              <a:prstGeom prst="rect">
                <a:avLst/>
              </a:prstGeom>
              <a:noFill/>
              <a:ln w="12700">
                <a:solidFill>
                  <a:schemeClr val="tx1"/>
                </a:solidFill>
              </a:ln>
            </p:spPr>
            <p:txBody>
              <a:bodyPr wrap="square">
                <a:spAutoFit/>
              </a:bodyPr>
              <a:lstStyle>
                <a:defPPr>
                  <a:defRPr lang="de-DE"/>
                </a:defPPr>
              </a:lstStyle>
              <a:p>
                <a:pPr algn="ctr"/>
                <a14:m>
                  <m:oMath xmlns:m="http://schemas.openxmlformats.org/officeDocument/2006/math">
                    <m:sSub>
                      <m:sSubPr>
                        <m:ctrlPr>
                          <a:rPr lang="en-GB" sz="1200" b="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1200" b="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𝑛</m:t>
                        </m:r>
                      </m:e>
                      <m:sub>
                        <m:r>
                          <a:rPr lang="en-GB" sz="1200" b="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GB" sz="1200" noProof="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 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sz="120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anose="020F0502020204030204" pitchFamily="34" charset="0"/>
                          </a:rPr>
                        </m:ctrlPr>
                      </m:sSubPr>
                      <m:e>
                        <m:r>
                          <a:rPr lang="en-GB" sz="120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𝑛</m:t>
                        </m:r>
                      </m:e>
                      <m:sub>
                        <m:r>
                          <a:rPr lang="en-GB" sz="120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GB" sz="1200" i="1" noProof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≤30</m:t>
                    </m:r>
                    <m:r>
                      <a:rPr lang="en-GB" sz="1200" i="1" noProof="0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m:t> </m:t>
                    </m:r>
                  </m:oMath>
                </a14:m>
                <a:endParaRPr lang="en-GB" sz="1200" noProof="0" dirty="0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endParaRPr>
              </a:p>
            </p:txBody>
          </p:sp>
        </mc:Choice>
        <mc:Fallback xmlns="">
          <p:sp>
            <p:nvSpPr>
              <p:cNvPr id="15" name="Textfeld 14">
                <a:extLst>
                  <a:ext uri="{FF2B5EF4-FFF2-40B4-BE49-F238E27FC236}">
                    <a16:creationId xmlns:a16="http://schemas.microsoft.com/office/drawing/2014/main" id="{9A0F7AB7-8E8E-03EA-8D14-A4F238C885A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1610" y="1721123"/>
                <a:ext cx="2950932" cy="276999"/>
              </a:xfrm>
              <a:prstGeom prst="rect">
                <a:avLst/>
              </a:prstGeom>
              <a:blipFill>
                <a:blip r:embed="rId7"/>
                <a:stretch>
                  <a:fillRect b="-12500"/>
                </a:stretch>
              </a:blipFill>
              <a:ln w="1270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feld 18">
                <a:extLst>
                  <a:ext uri="{FF2B5EF4-FFF2-40B4-BE49-F238E27FC236}">
                    <a16:creationId xmlns:a16="http://schemas.microsoft.com/office/drawing/2014/main" id="{AEE9E655-1611-2514-4B19-D1BAB83917F3}"/>
                  </a:ext>
                </a:extLst>
              </p:cNvPr>
              <p:cNvSpPr txBox="1"/>
              <p:nvPr/>
            </p:nvSpPr>
            <p:spPr>
              <a:xfrm>
                <a:off x="1782316" y="3003780"/>
                <a:ext cx="1440000" cy="461665"/>
              </a:xfrm>
              <a:prstGeom prst="rect">
                <a:avLst/>
              </a:prstGeom>
              <a:noFill/>
              <a:ln w="12700">
                <a:solidFill>
                  <a:schemeClr val="tx1"/>
                </a:solidFill>
              </a:ln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GB" sz="1200" b="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1200" b="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GB" sz="1200" b="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GB" sz="1200" b="0" i="1" noProof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≥</m:t>
                    </m:r>
                    <m:r>
                      <a:rPr lang="en-GB" sz="1200" b="0" i="1" noProof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𝛼</m:t>
                    </m:r>
                    <m:r>
                      <a:rPr lang="en-US" sz="1200" b="0" i="1" noProof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/2</m:t>
                    </m:r>
                  </m:oMath>
                </a14:m>
                <a:r>
                  <a:rPr lang="en-GB" sz="1200" noProof="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sz="1200" b="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1200" b="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GB" sz="1200" b="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GB" sz="1200" b="0" i="1" noProof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≥</m:t>
                    </m:r>
                    <m:r>
                      <a:rPr lang="en-GB" sz="1200" b="0" i="1" noProof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𝛼</m:t>
                    </m:r>
                    <m:r>
                      <a:rPr lang="en-US" sz="1200" b="0" i="1" noProof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/2</m:t>
                    </m:r>
                  </m:oMath>
                </a14:m>
                <a:r>
                  <a:rPr lang="en-GB" sz="1200" noProof="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 </a:t>
                </a:r>
              </a:p>
            </p:txBody>
          </p:sp>
        </mc:Choice>
        <mc:Fallback xmlns="">
          <p:sp>
            <p:nvSpPr>
              <p:cNvPr id="19" name="Textfeld 18">
                <a:extLst>
                  <a:ext uri="{FF2B5EF4-FFF2-40B4-BE49-F238E27FC236}">
                    <a16:creationId xmlns:a16="http://schemas.microsoft.com/office/drawing/2014/main" id="{AEE9E655-1611-2514-4B19-D1BAB83917F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82316" y="3003780"/>
                <a:ext cx="1440000" cy="461665"/>
              </a:xfrm>
              <a:prstGeom prst="rect">
                <a:avLst/>
              </a:prstGeom>
              <a:blipFill>
                <a:blip r:embed="rId8"/>
                <a:stretch>
                  <a:fillRect b="-5263"/>
                </a:stretch>
              </a:blipFill>
              <a:ln w="1270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feld 21">
                <a:extLst>
                  <a:ext uri="{FF2B5EF4-FFF2-40B4-BE49-F238E27FC236}">
                    <a16:creationId xmlns:a16="http://schemas.microsoft.com/office/drawing/2014/main" id="{E30C21D2-9F7D-348F-6C91-377FDCA38620}"/>
                  </a:ext>
                </a:extLst>
              </p:cNvPr>
              <p:cNvSpPr txBox="1"/>
              <p:nvPr/>
            </p:nvSpPr>
            <p:spPr>
              <a:xfrm>
                <a:off x="271610" y="3003780"/>
                <a:ext cx="1440000" cy="461665"/>
              </a:xfrm>
              <a:prstGeom prst="rect">
                <a:avLst/>
              </a:prstGeom>
              <a:noFill/>
              <a:ln w="12700">
                <a:solidFill>
                  <a:schemeClr val="tx1"/>
                </a:solidFill>
              </a:ln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GB" sz="1200" b="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1200" b="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GB" sz="1200" b="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GB" sz="1200" b="0" i="1" noProof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&lt;</m:t>
                    </m:r>
                    <m:r>
                      <a:rPr lang="en-GB" sz="1200" b="0" i="1" noProof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𝛼</m:t>
                    </m:r>
                    <m:r>
                      <a:rPr lang="en-US" sz="1200" b="0" i="1" noProof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/2</m:t>
                    </m:r>
                    <m:r>
                      <a:rPr lang="en-GB" sz="1200" b="0" i="1" noProof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 </m:t>
                    </m:r>
                  </m:oMath>
                </a14:m>
                <a:r>
                  <a:rPr lang="en-GB" sz="1200" noProof="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sz="120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120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GB" sz="1200" b="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GB" sz="1200" i="1" noProof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&lt;</m:t>
                    </m:r>
                    <m:r>
                      <a:rPr lang="en-GB" sz="1200" i="1" noProof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𝛼</m:t>
                    </m:r>
                    <m:r>
                      <a:rPr lang="en-US" sz="1200" b="0" i="1" noProof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/2</m:t>
                    </m:r>
                  </m:oMath>
                </a14:m>
                <a:r>
                  <a:rPr lang="en-GB" sz="1200" noProof="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 </a:t>
                </a:r>
              </a:p>
            </p:txBody>
          </p:sp>
        </mc:Choice>
        <mc:Fallback xmlns="">
          <p:sp>
            <p:nvSpPr>
              <p:cNvPr id="22" name="Textfeld 21">
                <a:extLst>
                  <a:ext uri="{FF2B5EF4-FFF2-40B4-BE49-F238E27FC236}">
                    <a16:creationId xmlns:a16="http://schemas.microsoft.com/office/drawing/2014/main" id="{E30C21D2-9F7D-348F-6C91-377FDCA3862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1610" y="3003780"/>
                <a:ext cx="1440000" cy="461665"/>
              </a:xfrm>
              <a:prstGeom prst="rect">
                <a:avLst/>
              </a:prstGeom>
              <a:blipFill>
                <a:blip r:embed="rId9"/>
                <a:stretch>
                  <a:fillRect b="-5263"/>
                </a:stretch>
              </a:blipFill>
              <a:ln w="1270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3" name="Textfeld 22">
            <a:extLst>
              <a:ext uri="{FF2B5EF4-FFF2-40B4-BE49-F238E27FC236}">
                <a16:creationId xmlns:a16="http://schemas.microsoft.com/office/drawing/2014/main" id="{780E231A-5AE0-E689-6D3C-E9C453F6DD53}"/>
              </a:ext>
            </a:extLst>
          </p:cNvPr>
          <p:cNvSpPr txBox="1"/>
          <p:nvPr/>
        </p:nvSpPr>
        <p:spPr>
          <a:xfrm>
            <a:off x="275003" y="4044465"/>
            <a:ext cx="1447008" cy="276999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w="12700">
            <a:solidFill>
              <a:schemeClr val="tx1"/>
            </a:solidFill>
          </a:ln>
        </p:spPr>
        <p:txBody>
          <a:bodyPr wrap="square">
            <a:spAutoFit/>
          </a:bodyPr>
          <a:lstStyle>
            <a:defPPr>
              <a:defRPr lang="de-DE"/>
            </a:defPPr>
            <a:lvl1pPr algn="ctr">
              <a:defRPr sz="1200"/>
            </a:lvl1pPr>
          </a:lstStyle>
          <a:p>
            <a:r>
              <a:rPr lang="en-GB" noProof="0" dirty="0" err="1">
                <a:latin typeface="Courier New" panose="02070309020205020404" pitchFamily="49" charset="0"/>
                <a:ea typeface="Cambria Math" panose="02040503050406030204" pitchFamily="18" charset="0"/>
                <a:cs typeface="Courier New" panose="02070309020205020404" pitchFamily="49" charset="0"/>
              </a:rPr>
              <a:t>wilcox.test</a:t>
            </a:r>
            <a:r>
              <a:rPr lang="en-GB" noProof="0" dirty="0">
                <a:latin typeface="Courier New" panose="02070309020205020404" pitchFamily="49" charset="0"/>
                <a:ea typeface="Cambria Math" panose="02040503050406030204" pitchFamily="18" charset="0"/>
                <a:cs typeface="Courier New" panose="02070309020205020404" pitchFamily="49" charset="0"/>
              </a:rPr>
              <a:t>()</a:t>
            </a:r>
          </a:p>
        </p:txBody>
      </p:sp>
      <p:sp>
        <p:nvSpPr>
          <p:cNvPr id="27" name="Textfeld 26">
            <a:extLst>
              <a:ext uri="{FF2B5EF4-FFF2-40B4-BE49-F238E27FC236}">
                <a16:creationId xmlns:a16="http://schemas.microsoft.com/office/drawing/2014/main" id="{29562DD8-5B91-B580-6D06-CD446A5B2942}"/>
              </a:ext>
            </a:extLst>
          </p:cNvPr>
          <p:cNvSpPr txBox="1"/>
          <p:nvPr/>
        </p:nvSpPr>
        <p:spPr>
          <a:xfrm>
            <a:off x="5020273" y="4046999"/>
            <a:ext cx="2338435" cy="276999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w="12700">
            <a:solidFill>
              <a:schemeClr val="accent1">
                <a:lumMod val="40000"/>
                <a:lumOff val="60000"/>
              </a:schemeClr>
            </a:solidFill>
          </a:ln>
        </p:spPr>
        <p:txBody>
          <a:bodyPr wrap="square">
            <a:spAutoFit/>
          </a:bodyPr>
          <a:lstStyle>
            <a:defPPr>
              <a:defRPr lang="de-DE"/>
            </a:defPPr>
            <a:lvl1pPr algn="ctr">
              <a:defRPr sz="1200"/>
            </a:lvl1pPr>
          </a:lstStyle>
          <a:p>
            <a:r>
              <a:rPr lang="en-GB" noProof="0" dirty="0" err="1">
                <a:latin typeface="Courier New" panose="02070309020205020404" pitchFamily="49" charset="0"/>
                <a:ea typeface="Cambria Math" panose="02040503050406030204" pitchFamily="18" charset="0"/>
                <a:cs typeface="Courier New" panose="02070309020205020404" pitchFamily="49" charset="0"/>
              </a:rPr>
              <a:t>kruskal.test</a:t>
            </a:r>
            <a:r>
              <a:rPr lang="en-GB" noProof="0" dirty="0">
                <a:latin typeface="Courier New" panose="02070309020205020404" pitchFamily="49" charset="0"/>
                <a:ea typeface="Cambria Math" panose="02040503050406030204" pitchFamily="18" charset="0"/>
                <a:cs typeface="Courier New" panose="02070309020205020404" pitchFamily="49" charset="0"/>
              </a:rPr>
              <a:t>()</a:t>
            </a:r>
          </a:p>
        </p:txBody>
      </p:sp>
      <p:sp>
        <p:nvSpPr>
          <p:cNvPr id="31" name="Textfeld 30">
            <a:extLst>
              <a:ext uri="{FF2B5EF4-FFF2-40B4-BE49-F238E27FC236}">
                <a16:creationId xmlns:a16="http://schemas.microsoft.com/office/drawing/2014/main" id="{4365CC0D-D9F3-054E-B119-7A9177B31043}"/>
              </a:ext>
            </a:extLst>
          </p:cNvPr>
          <p:cNvSpPr txBox="1"/>
          <p:nvPr/>
        </p:nvSpPr>
        <p:spPr>
          <a:xfrm>
            <a:off x="7468977" y="4044465"/>
            <a:ext cx="2838737" cy="276999"/>
          </a:xfrm>
          <a:prstGeom prst="rect">
            <a:avLst/>
          </a:prstGeom>
          <a:solidFill>
            <a:schemeClr val="accent4">
              <a:alpha val="19758"/>
            </a:schemeClr>
          </a:solidFill>
          <a:ln w="12700">
            <a:solidFill>
              <a:schemeClr val="accent1">
                <a:lumMod val="40000"/>
                <a:lumOff val="60000"/>
              </a:schemeClr>
            </a:solidFill>
          </a:ln>
        </p:spPr>
        <p:txBody>
          <a:bodyPr wrap="square">
            <a:spAutoFit/>
          </a:bodyPr>
          <a:lstStyle>
            <a:defPPr>
              <a:defRPr lang="de-DE"/>
            </a:defPPr>
            <a:lvl1pPr algn="ctr">
              <a:defRPr sz="1200"/>
            </a:lvl1pPr>
          </a:lstStyle>
          <a:p>
            <a:r>
              <a:rPr lang="en-GB" noProof="0" dirty="0" err="1">
                <a:latin typeface="Courier New" panose="02070309020205020404" pitchFamily="49" charset="0"/>
                <a:ea typeface="Cambria Math" panose="02040503050406030204" pitchFamily="18" charset="0"/>
                <a:cs typeface="Courier New" panose="02070309020205020404" pitchFamily="49" charset="0"/>
              </a:rPr>
              <a:t>oneway.test</a:t>
            </a:r>
            <a:r>
              <a:rPr lang="en-GB" noProof="0" dirty="0">
                <a:latin typeface="Courier New" panose="02070309020205020404" pitchFamily="49" charset="0"/>
                <a:ea typeface="Cambria Math" panose="02040503050406030204" pitchFamily="18" charset="0"/>
                <a:cs typeface="Courier New" panose="02070309020205020404" pitchFamily="49" charset="0"/>
              </a:rPr>
              <a:t>()</a:t>
            </a:r>
          </a:p>
        </p:txBody>
      </p:sp>
      <p:sp>
        <p:nvSpPr>
          <p:cNvPr id="93" name="Textfeld 92">
            <a:extLst>
              <a:ext uri="{FF2B5EF4-FFF2-40B4-BE49-F238E27FC236}">
                <a16:creationId xmlns:a16="http://schemas.microsoft.com/office/drawing/2014/main" id="{7AE465F4-E6C9-5620-182D-8A6490DFF3E3}"/>
              </a:ext>
            </a:extLst>
          </p:cNvPr>
          <p:cNvSpPr txBox="1"/>
          <p:nvPr/>
        </p:nvSpPr>
        <p:spPr>
          <a:xfrm>
            <a:off x="7477869" y="4525790"/>
            <a:ext cx="2838737" cy="284869"/>
          </a:xfrm>
          <a:prstGeom prst="rect">
            <a:avLst/>
          </a:prstGeom>
          <a:solidFill>
            <a:schemeClr val="bg2">
              <a:lumMod val="90000"/>
            </a:schemeClr>
          </a:solidFill>
          <a:ln w="12700">
            <a:solidFill>
              <a:schemeClr val="accent1">
                <a:lumMod val="40000"/>
                <a:lumOff val="60000"/>
              </a:schemeClr>
            </a:solidFill>
          </a:ln>
        </p:spPr>
        <p:txBody>
          <a:bodyPr wrap="square">
            <a:spAutoFit/>
          </a:bodyPr>
          <a:lstStyle>
            <a:defPPr>
              <a:defRPr lang="de-DE"/>
            </a:defPPr>
            <a:lvl1pPr algn="ctr">
              <a:defRPr sz="1200"/>
            </a:lvl1pPr>
          </a:lstStyle>
          <a:p>
            <a:r>
              <a:rPr lang="en-GB" noProof="0" dirty="0" err="1">
                <a:latin typeface="Courier New" panose="02070309020205020404" pitchFamily="49" charset="0"/>
                <a:ea typeface="Cambria Math" panose="02040503050406030204" pitchFamily="18" charset="0"/>
                <a:cs typeface="Courier New" panose="02070309020205020404" pitchFamily="49" charset="0"/>
              </a:rPr>
              <a:t>games_Howell_test</a:t>
            </a:r>
            <a:r>
              <a:rPr lang="en-GB" noProof="0" dirty="0">
                <a:latin typeface="Courier New" panose="02070309020205020404" pitchFamily="49" charset="0"/>
                <a:ea typeface="Cambria Math" panose="02040503050406030204" pitchFamily="18" charset="0"/>
                <a:cs typeface="Courier New" panose="02070309020205020404" pitchFamily="49" charset="0"/>
              </a:rPr>
              <a:t>()</a:t>
            </a:r>
          </a:p>
        </p:txBody>
      </p:sp>
      <p:sp>
        <p:nvSpPr>
          <p:cNvPr id="94" name="Textfeld 93">
            <a:extLst>
              <a:ext uri="{FF2B5EF4-FFF2-40B4-BE49-F238E27FC236}">
                <a16:creationId xmlns:a16="http://schemas.microsoft.com/office/drawing/2014/main" id="{722C37AF-5D39-D4E3-4DF7-724638C4A986}"/>
              </a:ext>
            </a:extLst>
          </p:cNvPr>
          <p:cNvSpPr txBox="1"/>
          <p:nvPr/>
        </p:nvSpPr>
        <p:spPr>
          <a:xfrm>
            <a:off x="5020273" y="4525791"/>
            <a:ext cx="2341205" cy="276999"/>
          </a:xfrm>
          <a:prstGeom prst="rect">
            <a:avLst/>
          </a:prstGeom>
          <a:solidFill>
            <a:schemeClr val="bg2">
              <a:lumMod val="90000"/>
            </a:schemeClr>
          </a:solidFill>
          <a:ln w="12700">
            <a:solidFill>
              <a:schemeClr val="accent1">
                <a:lumMod val="40000"/>
                <a:lumOff val="60000"/>
              </a:schemeClr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en-GB" sz="1200" noProof="0" dirty="0" err="1">
                <a:latin typeface="Courier New" panose="02070309020205020404" pitchFamily="49" charset="0"/>
                <a:ea typeface="Cambria Math" panose="02040503050406030204" pitchFamily="18" charset="0"/>
                <a:cs typeface="Courier New" panose="02070309020205020404" pitchFamily="49" charset="0"/>
              </a:rPr>
              <a:t>pairwise.wilcox.test</a:t>
            </a:r>
            <a:r>
              <a:rPr lang="en-GB" sz="1200" noProof="0" dirty="0">
                <a:latin typeface="Courier New" panose="02070309020205020404" pitchFamily="49" charset="0"/>
                <a:ea typeface="Cambria Math" panose="02040503050406030204" pitchFamily="18" charset="0"/>
                <a:cs typeface="Courier New" panose="02070309020205020404" pitchFamily="49" charset="0"/>
              </a:rPr>
              <a:t>()</a:t>
            </a:r>
          </a:p>
        </p:txBody>
      </p:sp>
      <p:cxnSp>
        <p:nvCxnSpPr>
          <p:cNvPr id="2" name="Gerade Verbindung mit Pfeil 1">
            <a:extLst>
              <a:ext uri="{FF2B5EF4-FFF2-40B4-BE49-F238E27FC236}">
                <a16:creationId xmlns:a16="http://schemas.microsoft.com/office/drawing/2014/main" id="{C48AB332-AD10-646B-37FC-195A8911A112}"/>
              </a:ext>
            </a:extLst>
          </p:cNvPr>
          <p:cNvCxnSpPr>
            <a:cxnSpLocks/>
            <a:stCxn id="13" idx="2"/>
          </p:cNvCxnSpPr>
          <p:nvPr/>
        </p:nvCxnSpPr>
        <p:spPr>
          <a:xfrm>
            <a:off x="4041953" y="1998122"/>
            <a:ext cx="569" cy="2029542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" name="Textfeld 49">
            <a:extLst>
              <a:ext uri="{FF2B5EF4-FFF2-40B4-BE49-F238E27FC236}">
                <a16:creationId xmlns:a16="http://schemas.microsoft.com/office/drawing/2014/main" id="{7A5FA550-8C88-DE53-E81E-F6228AF67ED5}"/>
              </a:ext>
            </a:extLst>
          </p:cNvPr>
          <p:cNvSpPr txBox="1"/>
          <p:nvPr/>
        </p:nvSpPr>
        <p:spPr>
          <a:xfrm>
            <a:off x="1767137" y="4057127"/>
            <a:ext cx="3023737" cy="276999"/>
          </a:xfrm>
          <a:prstGeom prst="rect">
            <a:avLst/>
          </a:prstGeom>
          <a:solidFill>
            <a:schemeClr val="accent4">
              <a:alpha val="19758"/>
            </a:schemeClr>
          </a:solidFill>
          <a:ln w="12700"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en-GB" sz="1200" noProof="0" dirty="0" err="1">
                <a:latin typeface="Courier New" panose="02070309020205020404" pitchFamily="49" charset="0"/>
                <a:ea typeface="Cambria Math" panose="02040503050406030204" pitchFamily="18" charset="0"/>
                <a:cs typeface="Courier New" panose="02070309020205020404" pitchFamily="49" charset="0"/>
              </a:rPr>
              <a:t>t.test</a:t>
            </a:r>
            <a:r>
              <a:rPr lang="en-GB" sz="1200" noProof="0" dirty="0">
                <a:latin typeface="Courier New" panose="02070309020205020404" pitchFamily="49" charset="0"/>
                <a:ea typeface="Cambria Math" panose="02040503050406030204" pitchFamily="18" charset="0"/>
                <a:cs typeface="Courier New" panose="02070309020205020404" pitchFamily="49" charset="0"/>
              </a:rPr>
              <a:t>()</a:t>
            </a:r>
          </a:p>
        </p:txBody>
      </p:sp>
      <p:cxnSp>
        <p:nvCxnSpPr>
          <p:cNvPr id="51" name="Gerade Verbindung mit Pfeil 50">
            <a:extLst>
              <a:ext uri="{FF2B5EF4-FFF2-40B4-BE49-F238E27FC236}">
                <a16:creationId xmlns:a16="http://schemas.microsoft.com/office/drawing/2014/main" id="{3AD4FCD6-ACCA-4CF3-E08A-A21680CF42C8}"/>
              </a:ext>
            </a:extLst>
          </p:cNvPr>
          <p:cNvCxnSpPr>
            <a:cxnSpLocks/>
            <a:stCxn id="22" idx="2"/>
            <a:endCxn id="23" idx="0"/>
          </p:cNvCxnSpPr>
          <p:nvPr/>
        </p:nvCxnSpPr>
        <p:spPr>
          <a:xfrm>
            <a:off x="991610" y="3465445"/>
            <a:ext cx="6897" cy="57902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69" name="Gruppieren 68">
            <a:extLst>
              <a:ext uri="{FF2B5EF4-FFF2-40B4-BE49-F238E27FC236}">
                <a16:creationId xmlns:a16="http://schemas.microsoft.com/office/drawing/2014/main" id="{37AD9ADB-0618-8FE5-FB54-9963DAAB0C99}"/>
              </a:ext>
            </a:extLst>
          </p:cNvPr>
          <p:cNvGrpSpPr/>
          <p:nvPr/>
        </p:nvGrpSpPr>
        <p:grpSpPr>
          <a:xfrm>
            <a:off x="824372" y="2492447"/>
            <a:ext cx="1552397" cy="469922"/>
            <a:chOff x="2719572" y="1536945"/>
            <a:chExt cx="1289076" cy="305400"/>
          </a:xfrm>
        </p:grpSpPr>
        <p:cxnSp>
          <p:nvCxnSpPr>
            <p:cNvPr id="70" name="Gerade Verbindung mit Pfeil 69">
              <a:extLst>
                <a:ext uri="{FF2B5EF4-FFF2-40B4-BE49-F238E27FC236}">
                  <a16:creationId xmlns:a16="http://schemas.microsoft.com/office/drawing/2014/main" id="{1832695B-17ED-2F41-E277-6A88F7238FA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719572" y="1536945"/>
              <a:ext cx="639486" cy="30540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1" name="Gerade Verbindung mit Pfeil 70">
              <a:extLst>
                <a:ext uri="{FF2B5EF4-FFF2-40B4-BE49-F238E27FC236}">
                  <a16:creationId xmlns:a16="http://schemas.microsoft.com/office/drawing/2014/main" id="{C57DBAF4-2D85-94F5-6209-C96249267D6F}"/>
                </a:ext>
              </a:extLst>
            </p:cNvPr>
            <p:cNvCxnSpPr>
              <a:cxnSpLocks/>
            </p:cNvCxnSpPr>
            <p:nvPr/>
          </p:nvCxnSpPr>
          <p:spPr>
            <a:xfrm>
              <a:off x="3359058" y="1536945"/>
              <a:ext cx="649590" cy="30540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82" name="Textfeld 81">
                <a:extLst>
                  <a:ext uri="{FF2B5EF4-FFF2-40B4-BE49-F238E27FC236}">
                    <a16:creationId xmlns:a16="http://schemas.microsoft.com/office/drawing/2014/main" id="{E875302A-562B-43A2-F40E-4CCA3BC7D853}"/>
                  </a:ext>
                </a:extLst>
              </p:cNvPr>
              <p:cNvSpPr txBox="1"/>
              <p:nvPr/>
            </p:nvSpPr>
            <p:spPr>
              <a:xfrm>
                <a:off x="5130837" y="3111855"/>
                <a:ext cx="2338425" cy="276999"/>
              </a:xfrm>
              <a:prstGeom prst="rect">
                <a:avLst/>
              </a:prstGeom>
              <a:noFill/>
              <a:ln w="12700">
                <a:solidFill>
                  <a:schemeClr val="accent1">
                    <a:lumMod val="40000"/>
                    <a:lumOff val="60000"/>
                  </a:schemeClr>
                </a:solidFill>
              </a:ln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GB" sz="1200" dirty="0">
                    <a:ea typeface="Cambria Math" panose="02040503050406030204" pitchFamily="18" charset="0"/>
                  </a:rPr>
                  <a:t>At least one </a:t>
                </a:r>
                <a14:m>
                  <m:oMath xmlns:m="http://schemas.openxmlformats.org/officeDocument/2006/math">
                    <m:r>
                      <a:rPr lang="en-GB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𝑝</m:t>
                    </m:r>
                    <m:r>
                      <a:rPr lang="en-US" sz="12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_</m:t>
                    </m:r>
                    <m:r>
                      <a:rPr lang="en-US" sz="12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𝑖</m:t>
                    </m:r>
                    <m:r>
                      <a:rPr lang="en-GB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&lt;</m:t>
                    </m:r>
                    <m:r>
                      <a:rPr lang="en-GB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𝛼</m:t>
                    </m:r>
                    <m:r>
                      <a:rPr lang="en-US" sz="12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/</m:t>
                    </m:r>
                    <m:r>
                      <a:rPr lang="en-US" sz="12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𝑁</m:t>
                    </m:r>
                  </m:oMath>
                </a14:m>
                <a:endParaRPr lang="en-GB" sz="1200" noProof="0" dirty="0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endParaRPr>
              </a:p>
            </p:txBody>
          </p:sp>
        </mc:Choice>
        <mc:Fallback xmlns="">
          <p:sp>
            <p:nvSpPr>
              <p:cNvPr id="82" name="Textfeld 81">
                <a:extLst>
                  <a:ext uri="{FF2B5EF4-FFF2-40B4-BE49-F238E27FC236}">
                    <a16:creationId xmlns:a16="http://schemas.microsoft.com/office/drawing/2014/main" id="{E875302A-562B-43A2-F40E-4CCA3BC7D85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30837" y="3111855"/>
                <a:ext cx="2338425" cy="276999"/>
              </a:xfrm>
              <a:prstGeom prst="rect">
                <a:avLst/>
              </a:prstGeom>
              <a:blipFill>
                <a:blip r:embed="rId10"/>
                <a:stretch>
                  <a:fillRect b="-8333"/>
                </a:stretch>
              </a:blipFill>
              <a:ln w="12700">
                <a:solidFill>
                  <a:schemeClr val="accent1">
                    <a:lumMod val="40000"/>
                    <a:lumOff val="60000"/>
                  </a:schemeClr>
                </a:solidFill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8" name="Textfeld 87">
                <a:extLst>
                  <a:ext uri="{FF2B5EF4-FFF2-40B4-BE49-F238E27FC236}">
                    <a16:creationId xmlns:a16="http://schemas.microsoft.com/office/drawing/2014/main" id="{8658379F-9BD7-A887-DE83-321D8013FF98}"/>
                  </a:ext>
                </a:extLst>
              </p:cNvPr>
              <p:cNvSpPr txBox="1"/>
              <p:nvPr/>
            </p:nvSpPr>
            <p:spPr>
              <a:xfrm>
                <a:off x="7625917" y="3100255"/>
                <a:ext cx="1411622" cy="276999"/>
              </a:xfrm>
              <a:prstGeom prst="rect">
                <a:avLst/>
              </a:prstGeom>
              <a:noFill/>
              <a:ln w="12700">
                <a:solidFill>
                  <a:schemeClr val="accent1">
                    <a:lumMod val="40000"/>
                    <a:lumOff val="60000"/>
                  </a:schemeClr>
                </a:solidFill>
              </a:ln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GB" sz="1200" b="0" noProof="0" dirty="0">
                    <a:ea typeface="Cambria Math" panose="02040503050406030204" pitchFamily="18" charset="0"/>
                  </a:rPr>
                  <a:t>All </a:t>
                </a:r>
                <a14:m>
                  <m:oMath xmlns:m="http://schemas.openxmlformats.org/officeDocument/2006/math">
                    <m:r>
                      <a:rPr lang="en-GB" sz="1200" b="0" i="1" noProof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𝑝</m:t>
                    </m:r>
                    <m:r>
                      <a:rPr lang="en-US" sz="1200" b="0" i="1" noProof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_</m:t>
                    </m:r>
                    <m:r>
                      <a:rPr lang="en-US" sz="1200" b="0" i="1" noProof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𝑖</m:t>
                    </m:r>
                    <m:r>
                      <a:rPr lang="en-GB" sz="1200" b="0" i="1" noProof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≥</m:t>
                    </m:r>
                    <m:r>
                      <a:rPr lang="en-GB" sz="1200" b="0" i="1" noProof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𝛼</m:t>
                    </m:r>
                    <m:r>
                      <a:rPr lang="en-US" sz="1200" b="0" i="1" noProof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/</m:t>
                    </m:r>
                    <m:r>
                      <a:rPr lang="en-US" sz="1200" b="0" i="1" noProof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𝑁</m:t>
                    </m:r>
                  </m:oMath>
                </a14:m>
                <a:endParaRPr lang="en-GB" sz="1200" noProof="0" dirty="0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endParaRPr>
              </a:p>
            </p:txBody>
          </p:sp>
        </mc:Choice>
        <mc:Fallback xmlns="">
          <p:sp>
            <p:nvSpPr>
              <p:cNvPr id="88" name="Textfeld 87">
                <a:extLst>
                  <a:ext uri="{FF2B5EF4-FFF2-40B4-BE49-F238E27FC236}">
                    <a16:creationId xmlns:a16="http://schemas.microsoft.com/office/drawing/2014/main" id="{8658379F-9BD7-A887-DE83-321D8013FF9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25917" y="3100255"/>
                <a:ext cx="1411622" cy="276999"/>
              </a:xfrm>
              <a:prstGeom prst="rect">
                <a:avLst/>
              </a:prstGeom>
              <a:blipFill>
                <a:blip r:embed="rId11"/>
                <a:stretch>
                  <a:fillRect b="-8333"/>
                </a:stretch>
              </a:blipFill>
              <a:ln w="12700">
                <a:solidFill>
                  <a:schemeClr val="accent1">
                    <a:lumMod val="40000"/>
                    <a:lumOff val="60000"/>
                  </a:schemeClr>
                </a:solidFill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Textfeld 3">
            <a:extLst>
              <a:ext uri="{FF2B5EF4-FFF2-40B4-BE49-F238E27FC236}">
                <a16:creationId xmlns:a16="http://schemas.microsoft.com/office/drawing/2014/main" id="{A16D08FD-1F63-6A88-D6DC-2703D4FC218A}"/>
              </a:ext>
            </a:extLst>
          </p:cNvPr>
          <p:cNvSpPr txBox="1"/>
          <p:nvPr/>
        </p:nvSpPr>
        <p:spPr>
          <a:xfrm>
            <a:off x="10397993" y="4529346"/>
            <a:ext cx="1618426" cy="277200"/>
          </a:xfrm>
          <a:prstGeom prst="rect">
            <a:avLst/>
          </a:prstGeom>
          <a:solidFill>
            <a:schemeClr val="bg2">
              <a:lumMod val="90000"/>
            </a:schemeClr>
          </a:solidFill>
          <a:ln w="12700">
            <a:solidFill>
              <a:schemeClr val="bg2">
                <a:lumMod val="90000"/>
              </a:schemeClr>
            </a:solidFill>
          </a:ln>
        </p:spPr>
        <p:txBody>
          <a:bodyPr wrap="square">
            <a:spAutoFit/>
          </a:bodyPr>
          <a:lstStyle>
            <a:defPPr>
              <a:defRPr lang="de-DE"/>
            </a:defPPr>
            <a:lvl1pPr algn="ctr">
              <a:defRPr sz="1200"/>
            </a:lvl1pPr>
          </a:lstStyle>
          <a:p>
            <a:r>
              <a:rPr lang="en-GB" noProof="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Post-hoc test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feld 10">
                <a:extLst>
                  <a:ext uri="{FF2B5EF4-FFF2-40B4-BE49-F238E27FC236}">
                    <a16:creationId xmlns:a16="http://schemas.microsoft.com/office/drawing/2014/main" id="{29F03F24-D3C9-7AF9-BEE5-3CD5704A8400}"/>
                  </a:ext>
                </a:extLst>
              </p:cNvPr>
              <p:cNvSpPr txBox="1"/>
              <p:nvPr/>
            </p:nvSpPr>
            <p:spPr>
              <a:xfrm>
                <a:off x="2691659" y="5287203"/>
                <a:ext cx="2082384" cy="461665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GB" sz="1200" i="1" noProof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𝛼</m:t>
                    </m:r>
                    <m:r>
                      <a:rPr lang="en-GB" sz="1200" b="0" i="1" noProof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=1−</m:t>
                    </m:r>
                  </m:oMath>
                </a14:m>
                <a:r>
                  <a:rPr lang="en-GB" sz="1200" noProof="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 </a:t>
                </a:r>
                <a:r>
                  <a:rPr lang="en-GB" sz="1200" noProof="0" dirty="0" err="1">
                    <a:latin typeface="Courier New" panose="02070309020205020404" pitchFamily="49" charset="0"/>
                    <a:ea typeface="CMU Bright Roman" panose="02000603000000000000" pitchFamily="2" charset="0"/>
                    <a:cs typeface="Courier New" panose="02070309020205020404" pitchFamily="49" charset="0"/>
                  </a:rPr>
                  <a:t>conf.level</a:t>
                </a:r>
                <a:r>
                  <a:rPr lang="en-GB" sz="800" noProof="0" dirty="0">
                    <a:latin typeface="CMU Bright Roman" panose="02000603000000000000" pitchFamily="2" charset="0"/>
                    <a:ea typeface="CMU Bright Roman" panose="02000603000000000000" pitchFamily="2" charset="0"/>
                    <a:cs typeface="CMU Bright Roman" panose="02000603000000000000" pitchFamily="2" charset="0"/>
                  </a:rPr>
                  <a:t> 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GB" sz="120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120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GB" sz="120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sz="1200" b="0" i="0" noProof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en-GB" sz="1200" noProof="0" dirty="0"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GB" sz="1200" i="1" noProof="0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𝑝</m:t>
                    </m:r>
                  </m:oMath>
                </a14:m>
                <a:r>
                  <a:rPr lang="en-GB" sz="1200" noProof="0" dirty="0">
                    <a:ea typeface="Cambria Math" panose="02040503050406030204" pitchFamily="18" charset="0"/>
                  </a:rPr>
                  <a:t>-value of level </a:t>
                </a:r>
                <a14:m>
                  <m:oMath xmlns:m="http://schemas.openxmlformats.org/officeDocument/2006/math">
                    <m:r>
                      <a:rPr lang="en-GB" sz="1200" i="1" noProof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𝑖</m:t>
                    </m:r>
                    <m:r>
                      <a:rPr lang="en-GB" sz="1200" i="1" noProof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</m:t>
                    </m:r>
                  </m:oMath>
                </a14:m>
                <a:r>
                  <a:rPr lang="en-GB" sz="1200" noProof="0" dirty="0"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GB" sz="1200" i="1" noProof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𝑖</m:t>
                    </m:r>
                    <m:r>
                      <a:rPr lang="en-GB" sz="1200" i="1" noProof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=1,2</m:t>
                    </m:r>
                  </m:oMath>
                </a14:m>
                <a:endParaRPr lang="en-GB" sz="1200" noProof="0" dirty="0">
                  <a:latin typeface="CMU Bright Roman" panose="02000603000000000000" pitchFamily="2" charset="0"/>
                  <a:ea typeface="CMU Bright Roman" panose="02000603000000000000" pitchFamily="2" charset="0"/>
                  <a:cs typeface="CMU Bright Roman" panose="02000603000000000000" pitchFamily="2" charset="0"/>
                </a:endParaRPr>
              </a:p>
            </p:txBody>
          </p:sp>
        </mc:Choice>
        <mc:Fallback xmlns="">
          <p:sp>
            <p:nvSpPr>
              <p:cNvPr id="11" name="Textfeld 10">
                <a:extLst>
                  <a:ext uri="{FF2B5EF4-FFF2-40B4-BE49-F238E27FC236}">
                    <a16:creationId xmlns:a16="http://schemas.microsoft.com/office/drawing/2014/main" id="{29F03F24-D3C9-7AF9-BEE5-3CD5704A840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91659" y="5287203"/>
                <a:ext cx="2082384" cy="461665"/>
              </a:xfrm>
              <a:prstGeom prst="rect">
                <a:avLst/>
              </a:prstGeom>
              <a:blipFill>
                <a:blip r:embed="rId12"/>
                <a:stretch>
                  <a:fillRect b="-10811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9" name="Textfeld 148">
            <a:extLst>
              <a:ext uri="{FF2B5EF4-FFF2-40B4-BE49-F238E27FC236}">
                <a16:creationId xmlns:a16="http://schemas.microsoft.com/office/drawing/2014/main" id="{3A018E01-E71A-F10A-A26B-1FDF73433865}"/>
              </a:ext>
            </a:extLst>
          </p:cNvPr>
          <p:cNvSpPr txBox="1"/>
          <p:nvPr/>
        </p:nvSpPr>
        <p:spPr>
          <a:xfrm>
            <a:off x="10398327" y="4027664"/>
            <a:ext cx="1618427" cy="276999"/>
          </a:xfrm>
          <a:prstGeom prst="rect">
            <a:avLst/>
          </a:prstGeom>
          <a:noFill/>
          <a:ln w="12700">
            <a:solidFill>
              <a:schemeClr val="bg2">
                <a:lumMod val="90000"/>
              </a:schemeClr>
            </a:solidFill>
          </a:ln>
        </p:spPr>
        <p:txBody>
          <a:bodyPr wrap="square">
            <a:spAutoFit/>
          </a:bodyPr>
          <a:lstStyle>
            <a:defPPr>
              <a:defRPr lang="de-DE"/>
            </a:defPPr>
            <a:lvl1pPr algn="ctr">
              <a:defRPr sz="1200"/>
            </a:lvl1pPr>
          </a:lstStyle>
          <a:p>
            <a:r>
              <a:rPr lang="en-GB" noProof="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Final test selected </a:t>
            </a:r>
          </a:p>
        </p:txBody>
      </p:sp>
      <p:cxnSp>
        <p:nvCxnSpPr>
          <p:cNvPr id="182" name="Gewinkelte Verbindung 181">
            <a:extLst>
              <a:ext uri="{FF2B5EF4-FFF2-40B4-BE49-F238E27FC236}">
                <a16:creationId xmlns:a16="http://schemas.microsoft.com/office/drawing/2014/main" id="{98E98D52-ED39-9BEE-41A2-849302851E53}"/>
              </a:ext>
            </a:extLst>
          </p:cNvPr>
          <p:cNvCxnSpPr>
            <a:cxnSpLocks/>
            <a:stCxn id="7" idx="1"/>
            <a:endCxn id="8" idx="0"/>
          </p:cNvCxnSpPr>
          <p:nvPr/>
        </p:nvCxnSpPr>
        <p:spPr>
          <a:xfrm rot="10800000" flipV="1">
            <a:off x="2519994" y="499147"/>
            <a:ext cx="1462504" cy="333639"/>
          </a:xfrm>
          <a:prstGeom prst="bentConnector2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5" name="Gewinkelte Verbindung 184">
            <a:extLst>
              <a:ext uri="{FF2B5EF4-FFF2-40B4-BE49-F238E27FC236}">
                <a16:creationId xmlns:a16="http://schemas.microsoft.com/office/drawing/2014/main" id="{35BB8FBE-FDB5-7798-55A3-64024B91233D}"/>
              </a:ext>
            </a:extLst>
          </p:cNvPr>
          <p:cNvCxnSpPr>
            <a:cxnSpLocks/>
            <a:stCxn id="7" idx="3"/>
          </p:cNvCxnSpPr>
          <p:nvPr/>
        </p:nvCxnSpPr>
        <p:spPr>
          <a:xfrm>
            <a:off x="8287643" y="499148"/>
            <a:ext cx="1512594" cy="334194"/>
          </a:xfrm>
          <a:prstGeom prst="bentConnector3">
            <a:avLst>
              <a:gd name="adj1" fmla="val 101482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0" name="Gerade Verbindung mit Pfeil 319">
            <a:extLst>
              <a:ext uri="{FF2B5EF4-FFF2-40B4-BE49-F238E27FC236}">
                <a16:creationId xmlns:a16="http://schemas.microsoft.com/office/drawing/2014/main" id="{FD309C72-597F-CFE7-2D6B-9AC0B859CD12}"/>
              </a:ext>
            </a:extLst>
          </p:cNvPr>
          <p:cNvCxnSpPr>
            <a:cxnSpLocks/>
            <a:endCxn id="27" idx="0"/>
          </p:cNvCxnSpPr>
          <p:nvPr/>
        </p:nvCxnSpPr>
        <p:spPr>
          <a:xfrm>
            <a:off x="6189491" y="3402561"/>
            <a:ext cx="0" cy="64443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3" name="Gerade Verbindung mit Pfeil 362">
            <a:extLst>
              <a:ext uri="{FF2B5EF4-FFF2-40B4-BE49-F238E27FC236}">
                <a16:creationId xmlns:a16="http://schemas.microsoft.com/office/drawing/2014/main" id="{7663EE33-14A5-5676-6204-22668BC179BC}"/>
              </a:ext>
            </a:extLst>
          </p:cNvPr>
          <p:cNvCxnSpPr>
            <a:cxnSpLocks/>
            <a:stCxn id="19" idx="2"/>
          </p:cNvCxnSpPr>
          <p:nvPr/>
        </p:nvCxnSpPr>
        <p:spPr>
          <a:xfrm>
            <a:off x="2502316" y="3465445"/>
            <a:ext cx="0" cy="562219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extfeld 4">
            <a:extLst>
              <a:ext uri="{FF2B5EF4-FFF2-40B4-BE49-F238E27FC236}">
                <a16:creationId xmlns:a16="http://schemas.microsoft.com/office/drawing/2014/main" id="{2D8F2B97-EA97-925C-887E-1FC09F65DC30}"/>
              </a:ext>
            </a:extLst>
          </p:cNvPr>
          <p:cNvSpPr txBox="1"/>
          <p:nvPr/>
        </p:nvSpPr>
        <p:spPr>
          <a:xfrm>
            <a:off x="332044" y="5467037"/>
            <a:ext cx="1868481" cy="281831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w="12700">
            <a:noFill/>
          </a:ln>
        </p:spPr>
        <p:txBody>
          <a:bodyPr wrap="square">
            <a:spAutoFit/>
          </a:bodyPr>
          <a:lstStyle>
            <a:defPPr>
              <a:defRPr lang="de-DE"/>
            </a:defPPr>
            <a:lvl1pPr algn="ctr">
              <a:defRPr sz="1200"/>
            </a:lvl1pPr>
          </a:lstStyle>
          <a:p>
            <a:r>
              <a:rPr lang="en-GB" noProof="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non-parametric tests </a:t>
            </a:r>
          </a:p>
        </p:txBody>
      </p:sp>
      <p:sp>
        <p:nvSpPr>
          <p:cNvPr id="148" name="Textfeld 147">
            <a:extLst>
              <a:ext uri="{FF2B5EF4-FFF2-40B4-BE49-F238E27FC236}">
                <a16:creationId xmlns:a16="http://schemas.microsoft.com/office/drawing/2014/main" id="{2EEF19AC-21E5-1192-ADE4-80B869A59D81}"/>
              </a:ext>
            </a:extLst>
          </p:cNvPr>
          <p:cNvSpPr txBox="1"/>
          <p:nvPr/>
        </p:nvSpPr>
        <p:spPr>
          <a:xfrm>
            <a:off x="305981" y="5126561"/>
            <a:ext cx="1859022" cy="281831"/>
          </a:xfrm>
          <a:prstGeom prst="rect">
            <a:avLst/>
          </a:prstGeom>
          <a:solidFill>
            <a:schemeClr val="accent4">
              <a:alpha val="19758"/>
            </a:schemeClr>
          </a:solidFill>
          <a:ln w="12700">
            <a:noFill/>
          </a:ln>
        </p:spPr>
        <p:txBody>
          <a:bodyPr wrap="square">
            <a:spAutoFit/>
          </a:bodyPr>
          <a:lstStyle/>
          <a:p>
            <a:pPr algn="ctr"/>
            <a:r>
              <a:rPr lang="en-GB" sz="1200" noProof="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parametric tests</a:t>
            </a:r>
          </a:p>
        </p:txBody>
      </p:sp>
      <p:sp>
        <p:nvSpPr>
          <p:cNvPr id="477" name="Textfeld 476">
            <a:extLst>
              <a:ext uri="{FF2B5EF4-FFF2-40B4-BE49-F238E27FC236}">
                <a16:creationId xmlns:a16="http://schemas.microsoft.com/office/drawing/2014/main" id="{678BD0AD-217C-1EEE-BB3E-63F63BCBAFE0}"/>
              </a:ext>
            </a:extLst>
          </p:cNvPr>
          <p:cNvSpPr txBox="1"/>
          <p:nvPr/>
        </p:nvSpPr>
        <p:spPr>
          <a:xfrm>
            <a:off x="306189" y="4866743"/>
            <a:ext cx="1091245" cy="281831"/>
          </a:xfrm>
          <a:prstGeom prst="rect">
            <a:avLst/>
          </a:prstGeom>
          <a:noFill/>
          <a:ln w="12700">
            <a:noFill/>
          </a:ln>
        </p:spPr>
        <p:txBody>
          <a:bodyPr wrap="square">
            <a:spAutoFit/>
          </a:bodyPr>
          <a:lstStyle>
            <a:defPPr>
              <a:defRPr lang="de-DE"/>
            </a:defPPr>
            <a:lvl1pPr algn="ctr">
              <a:defRPr sz="1200"/>
            </a:lvl1pPr>
          </a:lstStyle>
          <a:p>
            <a:pPr algn="l"/>
            <a:r>
              <a:rPr lang="en-GB" noProof="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Colour code: </a:t>
            </a:r>
          </a:p>
        </p:txBody>
      </p:sp>
      <p:grpSp>
        <p:nvGrpSpPr>
          <p:cNvPr id="491" name="Gruppieren 490">
            <a:extLst>
              <a:ext uri="{FF2B5EF4-FFF2-40B4-BE49-F238E27FC236}">
                <a16:creationId xmlns:a16="http://schemas.microsoft.com/office/drawing/2014/main" id="{1B2CA7A9-4E62-B134-9F96-B0EA5C9F537D}"/>
              </a:ext>
            </a:extLst>
          </p:cNvPr>
          <p:cNvGrpSpPr/>
          <p:nvPr/>
        </p:nvGrpSpPr>
        <p:grpSpPr>
          <a:xfrm>
            <a:off x="6802280" y="1166981"/>
            <a:ext cx="1785240" cy="542165"/>
            <a:chOff x="2719572" y="1536945"/>
            <a:chExt cx="1289076" cy="305400"/>
          </a:xfrm>
        </p:grpSpPr>
        <p:cxnSp>
          <p:nvCxnSpPr>
            <p:cNvPr id="492" name="Gerade Verbindung mit Pfeil 491">
              <a:extLst>
                <a:ext uri="{FF2B5EF4-FFF2-40B4-BE49-F238E27FC236}">
                  <a16:creationId xmlns:a16="http://schemas.microsoft.com/office/drawing/2014/main" id="{7E6F4BE6-FC4B-0F45-EC95-53F3587B096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719572" y="1536945"/>
              <a:ext cx="639486" cy="30540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3" name="Gerade Verbindung mit Pfeil 492">
              <a:extLst>
                <a:ext uri="{FF2B5EF4-FFF2-40B4-BE49-F238E27FC236}">
                  <a16:creationId xmlns:a16="http://schemas.microsoft.com/office/drawing/2014/main" id="{B1ACE65E-98A2-4899-11EF-4D3CB177061A}"/>
                </a:ext>
              </a:extLst>
            </p:cNvPr>
            <p:cNvCxnSpPr>
              <a:cxnSpLocks/>
            </p:cNvCxnSpPr>
            <p:nvPr/>
          </p:nvCxnSpPr>
          <p:spPr>
            <a:xfrm>
              <a:off x="3359058" y="1536945"/>
              <a:ext cx="649590" cy="30540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466" name="Gerade Verbindung mit Pfeil 465">
            <a:extLst>
              <a:ext uri="{FF2B5EF4-FFF2-40B4-BE49-F238E27FC236}">
                <a16:creationId xmlns:a16="http://schemas.microsoft.com/office/drawing/2014/main" id="{E5BE10F8-D353-070D-4B26-E8587AC81971}"/>
              </a:ext>
            </a:extLst>
          </p:cNvPr>
          <p:cNvCxnSpPr>
            <a:cxnSpLocks/>
          </p:cNvCxnSpPr>
          <p:nvPr/>
        </p:nvCxnSpPr>
        <p:spPr>
          <a:xfrm>
            <a:off x="8331728" y="4332738"/>
            <a:ext cx="0" cy="193052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0" name="Gerade Verbindung mit Pfeil 469">
            <a:extLst>
              <a:ext uri="{FF2B5EF4-FFF2-40B4-BE49-F238E27FC236}">
                <a16:creationId xmlns:a16="http://schemas.microsoft.com/office/drawing/2014/main" id="{38B14153-7822-667B-84E7-981829D94400}"/>
              </a:ext>
            </a:extLst>
          </p:cNvPr>
          <p:cNvCxnSpPr>
            <a:cxnSpLocks/>
            <a:stCxn id="27" idx="2"/>
            <a:endCxn id="94" idx="0"/>
          </p:cNvCxnSpPr>
          <p:nvPr/>
        </p:nvCxnSpPr>
        <p:spPr>
          <a:xfrm>
            <a:off x="6189491" y="4323998"/>
            <a:ext cx="1385" cy="201793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6" name="Gerade Verbindung mit Pfeil 495">
            <a:extLst>
              <a:ext uri="{FF2B5EF4-FFF2-40B4-BE49-F238E27FC236}">
                <a16:creationId xmlns:a16="http://schemas.microsoft.com/office/drawing/2014/main" id="{79866395-9E06-FF38-9E08-CC2CD59AC449}"/>
              </a:ext>
            </a:extLst>
          </p:cNvPr>
          <p:cNvCxnSpPr>
            <a:cxnSpLocks/>
          </p:cNvCxnSpPr>
          <p:nvPr/>
        </p:nvCxnSpPr>
        <p:spPr>
          <a:xfrm flipH="1">
            <a:off x="8331728" y="3386963"/>
            <a:ext cx="4015" cy="640701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8" name="Gerade Verbindung mit Pfeil 77">
            <a:extLst>
              <a:ext uri="{FF2B5EF4-FFF2-40B4-BE49-F238E27FC236}">
                <a16:creationId xmlns:a16="http://schemas.microsoft.com/office/drawing/2014/main" id="{4235DD6A-5087-7B0B-94BB-14CDF35D8D0B}"/>
              </a:ext>
            </a:extLst>
          </p:cNvPr>
          <p:cNvCxnSpPr>
            <a:cxnSpLocks/>
          </p:cNvCxnSpPr>
          <p:nvPr/>
        </p:nvCxnSpPr>
        <p:spPr>
          <a:xfrm flipH="1">
            <a:off x="1572292" y="1996567"/>
            <a:ext cx="4391" cy="180489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9" name="Rechteck 78">
            <a:extLst>
              <a:ext uri="{FF2B5EF4-FFF2-40B4-BE49-F238E27FC236}">
                <a16:creationId xmlns:a16="http://schemas.microsoft.com/office/drawing/2014/main" id="{B8F91C23-B2FF-4723-737A-DB33BFF047BC}"/>
              </a:ext>
            </a:extLst>
          </p:cNvPr>
          <p:cNvSpPr/>
          <p:nvPr/>
        </p:nvSpPr>
        <p:spPr>
          <a:xfrm>
            <a:off x="305981" y="4815985"/>
            <a:ext cx="4524425" cy="999264"/>
          </a:xfrm>
          <a:prstGeom prst="rect">
            <a:avLst/>
          </a:prstGeom>
          <a:noFill/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grpSp>
        <p:nvGrpSpPr>
          <p:cNvPr id="17" name="Gruppieren 16">
            <a:extLst>
              <a:ext uri="{FF2B5EF4-FFF2-40B4-BE49-F238E27FC236}">
                <a16:creationId xmlns:a16="http://schemas.microsoft.com/office/drawing/2014/main" id="{DC4F6A68-EE2E-81D3-AA01-DA4F47AE961C}"/>
              </a:ext>
            </a:extLst>
          </p:cNvPr>
          <p:cNvGrpSpPr/>
          <p:nvPr/>
        </p:nvGrpSpPr>
        <p:grpSpPr>
          <a:xfrm>
            <a:off x="6521309" y="2619059"/>
            <a:ext cx="1552397" cy="469922"/>
            <a:chOff x="2719572" y="1536945"/>
            <a:chExt cx="1289076" cy="305400"/>
          </a:xfrm>
        </p:grpSpPr>
        <p:cxnSp>
          <p:nvCxnSpPr>
            <p:cNvPr id="20" name="Gerade Verbindung mit Pfeil 19">
              <a:extLst>
                <a:ext uri="{FF2B5EF4-FFF2-40B4-BE49-F238E27FC236}">
                  <a16:creationId xmlns:a16="http://schemas.microsoft.com/office/drawing/2014/main" id="{F82B43EC-ABAC-FA56-6E22-3C7D0593167B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719572" y="1536945"/>
              <a:ext cx="639486" cy="30540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Gerade Verbindung mit Pfeil 20">
              <a:extLst>
                <a:ext uri="{FF2B5EF4-FFF2-40B4-BE49-F238E27FC236}">
                  <a16:creationId xmlns:a16="http://schemas.microsoft.com/office/drawing/2014/main" id="{84DDFEC8-2FC9-0DC4-1CC4-3714E34FF275}"/>
                </a:ext>
              </a:extLst>
            </p:cNvPr>
            <p:cNvCxnSpPr>
              <a:cxnSpLocks/>
            </p:cNvCxnSpPr>
            <p:nvPr/>
          </p:nvCxnSpPr>
          <p:spPr>
            <a:xfrm>
              <a:off x="3359058" y="1536945"/>
              <a:ext cx="649590" cy="30540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" name="Gruppieren 2">
            <a:extLst>
              <a:ext uri="{FF2B5EF4-FFF2-40B4-BE49-F238E27FC236}">
                <a16:creationId xmlns:a16="http://schemas.microsoft.com/office/drawing/2014/main" id="{E23A27DA-54C1-0EC4-DD5B-BB269FD1C8C4}"/>
              </a:ext>
            </a:extLst>
          </p:cNvPr>
          <p:cNvGrpSpPr/>
          <p:nvPr/>
        </p:nvGrpSpPr>
        <p:grpSpPr>
          <a:xfrm>
            <a:off x="1627374" y="1144372"/>
            <a:ext cx="1785240" cy="542165"/>
            <a:chOff x="2719572" y="1536945"/>
            <a:chExt cx="1289076" cy="305400"/>
          </a:xfrm>
        </p:grpSpPr>
        <p:cxnSp>
          <p:nvCxnSpPr>
            <p:cNvPr id="10" name="Gerade Verbindung mit Pfeil 9">
              <a:extLst>
                <a:ext uri="{FF2B5EF4-FFF2-40B4-BE49-F238E27FC236}">
                  <a16:creationId xmlns:a16="http://schemas.microsoft.com/office/drawing/2014/main" id="{D5435333-2CC9-8C8C-62B3-6248A1E5980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719572" y="1536945"/>
              <a:ext cx="639486" cy="30540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Gerade Verbindung mit Pfeil 11">
              <a:extLst>
                <a:ext uri="{FF2B5EF4-FFF2-40B4-BE49-F238E27FC236}">
                  <a16:creationId xmlns:a16="http://schemas.microsoft.com/office/drawing/2014/main" id="{97D3DB58-D1E2-C174-7D65-ABDAA422F804}"/>
                </a:ext>
              </a:extLst>
            </p:cNvPr>
            <p:cNvCxnSpPr>
              <a:cxnSpLocks/>
            </p:cNvCxnSpPr>
            <p:nvPr/>
          </p:nvCxnSpPr>
          <p:spPr>
            <a:xfrm>
              <a:off x="3359058" y="1536945"/>
              <a:ext cx="649590" cy="30540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feld 13">
                <a:extLst>
                  <a:ext uri="{FF2B5EF4-FFF2-40B4-BE49-F238E27FC236}">
                    <a16:creationId xmlns:a16="http://schemas.microsoft.com/office/drawing/2014/main" id="{8BFA1F26-A9DB-32D2-ED98-87214F5DF3E0}"/>
                  </a:ext>
                </a:extLst>
              </p:cNvPr>
              <p:cNvSpPr txBox="1"/>
              <p:nvPr/>
            </p:nvSpPr>
            <p:spPr>
              <a:xfrm>
                <a:off x="5130837" y="1718899"/>
                <a:ext cx="3906702" cy="276999"/>
              </a:xfrm>
              <a:prstGeom prst="rect">
                <a:avLst/>
              </a:prstGeom>
              <a:noFill/>
              <a:ln w="12700">
                <a:solidFill>
                  <a:schemeClr val="accent1">
                    <a:lumMod val="40000"/>
                    <a:lumOff val="60000"/>
                  </a:schemeClr>
                </a:solidFill>
              </a:ln>
            </p:spPr>
            <p:txBody>
              <a:bodyPr wrap="square">
                <a:spAutoFit/>
              </a:bodyPr>
              <a:lstStyle>
                <a:defPPr>
                  <a:defRPr lang="de-DE"/>
                </a:defPPr>
              </a:lstStyle>
              <a:p>
                <a:pPr algn="ctr"/>
                <a14:m>
                  <m:oMath xmlns:m="http://schemas.openxmlformats.org/officeDocument/2006/math">
                    <m:sSub>
                      <m:sSubPr>
                        <m:ctrlPr>
                          <a:rPr lang="en-GB" sz="1200" b="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1200" b="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𝑛</m:t>
                        </m:r>
                      </m:e>
                      <m:sub>
                        <m:r>
                          <a:rPr lang="en-US" sz="1200" b="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GB" sz="1200" noProof="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GB" sz="1200" i="1" noProof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≤30</m:t>
                    </m:r>
                    <m:r>
                      <a:rPr lang="en-GB" sz="1200" i="1" noProof="0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m:t> </m:t>
                    </m:r>
                  </m:oMath>
                </a14:m>
                <a:r>
                  <a:rPr lang="en-GB" sz="1200" noProof="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 for all </a:t>
                </a:r>
                <a:r>
                  <a:rPr lang="en-GB" sz="1200" noProof="0" dirty="0" err="1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i</a:t>
                </a:r>
                <a:r>
                  <a:rPr lang="en-GB" sz="1200" noProof="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 </a:t>
                </a:r>
              </a:p>
            </p:txBody>
          </p:sp>
        </mc:Choice>
        <mc:Fallback xmlns="">
          <p:sp>
            <p:nvSpPr>
              <p:cNvPr id="14" name="Textfeld 13">
                <a:extLst>
                  <a:ext uri="{FF2B5EF4-FFF2-40B4-BE49-F238E27FC236}">
                    <a16:creationId xmlns:a16="http://schemas.microsoft.com/office/drawing/2014/main" id="{8BFA1F26-A9DB-32D2-ED98-87214F5DF3E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30837" y="1718899"/>
                <a:ext cx="3906702" cy="276999"/>
              </a:xfrm>
              <a:prstGeom prst="rect">
                <a:avLst/>
              </a:prstGeom>
              <a:blipFill>
                <a:blip r:embed="rId13"/>
                <a:stretch>
                  <a:fillRect b="-12500"/>
                </a:stretch>
              </a:blipFill>
              <a:ln w="12700">
                <a:solidFill>
                  <a:schemeClr val="accent1">
                    <a:lumMod val="40000"/>
                    <a:lumOff val="60000"/>
                  </a:schemeClr>
                </a:solidFill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feld 23">
                <a:extLst>
                  <a:ext uri="{FF2B5EF4-FFF2-40B4-BE49-F238E27FC236}">
                    <a16:creationId xmlns:a16="http://schemas.microsoft.com/office/drawing/2014/main" id="{CFA9CE9B-89DC-B876-4056-726090531CE5}"/>
                  </a:ext>
                </a:extLst>
              </p:cNvPr>
              <p:cNvSpPr txBox="1"/>
              <p:nvPr/>
            </p:nvSpPr>
            <p:spPr>
              <a:xfrm>
                <a:off x="9054971" y="1718899"/>
                <a:ext cx="1490532" cy="276999"/>
              </a:xfrm>
              <a:prstGeom prst="rect">
                <a:avLst/>
              </a:prstGeom>
              <a:noFill/>
              <a:ln w="12700">
                <a:solidFill>
                  <a:schemeClr val="accent1">
                    <a:lumMod val="40000"/>
                    <a:lumOff val="60000"/>
                  </a:schemeClr>
                </a:solidFill>
              </a:ln>
            </p:spPr>
            <p:txBody>
              <a:bodyPr wrap="square">
                <a:spAutoFit/>
              </a:bodyPr>
              <a:lstStyle>
                <a:defPPr>
                  <a:defRPr lang="de-DE"/>
                </a:defPPr>
              </a:lstStyle>
              <a:p>
                <a:pPr algn="ctr"/>
                <a14:m>
                  <m:oMath xmlns:m="http://schemas.openxmlformats.org/officeDocument/2006/math">
                    <m:sSub>
                      <m:sSubPr>
                        <m:ctrlPr>
                          <a:rPr lang="en-GB" sz="120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120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𝑛</m:t>
                        </m:r>
                      </m:e>
                      <m:sub>
                        <m:r>
                          <a:rPr lang="en-US" sz="1200" b="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GB" sz="1200" b="0" i="1" noProof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&gt;30</m:t>
                    </m:r>
                  </m:oMath>
                </a14:m>
                <a:r>
                  <a:rPr lang="en-GB" sz="120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 for all i </a:t>
                </a:r>
                <a:endParaRPr lang="en-GB" sz="1200" noProof="0" dirty="0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endParaRPr>
              </a:p>
            </p:txBody>
          </p:sp>
        </mc:Choice>
        <mc:Fallback xmlns="">
          <p:sp>
            <p:nvSpPr>
              <p:cNvPr id="24" name="Textfeld 23">
                <a:extLst>
                  <a:ext uri="{FF2B5EF4-FFF2-40B4-BE49-F238E27FC236}">
                    <a16:creationId xmlns:a16="http://schemas.microsoft.com/office/drawing/2014/main" id="{CFA9CE9B-89DC-B876-4056-726090531CE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54971" y="1718899"/>
                <a:ext cx="1490532" cy="276999"/>
              </a:xfrm>
              <a:prstGeom prst="rect">
                <a:avLst/>
              </a:prstGeom>
              <a:blipFill>
                <a:blip r:embed="rId14"/>
                <a:stretch>
                  <a:fillRect b="-12500"/>
                </a:stretch>
              </a:blipFill>
              <a:ln w="12700">
                <a:solidFill>
                  <a:schemeClr val="accent1">
                    <a:lumMod val="40000"/>
                    <a:lumOff val="60000"/>
                  </a:schemeClr>
                </a:solidFill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5" name="Gerade Verbindung mit Pfeil 24">
            <a:extLst>
              <a:ext uri="{FF2B5EF4-FFF2-40B4-BE49-F238E27FC236}">
                <a16:creationId xmlns:a16="http://schemas.microsoft.com/office/drawing/2014/main" id="{6296688A-99AE-5C7C-4DED-C414DE891ABD}"/>
              </a:ext>
            </a:extLst>
          </p:cNvPr>
          <p:cNvCxnSpPr>
            <a:cxnSpLocks/>
          </p:cNvCxnSpPr>
          <p:nvPr/>
        </p:nvCxnSpPr>
        <p:spPr>
          <a:xfrm flipH="1">
            <a:off x="10021390" y="2039025"/>
            <a:ext cx="42701" cy="1988639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5670644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6EF73C-AA51-7089-F452-04EB6DB0B5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Textfeld 159">
            <a:extLst>
              <a:ext uri="{FF2B5EF4-FFF2-40B4-BE49-F238E27FC236}">
                <a16:creationId xmlns:a16="http://schemas.microsoft.com/office/drawing/2014/main" id="{560A487B-BA43-AB6B-8EF4-09B161FBEF91}"/>
              </a:ext>
            </a:extLst>
          </p:cNvPr>
          <p:cNvSpPr txBox="1"/>
          <p:nvPr/>
        </p:nvSpPr>
        <p:spPr>
          <a:xfrm>
            <a:off x="10508890" y="2202514"/>
            <a:ext cx="1618428" cy="276999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12700">
            <a:solidFill>
              <a:schemeClr val="accent1">
                <a:lumMod val="20000"/>
                <a:lumOff val="80000"/>
              </a:schemeClr>
            </a:solidFill>
          </a:ln>
        </p:spPr>
        <p:txBody>
          <a:bodyPr wrap="square">
            <a:spAutoFit/>
          </a:bodyPr>
          <a:lstStyle>
            <a:defPPr>
              <a:defRPr lang="de-DE"/>
            </a:defPPr>
            <a:lvl1pPr algn="ctr">
              <a:defRPr sz="1200"/>
            </a:lvl1pPr>
          </a:lstStyle>
          <a:p>
            <a:r>
              <a:rPr lang="en-GB" noProof="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Check normality</a:t>
            </a:r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C3A17253-FA9F-B244-5397-9709069A12C4}"/>
              </a:ext>
            </a:extLst>
          </p:cNvPr>
          <p:cNvSpPr txBox="1"/>
          <p:nvPr/>
        </p:nvSpPr>
        <p:spPr>
          <a:xfrm>
            <a:off x="998506" y="1591030"/>
            <a:ext cx="3906703" cy="276999"/>
          </a:xfrm>
          <a:prstGeom prst="rect">
            <a:avLst/>
          </a:prstGeom>
          <a:solidFill>
            <a:schemeClr val="accent2">
              <a:alpha val="19906"/>
            </a:schemeClr>
          </a:solidFill>
          <a:ln w="12700">
            <a:solidFill>
              <a:schemeClr val="accent1">
                <a:lumMod val="40000"/>
                <a:lumOff val="60000"/>
              </a:schemeClr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en-GB" sz="1200" noProof="0" dirty="0" err="1">
                <a:latin typeface="Courier New" panose="02070309020205020404" pitchFamily="49" charset="0"/>
                <a:ea typeface="Cambria Math" panose="02040503050406030204" pitchFamily="18" charset="0"/>
                <a:cs typeface="Courier New" panose="02070309020205020404" pitchFamily="49" charset="0"/>
              </a:rPr>
              <a:t>shapiro.test</a:t>
            </a:r>
            <a:r>
              <a:rPr lang="en-GB" sz="1200" noProof="0" dirty="0">
                <a:latin typeface="Courier New" panose="02070309020205020404" pitchFamily="49" charset="0"/>
                <a:ea typeface="Cambria Math" panose="02040503050406030204" pitchFamily="18" charset="0"/>
                <a:cs typeface="Courier New" panose="02070309020205020404" pitchFamily="49" charset="0"/>
              </a:rPr>
              <a:t>()</a:t>
            </a:r>
            <a:r>
              <a:rPr lang="en-GB" sz="1200" noProof="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en-GB" sz="12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of each level</a:t>
            </a:r>
            <a:endParaRPr lang="en-GB" sz="1200" noProof="0" dirty="0">
              <a:latin typeface="Calibri" panose="020F0502020204030204" pitchFamily="34" charset="0"/>
              <a:ea typeface="Cambria Math" panose="02040503050406030204" pitchFamily="18" charset="0"/>
              <a:cs typeface="Calibri" panose="020F0502020204030204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feld 6">
                <a:extLst>
                  <a:ext uri="{FF2B5EF4-FFF2-40B4-BE49-F238E27FC236}">
                    <a16:creationId xmlns:a16="http://schemas.microsoft.com/office/drawing/2014/main" id="{459D4F33-54BA-1EBD-D1F0-135F2B6DB97C}"/>
                  </a:ext>
                </a:extLst>
              </p:cNvPr>
              <p:cNvSpPr txBox="1"/>
              <p:nvPr/>
            </p:nvSpPr>
            <p:spPr>
              <a:xfrm>
                <a:off x="2943726" y="268315"/>
                <a:ext cx="6737685" cy="461665"/>
              </a:xfrm>
              <a:prstGeom prst="rect">
                <a:avLst/>
              </a:prstGeom>
              <a:noFill/>
              <a:ln w="6350">
                <a:solidFill>
                  <a:schemeClr val="bg1">
                    <a:lumMod val="85000"/>
                  </a:schemeClr>
                </a:solidFill>
              </a:ln>
            </p:spPr>
            <p:txBody>
              <a:bodyPr wrap="square">
                <a:spAutoFit/>
              </a:bodyPr>
              <a:lstStyle/>
              <a:p>
                <a:pPr marL="171450" indent="-171450">
                  <a:buFont typeface="Arial" panose="020B0604020202020204" pitchFamily="34" charset="0"/>
                  <a:buChar char="•"/>
                </a:pPr>
                <a:r>
                  <a:rPr lang="en-GB" sz="120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C</a:t>
                </a:r>
                <a:r>
                  <a:rPr lang="en-GB" sz="1200" noProof="0" dirty="0" err="1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ategorical</a:t>
                </a:r>
                <a:r>
                  <a:rPr lang="en-GB" sz="1200" noProof="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 predictor of </a:t>
                </a:r>
                <a:r>
                  <a:rPr lang="en-GB" sz="1200" noProof="0" dirty="0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class </a:t>
                </a:r>
                <a:r>
                  <a:rPr lang="en-GB" sz="120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“</a:t>
                </a:r>
                <a:r>
                  <a:rPr lang="en-GB" sz="1200" dirty="0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factor</a:t>
                </a:r>
                <a:r>
                  <a:rPr lang="en-GB" sz="1200" noProof="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“  with </a:t>
                </a:r>
                <a14:m>
                  <m:oMath xmlns:m="http://schemas.openxmlformats.org/officeDocument/2006/math">
                    <m:r>
                      <a:rPr lang="en-GB" sz="1200" i="1" noProof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𝑁</m:t>
                    </m:r>
                  </m:oMath>
                </a14:m>
                <a:r>
                  <a:rPr lang="en-GB" sz="1200" noProof="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 levels </a:t>
                </a:r>
                <a:r>
                  <a:rPr lang="en-GB" sz="120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with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sz="1200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anose="020F0502020204030204" pitchFamily="34" charset="0"/>
                          </a:rPr>
                        </m:ctrlPr>
                      </m:sSubPr>
                      <m:e>
                        <m:r>
                          <a:rPr lang="en-GB" sz="1200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anose="020F0502020204030204" pitchFamily="34" charset="0"/>
                          </a:rPr>
                          <m:t>𝑛</m:t>
                        </m:r>
                      </m:e>
                      <m:sub>
                        <m:r>
                          <a:rPr lang="en-GB" sz="1200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anose="020F0502020204030204" pitchFamily="34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GB" sz="120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 entries in each level </a:t>
                </a:r>
                <a14:m>
                  <m:oMath xmlns:m="http://schemas.openxmlformats.org/officeDocument/2006/math">
                    <m:r>
                      <a:rPr lang="en-GB" sz="1200" i="1" dirty="0">
                        <a:latin typeface="Cambria Math" panose="02040503050406030204" pitchFamily="18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m:t>, </m:t>
                    </m:r>
                    <m:r>
                      <a:rPr lang="en-GB" sz="1200" i="1" dirty="0" err="1">
                        <a:latin typeface="Cambria Math" panose="02040503050406030204" pitchFamily="18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m:t>𝑖</m:t>
                    </m:r>
                    <m:r>
                      <a:rPr lang="en-GB" sz="1200" i="1" dirty="0">
                        <a:latin typeface="Cambria Math" panose="02040503050406030204" pitchFamily="18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m:t>=1,2,…,</m:t>
                    </m:r>
                    <m:r>
                      <a:rPr lang="en-GB" sz="1200" i="1" dirty="0">
                        <a:latin typeface="Cambria Math" panose="02040503050406030204" pitchFamily="18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m:t>𝑁</m:t>
                    </m:r>
                  </m:oMath>
                </a14:m>
                <a:r>
                  <a:rPr lang="en-GB" sz="120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 </a:t>
                </a:r>
                <a:endParaRPr lang="en-GB" sz="1200" noProof="0" dirty="0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endParaRPr>
              </a:p>
              <a:p>
                <a:pPr marL="171450" indent="-171450">
                  <a:buFont typeface="Arial" panose="020B0604020202020204" pitchFamily="34" charset="0"/>
                  <a:buChar char="•"/>
                </a:pPr>
                <a:r>
                  <a:rPr lang="en-GB" sz="120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N</a:t>
                </a:r>
                <a:r>
                  <a:rPr lang="en-GB" sz="1200" noProof="0" dirty="0" err="1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umeric</a:t>
                </a:r>
                <a:r>
                  <a:rPr lang="en-GB" sz="1200" noProof="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 response of </a:t>
                </a:r>
                <a:r>
                  <a:rPr lang="en-GB" sz="1200" noProof="0" dirty="0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class </a:t>
                </a:r>
                <a:r>
                  <a:rPr lang="en-GB" sz="120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“</a:t>
                </a:r>
                <a:r>
                  <a:rPr lang="en-GB" sz="1200" noProof="0" dirty="0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numeric</a:t>
                </a:r>
                <a:r>
                  <a:rPr lang="en-GB" sz="120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”</a:t>
                </a:r>
                <a:r>
                  <a:rPr lang="en-GB" sz="1200" dirty="0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 </a:t>
                </a:r>
                <a:r>
                  <a:rPr lang="en-GB" sz="1200" noProof="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or “</a:t>
                </a:r>
                <a:r>
                  <a:rPr lang="en-GB" sz="1200" noProof="0" dirty="0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integer</a:t>
                </a:r>
                <a:r>
                  <a:rPr lang="en-GB" sz="120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”</a:t>
                </a:r>
                <a:endParaRPr lang="en-GB" sz="1200" noProof="0" dirty="0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endParaRPr>
              </a:p>
            </p:txBody>
          </p:sp>
        </mc:Choice>
        <mc:Fallback xmlns="">
          <p:sp>
            <p:nvSpPr>
              <p:cNvPr id="7" name="Textfeld 6">
                <a:extLst>
                  <a:ext uri="{FF2B5EF4-FFF2-40B4-BE49-F238E27FC236}">
                    <a16:creationId xmlns:a16="http://schemas.microsoft.com/office/drawing/2014/main" id="{459D4F33-54BA-1EBD-D1F0-135F2B6DB97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43726" y="268315"/>
                <a:ext cx="6737685" cy="461665"/>
              </a:xfrm>
              <a:prstGeom prst="rect">
                <a:avLst/>
              </a:prstGeom>
              <a:blipFill>
                <a:blip r:embed="rId3"/>
                <a:stretch>
                  <a:fillRect b="-5263"/>
                </a:stretch>
              </a:blipFill>
              <a:ln w="6350">
                <a:solidFill>
                  <a:schemeClr val="bg1">
                    <a:lumMod val="85000"/>
                  </a:schemeClr>
                </a:solidFill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3" name="Textfeld 22">
            <a:extLst>
              <a:ext uri="{FF2B5EF4-FFF2-40B4-BE49-F238E27FC236}">
                <a16:creationId xmlns:a16="http://schemas.microsoft.com/office/drawing/2014/main" id="{84DE5E89-3602-1EE2-C8EF-C76D73E33AC6}"/>
              </a:ext>
            </a:extLst>
          </p:cNvPr>
          <p:cNvSpPr txBox="1"/>
          <p:nvPr/>
        </p:nvSpPr>
        <p:spPr>
          <a:xfrm>
            <a:off x="271029" y="3577707"/>
            <a:ext cx="1447008" cy="276999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w="12700">
            <a:solidFill>
              <a:schemeClr val="tx1"/>
            </a:solidFill>
          </a:ln>
        </p:spPr>
        <p:txBody>
          <a:bodyPr wrap="square">
            <a:spAutoFit/>
          </a:bodyPr>
          <a:lstStyle>
            <a:defPPr>
              <a:defRPr lang="de-DE"/>
            </a:defPPr>
            <a:lvl1pPr algn="ctr">
              <a:defRPr sz="1200"/>
            </a:lvl1pPr>
          </a:lstStyle>
          <a:p>
            <a:r>
              <a:rPr lang="en-GB" noProof="0" dirty="0" err="1">
                <a:latin typeface="Courier New" panose="02070309020205020404" pitchFamily="49" charset="0"/>
                <a:ea typeface="Cambria Math" panose="02040503050406030204" pitchFamily="18" charset="0"/>
                <a:cs typeface="Courier New" panose="02070309020205020404" pitchFamily="49" charset="0"/>
              </a:rPr>
              <a:t>wilcox.test</a:t>
            </a:r>
            <a:r>
              <a:rPr lang="en-GB" noProof="0" dirty="0">
                <a:latin typeface="Courier New" panose="02070309020205020404" pitchFamily="49" charset="0"/>
                <a:ea typeface="Cambria Math" panose="02040503050406030204" pitchFamily="18" charset="0"/>
                <a:cs typeface="Courier New" panose="02070309020205020404" pitchFamily="49" charset="0"/>
              </a:rPr>
              <a:t>()</a:t>
            </a:r>
          </a:p>
        </p:txBody>
      </p:sp>
      <p:sp>
        <p:nvSpPr>
          <p:cNvPr id="27" name="Textfeld 26">
            <a:extLst>
              <a:ext uri="{FF2B5EF4-FFF2-40B4-BE49-F238E27FC236}">
                <a16:creationId xmlns:a16="http://schemas.microsoft.com/office/drawing/2014/main" id="{645A4D30-456F-B440-3895-29A87290D16A}"/>
              </a:ext>
            </a:extLst>
          </p:cNvPr>
          <p:cNvSpPr txBox="1"/>
          <p:nvPr/>
        </p:nvSpPr>
        <p:spPr>
          <a:xfrm>
            <a:off x="1883778" y="3584470"/>
            <a:ext cx="2338435" cy="276999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w="12700">
            <a:solidFill>
              <a:schemeClr val="accent1">
                <a:lumMod val="40000"/>
                <a:lumOff val="60000"/>
              </a:schemeClr>
            </a:solidFill>
          </a:ln>
        </p:spPr>
        <p:txBody>
          <a:bodyPr wrap="square">
            <a:spAutoFit/>
          </a:bodyPr>
          <a:lstStyle>
            <a:defPPr>
              <a:defRPr lang="de-DE"/>
            </a:defPPr>
            <a:lvl1pPr algn="ctr">
              <a:defRPr sz="1200"/>
            </a:lvl1pPr>
          </a:lstStyle>
          <a:p>
            <a:r>
              <a:rPr lang="en-GB" noProof="0" dirty="0" err="1">
                <a:latin typeface="Courier New" panose="02070309020205020404" pitchFamily="49" charset="0"/>
                <a:ea typeface="Cambria Math" panose="02040503050406030204" pitchFamily="18" charset="0"/>
                <a:cs typeface="Courier New" panose="02070309020205020404" pitchFamily="49" charset="0"/>
              </a:rPr>
              <a:t>kruskal.test</a:t>
            </a:r>
            <a:r>
              <a:rPr lang="en-GB" noProof="0" dirty="0">
                <a:latin typeface="Courier New" panose="02070309020205020404" pitchFamily="49" charset="0"/>
                <a:ea typeface="Cambria Math" panose="02040503050406030204" pitchFamily="18" charset="0"/>
                <a:cs typeface="Courier New" panose="02070309020205020404" pitchFamily="49" charset="0"/>
              </a:rPr>
              <a:t>()</a:t>
            </a:r>
          </a:p>
        </p:txBody>
      </p:sp>
      <p:sp>
        <p:nvSpPr>
          <p:cNvPr id="31" name="Textfeld 30">
            <a:extLst>
              <a:ext uri="{FF2B5EF4-FFF2-40B4-BE49-F238E27FC236}">
                <a16:creationId xmlns:a16="http://schemas.microsoft.com/office/drawing/2014/main" id="{2B3B4585-D94C-F7A1-B6DD-BEDE9A4EFE36}"/>
              </a:ext>
            </a:extLst>
          </p:cNvPr>
          <p:cNvSpPr txBox="1"/>
          <p:nvPr/>
        </p:nvSpPr>
        <p:spPr>
          <a:xfrm>
            <a:off x="7726635" y="3591747"/>
            <a:ext cx="2325414" cy="276999"/>
          </a:xfrm>
          <a:prstGeom prst="rect">
            <a:avLst/>
          </a:prstGeom>
          <a:solidFill>
            <a:schemeClr val="accent4">
              <a:alpha val="19758"/>
            </a:schemeClr>
          </a:solidFill>
          <a:ln w="12700">
            <a:solidFill>
              <a:schemeClr val="accent1">
                <a:lumMod val="40000"/>
                <a:lumOff val="60000"/>
              </a:schemeClr>
            </a:solidFill>
          </a:ln>
        </p:spPr>
        <p:txBody>
          <a:bodyPr wrap="square">
            <a:spAutoFit/>
          </a:bodyPr>
          <a:lstStyle>
            <a:defPPr>
              <a:defRPr lang="de-DE"/>
            </a:defPPr>
            <a:lvl1pPr algn="ctr">
              <a:defRPr sz="1200"/>
            </a:lvl1pPr>
          </a:lstStyle>
          <a:p>
            <a:r>
              <a:rPr lang="en-GB" noProof="0" dirty="0" err="1">
                <a:latin typeface="Courier New" panose="02070309020205020404" pitchFamily="49" charset="0"/>
                <a:ea typeface="Cambria Math" panose="02040503050406030204" pitchFamily="18" charset="0"/>
                <a:cs typeface="Courier New" panose="02070309020205020404" pitchFamily="49" charset="0"/>
              </a:rPr>
              <a:t>oneway.test</a:t>
            </a:r>
            <a:r>
              <a:rPr lang="en-GB" noProof="0" dirty="0">
                <a:latin typeface="Courier New" panose="02070309020205020404" pitchFamily="49" charset="0"/>
                <a:ea typeface="Cambria Math" panose="02040503050406030204" pitchFamily="18" charset="0"/>
                <a:cs typeface="Courier New" panose="02070309020205020404" pitchFamily="49" charset="0"/>
              </a:rPr>
              <a:t>()</a:t>
            </a:r>
          </a:p>
        </p:txBody>
      </p:sp>
      <p:sp>
        <p:nvSpPr>
          <p:cNvPr id="93" name="Textfeld 92">
            <a:extLst>
              <a:ext uri="{FF2B5EF4-FFF2-40B4-BE49-F238E27FC236}">
                <a16:creationId xmlns:a16="http://schemas.microsoft.com/office/drawing/2014/main" id="{C83EAB7E-EC55-3AF9-7904-AE52F1946FC1}"/>
              </a:ext>
            </a:extLst>
          </p:cNvPr>
          <p:cNvSpPr txBox="1"/>
          <p:nvPr/>
        </p:nvSpPr>
        <p:spPr>
          <a:xfrm>
            <a:off x="7718872" y="4037055"/>
            <a:ext cx="2341206" cy="284869"/>
          </a:xfrm>
          <a:prstGeom prst="rect">
            <a:avLst/>
          </a:prstGeom>
          <a:solidFill>
            <a:schemeClr val="bg2">
              <a:lumMod val="90000"/>
            </a:schemeClr>
          </a:solidFill>
          <a:ln w="12700">
            <a:solidFill>
              <a:schemeClr val="accent1">
                <a:lumMod val="40000"/>
                <a:lumOff val="60000"/>
              </a:schemeClr>
            </a:solidFill>
          </a:ln>
        </p:spPr>
        <p:txBody>
          <a:bodyPr wrap="square">
            <a:spAutoFit/>
          </a:bodyPr>
          <a:lstStyle>
            <a:defPPr>
              <a:defRPr lang="de-DE"/>
            </a:defPPr>
            <a:lvl1pPr algn="ctr">
              <a:defRPr sz="1200"/>
            </a:lvl1pPr>
          </a:lstStyle>
          <a:p>
            <a:r>
              <a:rPr lang="en-GB" dirty="0">
                <a:latin typeface="Courier New" panose="02070309020205020404" pitchFamily="49" charset="0"/>
                <a:ea typeface="Cambria Math" panose="02040503050406030204" pitchFamily="18" charset="0"/>
                <a:cs typeface="Courier New" panose="02070309020205020404" pitchFamily="49" charset="0"/>
              </a:rPr>
              <a:t>Games </a:t>
            </a:r>
            <a:r>
              <a:rPr lang="en-GB" dirty="0" err="1">
                <a:latin typeface="Courier New" panose="02070309020205020404" pitchFamily="49" charset="0"/>
                <a:ea typeface="Cambria Math" panose="02040503050406030204" pitchFamily="18" charset="0"/>
                <a:cs typeface="Courier New" panose="02070309020205020404" pitchFamily="49" charset="0"/>
              </a:rPr>
              <a:t>howell</a:t>
            </a:r>
            <a:endParaRPr lang="en-GB" noProof="0" dirty="0">
              <a:latin typeface="Courier New" panose="02070309020205020404" pitchFamily="49" charset="0"/>
              <a:ea typeface="Cambria Math" panose="02040503050406030204" pitchFamily="18" charset="0"/>
              <a:cs typeface="Courier New" panose="02070309020205020404" pitchFamily="49" charset="0"/>
            </a:endParaRPr>
          </a:p>
        </p:txBody>
      </p:sp>
      <p:sp>
        <p:nvSpPr>
          <p:cNvPr id="94" name="Textfeld 93">
            <a:extLst>
              <a:ext uri="{FF2B5EF4-FFF2-40B4-BE49-F238E27FC236}">
                <a16:creationId xmlns:a16="http://schemas.microsoft.com/office/drawing/2014/main" id="{5F9BBE4E-8C0F-D0B9-244C-73149C41AEDF}"/>
              </a:ext>
            </a:extLst>
          </p:cNvPr>
          <p:cNvSpPr txBox="1"/>
          <p:nvPr/>
        </p:nvSpPr>
        <p:spPr>
          <a:xfrm>
            <a:off x="1875394" y="4310540"/>
            <a:ext cx="2341205" cy="276999"/>
          </a:xfrm>
          <a:prstGeom prst="rect">
            <a:avLst/>
          </a:prstGeom>
          <a:solidFill>
            <a:schemeClr val="bg2">
              <a:lumMod val="90000"/>
            </a:schemeClr>
          </a:solidFill>
          <a:ln w="12700">
            <a:solidFill>
              <a:schemeClr val="accent1">
                <a:lumMod val="40000"/>
                <a:lumOff val="60000"/>
              </a:schemeClr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en-GB" sz="1200" noProof="0" dirty="0" err="1">
                <a:latin typeface="Courier New" panose="02070309020205020404" pitchFamily="49" charset="0"/>
                <a:ea typeface="Cambria Math" panose="02040503050406030204" pitchFamily="18" charset="0"/>
                <a:cs typeface="Courier New" panose="02070309020205020404" pitchFamily="49" charset="0"/>
              </a:rPr>
              <a:t>pairwise.wilcox.test</a:t>
            </a:r>
            <a:r>
              <a:rPr lang="en-GB" sz="1200" noProof="0" dirty="0">
                <a:latin typeface="Courier New" panose="02070309020205020404" pitchFamily="49" charset="0"/>
                <a:ea typeface="Cambria Math" panose="02040503050406030204" pitchFamily="18" charset="0"/>
                <a:cs typeface="Courier New" panose="02070309020205020404" pitchFamily="49" charset="0"/>
              </a:rPr>
              <a:t>()</a:t>
            </a:r>
          </a:p>
        </p:txBody>
      </p:sp>
      <p:sp>
        <p:nvSpPr>
          <p:cNvPr id="50" name="Textfeld 49">
            <a:extLst>
              <a:ext uri="{FF2B5EF4-FFF2-40B4-BE49-F238E27FC236}">
                <a16:creationId xmlns:a16="http://schemas.microsoft.com/office/drawing/2014/main" id="{AF33D17D-B4E7-4A15-72D0-3D92AC1C5841}"/>
              </a:ext>
            </a:extLst>
          </p:cNvPr>
          <p:cNvSpPr txBox="1"/>
          <p:nvPr/>
        </p:nvSpPr>
        <p:spPr>
          <a:xfrm>
            <a:off x="6096000" y="3591747"/>
            <a:ext cx="1403168" cy="276999"/>
          </a:xfrm>
          <a:prstGeom prst="rect">
            <a:avLst/>
          </a:prstGeom>
          <a:solidFill>
            <a:schemeClr val="accent4">
              <a:alpha val="19758"/>
            </a:schemeClr>
          </a:solidFill>
          <a:ln w="12700"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en-GB" sz="1200" noProof="0" dirty="0" err="1">
                <a:latin typeface="Courier New" panose="02070309020205020404" pitchFamily="49" charset="0"/>
                <a:ea typeface="Cambria Math" panose="02040503050406030204" pitchFamily="18" charset="0"/>
                <a:cs typeface="Courier New" panose="02070309020205020404" pitchFamily="49" charset="0"/>
              </a:rPr>
              <a:t>t.test</a:t>
            </a:r>
            <a:r>
              <a:rPr lang="en-GB" sz="1200" noProof="0" dirty="0">
                <a:latin typeface="Courier New" panose="02070309020205020404" pitchFamily="49" charset="0"/>
                <a:ea typeface="Cambria Math" panose="02040503050406030204" pitchFamily="18" charset="0"/>
                <a:cs typeface="Courier New" panose="02070309020205020404" pitchFamily="49" charset="0"/>
              </a:rPr>
              <a:t>()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2" name="Textfeld 81">
                <a:extLst>
                  <a:ext uri="{FF2B5EF4-FFF2-40B4-BE49-F238E27FC236}">
                    <a16:creationId xmlns:a16="http://schemas.microsoft.com/office/drawing/2014/main" id="{1CB273C9-05B6-48BA-748A-AC18988E5C4C}"/>
                  </a:ext>
                </a:extLst>
              </p:cNvPr>
              <p:cNvSpPr txBox="1"/>
              <p:nvPr/>
            </p:nvSpPr>
            <p:spPr>
              <a:xfrm>
                <a:off x="629222" y="2422297"/>
                <a:ext cx="2338425" cy="276999"/>
              </a:xfrm>
              <a:prstGeom prst="rect">
                <a:avLst/>
              </a:prstGeom>
              <a:noFill/>
              <a:ln w="12700">
                <a:solidFill>
                  <a:schemeClr val="accent1">
                    <a:lumMod val="40000"/>
                    <a:lumOff val="60000"/>
                  </a:schemeClr>
                </a:solidFill>
              </a:ln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GB" sz="1200" dirty="0">
                    <a:ea typeface="Cambria Math" panose="02040503050406030204" pitchFamily="18" charset="0"/>
                  </a:rPr>
                  <a:t>At least one </a:t>
                </a:r>
                <a14:m>
                  <m:oMath xmlns:m="http://schemas.openxmlformats.org/officeDocument/2006/math">
                    <m:r>
                      <a:rPr lang="en-GB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𝑝</m:t>
                    </m:r>
                    <m:r>
                      <a:rPr lang="en-US" sz="12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_</m:t>
                    </m:r>
                    <m:r>
                      <a:rPr lang="en-US" sz="12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𝑖</m:t>
                    </m:r>
                    <m:r>
                      <a:rPr lang="en-GB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&lt;</m:t>
                    </m:r>
                    <m:r>
                      <a:rPr lang="en-GB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𝛼</m:t>
                    </m:r>
                    <m:r>
                      <a:rPr lang="en-US" sz="12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/</m:t>
                    </m:r>
                    <m:r>
                      <a:rPr lang="en-US" sz="12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𝑁</m:t>
                    </m:r>
                  </m:oMath>
                </a14:m>
                <a:endParaRPr lang="en-GB" sz="1200" noProof="0" dirty="0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endParaRPr>
              </a:p>
            </p:txBody>
          </p:sp>
        </mc:Choice>
        <mc:Fallback xmlns="">
          <p:sp>
            <p:nvSpPr>
              <p:cNvPr id="82" name="Textfeld 81">
                <a:extLst>
                  <a:ext uri="{FF2B5EF4-FFF2-40B4-BE49-F238E27FC236}">
                    <a16:creationId xmlns:a16="http://schemas.microsoft.com/office/drawing/2014/main" id="{1CB273C9-05B6-48BA-748A-AC18988E5C4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9222" y="2422297"/>
                <a:ext cx="2338425" cy="276999"/>
              </a:xfrm>
              <a:prstGeom prst="rect">
                <a:avLst/>
              </a:prstGeom>
              <a:blipFill>
                <a:blip r:embed="rId4"/>
                <a:stretch>
                  <a:fillRect b="-8333"/>
                </a:stretch>
              </a:blipFill>
              <a:ln w="12700">
                <a:solidFill>
                  <a:schemeClr val="accent1">
                    <a:lumMod val="40000"/>
                    <a:lumOff val="60000"/>
                  </a:schemeClr>
                </a:solidFill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8" name="Textfeld 87">
                <a:extLst>
                  <a:ext uri="{FF2B5EF4-FFF2-40B4-BE49-F238E27FC236}">
                    <a16:creationId xmlns:a16="http://schemas.microsoft.com/office/drawing/2014/main" id="{A235E5CD-353F-8A6A-5BC9-81475A8AAAB2}"/>
                  </a:ext>
                </a:extLst>
              </p:cNvPr>
              <p:cNvSpPr txBox="1"/>
              <p:nvPr/>
            </p:nvSpPr>
            <p:spPr>
              <a:xfrm>
                <a:off x="3333098" y="2476204"/>
                <a:ext cx="2234203" cy="276999"/>
              </a:xfrm>
              <a:prstGeom prst="rect">
                <a:avLst/>
              </a:prstGeom>
              <a:noFill/>
              <a:ln w="12700">
                <a:solidFill>
                  <a:schemeClr val="accent1">
                    <a:lumMod val="40000"/>
                    <a:lumOff val="60000"/>
                  </a:schemeClr>
                </a:solidFill>
              </a:ln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GB" sz="1200" b="0" noProof="0" dirty="0">
                    <a:ea typeface="Cambria Math" panose="02040503050406030204" pitchFamily="18" charset="0"/>
                  </a:rPr>
                  <a:t>All </a:t>
                </a:r>
                <a14:m>
                  <m:oMath xmlns:m="http://schemas.openxmlformats.org/officeDocument/2006/math">
                    <m:r>
                      <a:rPr lang="en-GB" sz="1200" b="0" i="1" noProof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𝑝</m:t>
                    </m:r>
                    <m:r>
                      <a:rPr lang="en-US" sz="1200" b="0" i="1" noProof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_</m:t>
                    </m:r>
                    <m:r>
                      <a:rPr lang="en-US" sz="1200" b="0" i="1" noProof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𝑖</m:t>
                    </m:r>
                    <m:r>
                      <a:rPr lang="en-GB" sz="1200" b="0" i="1" noProof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≥</m:t>
                    </m:r>
                    <m:r>
                      <a:rPr lang="en-GB" sz="1200" b="0" i="1" noProof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𝛼</m:t>
                    </m:r>
                    <m:r>
                      <a:rPr lang="en-US" sz="1200" b="0" i="1" noProof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/</m:t>
                    </m:r>
                    <m:r>
                      <a:rPr lang="en-US" sz="1200" b="0" i="1" noProof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𝑁</m:t>
                    </m:r>
                  </m:oMath>
                </a14:m>
                <a:endParaRPr lang="en-GB" sz="1200" noProof="0" dirty="0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endParaRPr>
              </a:p>
            </p:txBody>
          </p:sp>
        </mc:Choice>
        <mc:Fallback xmlns="">
          <p:sp>
            <p:nvSpPr>
              <p:cNvPr id="88" name="Textfeld 87">
                <a:extLst>
                  <a:ext uri="{FF2B5EF4-FFF2-40B4-BE49-F238E27FC236}">
                    <a16:creationId xmlns:a16="http://schemas.microsoft.com/office/drawing/2014/main" id="{A235E5CD-353F-8A6A-5BC9-81475A8AAAB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33098" y="2476204"/>
                <a:ext cx="2234203" cy="276999"/>
              </a:xfrm>
              <a:prstGeom prst="rect">
                <a:avLst/>
              </a:prstGeom>
              <a:blipFill>
                <a:blip r:embed="rId5"/>
                <a:stretch>
                  <a:fillRect b="-8333"/>
                </a:stretch>
              </a:blipFill>
              <a:ln w="12700">
                <a:solidFill>
                  <a:schemeClr val="accent1">
                    <a:lumMod val="40000"/>
                    <a:lumOff val="60000"/>
                  </a:schemeClr>
                </a:solidFill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Textfeld 3">
            <a:extLst>
              <a:ext uri="{FF2B5EF4-FFF2-40B4-BE49-F238E27FC236}">
                <a16:creationId xmlns:a16="http://schemas.microsoft.com/office/drawing/2014/main" id="{7C7C90E0-E517-64BA-D41B-40B336F9CCFA}"/>
              </a:ext>
            </a:extLst>
          </p:cNvPr>
          <p:cNvSpPr txBox="1"/>
          <p:nvPr/>
        </p:nvSpPr>
        <p:spPr>
          <a:xfrm>
            <a:off x="10397993" y="4529346"/>
            <a:ext cx="1618426" cy="277200"/>
          </a:xfrm>
          <a:prstGeom prst="rect">
            <a:avLst/>
          </a:prstGeom>
          <a:solidFill>
            <a:schemeClr val="bg2">
              <a:lumMod val="90000"/>
            </a:schemeClr>
          </a:solidFill>
          <a:ln w="12700">
            <a:solidFill>
              <a:schemeClr val="bg2">
                <a:lumMod val="90000"/>
              </a:schemeClr>
            </a:solidFill>
          </a:ln>
        </p:spPr>
        <p:txBody>
          <a:bodyPr wrap="square">
            <a:spAutoFit/>
          </a:bodyPr>
          <a:lstStyle>
            <a:defPPr>
              <a:defRPr lang="de-DE"/>
            </a:defPPr>
            <a:lvl1pPr algn="ctr">
              <a:defRPr sz="1200"/>
            </a:lvl1pPr>
          </a:lstStyle>
          <a:p>
            <a:r>
              <a:rPr lang="en-GB" noProof="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Post-hoc test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feld 10">
                <a:extLst>
                  <a:ext uri="{FF2B5EF4-FFF2-40B4-BE49-F238E27FC236}">
                    <a16:creationId xmlns:a16="http://schemas.microsoft.com/office/drawing/2014/main" id="{76BFC05B-C9C0-5CF8-B128-D7AB3244DFE7}"/>
                  </a:ext>
                </a:extLst>
              </p:cNvPr>
              <p:cNvSpPr txBox="1"/>
              <p:nvPr/>
            </p:nvSpPr>
            <p:spPr>
              <a:xfrm>
                <a:off x="2691659" y="5287203"/>
                <a:ext cx="2082384" cy="461665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GB" sz="1200" i="1" noProof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𝛼</m:t>
                    </m:r>
                    <m:r>
                      <a:rPr lang="en-GB" sz="1200" b="0" i="1" noProof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=1−</m:t>
                    </m:r>
                  </m:oMath>
                </a14:m>
                <a:r>
                  <a:rPr lang="en-GB" sz="1200" noProof="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 </a:t>
                </a:r>
                <a:r>
                  <a:rPr lang="en-GB" sz="1200" noProof="0" dirty="0" err="1">
                    <a:latin typeface="Courier New" panose="02070309020205020404" pitchFamily="49" charset="0"/>
                    <a:ea typeface="CMU Bright Roman" panose="02000603000000000000" pitchFamily="2" charset="0"/>
                    <a:cs typeface="Courier New" panose="02070309020205020404" pitchFamily="49" charset="0"/>
                  </a:rPr>
                  <a:t>conf.level</a:t>
                </a:r>
                <a:r>
                  <a:rPr lang="en-GB" sz="800" noProof="0" dirty="0">
                    <a:latin typeface="CMU Bright Roman" panose="02000603000000000000" pitchFamily="2" charset="0"/>
                    <a:ea typeface="CMU Bright Roman" panose="02000603000000000000" pitchFamily="2" charset="0"/>
                    <a:cs typeface="CMU Bright Roman" panose="02000603000000000000" pitchFamily="2" charset="0"/>
                  </a:rPr>
                  <a:t> 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GB" sz="120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120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GB" sz="120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sz="1200" b="0" i="0" noProof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en-GB" sz="1200" noProof="0" dirty="0"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GB" sz="1200" i="1" noProof="0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𝑝</m:t>
                    </m:r>
                  </m:oMath>
                </a14:m>
                <a:r>
                  <a:rPr lang="en-GB" sz="1200" noProof="0" dirty="0">
                    <a:ea typeface="Cambria Math" panose="02040503050406030204" pitchFamily="18" charset="0"/>
                  </a:rPr>
                  <a:t>-value of level </a:t>
                </a:r>
                <a14:m>
                  <m:oMath xmlns:m="http://schemas.openxmlformats.org/officeDocument/2006/math">
                    <m:r>
                      <a:rPr lang="en-GB" sz="1200" i="1" noProof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𝑖</m:t>
                    </m:r>
                    <m:r>
                      <a:rPr lang="en-GB" sz="1200" i="1" noProof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</m:t>
                    </m:r>
                  </m:oMath>
                </a14:m>
                <a:r>
                  <a:rPr lang="en-GB" sz="1200" noProof="0" dirty="0"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GB" sz="1200" i="1" noProof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𝑖</m:t>
                    </m:r>
                    <m:r>
                      <a:rPr lang="en-GB" sz="1200" i="1" noProof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=1,2</m:t>
                    </m:r>
                  </m:oMath>
                </a14:m>
                <a:endParaRPr lang="en-GB" sz="1200" noProof="0" dirty="0">
                  <a:latin typeface="CMU Bright Roman" panose="02000603000000000000" pitchFamily="2" charset="0"/>
                  <a:ea typeface="CMU Bright Roman" panose="02000603000000000000" pitchFamily="2" charset="0"/>
                  <a:cs typeface="CMU Bright Roman" panose="02000603000000000000" pitchFamily="2" charset="0"/>
                </a:endParaRPr>
              </a:p>
            </p:txBody>
          </p:sp>
        </mc:Choice>
        <mc:Fallback xmlns="">
          <p:sp>
            <p:nvSpPr>
              <p:cNvPr id="11" name="Textfeld 10">
                <a:extLst>
                  <a:ext uri="{FF2B5EF4-FFF2-40B4-BE49-F238E27FC236}">
                    <a16:creationId xmlns:a16="http://schemas.microsoft.com/office/drawing/2014/main" id="{76BFC05B-C9C0-5CF8-B128-D7AB3244DFE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91659" y="5287203"/>
                <a:ext cx="2082384" cy="461665"/>
              </a:xfrm>
              <a:prstGeom prst="rect">
                <a:avLst/>
              </a:prstGeom>
              <a:blipFill>
                <a:blip r:embed="rId6"/>
                <a:stretch>
                  <a:fillRect b="-10811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9" name="Textfeld 148">
            <a:extLst>
              <a:ext uri="{FF2B5EF4-FFF2-40B4-BE49-F238E27FC236}">
                <a16:creationId xmlns:a16="http://schemas.microsoft.com/office/drawing/2014/main" id="{06AB22BD-5AD8-3EC3-CED8-2566B1AA0144}"/>
              </a:ext>
            </a:extLst>
          </p:cNvPr>
          <p:cNvSpPr txBox="1"/>
          <p:nvPr/>
        </p:nvSpPr>
        <p:spPr>
          <a:xfrm>
            <a:off x="10398327" y="4027664"/>
            <a:ext cx="1618427" cy="276999"/>
          </a:xfrm>
          <a:prstGeom prst="rect">
            <a:avLst/>
          </a:prstGeom>
          <a:noFill/>
          <a:ln w="12700">
            <a:solidFill>
              <a:schemeClr val="bg2">
                <a:lumMod val="90000"/>
              </a:schemeClr>
            </a:solidFill>
          </a:ln>
        </p:spPr>
        <p:txBody>
          <a:bodyPr wrap="square">
            <a:spAutoFit/>
          </a:bodyPr>
          <a:lstStyle>
            <a:defPPr>
              <a:defRPr lang="de-DE"/>
            </a:defPPr>
            <a:lvl1pPr algn="ctr">
              <a:defRPr sz="1200"/>
            </a:lvl1pPr>
          </a:lstStyle>
          <a:p>
            <a:r>
              <a:rPr lang="en-GB" noProof="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Final test selected </a:t>
            </a:r>
          </a:p>
        </p:txBody>
      </p:sp>
      <p:cxnSp>
        <p:nvCxnSpPr>
          <p:cNvPr id="185" name="Gewinkelte Verbindung 184">
            <a:extLst>
              <a:ext uri="{FF2B5EF4-FFF2-40B4-BE49-F238E27FC236}">
                <a16:creationId xmlns:a16="http://schemas.microsoft.com/office/drawing/2014/main" id="{5065234F-6F38-1DC1-8380-35A188942DD8}"/>
              </a:ext>
            </a:extLst>
          </p:cNvPr>
          <p:cNvCxnSpPr>
            <a:cxnSpLocks/>
            <a:stCxn id="7" idx="3"/>
          </p:cNvCxnSpPr>
          <p:nvPr/>
        </p:nvCxnSpPr>
        <p:spPr>
          <a:xfrm>
            <a:off x="9681411" y="499148"/>
            <a:ext cx="118826" cy="334194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3" name="Gerade Verbindung mit Pfeil 362">
            <a:extLst>
              <a:ext uri="{FF2B5EF4-FFF2-40B4-BE49-F238E27FC236}">
                <a16:creationId xmlns:a16="http://schemas.microsoft.com/office/drawing/2014/main" id="{13CD7B49-405F-5D16-AC8B-EBD1A0F30A47}"/>
              </a:ext>
            </a:extLst>
          </p:cNvPr>
          <p:cNvCxnSpPr>
            <a:cxnSpLocks/>
          </p:cNvCxnSpPr>
          <p:nvPr/>
        </p:nvCxnSpPr>
        <p:spPr>
          <a:xfrm>
            <a:off x="2502316" y="3465445"/>
            <a:ext cx="0" cy="562219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extfeld 4">
            <a:extLst>
              <a:ext uri="{FF2B5EF4-FFF2-40B4-BE49-F238E27FC236}">
                <a16:creationId xmlns:a16="http://schemas.microsoft.com/office/drawing/2014/main" id="{457A86FB-C2B8-6834-FCCC-2B5BD446650E}"/>
              </a:ext>
            </a:extLst>
          </p:cNvPr>
          <p:cNvSpPr txBox="1"/>
          <p:nvPr/>
        </p:nvSpPr>
        <p:spPr>
          <a:xfrm>
            <a:off x="332044" y="5467037"/>
            <a:ext cx="1868481" cy="281831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w="12700">
            <a:noFill/>
          </a:ln>
        </p:spPr>
        <p:txBody>
          <a:bodyPr wrap="square">
            <a:spAutoFit/>
          </a:bodyPr>
          <a:lstStyle>
            <a:defPPr>
              <a:defRPr lang="de-DE"/>
            </a:defPPr>
            <a:lvl1pPr algn="ctr">
              <a:defRPr sz="1200"/>
            </a:lvl1pPr>
          </a:lstStyle>
          <a:p>
            <a:r>
              <a:rPr lang="en-GB" noProof="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non-parametric tests </a:t>
            </a:r>
          </a:p>
        </p:txBody>
      </p:sp>
      <p:sp>
        <p:nvSpPr>
          <p:cNvPr id="148" name="Textfeld 147">
            <a:extLst>
              <a:ext uri="{FF2B5EF4-FFF2-40B4-BE49-F238E27FC236}">
                <a16:creationId xmlns:a16="http://schemas.microsoft.com/office/drawing/2014/main" id="{1D51A81E-99D0-3FD1-DB90-24A001771304}"/>
              </a:ext>
            </a:extLst>
          </p:cNvPr>
          <p:cNvSpPr txBox="1"/>
          <p:nvPr/>
        </p:nvSpPr>
        <p:spPr>
          <a:xfrm>
            <a:off x="305981" y="5126561"/>
            <a:ext cx="1859022" cy="281831"/>
          </a:xfrm>
          <a:prstGeom prst="rect">
            <a:avLst/>
          </a:prstGeom>
          <a:solidFill>
            <a:schemeClr val="accent4">
              <a:alpha val="19758"/>
            </a:schemeClr>
          </a:solidFill>
          <a:ln w="12700">
            <a:noFill/>
          </a:ln>
        </p:spPr>
        <p:txBody>
          <a:bodyPr wrap="square">
            <a:spAutoFit/>
          </a:bodyPr>
          <a:lstStyle/>
          <a:p>
            <a:pPr algn="ctr"/>
            <a:r>
              <a:rPr lang="en-GB" sz="1200" noProof="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parametric tests</a:t>
            </a:r>
          </a:p>
        </p:txBody>
      </p:sp>
      <p:sp>
        <p:nvSpPr>
          <p:cNvPr id="477" name="Textfeld 476">
            <a:extLst>
              <a:ext uri="{FF2B5EF4-FFF2-40B4-BE49-F238E27FC236}">
                <a16:creationId xmlns:a16="http://schemas.microsoft.com/office/drawing/2014/main" id="{B8175C6B-E50D-CD5D-167A-9DCCFF825618}"/>
              </a:ext>
            </a:extLst>
          </p:cNvPr>
          <p:cNvSpPr txBox="1"/>
          <p:nvPr/>
        </p:nvSpPr>
        <p:spPr>
          <a:xfrm>
            <a:off x="306189" y="4866743"/>
            <a:ext cx="1091245" cy="281831"/>
          </a:xfrm>
          <a:prstGeom prst="rect">
            <a:avLst/>
          </a:prstGeom>
          <a:noFill/>
          <a:ln w="12700">
            <a:noFill/>
          </a:ln>
        </p:spPr>
        <p:txBody>
          <a:bodyPr wrap="square">
            <a:spAutoFit/>
          </a:bodyPr>
          <a:lstStyle>
            <a:defPPr>
              <a:defRPr lang="de-DE"/>
            </a:defPPr>
            <a:lvl1pPr algn="ctr">
              <a:defRPr sz="1200"/>
            </a:lvl1pPr>
          </a:lstStyle>
          <a:p>
            <a:pPr algn="l"/>
            <a:r>
              <a:rPr lang="en-GB" noProof="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Colour code: </a:t>
            </a:r>
          </a:p>
        </p:txBody>
      </p:sp>
      <p:grpSp>
        <p:nvGrpSpPr>
          <p:cNvPr id="491" name="Gruppieren 490">
            <a:extLst>
              <a:ext uri="{FF2B5EF4-FFF2-40B4-BE49-F238E27FC236}">
                <a16:creationId xmlns:a16="http://schemas.microsoft.com/office/drawing/2014/main" id="{94681B08-1213-94D5-11D9-ED24A515314C}"/>
              </a:ext>
            </a:extLst>
          </p:cNvPr>
          <p:cNvGrpSpPr/>
          <p:nvPr/>
        </p:nvGrpSpPr>
        <p:grpSpPr>
          <a:xfrm>
            <a:off x="4905209" y="718910"/>
            <a:ext cx="3192599" cy="542165"/>
            <a:chOff x="1703354" y="1536945"/>
            <a:chExt cx="2305294" cy="305400"/>
          </a:xfrm>
        </p:grpSpPr>
        <p:cxnSp>
          <p:nvCxnSpPr>
            <p:cNvPr id="492" name="Gerade Verbindung mit Pfeil 491">
              <a:extLst>
                <a:ext uri="{FF2B5EF4-FFF2-40B4-BE49-F238E27FC236}">
                  <a16:creationId xmlns:a16="http://schemas.microsoft.com/office/drawing/2014/main" id="{3BA7FFCA-4D72-0364-B518-FE3158E315A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703354" y="1536945"/>
              <a:ext cx="1655703" cy="286859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3" name="Gerade Verbindung mit Pfeil 492">
              <a:extLst>
                <a:ext uri="{FF2B5EF4-FFF2-40B4-BE49-F238E27FC236}">
                  <a16:creationId xmlns:a16="http://schemas.microsoft.com/office/drawing/2014/main" id="{A7224410-7D89-E92E-63F1-1C821F8A47D6}"/>
                </a:ext>
              </a:extLst>
            </p:cNvPr>
            <p:cNvCxnSpPr>
              <a:cxnSpLocks/>
            </p:cNvCxnSpPr>
            <p:nvPr/>
          </p:nvCxnSpPr>
          <p:spPr>
            <a:xfrm>
              <a:off x="3359058" y="1536945"/>
              <a:ext cx="649590" cy="30540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466" name="Gerade Verbindung mit Pfeil 465">
            <a:extLst>
              <a:ext uri="{FF2B5EF4-FFF2-40B4-BE49-F238E27FC236}">
                <a16:creationId xmlns:a16="http://schemas.microsoft.com/office/drawing/2014/main" id="{00D746DC-102B-3451-7FA5-F6D9390A75CF}"/>
              </a:ext>
            </a:extLst>
          </p:cNvPr>
          <p:cNvCxnSpPr>
            <a:cxnSpLocks/>
          </p:cNvCxnSpPr>
          <p:nvPr/>
        </p:nvCxnSpPr>
        <p:spPr>
          <a:xfrm>
            <a:off x="8331728" y="4332738"/>
            <a:ext cx="0" cy="193052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0" name="Gerade Verbindung mit Pfeil 469">
            <a:extLst>
              <a:ext uri="{FF2B5EF4-FFF2-40B4-BE49-F238E27FC236}">
                <a16:creationId xmlns:a16="http://schemas.microsoft.com/office/drawing/2014/main" id="{538BDC58-6AA6-A935-F515-6119FA86DF43}"/>
              </a:ext>
            </a:extLst>
          </p:cNvPr>
          <p:cNvCxnSpPr>
            <a:cxnSpLocks/>
            <a:stCxn id="27" idx="2"/>
            <a:endCxn id="94" idx="0"/>
          </p:cNvCxnSpPr>
          <p:nvPr/>
        </p:nvCxnSpPr>
        <p:spPr>
          <a:xfrm flipH="1">
            <a:off x="3045997" y="3861469"/>
            <a:ext cx="6999" cy="449071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6" name="Gerade Verbindung mit Pfeil 495">
            <a:extLst>
              <a:ext uri="{FF2B5EF4-FFF2-40B4-BE49-F238E27FC236}">
                <a16:creationId xmlns:a16="http://schemas.microsoft.com/office/drawing/2014/main" id="{91075330-8A9D-F089-3636-ACA857BAF855}"/>
              </a:ext>
            </a:extLst>
          </p:cNvPr>
          <p:cNvCxnSpPr>
            <a:cxnSpLocks/>
          </p:cNvCxnSpPr>
          <p:nvPr/>
        </p:nvCxnSpPr>
        <p:spPr>
          <a:xfrm flipH="1">
            <a:off x="8331728" y="3386963"/>
            <a:ext cx="4015" cy="640701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9" name="Rechteck 78">
            <a:extLst>
              <a:ext uri="{FF2B5EF4-FFF2-40B4-BE49-F238E27FC236}">
                <a16:creationId xmlns:a16="http://schemas.microsoft.com/office/drawing/2014/main" id="{AB751EC2-5961-AD29-08CB-BC42FA3F0C6C}"/>
              </a:ext>
            </a:extLst>
          </p:cNvPr>
          <p:cNvSpPr/>
          <p:nvPr/>
        </p:nvSpPr>
        <p:spPr>
          <a:xfrm>
            <a:off x="305981" y="4815985"/>
            <a:ext cx="4524425" cy="999264"/>
          </a:xfrm>
          <a:prstGeom prst="rect">
            <a:avLst/>
          </a:prstGeom>
          <a:noFill/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grpSp>
        <p:nvGrpSpPr>
          <p:cNvPr id="17" name="Gruppieren 16">
            <a:extLst>
              <a:ext uri="{FF2B5EF4-FFF2-40B4-BE49-F238E27FC236}">
                <a16:creationId xmlns:a16="http://schemas.microsoft.com/office/drawing/2014/main" id="{A7C746C7-E624-0BBD-A3C8-B6FEC189AB6D}"/>
              </a:ext>
            </a:extLst>
          </p:cNvPr>
          <p:cNvGrpSpPr/>
          <p:nvPr/>
        </p:nvGrpSpPr>
        <p:grpSpPr>
          <a:xfrm>
            <a:off x="1999051" y="1911938"/>
            <a:ext cx="1552397" cy="469922"/>
            <a:chOff x="2719572" y="1536945"/>
            <a:chExt cx="1289076" cy="305400"/>
          </a:xfrm>
        </p:grpSpPr>
        <p:cxnSp>
          <p:nvCxnSpPr>
            <p:cNvPr id="20" name="Gerade Verbindung mit Pfeil 19">
              <a:extLst>
                <a:ext uri="{FF2B5EF4-FFF2-40B4-BE49-F238E27FC236}">
                  <a16:creationId xmlns:a16="http://schemas.microsoft.com/office/drawing/2014/main" id="{1D53AFAE-FDCA-5E72-B37F-2D3D46B6655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719572" y="1536945"/>
              <a:ext cx="639486" cy="30540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Gerade Verbindung mit Pfeil 20">
              <a:extLst>
                <a:ext uri="{FF2B5EF4-FFF2-40B4-BE49-F238E27FC236}">
                  <a16:creationId xmlns:a16="http://schemas.microsoft.com/office/drawing/2014/main" id="{3E9197D2-3144-9BBD-EADA-E55D509C8CC1}"/>
                </a:ext>
              </a:extLst>
            </p:cNvPr>
            <p:cNvCxnSpPr>
              <a:cxnSpLocks/>
            </p:cNvCxnSpPr>
            <p:nvPr/>
          </p:nvCxnSpPr>
          <p:spPr>
            <a:xfrm>
              <a:off x="3359058" y="1536945"/>
              <a:ext cx="649590" cy="30540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feld 13">
                <a:extLst>
                  <a:ext uri="{FF2B5EF4-FFF2-40B4-BE49-F238E27FC236}">
                    <a16:creationId xmlns:a16="http://schemas.microsoft.com/office/drawing/2014/main" id="{9ABA092A-8DD2-A675-8935-37571EC3BCCA}"/>
                  </a:ext>
                </a:extLst>
              </p:cNvPr>
              <p:cNvSpPr txBox="1"/>
              <p:nvPr/>
            </p:nvSpPr>
            <p:spPr>
              <a:xfrm>
                <a:off x="998507" y="1228159"/>
                <a:ext cx="3906702" cy="276999"/>
              </a:xfrm>
              <a:prstGeom prst="rect">
                <a:avLst/>
              </a:prstGeom>
              <a:noFill/>
              <a:ln w="12700">
                <a:solidFill>
                  <a:schemeClr val="accent1">
                    <a:lumMod val="40000"/>
                    <a:lumOff val="60000"/>
                  </a:schemeClr>
                </a:solidFill>
              </a:ln>
            </p:spPr>
            <p:txBody>
              <a:bodyPr wrap="square">
                <a:spAutoFit/>
              </a:bodyPr>
              <a:lstStyle>
                <a:defPPr>
                  <a:defRPr lang="de-DE"/>
                </a:defPPr>
              </a:lstStyle>
              <a:p>
                <a:pPr algn="ctr"/>
                <a14:m>
                  <m:oMath xmlns:m="http://schemas.openxmlformats.org/officeDocument/2006/math">
                    <m:sSub>
                      <m:sSubPr>
                        <m:ctrlPr>
                          <a:rPr lang="en-GB" sz="1200" b="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1200" b="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𝑛</m:t>
                        </m:r>
                      </m:e>
                      <m:sub>
                        <m:r>
                          <a:rPr lang="en-US" sz="1200" b="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GB" sz="1200" noProof="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GB" sz="1200" i="1" noProof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≤30</m:t>
                    </m:r>
                    <m:r>
                      <a:rPr lang="en-GB" sz="1200" i="1" noProof="0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m:t> </m:t>
                    </m:r>
                  </m:oMath>
                </a14:m>
                <a:r>
                  <a:rPr lang="en-GB" sz="1200" noProof="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 for all </a:t>
                </a:r>
                <a:r>
                  <a:rPr lang="en-GB" sz="1200" noProof="0" dirty="0" err="1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i</a:t>
                </a:r>
                <a:r>
                  <a:rPr lang="en-GB" sz="1200" noProof="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 </a:t>
                </a:r>
              </a:p>
            </p:txBody>
          </p:sp>
        </mc:Choice>
        <mc:Fallback xmlns="">
          <p:sp>
            <p:nvSpPr>
              <p:cNvPr id="14" name="Textfeld 13">
                <a:extLst>
                  <a:ext uri="{FF2B5EF4-FFF2-40B4-BE49-F238E27FC236}">
                    <a16:creationId xmlns:a16="http://schemas.microsoft.com/office/drawing/2014/main" id="{9ABA092A-8DD2-A675-8935-37571EC3BCC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8507" y="1228159"/>
                <a:ext cx="3906702" cy="276999"/>
              </a:xfrm>
              <a:prstGeom prst="rect">
                <a:avLst/>
              </a:prstGeom>
              <a:blipFill>
                <a:blip r:embed="rId7"/>
                <a:stretch>
                  <a:fillRect b="-8333"/>
                </a:stretch>
              </a:blipFill>
              <a:ln w="12700">
                <a:solidFill>
                  <a:schemeClr val="accent1">
                    <a:lumMod val="40000"/>
                    <a:lumOff val="60000"/>
                  </a:schemeClr>
                </a:solidFill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feld 23">
                <a:extLst>
                  <a:ext uri="{FF2B5EF4-FFF2-40B4-BE49-F238E27FC236}">
                    <a16:creationId xmlns:a16="http://schemas.microsoft.com/office/drawing/2014/main" id="{FA4854F4-38B8-1FD3-B7F2-A30DE84DA21C}"/>
                  </a:ext>
                </a:extLst>
              </p:cNvPr>
              <p:cNvSpPr txBox="1"/>
              <p:nvPr/>
            </p:nvSpPr>
            <p:spPr>
              <a:xfrm>
                <a:off x="8045807" y="1366658"/>
                <a:ext cx="1490532" cy="276999"/>
              </a:xfrm>
              <a:prstGeom prst="rect">
                <a:avLst/>
              </a:prstGeom>
              <a:noFill/>
              <a:ln w="12700">
                <a:solidFill>
                  <a:schemeClr val="accent1">
                    <a:lumMod val="40000"/>
                    <a:lumOff val="60000"/>
                  </a:schemeClr>
                </a:solidFill>
              </a:ln>
            </p:spPr>
            <p:txBody>
              <a:bodyPr wrap="square">
                <a:spAutoFit/>
              </a:bodyPr>
              <a:lstStyle>
                <a:defPPr>
                  <a:defRPr lang="de-DE"/>
                </a:defPPr>
              </a:lstStyle>
              <a:p>
                <a:pPr algn="ctr"/>
                <a14:m>
                  <m:oMath xmlns:m="http://schemas.openxmlformats.org/officeDocument/2006/math">
                    <m:sSub>
                      <m:sSubPr>
                        <m:ctrlPr>
                          <a:rPr lang="en-GB" sz="120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120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𝑛</m:t>
                        </m:r>
                      </m:e>
                      <m:sub>
                        <m:r>
                          <a:rPr lang="en-US" sz="1200" b="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GB" sz="1200" b="0" i="1" noProof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&gt;30</m:t>
                    </m:r>
                  </m:oMath>
                </a14:m>
                <a:r>
                  <a:rPr lang="en-GB" sz="120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 for all i </a:t>
                </a:r>
                <a:endParaRPr lang="en-GB" sz="1200" noProof="0" dirty="0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endParaRPr>
              </a:p>
            </p:txBody>
          </p:sp>
        </mc:Choice>
        <mc:Fallback xmlns="">
          <p:sp>
            <p:nvSpPr>
              <p:cNvPr id="24" name="Textfeld 23">
                <a:extLst>
                  <a:ext uri="{FF2B5EF4-FFF2-40B4-BE49-F238E27FC236}">
                    <a16:creationId xmlns:a16="http://schemas.microsoft.com/office/drawing/2014/main" id="{FA4854F4-38B8-1FD3-B7F2-A30DE84DA21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45807" y="1366658"/>
                <a:ext cx="1490532" cy="276999"/>
              </a:xfrm>
              <a:prstGeom prst="rect">
                <a:avLst/>
              </a:prstGeom>
              <a:blipFill>
                <a:blip r:embed="rId8"/>
                <a:stretch>
                  <a:fillRect b="-8333"/>
                </a:stretch>
              </a:blipFill>
              <a:ln w="12700">
                <a:solidFill>
                  <a:schemeClr val="accent1">
                    <a:lumMod val="40000"/>
                    <a:lumOff val="60000"/>
                  </a:schemeClr>
                </a:solidFill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5" name="Gerade Verbindung mit Pfeil 24">
            <a:extLst>
              <a:ext uri="{FF2B5EF4-FFF2-40B4-BE49-F238E27FC236}">
                <a16:creationId xmlns:a16="http://schemas.microsoft.com/office/drawing/2014/main" id="{F344F047-1793-D4AB-4EFD-2A246A181E79}"/>
              </a:ext>
            </a:extLst>
          </p:cNvPr>
          <p:cNvCxnSpPr>
            <a:cxnSpLocks/>
          </p:cNvCxnSpPr>
          <p:nvPr/>
        </p:nvCxnSpPr>
        <p:spPr>
          <a:xfrm flipH="1">
            <a:off x="10021390" y="2039025"/>
            <a:ext cx="42701" cy="1988639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5" name="Gruppieren 34">
            <a:extLst>
              <a:ext uri="{FF2B5EF4-FFF2-40B4-BE49-F238E27FC236}">
                <a16:creationId xmlns:a16="http://schemas.microsoft.com/office/drawing/2014/main" id="{A2429EDB-E2BB-31CA-2821-75B3F5DFF992}"/>
              </a:ext>
            </a:extLst>
          </p:cNvPr>
          <p:cNvGrpSpPr/>
          <p:nvPr/>
        </p:nvGrpSpPr>
        <p:grpSpPr>
          <a:xfrm>
            <a:off x="1010587" y="2738149"/>
            <a:ext cx="1552397" cy="469922"/>
            <a:chOff x="2719572" y="1536945"/>
            <a:chExt cx="1289076" cy="305400"/>
          </a:xfrm>
        </p:grpSpPr>
        <p:cxnSp>
          <p:nvCxnSpPr>
            <p:cNvPr id="36" name="Gerade Verbindung mit Pfeil 35">
              <a:extLst>
                <a:ext uri="{FF2B5EF4-FFF2-40B4-BE49-F238E27FC236}">
                  <a16:creationId xmlns:a16="http://schemas.microsoft.com/office/drawing/2014/main" id="{E0BA3BAB-194F-2614-63E2-8485076000F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719572" y="1536945"/>
              <a:ext cx="639486" cy="30540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Gerade Verbindung mit Pfeil 36">
              <a:extLst>
                <a:ext uri="{FF2B5EF4-FFF2-40B4-BE49-F238E27FC236}">
                  <a16:creationId xmlns:a16="http://schemas.microsoft.com/office/drawing/2014/main" id="{93C14A77-D1D8-9E6D-BA0B-FD743BDCE7B6}"/>
                </a:ext>
              </a:extLst>
            </p:cNvPr>
            <p:cNvCxnSpPr>
              <a:cxnSpLocks/>
            </p:cNvCxnSpPr>
            <p:nvPr/>
          </p:nvCxnSpPr>
          <p:spPr>
            <a:xfrm>
              <a:off x="3359058" y="1536945"/>
              <a:ext cx="649590" cy="30540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" name="Textfeld 2">
            <a:extLst>
              <a:ext uri="{FF2B5EF4-FFF2-40B4-BE49-F238E27FC236}">
                <a16:creationId xmlns:a16="http://schemas.microsoft.com/office/drawing/2014/main" id="{1DCF5845-23C4-838A-E1D1-32A582B28FBD}"/>
              </a:ext>
            </a:extLst>
          </p:cNvPr>
          <p:cNvSpPr txBox="1"/>
          <p:nvPr/>
        </p:nvSpPr>
        <p:spPr>
          <a:xfrm>
            <a:off x="5646321" y="4970350"/>
            <a:ext cx="6099586" cy="2010807"/>
          </a:xfrm>
          <a:prstGeom prst="rect">
            <a:avLst/>
          </a:prstGeom>
          <a:solidFill>
            <a:schemeClr val="accent4">
              <a:alpha val="19758"/>
            </a:schemeClr>
          </a:solidFill>
          <a:ln w="12700">
            <a:noFill/>
          </a:ln>
        </p:spPr>
        <p:txBody>
          <a:bodyPr wrap="square">
            <a:spAutoFit/>
          </a:bodyPr>
          <a:lstStyle/>
          <a:p>
            <a:pPr algn="l">
              <a:spcAft>
                <a:spcPts val="1950"/>
              </a:spcAft>
              <a:buNone/>
            </a:pPr>
            <a:r>
              <a:rPr lang="de-CH" b="0" i="0" dirty="0">
                <a:solidFill>
                  <a:srgbClr val="767673"/>
                </a:solidFill>
                <a:effectLst/>
                <a:latin typeface="Droid Sans"/>
              </a:rPr>
              <a:t>The Games-Howell </a:t>
            </a:r>
            <a:r>
              <a:rPr lang="de-CH" b="0" i="0" dirty="0" err="1">
                <a:solidFill>
                  <a:srgbClr val="767673"/>
                </a:solidFill>
                <a:effectLst/>
                <a:latin typeface="Droid Sans"/>
              </a:rPr>
              <a:t>post</a:t>
            </a:r>
            <a:r>
              <a:rPr lang="de-CH" b="0" i="0" dirty="0">
                <a:solidFill>
                  <a:srgbClr val="767673"/>
                </a:solidFill>
                <a:effectLst/>
                <a:latin typeface="Droid Sans"/>
              </a:rPr>
              <a:t> hoc </a:t>
            </a:r>
            <a:r>
              <a:rPr lang="de-CH" b="0" i="0" dirty="0" err="1">
                <a:solidFill>
                  <a:srgbClr val="767673"/>
                </a:solidFill>
                <a:effectLst/>
                <a:latin typeface="Droid Sans"/>
              </a:rPr>
              <a:t>test</a:t>
            </a:r>
            <a:r>
              <a:rPr lang="de-CH" b="0" i="0" dirty="0">
                <a:solidFill>
                  <a:srgbClr val="767673"/>
                </a:solidFill>
                <a:effectLst/>
                <a:latin typeface="Droid Sans"/>
              </a:rPr>
              <a:t>, like </a:t>
            </a:r>
            <a:r>
              <a:rPr lang="de-CH" b="0" i="0" dirty="0" err="1">
                <a:solidFill>
                  <a:srgbClr val="767673"/>
                </a:solidFill>
                <a:effectLst/>
                <a:latin typeface="Droid Sans"/>
              </a:rPr>
              <a:t>Welch’s</a:t>
            </a:r>
            <a:r>
              <a:rPr lang="de-CH" b="0" i="0" dirty="0">
                <a:solidFill>
                  <a:srgbClr val="767673"/>
                </a:solidFill>
                <a:effectLst/>
                <a:latin typeface="Droid Sans"/>
              </a:rPr>
              <a:t> </a:t>
            </a:r>
            <a:r>
              <a:rPr lang="de-CH" b="0" i="0" dirty="0" err="1">
                <a:solidFill>
                  <a:srgbClr val="767673"/>
                </a:solidFill>
                <a:effectLst/>
                <a:latin typeface="Droid Sans"/>
              </a:rPr>
              <a:t>analysis</a:t>
            </a:r>
            <a:r>
              <a:rPr lang="de-CH" b="0" i="0" dirty="0">
                <a:solidFill>
                  <a:srgbClr val="767673"/>
                </a:solidFill>
                <a:effectLst/>
                <a:latin typeface="Droid Sans"/>
              </a:rPr>
              <a:t> </a:t>
            </a:r>
            <a:r>
              <a:rPr lang="de-CH" b="0" i="0" dirty="0" err="1">
                <a:solidFill>
                  <a:srgbClr val="767673"/>
                </a:solidFill>
                <a:effectLst/>
                <a:latin typeface="Droid Sans"/>
              </a:rPr>
              <a:t>of</a:t>
            </a:r>
            <a:r>
              <a:rPr lang="de-CH" b="0" i="0" dirty="0">
                <a:solidFill>
                  <a:srgbClr val="767673"/>
                </a:solidFill>
                <a:effectLst/>
                <a:latin typeface="Droid Sans"/>
              </a:rPr>
              <a:t> </a:t>
            </a:r>
            <a:r>
              <a:rPr lang="de-CH" b="0" i="0" dirty="0" err="1">
                <a:solidFill>
                  <a:srgbClr val="767673"/>
                </a:solidFill>
                <a:effectLst/>
                <a:latin typeface="Droid Sans"/>
              </a:rPr>
              <a:t>variance</a:t>
            </a:r>
            <a:r>
              <a:rPr lang="de-CH" b="0" i="0" dirty="0">
                <a:solidFill>
                  <a:srgbClr val="767673"/>
                </a:solidFill>
                <a:effectLst/>
                <a:latin typeface="Droid Sans"/>
              </a:rPr>
              <a:t>, </a:t>
            </a:r>
            <a:r>
              <a:rPr lang="de-CH" b="0" i="0" dirty="0" err="1">
                <a:solidFill>
                  <a:srgbClr val="767673"/>
                </a:solidFill>
                <a:effectLst/>
                <a:latin typeface="Droid Sans"/>
              </a:rPr>
              <a:t>does</a:t>
            </a:r>
            <a:r>
              <a:rPr lang="de-CH" b="0" i="0" dirty="0">
                <a:solidFill>
                  <a:srgbClr val="767673"/>
                </a:solidFill>
                <a:effectLst/>
                <a:latin typeface="Droid Sans"/>
              </a:rPr>
              <a:t> not </a:t>
            </a:r>
            <a:r>
              <a:rPr lang="de-CH" b="0" i="0" dirty="0" err="1">
                <a:solidFill>
                  <a:srgbClr val="767673"/>
                </a:solidFill>
                <a:effectLst/>
                <a:latin typeface="Droid Sans"/>
              </a:rPr>
              <a:t>require</a:t>
            </a:r>
            <a:r>
              <a:rPr lang="de-CH" b="0" i="0" dirty="0">
                <a:solidFill>
                  <a:srgbClr val="767673"/>
                </a:solidFill>
                <a:effectLst/>
                <a:latin typeface="Droid Sans"/>
              </a:rPr>
              <a:t> </a:t>
            </a:r>
            <a:r>
              <a:rPr lang="de-CH" b="0" i="0" dirty="0" err="1">
                <a:solidFill>
                  <a:srgbClr val="767673"/>
                </a:solidFill>
                <a:effectLst/>
                <a:latin typeface="Droid Sans"/>
              </a:rPr>
              <a:t>the</a:t>
            </a:r>
            <a:r>
              <a:rPr lang="de-CH" b="0" i="0" dirty="0">
                <a:solidFill>
                  <a:srgbClr val="767673"/>
                </a:solidFill>
                <a:effectLst/>
                <a:latin typeface="Droid Sans"/>
              </a:rPr>
              <a:t> </a:t>
            </a:r>
            <a:r>
              <a:rPr lang="de-CH" b="0" i="0" dirty="0" err="1">
                <a:solidFill>
                  <a:srgbClr val="767673"/>
                </a:solidFill>
                <a:effectLst/>
                <a:latin typeface="Droid Sans"/>
              </a:rPr>
              <a:t>groups</a:t>
            </a:r>
            <a:r>
              <a:rPr lang="de-CH" b="0" i="0" dirty="0">
                <a:solidFill>
                  <a:srgbClr val="767673"/>
                </a:solidFill>
                <a:effectLst/>
                <a:latin typeface="Droid Sans"/>
              </a:rPr>
              <a:t> </a:t>
            </a:r>
            <a:r>
              <a:rPr lang="de-CH" b="0" i="0" dirty="0" err="1">
                <a:solidFill>
                  <a:srgbClr val="767673"/>
                </a:solidFill>
                <a:effectLst/>
                <a:latin typeface="Droid Sans"/>
              </a:rPr>
              <a:t>to</a:t>
            </a:r>
            <a:r>
              <a:rPr lang="de-CH" b="0" i="0" dirty="0">
                <a:solidFill>
                  <a:srgbClr val="767673"/>
                </a:solidFill>
                <a:effectLst/>
                <a:latin typeface="Droid Sans"/>
              </a:rPr>
              <a:t> </a:t>
            </a:r>
            <a:r>
              <a:rPr lang="de-CH" b="0" i="0" dirty="0" err="1">
                <a:solidFill>
                  <a:srgbClr val="767673"/>
                </a:solidFill>
                <a:effectLst/>
                <a:latin typeface="Droid Sans"/>
              </a:rPr>
              <a:t>have</a:t>
            </a:r>
            <a:r>
              <a:rPr lang="de-CH" b="0" i="0" dirty="0">
                <a:solidFill>
                  <a:srgbClr val="767673"/>
                </a:solidFill>
                <a:effectLst/>
                <a:latin typeface="Droid Sans"/>
              </a:rPr>
              <a:t> </a:t>
            </a:r>
            <a:r>
              <a:rPr lang="de-CH" b="0" i="0" dirty="0" err="1">
                <a:solidFill>
                  <a:srgbClr val="767673"/>
                </a:solidFill>
                <a:effectLst/>
                <a:latin typeface="Droid Sans"/>
              </a:rPr>
              <a:t>equal</a:t>
            </a:r>
            <a:r>
              <a:rPr lang="de-CH" b="0" i="0" dirty="0">
                <a:solidFill>
                  <a:srgbClr val="767673"/>
                </a:solidFill>
                <a:effectLst/>
                <a:latin typeface="Droid Sans"/>
              </a:rPr>
              <a:t> </a:t>
            </a:r>
            <a:r>
              <a:rPr lang="de-CH" b="0" i="0" dirty="0" err="1">
                <a:solidFill>
                  <a:srgbClr val="767673"/>
                </a:solidFill>
                <a:effectLst/>
                <a:latin typeface="Droid Sans"/>
              </a:rPr>
              <a:t>standard</a:t>
            </a:r>
            <a:r>
              <a:rPr lang="de-CH" b="0" i="0" dirty="0">
                <a:solidFill>
                  <a:srgbClr val="767673"/>
                </a:solidFill>
                <a:effectLst/>
                <a:latin typeface="Droid Sans"/>
              </a:rPr>
              <a:t> </a:t>
            </a:r>
            <a:r>
              <a:rPr lang="de-CH" b="0" i="0" dirty="0" err="1">
                <a:solidFill>
                  <a:srgbClr val="767673"/>
                </a:solidFill>
                <a:effectLst/>
                <a:latin typeface="Droid Sans"/>
              </a:rPr>
              <a:t>deviations</a:t>
            </a:r>
            <a:r>
              <a:rPr lang="de-CH" b="0" i="0" dirty="0">
                <a:solidFill>
                  <a:srgbClr val="767673"/>
                </a:solidFill>
                <a:effectLst/>
                <a:latin typeface="Droid Sans"/>
              </a:rPr>
              <a:t>. </a:t>
            </a:r>
            <a:r>
              <a:rPr lang="de-CH" b="0" i="0" dirty="0" err="1">
                <a:solidFill>
                  <a:srgbClr val="767673"/>
                </a:solidFill>
                <a:effectLst/>
                <a:latin typeface="Droid Sans"/>
              </a:rPr>
              <a:t>Conversely</a:t>
            </a:r>
            <a:r>
              <a:rPr lang="de-CH" b="0" i="0" dirty="0">
                <a:solidFill>
                  <a:srgbClr val="767673"/>
                </a:solidFill>
                <a:effectLst/>
                <a:latin typeface="Droid Sans"/>
              </a:rPr>
              <a:t>, </a:t>
            </a:r>
            <a:r>
              <a:rPr lang="de-CH" b="0" i="0" dirty="0" err="1">
                <a:solidFill>
                  <a:srgbClr val="767673"/>
                </a:solidFill>
                <a:effectLst/>
                <a:latin typeface="Droid Sans"/>
              </a:rPr>
              <a:t>Tukey’s</a:t>
            </a:r>
            <a:r>
              <a:rPr lang="de-CH" b="0" i="0" dirty="0">
                <a:solidFill>
                  <a:srgbClr val="767673"/>
                </a:solidFill>
                <a:effectLst/>
                <a:latin typeface="Droid Sans"/>
              </a:rPr>
              <a:t> </a:t>
            </a:r>
            <a:r>
              <a:rPr lang="de-CH" b="0" i="0" dirty="0" err="1">
                <a:solidFill>
                  <a:srgbClr val="767673"/>
                </a:solidFill>
                <a:effectLst/>
                <a:latin typeface="Droid Sans"/>
              </a:rPr>
              <a:t>method</a:t>
            </a:r>
            <a:r>
              <a:rPr lang="de-CH" b="0" i="0" dirty="0">
                <a:solidFill>
                  <a:srgbClr val="767673"/>
                </a:solidFill>
                <a:effectLst/>
                <a:latin typeface="Droid Sans"/>
              </a:rPr>
              <a:t> </a:t>
            </a:r>
            <a:r>
              <a:rPr lang="de-CH" b="0" i="0" dirty="0" err="1">
                <a:solidFill>
                  <a:srgbClr val="767673"/>
                </a:solidFill>
                <a:effectLst/>
                <a:latin typeface="Droid Sans"/>
              </a:rPr>
              <a:t>does</a:t>
            </a:r>
            <a:r>
              <a:rPr lang="de-CH" b="0" i="0" dirty="0">
                <a:solidFill>
                  <a:srgbClr val="767673"/>
                </a:solidFill>
                <a:effectLst/>
                <a:latin typeface="Droid Sans"/>
              </a:rPr>
              <a:t> </a:t>
            </a:r>
            <a:r>
              <a:rPr lang="de-CH" b="0" i="0" dirty="0" err="1">
                <a:solidFill>
                  <a:srgbClr val="767673"/>
                </a:solidFill>
                <a:effectLst/>
                <a:latin typeface="Droid Sans"/>
              </a:rPr>
              <a:t>require</a:t>
            </a:r>
            <a:r>
              <a:rPr lang="de-CH" b="0" i="0" dirty="0">
                <a:solidFill>
                  <a:srgbClr val="767673"/>
                </a:solidFill>
                <a:effectLst/>
                <a:latin typeface="Droid Sans"/>
              </a:rPr>
              <a:t> </a:t>
            </a:r>
            <a:r>
              <a:rPr lang="de-CH" b="0" i="0" dirty="0" err="1">
                <a:solidFill>
                  <a:srgbClr val="767673"/>
                </a:solidFill>
                <a:effectLst/>
                <a:latin typeface="Droid Sans"/>
              </a:rPr>
              <a:t>equal</a:t>
            </a:r>
            <a:r>
              <a:rPr lang="de-CH" b="0" i="0" dirty="0">
                <a:solidFill>
                  <a:srgbClr val="767673"/>
                </a:solidFill>
                <a:effectLst/>
                <a:latin typeface="Droid Sans"/>
              </a:rPr>
              <a:t> </a:t>
            </a:r>
            <a:r>
              <a:rPr lang="de-CH" b="0" i="0" dirty="0" err="1">
                <a:solidFill>
                  <a:srgbClr val="767673"/>
                </a:solidFill>
                <a:effectLst/>
                <a:latin typeface="Droid Sans"/>
              </a:rPr>
              <a:t>standard</a:t>
            </a:r>
            <a:r>
              <a:rPr lang="de-CH" b="0" i="0" dirty="0">
                <a:solidFill>
                  <a:srgbClr val="767673"/>
                </a:solidFill>
                <a:effectLst/>
                <a:latin typeface="Droid Sans"/>
              </a:rPr>
              <a:t> </a:t>
            </a:r>
            <a:r>
              <a:rPr lang="de-CH" b="0" i="0" dirty="0" err="1">
                <a:solidFill>
                  <a:srgbClr val="767673"/>
                </a:solidFill>
                <a:effectLst/>
                <a:latin typeface="Droid Sans"/>
              </a:rPr>
              <a:t>deviations</a:t>
            </a:r>
            <a:r>
              <a:rPr lang="de-CH" b="0" i="0" dirty="0">
                <a:solidFill>
                  <a:srgbClr val="767673"/>
                </a:solidFill>
                <a:effectLst/>
                <a:latin typeface="Droid Sans"/>
              </a:rPr>
              <a:t>.</a:t>
            </a:r>
          </a:p>
          <a:p>
            <a:pPr>
              <a:buNone/>
            </a:pPr>
            <a:br>
              <a:rPr lang="de-CH" dirty="0"/>
            </a:b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74161305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3AEE3D2-A3A0-D0F0-14F9-D0808040C87C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7E5245A4-FF5C-DC4F-6F2C-6ABBF6DF42D8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de-DE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txDef>
      <a:spPr>
        <a:solidFill>
          <a:schemeClr val="accent4">
            <a:alpha val="19758"/>
          </a:schemeClr>
        </a:solidFill>
        <a:ln w="12700">
          <a:noFill/>
        </a:ln>
      </a:spPr>
      <a:bodyPr wrap="square">
        <a:spAutoFit/>
      </a:bodyPr>
      <a:lstStyle>
        <a:defPPr algn="ctr">
          <a:defRPr sz="800" noProof="0" dirty="0" smtClean="0">
            <a:latin typeface="Calibri" panose="020F0502020204030204" pitchFamily="34" charset="0"/>
            <a:ea typeface="Cambria Math" panose="02040503050406030204" pitchFamily="18" charset="0"/>
            <a:cs typeface="Calibri" panose="020F0502020204030204" pitchFamily="34" charset="0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2628DB25-49C7-9C48-9DEB-221973F78786}">
  <we:reference id="wa104381909" version="3.1.0.0" store="en-US" storeType="OMEX"/>
  <we:alternateReferences>
    <we:reference id="WA104381909" version="3.1.0.0" store="" storeType="OMEX"/>
  </we:alternateReferences>
  <we:properties/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909</Words>
  <Application>Microsoft Macintosh PowerPoint</Application>
  <PresentationFormat>Breitbild</PresentationFormat>
  <Paragraphs>124</Paragraphs>
  <Slides>6</Slides>
  <Notes>4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7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6</vt:i4>
      </vt:variant>
    </vt:vector>
  </HeadingPairs>
  <TitlesOfParts>
    <vt:vector size="14" baseType="lpstr">
      <vt:lpstr>Arial</vt:lpstr>
      <vt:lpstr>Calibri</vt:lpstr>
      <vt:lpstr>Calibri Light</vt:lpstr>
      <vt:lpstr>Cambria Math</vt:lpstr>
      <vt:lpstr>CMU Bright Roman</vt:lpstr>
      <vt:lpstr>Courier New</vt:lpstr>
      <vt:lpstr>Droid Sans</vt:lpstr>
      <vt:lpstr>Office</vt:lpstr>
      <vt:lpstr>PowerPoint-Präsentation</vt:lpstr>
      <vt:lpstr>Corrected Logic: Normality Checks in Welch Tests</vt:lpstr>
      <vt:lpstr>PowerPoint-Präsentation</vt:lpstr>
      <vt:lpstr>PowerPoint-Präsentation</vt:lpstr>
      <vt:lpstr>PowerPoint-Präsentation</vt:lpstr>
      <vt:lpstr>PowerPoint-Präsentation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Decision trees</dc:title>
  <dc:creator>Schilling Sabine HSLU W</dc:creator>
  <cp:lastModifiedBy>Schilling Sabine HSLU W</cp:lastModifiedBy>
  <cp:revision>34</cp:revision>
  <dcterms:created xsi:type="dcterms:W3CDTF">2023-05-08T12:12:17Z</dcterms:created>
  <dcterms:modified xsi:type="dcterms:W3CDTF">2025-12-12T19:18:00Z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e8b0afbd-3cf7-4707-aee4-8dc9d855de29_Enabled">
    <vt:lpwstr>true</vt:lpwstr>
  </property>
  <property fmtid="{D5CDD505-2E9C-101B-9397-08002B2CF9AE}" pid="3" name="MSIP_Label_e8b0afbd-3cf7-4707-aee4-8dc9d855de29_SetDate">
    <vt:lpwstr>2025-05-10T09:29:47Z</vt:lpwstr>
  </property>
  <property fmtid="{D5CDD505-2E9C-101B-9397-08002B2CF9AE}" pid="4" name="MSIP_Label_e8b0afbd-3cf7-4707-aee4-8dc9d855de29_Method">
    <vt:lpwstr>Privileged</vt:lpwstr>
  </property>
  <property fmtid="{D5CDD505-2E9C-101B-9397-08002B2CF9AE}" pid="5" name="MSIP_Label_e8b0afbd-3cf7-4707-aee4-8dc9d855de29_Name">
    <vt:lpwstr>intern</vt:lpwstr>
  </property>
  <property fmtid="{D5CDD505-2E9C-101B-9397-08002B2CF9AE}" pid="6" name="MSIP_Label_e8b0afbd-3cf7-4707-aee4-8dc9d855de29_SiteId">
    <vt:lpwstr>75a34008-d7d1-4924-8e78-31fea86f6e68</vt:lpwstr>
  </property>
  <property fmtid="{D5CDD505-2E9C-101B-9397-08002B2CF9AE}" pid="7" name="MSIP_Label_e8b0afbd-3cf7-4707-aee4-8dc9d855de29_ActionId">
    <vt:lpwstr>8647766f-e017-41ca-968f-3e61e90fbd83</vt:lpwstr>
  </property>
  <property fmtid="{D5CDD505-2E9C-101B-9397-08002B2CF9AE}" pid="8" name="MSIP_Label_e8b0afbd-3cf7-4707-aee4-8dc9d855de29_ContentBits">
    <vt:lpwstr>0</vt:lpwstr>
  </property>
  <property fmtid="{D5CDD505-2E9C-101B-9397-08002B2CF9AE}" pid="9" name="MSIP_Label_e8b0afbd-3cf7-4707-aee4-8dc9d855de29_Tag">
    <vt:lpwstr>50, 0, 1, 1</vt:lpwstr>
  </property>
</Properties>
</file>