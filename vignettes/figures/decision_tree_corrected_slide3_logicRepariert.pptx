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6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455"/>
    <p:restoredTop sz="79372"/>
  </p:normalViewPr>
  <p:slideViewPr>
    <p:cSldViewPr snapToGrid="0" snapToObjects="1" showGuides="1">
      <p:cViewPr varScale="1">
        <p:scale>
          <a:sx n="74" d="100"/>
          <a:sy n="74" d="100"/>
        </p:scale>
        <p:origin x="552" y="176"/>
      </p:cViewPr>
      <p:guideLst>
        <p:guide orient="horz" pos="2228"/>
        <p:guide pos="3840"/>
      </p:guideLst>
    </p:cSldViewPr>
  </p:slideViewPr>
  <p:notesTextViewPr>
    <p:cViewPr>
      <p:scale>
        <a:sx n="20" d="100"/>
        <a:sy n="2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hilling Sabine HSLU W" userId="b0e2af5c-9187-4900-883a-c96514cd8e15" providerId="ADAL" clId="{5E51067F-94D7-505D-9735-0698788361AC}"/>
    <pc:docChg chg="custSel delSld modSld">
      <pc:chgData name="Schilling Sabine HSLU W" userId="b0e2af5c-9187-4900-883a-c96514cd8e15" providerId="ADAL" clId="{5E51067F-94D7-505D-9735-0698788361AC}" dt="2025-12-27T18:07:31.364" v="79" actId="2696"/>
      <pc:docMkLst>
        <pc:docMk/>
      </pc:docMkLst>
      <pc:sldChg chg="del">
        <pc:chgData name="Schilling Sabine HSLU W" userId="b0e2af5c-9187-4900-883a-c96514cd8e15" providerId="ADAL" clId="{5E51067F-94D7-505D-9735-0698788361AC}" dt="2025-12-27T18:07:31.302" v="78" actId="2696"/>
        <pc:sldMkLst>
          <pc:docMk/>
          <pc:sldMk cId="348234868" sldId="261"/>
        </pc:sldMkLst>
      </pc:sldChg>
      <pc:sldChg chg="del">
        <pc:chgData name="Schilling Sabine HSLU W" userId="b0e2af5c-9187-4900-883a-c96514cd8e15" providerId="ADAL" clId="{5E51067F-94D7-505D-9735-0698788361AC}" dt="2025-12-27T18:07:26.886" v="77" actId="2696"/>
        <pc:sldMkLst>
          <pc:docMk/>
          <pc:sldMk cId="0" sldId="262"/>
        </pc:sldMkLst>
      </pc:sldChg>
      <pc:sldChg chg="del">
        <pc:chgData name="Schilling Sabine HSLU W" userId="b0e2af5c-9187-4900-883a-c96514cd8e15" providerId="ADAL" clId="{5E51067F-94D7-505D-9735-0698788361AC}" dt="2025-12-27T18:07:31.364" v="79" actId="2696"/>
        <pc:sldMkLst>
          <pc:docMk/>
          <pc:sldMk cId="2466277124" sldId="263"/>
        </pc:sldMkLst>
      </pc:sldChg>
      <pc:sldChg chg="del">
        <pc:chgData name="Schilling Sabine HSLU W" userId="b0e2af5c-9187-4900-883a-c96514cd8e15" providerId="ADAL" clId="{5E51067F-94D7-505D-9735-0698788361AC}" dt="2025-12-27T18:07:21.081" v="75" actId="2696"/>
        <pc:sldMkLst>
          <pc:docMk/>
          <pc:sldMk cId="0" sldId="264"/>
        </pc:sldMkLst>
      </pc:sldChg>
      <pc:sldChg chg="delSp modSp del mod">
        <pc:chgData name="Schilling Sabine HSLU W" userId="b0e2af5c-9187-4900-883a-c96514cd8e15" providerId="ADAL" clId="{5E51067F-94D7-505D-9735-0698788361AC}" dt="2025-12-27T18:07:24.007" v="76" actId="2696"/>
        <pc:sldMkLst>
          <pc:docMk/>
          <pc:sldMk cId="2856706440" sldId="265"/>
        </pc:sldMkLst>
      </pc:sldChg>
      <pc:sldChg chg="addSp modSp mod">
        <pc:chgData name="Schilling Sabine HSLU W" userId="b0e2af5c-9187-4900-883a-c96514cd8e15" providerId="ADAL" clId="{5E51067F-94D7-505D-9735-0698788361AC}" dt="2025-12-27T13:51:33.878" v="74" actId="1076"/>
        <pc:sldMkLst>
          <pc:docMk/>
          <pc:sldMk cId="741613057" sldId="266"/>
        </pc:sldMkLst>
        <pc:spChg chg="add mod">
          <ac:chgData name="Schilling Sabine HSLU W" userId="b0e2af5c-9187-4900-883a-c96514cd8e15" providerId="ADAL" clId="{5E51067F-94D7-505D-9735-0698788361AC}" dt="2025-12-11T22:43:04.852" v="2" actId="1076"/>
          <ac:spMkLst>
            <pc:docMk/>
            <pc:sldMk cId="741613057" sldId="266"/>
            <ac:spMk id="3" creationId="{1DCF5845-23C4-838A-E1D1-32A582B28FBD}"/>
          </ac:spMkLst>
        </pc:spChg>
        <pc:spChg chg="mod">
          <ac:chgData name="Schilling Sabine HSLU W" userId="b0e2af5c-9187-4900-883a-c96514cd8e15" providerId="ADAL" clId="{5E51067F-94D7-505D-9735-0698788361AC}" dt="2025-12-27T13:51:33.878" v="74" actId="1076"/>
          <ac:spMkLst>
            <pc:docMk/>
            <pc:sldMk cId="741613057" sldId="266"/>
            <ac:spMk id="31" creationId="{2B3B4585-D94C-F7A1-B6DD-BEDE9A4EFE36}"/>
          </ac:spMkLst>
        </pc:spChg>
        <pc:spChg chg="mod">
          <ac:chgData name="Schilling Sabine HSLU W" userId="b0e2af5c-9187-4900-883a-c96514cd8e15" providerId="ADAL" clId="{5E51067F-94D7-505D-9735-0698788361AC}" dt="2025-12-27T13:51:29.616" v="73" actId="1076"/>
          <ac:spMkLst>
            <pc:docMk/>
            <pc:sldMk cId="741613057" sldId="266"/>
            <ac:spMk id="50" creationId="{AF33D17D-B4E7-4A15-72D0-3D92AC1C5841}"/>
          </ac:spMkLst>
        </pc:spChg>
        <pc:spChg chg="mod">
          <ac:chgData name="Schilling Sabine HSLU W" userId="b0e2af5c-9187-4900-883a-c96514cd8e15" providerId="ADAL" clId="{5E51067F-94D7-505D-9735-0698788361AC}" dt="2025-12-11T22:45:47.443" v="47" actId="20577"/>
          <ac:spMkLst>
            <pc:docMk/>
            <pc:sldMk cId="741613057" sldId="266"/>
            <ac:spMk id="93" creationId="{C83EAB7E-EC55-3AF9-7904-AE52F1946FC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ECA108-3915-9043-8428-B4BE4472B821}" type="datetimeFigureOut">
              <a:rPr lang="de-DE" smtClean="0"/>
              <a:t>27.12.25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B21A6D-3249-074E-BBD6-BCFA953678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3666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024B0-7C97-EEF9-4EE9-87000410E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ED2B6BD-8E77-688C-BA14-074C53DA8C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2B3410F-5591-A32D-D8AB-CB79C43FED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8E16B48-F2F4-F787-F151-A13B6A2B0F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B21A6D-3249-074E-BBD6-BCFA95367850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443981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ECEF21-0523-3245-A3FA-5D78C65A5F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75FCB35-54D7-B745-9657-FF74691F5D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3FB4C31-A070-E749-B7E9-CAD5936A1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27.12.25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E4BDDB1-76AF-F240-BE46-91A5D3ACF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5ED5B39-7F00-5F46-862B-911988D34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6349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554BE9-111B-6643-8D26-3DD596FEA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4B77CD3-C0E5-484B-AA36-1FAB6E9417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8AE1DB2-DB10-BF4C-875B-98CAE475B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27.12.25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FA9CC44-0F69-3747-A15E-BACC77796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655398D-D950-0B47-9A96-AABF434F0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11793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EDCAD7-127F-4A49-A00E-1493C9F4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93E74A8-D7E8-5E47-9B26-F406CD93C6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1EC5F87-4EBC-EC46-BC69-2EA7086C5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27.12.25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6F350A8-A53D-4D41-A2F9-A9AFF938D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818D8E7-39AC-0B46-987D-0950F1CD0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18266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2F7841-3B2B-604F-815C-62EC3AAFD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D4B11C0-B11E-F540-81AE-52BAEDA20D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19245B3-41C8-C343-88E2-BE23F220ED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19DD4A7-C44D-9E43-BF1E-F13205AEE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27.12.25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44D8E9D-4D59-1F45-8E08-61D1A8B65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02EFA05-29DD-0641-A620-7019B4A07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78413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FB19D6-A6D2-AF40-A13C-FA7BE88B6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3ACBB3E-E485-5F42-BEC1-669009E5F8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E955C11-20E8-0348-A806-9CDE1284CE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2D82558-8DBB-944E-BBE0-6A7C6E8343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5F790C5-2F18-8E45-94AA-64F30C096B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BFF6501-64C2-C943-A8E9-C5E1B7491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27.12.25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A95BB371-362A-B645-9C58-F190A3C77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13A6B4C4-5B8D-2241-A404-A2768A846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57205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CCD577-05C9-164F-939D-D883FFD2C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0782072-9B65-E543-BC58-68B5955A0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27.12.25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4A1934E-231F-354D-B826-E7AD8E44F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53B6EAF-2961-3F47-B50E-4F501253E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09639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11E0EEA-87BD-7E4D-BDD1-E816BF786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27.12.25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FA06A65-624C-EA4B-936E-DBCEC9D5E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982C9F7-D6EF-DC40-B7B5-4E48A4586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2319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5B16D9-E2F7-324E-A99A-47378B28E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DB2D12D-5159-294F-8EA7-5F484B3488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C48EA53-C77F-FF44-992C-A85A3C70F2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BCC8764-0DBF-344B-912D-C3453B17B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27.12.25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220CBC3-1569-3744-9FB2-E12E54EAA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850A68D-38F0-CC4E-8DE1-604F3C84E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1960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F1231F-387B-1544-82E5-776081E5C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7BE53984-9ED8-374C-9F9D-A49EB58D00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27C99D1-BB16-F749-B0AB-0A6B34283A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B531638-E076-814A-870C-37518A17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27.12.25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D3AFDA6-425A-4C48-A64B-2FC02B245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FCAA1C2-0368-3F42-B248-087F91717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9740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49C4A6-64B8-904B-959B-523D63313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FA91367-9EA8-B14F-A1E3-0D7488D175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095B52B-F627-0243-95BF-CAF30A424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27.12.25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27D948D-68F0-444F-A060-6F3ECCFE0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A557819-4A50-7C44-911B-582581B34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3412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4E74BDCF-A048-7341-8942-C4374B8484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7FF7B22-2769-8144-A326-25919C1D0D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C5B7B6A-9CEB-6C42-9C7B-F9ED38263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27.12.25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08C4A24-0F26-0840-A896-381E0715D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2341010-5E03-FB4F-AE26-6B22D37B1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5877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18E2AF2-F7FF-0F4F-A4BE-509679ACA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22B262F-55F8-F14A-9AC3-B59BB1C137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21F1D78-192B-D042-83F5-BB397139B2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497422-92ED-3D47-BF28-17000E80E497}" type="datetimeFigureOut">
              <a:rPr lang="de-DE" smtClean="0"/>
              <a:t>27.12.25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294F689-F2F7-294B-8BF5-FD360E11C4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ED99928-F7B0-4B46-865C-13B1B95B4C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64065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8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EF73C-AA51-7089-F452-04EB6DB0B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Textfeld 159">
            <a:extLst>
              <a:ext uri="{FF2B5EF4-FFF2-40B4-BE49-F238E27FC236}">
                <a16:creationId xmlns:a16="http://schemas.microsoft.com/office/drawing/2014/main" id="{560A487B-BA43-AB6B-8EF4-09B161FBEF91}"/>
              </a:ext>
            </a:extLst>
          </p:cNvPr>
          <p:cNvSpPr txBox="1"/>
          <p:nvPr/>
        </p:nvSpPr>
        <p:spPr>
          <a:xfrm>
            <a:off x="10508890" y="2202514"/>
            <a:ext cx="1618428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Check normality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C3A17253-FA9F-B244-5397-9709069A12C4}"/>
              </a:ext>
            </a:extLst>
          </p:cNvPr>
          <p:cNvSpPr txBox="1"/>
          <p:nvPr/>
        </p:nvSpPr>
        <p:spPr>
          <a:xfrm>
            <a:off x="998506" y="1591030"/>
            <a:ext cx="3906703" cy="276999"/>
          </a:xfrm>
          <a:prstGeom prst="rect">
            <a:avLst/>
          </a:prstGeom>
          <a:solidFill>
            <a:schemeClr val="accent2">
              <a:alpha val="19906"/>
            </a:schemeClr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GB" sz="1200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shapiro.test</a:t>
            </a:r>
            <a:r>
              <a:rPr lang="en-GB" sz="1200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  <a:r>
              <a:rPr lang="en-GB" sz="1200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GB" sz="12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of each level</a:t>
            </a:r>
            <a:endParaRPr lang="en-GB" sz="1200" noProof="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459D4F33-54BA-1EBD-D1F0-135F2B6DB97C}"/>
                  </a:ext>
                </a:extLst>
              </p:cNvPr>
              <p:cNvSpPr txBox="1"/>
              <p:nvPr/>
            </p:nvSpPr>
            <p:spPr>
              <a:xfrm>
                <a:off x="2943726" y="268315"/>
                <a:ext cx="6737685" cy="461665"/>
              </a:xfrm>
              <a:prstGeom prst="rect">
                <a:avLst/>
              </a:prstGeom>
              <a:noFill/>
              <a:ln w="6350">
                <a:solidFill>
                  <a:schemeClr val="bg1">
                    <a:lumMod val="85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C</a:t>
                </a:r>
                <a:r>
                  <a:rPr lang="en-GB" sz="1200" noProof="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ategorical</a:t>
                </a:r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predictor of 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class </a:t>
                </a: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“</a:t>
                </a:r>
                <a:r>
                  <a:rPr lang="en-GB" sz="120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factor</a:t>
                </a:r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“  with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levels </a:t>
                </a: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GB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𝑛</m:t>
                        </m:r>
                      </m:e>
                      <m:sub>
                        <m:r>
                          <a:rPr lang="en-GB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entries in each level </a:t>
                </a:r>
                <a14:m>
                  <m:oMath xmlns:m="http://schemas.openxmlformats.org/officeDocument/2006/math">
                    <m:r>
                      <a:rPr lang="en-GB" sz="12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, </m:t>
                    </m:r>
                    <m:r>
                      <a:rPr lang="en-GB" sz="1200" i="1" dirty="0" err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𝑖</m:t>
                    </m:r>
                    <m:r>
                      <a:rPr lang="en-GB" sz="12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=1,2,…,</m:t>
                    </m:r>
                    <m:r>
                      <a:rPr lang="en-GB" sz="12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𝑁</m:t>
                    </m:r>
                  </m:oMath>
                </a14:m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N</a:t>
                </a:r>
                <a:r>
                  <a:rPr lang="en-GB" sz="1200" noProof="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umeric</a:t>
                </a:r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response of 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class </a:t>
                </a: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“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numeric</a:t>
                </a: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”</a:t>
                </a:r>
                <a:r>
                  <a:rPr lang="en-GB" sz="120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 </a:t>
                </a:r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or “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integer</a:t>
                </a: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”</a:t>
                </a:r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459D4F33-54BA-1EBD-D1F0-135F2B6DB9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3726" y="268315"/>
                <a:ext cx="6737685" cy="461665"/>
              </a:xfrm>
              <a:prstGeom prst="rect">
                <a:avLst/>
              </a:prstGeom>
              <a:blipFill>
                <a:blip r:embed="rId3"/>
                <a:stretch>
                  <a:fillRect b="-5263"/>
                </a:stretch>
              </a:blipFill>
              <a:ln w="6350">
                <a:solidFill>
                  <a:schemeClr val="bg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feld 22">
            <a:extLst>
              <a:ext uri="{FF2B5EF4-FFF2-40B4-BE49-F238E27FC236}">
                <a16:creationId xmlns:a16="http://schemas.microsoft.com/office/drawing/2014/main" id="{84DE5E89-3602-1EE2-C8EF-C76D73E33AC6}"/>
              </a:ext>
            </a:extLst>
          </p:cNvPr>
          <p:cNvSpPr txBox="1"/>
          <p:nvPr/>
        </p:nvSpPr>
        <p:spPr>
          <a:xfrm>
            <a:off x="271029" y="3577707"/>
            <a:ext cx="1447008" cy="2769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wilcox.test</a:t>
            </a:r>
            <a:r>
              <a:rPr lang="en-GB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645A4D30-456F-B440-3895-29A87290D16A}"/>
              </a:ext>
            </a:extLst>
          </p:cNvPr>
          <p:cNvSpPr txBox="1"/>
          <p:nvPr/>
        </p:nvSpPr>
        <p:spPr>
          <a:xfrm>
            <a:off x="1883778" y="3584470"/>
            <a:ext cx="2338435" cy="2769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kruskal.test</a:t>
            </a:r>
            <a:r>
              <a:rPr lang="en-GB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2B3B4585-D94C-F7A1-B6DD-BEDE9A4EFE36}"/>
              </a:ext>
            </a:extLst>
          </p:cNvPr>
          <p:cNvSpPr txBox="1"/>
          <p:nvPr/>
        </p:nvSpPr>
        <p:spPr>
          <a:xfrm>
            <a:off x="7734664" y="2510565"/>
            <a:ext cx="2325414" cy="276999"/>
          </a:xfrm>
          <a:prstGeom prst="rect">
            <a:avLst/>
          </a:prstGeom>
          <a:solidFill>
            <a:schemeClr val="accent4">
              <a:alpha val="19758"/>
            </a:schemeClr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oneway.test</a:t>
            </a:r>
            <a:r>
              <a:rPr lang="en-GB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93" name="Textfeld 92">
            <a:extLst>
              <a:ext uri="{FF2B5EF4-FFF2-40B4-BE49-F238E27FC236}">
                <a16:creationId xmlns:a16="http://schemas.microsoft.com/office/drawing/2014/main" id="{C83EAB7E-EC55-3AF9-7904-AE52F1946FC1}"/>
              </a:ext>
            </a:extLst>
          </p:cNvPr>
          <p:cNvSpPr txBox="1"/>
          <p:nvPr/>
        </p:nvSpPr>
        <p:spPr>
          <a:xfrm>
            <a:off x="7718872" y="4037055"/>
            <a:ext cx="2341206" cy="284869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Games </a:t>
            </a:r>
            <a:r>
              <a:rPr lang="en-GB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howell</a:t>
            </a:r>
            <a:endParaRPr lang="en-GB" noProof="0" dirty="0">
              <a:latin typeface="Courier New" panose="02070309020205020404" pitchFamily="49" charset="0"/>
              <a:ea typeface="Cambria Math" panose="02040503050406030204" pitchFamily="18" charset="0"/>
              <a:cs typeface="Courier New" panose="02070309020205020404" pitchFamily="49" charset="0"/>
            </a:endParaRPr>
          </a:p>
        </p:txBody>
      </p:sp>
      <p:sp>
        <p:nvSpPr>
          <p:cNvPr id="94" name="Textfeld 93">
            <a:extLst>
              <a:ext uri="{FF2B5EF4-FFF2-40B4-BE49-F238E27FC236}">
                <a16:creationId xmlns:a16="http://schemas.microsoft.com/office/drawing/2014/main" id="{5F9BBE4E-8C0F-D0B9-244C-73149C41AEDF}"/>
              </a:ext>
            </a:extLst>
          </p:cNvPr>
          <p:cNvSpPr txBox="1"/>
          <p:nvPr/>
        </p:nvSpPr>
        <p:spPr>
          <a:xfrm>
            <a:off x="1875394" y="4310540"/>
            <a:ext cx="2341205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GB" sz="1200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pairwise.wilcox.test</a:t>
            </a:r>
            <a:r>
              <a:rPr lang="en-GB" sz="1200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AF33D17D-B4E7-4A15-72D0-3D92AC1C5841}"/>
              </a:ext>
            </a:extLst>
          </p:cNvPr>
          <p:cNvSpPr txBox="1"/>
          <p:nvPr/>
        </p:nvSpPr>
        <p:spPr>
          <a:xfrm>
            <a:off x="6096000" y="2481371"/>
            <a:ext cx="1403168" cy="276999"/>
          </a:xfrm>
          <a:prstGeom prst="rect">
            <a:avLst/>
          </a:prstGeom>
          <a:solidFill>
            <a:schemeClr val="accent4">
              <a:alpha val="19758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GB" sz="1200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t.test</a:t>
            </a:r>
            <a:r>
              <a:rPr lang="en-GB" sz="1200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feld 81">
                <a:extLst>
                  <a:ext uri="{FF2B5EF4-FFF2-40B4-BE49-F238E27FC236}">
                    <a16:creationId xmlns:a16="http://schemas.microsoft.com/office/drawing/2014/main" id="{1CB273C9-05B6-48BA-748A-AC18988E5C4C}"/>
                  </a:ext>
                </a:extLst>
              </p:cNvPr>
              <p:cNvSpPr txBox="1"/>
              <p:nvPr/>
            </p:nvSpPr>
            <p:spPr>
              <a:xfrm>
                <a:off x="629222" y="2422297"/>
                <a:ext cx="2338425" cy="276999"/>
              </a:xfrm>
              <a:prstGeom prst="rect">
                <a:avLst/>
              </a:prstGeom>
              <a:noFill/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200" dirty="0">
                    <a:ea typeface="Cambria Math" panose="02040503050406030204" pitchFamily="18" charset="0"/>
                  </a:rPr>
                  <a:t>At least one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_</m:t>
                    </m:r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GB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GB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82" name="Textfeld 81">
                <a:extLst>
                  <a:ext uri="{FF2B5EF4-FFF2-40B4-BE49-F238E27FC236}">
                    <a16:creationId xmlns:a16="http://schemas.microsoft.com/office/drawing/2014/main" id="{1CB273C9-05B6-48BA-748A-AC18988E5C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222" y="2422297"/>
                <a:ext cx="2338425" cy="276999"/>
              </a:xfrm>
              <a:prstGeom prst="rect">
                <a:avLst/>
              </a:prstGeom>
              <a:blipFill>
                <a:blip r:embed="rId4"/>
                <a:stretch>
                  <a:fillRect b="-8333"/>
                </a:stretch>
              </a:blipFill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feld 87">
                <a:extLst>
                  <a:ext uri="{FF2B5EF4-FFF2-40B4-BE49-F238E27FC236}">
                    <a16:creationId xmlns:a16="http://schemas.microsoft.com/office/drawing/2014/main" id="{A235E5CD-353F-8A6A-5BC9-81475A8AAAB2}"/>
                  </a:ext>
                </a:extLst>
              </p:cNvPr>
              <p:cNvSpPr txBox="1"/>
              <p:nvPr/>
            </p:nvSpPr>
            <p:spPr>
              <a:xfrm>
                <a:off x="3333098" y="2476204"/>
                <a:ext cx="2234203" cy="276999"/>
              </a:xfrm>
              <a:prstGeom prst="rect">
                <a:avLst/>
              </a:prstGeom>
              <a:noFill/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200" b="0" noProof="0" dirty="0">
                    <a:ea typeface="Cambria Math" panose="02040503050406030204" pitchFamily="18" charset="0"/>
                  </a:rPr>
                  <a:t>All </a:t>
                </a:r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sz="12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_</m:t>
                    </m:r>
                    <m:r>
                      <a:rPr lang="en-US" sz="12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12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a:rPr lang="en-US" sz="12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88" name="Textfeld 87">
                <a:extLst>
                  <a:ext uri="{FF2B5EF4-FFF2-40B4-BE49-F238E27FC236}">
                    <a16:creationId xmlns:a16="http://schemas.microsoft.com/office/drawing/2014/main" id="{A235E5CD-353F-8A6A-5BC9-81475A8AAA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3098" y="2476204"/>
                <a:ext cx="2234203" cy="276999"/>
              </a:xfrm>
              <a:prstGeom prst="rect">
                <a:avLst/>
              </a:prstGeom>
              <a:blipFill>
                <a:blip r:embed="rId5"/>
                <a:stretch>
                  <a:fillRect b="-8333"/>
                </a:stretch>
              </a:blipFill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feld 3">
            <a:extLst>
              <a:ext uri="{FF2B5EF4-FFF2-40B4-BE49-F238E27FC236}">
                <a16:creationId xmlns:a16="http://schemas.microsoft.com/office/drawing/2014/main" id="{7C7C90E0-E517-64BA-D41B-40B336F9CCFA}"/>
              </a:ext>
            </a:extLst>
          </p:cNvPr>
          <p:cNvSpPr txBox="1"/>
          <p:nvPr/>
        </p:nvSpPr>
        <p:spPr>
          <a:xfrm>
            <a:off x="10397993" y="4529346"/>
            <a:ext cx="1618426" cy="2772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bg2">
                <a:lumMod val="90000"/>
              </a:schemeClr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Post-hoc test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76BFC05B-C9C0-5CF8-B128-D7AB3244DFE7}"/>
                  </a:ext>
                </a:extLst>
              </p:cNvPr>
              <p:cNvSpPr txBox="1"/>
              <p:nvPr/>
            </p:nvSpPr>
            <p:spPr>
              <a:xfrm>
                <a:off x="2691659" y="5287203"/>
                <a:ext cx="2082384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=1−</m:t>
                    </m:r>
                  </m:oMath>
                </a14:m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en-GB" sz="1200" noProof="0" dirty="0" err="1">
                    <a:latin typeface="Courier New" panose="02070309020205020404" pitchFamily="49" charset="0"/>
                    <a:ea typeface="CMU Bright Roman" panose="02000603000000000000" pitchFamily="2" charset="0"/>
                    <a:cs typeface="Courier New" panose="02070309020205020404" pitchFamily="49" charset="0"/>
                  </a:rPr>
                  <a:t>conf.level</a:t>
                </a:r>
                <a:r>
                  <a:rPr lang="en-GB" sz="800" noProof="0" dirty="0">
                    <a:latin typeface="CMU Bright Roman" panose="02000603000000000000" pitchFamily="2" charset="0"/>
                    <a:ea typeface="CMU Bright Roman" panose="02000603000000000000" pitchFamily="2" charset="0"/>
                    <a:cs typeface="CMU Bright Roman" panose="02000603000000000000" pitchFamily="2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12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sz="12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200" b="0" i="0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sz="1200" noProof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1200" i="1" noProof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GB" sz="1200" noProof="0" dirty="0">
                    <a:ea typeface="Cambria Math" panose="02040503050406030204" pitchFamily="18" charset="0"/>
                  </a:rPr>
                  <a:t>-value of level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GB" sz="1200" noProof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=1,2</m:t>
                    </m:r>
                  </m:oMath>
                </a14:m>
                <a:endParaRPr lang="en-GB" sz="1200" noProof="0" dirty="0">
                  <a:latin typeface="CMU Bright Roman" panose="02000603000000000000" pitchFamily="2" charset="0"/>
                  <a:ea typeface="CMU Bright Roman" panose="02000603000000000000" pitchFamily="2" charset="0"/>
                  <a:cs typeface="CMU Bright Roman" panose="02000603000000000000" pitchFamily="2" charset="0"/>
                </a:endParaRPr>
              </a:p>
            </p:txBody>
          </p:sp>
        </mc:Choice>
        <mc:Fallback xmlns="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76BFC05B-C9C0-5CF8-B128-D7AB3244DF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1659" y="5287203"/>
                <a:ext cx="2082384" cy="461665"/>
              </a:xfrm>
              <a:prstGeom prst="rect">
                <a:avLst/>
              </a:prstGeom>
              <a:blipFill>
                <a:blip r:embed="rId6"/>
                <a:stretch>
                  <a:fillRect b="-1081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9" name="Textfeld 148">
            <a:extLst>
              <a:ext uri="{FF2B5EF4-FFF2-40B4-BE49-F238E27FC236}">
                <a16:creationId xmlns:a16="http://schemas.microsoft.com/office/drawing/2014/main" id="{06AB22BD-5AD8-3EC3-CED8-2566B1AA0144}"/>
              </a:ext>
            </a:extLst>
          </p:cNvPr>
          <p:cNvSpPr txBox="1"/>
          <p:nvPr/>
        </p:nvSpPr>
        <p:spPr>
          <a:xfrm>
            <a:off x="10398327" y="4027664"/>
            <a:ext cx="1618427" cy="276999"/>
          </a:xfrm>
          <a:prstGeom prst="rect">
            <a:avLst/>
          </a:prstGeom>
          <a:noFill/>
          <a:ln w="12700">
            <a:solidFill>
              <a:schemeClr val="bg2">
                <a:lumMod val="90000"/>
              </a:schemeClr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Final test selected </a:t>
            </a:r>
          </a:p>
        </p:txBody>
      </p:sp>
      <p:cxnSp>
        <p:nvCxnSpPr>
          <p:cNvPr id="185" name="Gewinkelte Verbindung 184">
            <a:extLst>
              <a:ext uri="{FF2B5EF4-FFF2-40B4-BE49-F238E27FC236}">
                <a16:creationId xmlns:a16="http://schemas.microsoft.com/office/drawing/2014/main" id="{5065234F-6F38-1DC1-8380-35A188942DD8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9681411" y="499148"/>
            <a:ext cx="118826" cy="33419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3" name="Gerade Verbindung mit Pfeil 362">
            <a:extLst>
              <a:ext uri="{FF2B5EF4-FFF2-40B4-BE49-F238E27FC236}">
                <a16:creationId xmlns:a16="http://schemas.microsoft.com/office/drawing/2014/main" id="{13CD7B49-405F-5D16-AC8B-EBD1A0F30A47}"/>
              </a:ext>
            </a:extLst>
          </p:cNvPr>
          <p:cNvCxnSpPr>
            <a:cxnSpLocks/>
          </p:cNvCxnSpPr>
          <p:nvPr/>
        </p:nvCxnSpPr>
        <p:spPr>
          <a:xfrm>
            <a:off x="2502316" y="3465445"/>
            <a:ext cx="0" cy="5622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feld 4">
            <a:extLst>
              <a:ext uri="{FF2B5EF4-FFF2-40B4-BE49-F238E27FC236}">
                <a16:creationId xmlns:a16="http://schemas.microsoft.com/office/drawing/2014/main" id="{457A86FB-C2B8-6834-FCCC-2B5BD446650E}"/>
              </a:ext>
            </a:extLst>
          </p:cNvPr>
          <p:cNvSpPr txBox="1"/>
          <p:nvPr/>
        </p:nvSpPr>
        <p:spPr>
          <a:xfrm>
            <a:off x="332044" y="5467037"/>
            <a:ext cx="1868481" cy="2818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noFill/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non-parametric tests </a:t>
            </a:r>
          </a:p>
        </p:txBody>
      </p:sp>
      <p:sp>
        <p:nvSpPr>
          <p:cNvPr id="148" name="Textfeld 147">
            <a:extLst>
              <a:ext uri="{FF2B5EF4-FFF2-40B4-BE49-F238E27FC236}">
                <a16:creationId xmlns:a16="http://schemas.microsoft.com/office/drawing/2014/main" id="{1D51A81E-99D0-3FD1-DB90-24A001771304}"/>
              </a:ext>
            </a:extLst>
          </p:cNvPr>
          <p:cNvSpPr txBox="1"/>
          <p:nvPr/>
        </p:nvSpPr>
        <p:spPr>
          <a:xfrm>
            <a:off x="305981" y="5126561"/>
            <a:ext cx="1859022" cy="281831"/>
          </a:xfrm>
          <a:prstGeom prst="rect">
            <a:avLst/>
          </a:prstGeom>
          <a:solidFill>
            <a:schemeClr val="accent4">
              <a:alpha val="19758"/>
            </a:schemeClr>
          </a:solidFill>
          <a:ln w="1270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GB" sz="1200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parametric tests</a:t>
            </a:r>
          </a:p>
        </p:txBody>
      </p:sp>
      <p:sp>
        <p:nvSpPr>
          <p:cNvPr id="477" name="Textfeld 476">
            <a:extLst>
              <a:ext uri="{FF2B5EF4-FFF2-40B4-BE49-F238E27FC236}">
                <a16:creationId xmlns:a16="http://schemas.microsoft.com/office/drawing/2014/main" id="{B8175C6B-E50D-CD5D-167A-9DCCFF825618}"/>
              </a:ext>
            </a:extLst>
          </p:cNvPr>
          <p:cNvSpPr txBox="1"/>
          <p:nvPr/>
        </p:nvSpPr>
        <p:spPr>
          <a:xfrm>
            <a:off x="306189" y="4866743"/>
            <a:ext cx="1091245" cy="281831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pPr algn="l"/>
            <a:r>
              <a:rPr lang="en-GB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Colour code: </a:t>
            </a:r>
          </a:p>
        </p:txBody>
      </p:sp>
      <p:grpSp>
        <p:nvGrpSpPr>
          <p:cNvPr id="491" name="Gruppieren 490">
            <a:extLst>
              <a:ext uri="{FF2B5EF4-FFF2-40B4-BE49-F238E27FC236}">
                <a16:creationId xmlns:a16="http://schemas.microsoft.com/office/drawing/2014/main" id="{94681B08-1213-94D5-11D9-ED24A515314C}"/>
              </a:ext>
            </a:extLst>
          </p:cNvPr>
          <p:cNvGrpSpPr/>
          <p:nvPr/>
        </p:nvGrpSpPr>
        <p:grpSpPr>
          <a:xfrm>
            <a:off x="4905209" y="718910"/>
            <a:ext cx="3192599" cy="542165"/>
            <a:chOff x="1703354" y="1536945"/>
            <a:chExt cx="2305294" cy="305400"/>
          </a:xfrm>
        </p:grpSpPr>
        <p:cxnSp>
          <p:nvCxnSpPr>
            <p:cNvPr id="492" name="Gerade Verbindung mit Pfeil 491">
              <a:extLst>
                <a:ext uri="{FF2B5EF4-FFF2-40B4-BE49-F238E27FC236}">
                  <a16:creationId xmlns:a16="http://schemas.microsoft.com/office/drawing/2014/main" id="{3BA7FFCA-4D72-0364-B518-FE3158E315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03354" y="1536945"/>
              <a:ext cx="1655703" cy="28685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3" name="Gerade Verbindung mit Pfeil 492">
              <a:extLst>
                <a:ext uri="{FF2B5EF4-FFF2-40B4-BE49-F238E27FC236}">
                  <a16:creationId xmlns:a16="http://schemas.microsoft.com/office/drawing/2014/main" id="{A7224410-7D89-E92E-63F1-1C821F8A4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59058" y="1536945"/>
              <a:ext cx="649590" cy="3054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66" name="Gerade Verbindung mit Pfeil 465">
            <a:extLst>
              <a:ext uri="{FF2B5EF4-FFF2-40B4-BE49-F238E27FC236}">
                <a16:creationId xmlns:a16="http://schemas.microsoft.com/office/drawing/2014/main" id="{00D746DC-102B-3451-7FA5-F6D9390A75CF}"/>
              </a:ext>
            </a:extLst>
          </p:cNvPr>
          <p:cNvCxnSpPr>
            <a:cxnSpLocks/>
          </p:cNvCxnSpPr>
          <p:nvPr/>
        </p:nvCxnSpPr>
        <p:spPr>
          <a:xfrm>
            <a:off x="8331728" y="4332738"/>
            <a:ext cx="0" cy="193052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0" name="Gerade Verbindung mit Pfeil 469">
            <a:extLst>
              <a:ext uri="{FF2B5EF4-FFF2-40B4-BE49-F238E27FC236}">
                <a16:creationId xmlns:a16="http://schemas.microsoft.com/office/drawing/2014/main" id="{538BDC58-6AA6-A935-F515-6119FA86DF43}"/>
              </a:ext>
            </a:extLst>
          </p:cNvPr>
          <p:cNvCxnSpPr>
            <a:cxnSpLocks/>
            <a:stCxn id="27" idx="2"/>
            <a:endCxn id="94" idx="0"/>
          </p:cNvCxnSpPr>
          <p:nvPr/>
        </p:nvCxnSpPr>
        <p:spPr>
          <a:xfrm flipH="1">
            <a:off x="3045997" y="3861469"/>
            <a:ext cx="6999" cy="44907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6" name="Gerade Verbindung mit Pfeil 495">
            <a:extLst>
              <a:ext uri="{FF2B5EF4-FFF2-40B4-BE49-F238E27FC236}">
                <a16:creationId xmlns:a16="http://schemas.microsoft.com/office/drawing/2014/main" id="{91075330-8A9D-F089-3636-ACA857BAF855}"/>
              </a:ext>
            </a:extLst>
          </p:cNvPr>
          <p:cNvCxnSpPr>
            <a:cxnSpLocks/>
          </p:cNvCxnSpPr>
          <p:nvPr/>
        </p:nvCxnSpPr>
        <p:spPr>
          <a:xfrm flipH="1">
            <a:off x="8331728" y="3386963"/>
            <a:ext cx="4015" cy="64070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hteck 78">
            <a:extLst>
              <a:ext uri="{FF2B5EF4-FFF2-40B4-BE49-F238E27FC236}">
                <a16:creationId xmlns:a16="http://schemas.microsoft.com/office/drawing/2014/main" id="{AB751EC2-5961-AD29-08CB-BC42FA3F0C6C}"/>
              </a:ext>
            </a:extLst>
          </p:cNvPr>
          <p:cNvSpPr/>
          <p:nvPr/>
        </p:nvSpPr>
        <p:spPr>
          <a:xfrm>
            <a:off x="305981" y="4815985"/>
            <a:ext cx="4524425" cy="99926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A7C746C7-E624-0BBD-A3C8-B6FEC189AB6D}"/>
              </a:ext>
            </a:extLst>
          </p:cNvPr>
          <p:cNvGrpSpPr/>
          <p:nvPr/>
        </p:nvGrpSpPr>
        <p:grpSpPr>
          <a:xfrm>
            <a:off x="1999051" y="1911938"/>
            <a:ext cx="1552397" cy="469922"/>
            <a:chOff x="2719572" y="1536945"/>
            <a:chExt cx="1289076" cy="305400"/>
          </a:xfrm>
        </p:grpSpPr>
        <p:cxnSp>
          <p:nvCxnSpPr>
            <p:cNvPr id="20" name="Gerade Verbindung mit Pfeil 19">
              <a:extLst>
                <a:ext uri="{FF2B5EF4-FFF2-40B4-BE49-F238E27FC236}">
                  <a16:creationId xmlns:a16="http://schemas.microsoft.com/office/drawing/2014/main" id="{1D53AFAE-FDCA-5E72-B37F-2D3D46B6655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19572" y="1536945"/>
              <a:ext cx="639486" cy="305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Gerade Verbindung mit Pfeil 20">
              <a:extLst>
                <a:ext uri="{FF2B5EF4-FFF2-40B4-BE49-F238E27FC236}">
                  <a16:creationId xmlns:a16="http://schemas.microsoft.com/office/drawing/2014/main" id="{3E9197D2-3144-9BBD-EADA-E55D509C8CC1}"/>
                </a:ext>
              </a:extLst>
            </p:cNvPr>
            <p:cNvCxnSpPr>
              <a:cxnSpLocks/>
            </p:cNvCxnSpPr>
            <p:nvPr/>
          </p:nvCxnSpPr>
          <p:spPr>
            <a:xfrm>
              <a:off x="3359058" y="1536945"/>
              <a:ext cx="649590" cy="305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9ABA092A-8DD2-A675-8935-37571EC3BCCA}"/>
                  </a:ext>
                </a:extLst>
              </p:cNvPr>
              <p:cNvSpPr txBox="1"/>
              <p:nvPr/>
            </p:nvSpPr>
            <p:spPr>
              <a:xfrm>
                <a:off x="998507" y="1228159"/>
                <a:ext cx="3906702" cy="276999"/>
              </a:xfrm>
              <a:prstGeom prst="rect">
                <a:avLst/>
              </a:prstGeom>
              <a:noFill/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</a:lstStyle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≤30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for all </a:t>
                </a:r>
                <a:r>
                  <a:rPr lang="en-GB" sz="1200" noProof="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i</a:t>
                </a:r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9ABA092A-8DD2-A675-8935-37571EC3BC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507" y="1228159"/>
                <a:ext cx="3906702" cy="276999"/>
              </a:xfrm>
              <a:prstGeom prst="rect">
                <a:avLst/>
              </a:prstGeom>
              <a:blipFill>
                <a:blip r:embed="rId7"/>
                <a:stretch>
                  <a:fillRect b="-8333"/>
                </a:stretch>
              </a:blipFill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feld 23">
                <a:extLst>
                  <a:ext uri="{FF2B5EF4-FFF2-40B4-BE49-F238E27FC236}">
                    <a16:creationId xmlns:a16="http://schemas.microsoft.com/office/drawing/2014/main" id="{FA4854F4-38B8-1FD3-B7F2-A30DE84DA21C}"/>
                  </a:ext>
                </a:extLst>
              </p:cNvPr>
              <p:cNvSpPr txBox="1"/>
              <p:nvPr/>
            </p:nvSpPr>
            <p:spPr>
              <a:xfrm>
                <a:off x="8045807" y="1366658"/>
                <a:ext cx="1490532" cy="276999"/>
              </a:xfrm>
              <a:prstGeom prst="rect">
                <a:avLst/>
              </a:prstGeom>
              <a:noFill/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</a:lstStyle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GB" sz="12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12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&gt;30</m:t>
                    </m:r>
                  </m:oMath>
                </a14:m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for all i </a:t>
                </a:r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4" name="Textfeld 23">
                <a:extLst>
                  <a:ext uri="{FF2B5EF4-FFF2-40B4-BE49-F238E27FC236}">
                    <a16:creationId xmlns:a16="http://schemas.microsoft.com/office/drawing/2014/main" id="{FA4854F4-38B8-1FD3-B7F2-A30DE84DA2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5807" y="1366658"/>
                <a:ext cx="1490532" cy="276999"/>
              </a:xfrm>
              <a:prstGeom prst="rect">
                <a:avLst/>
              </a:prstGeom>
              <a:blipFill>
                <a:blip r:embed="rId8"/>
                <a:stretch>
                  <a:fillRect b="-8333"/>
                </a:stretch>
              </a:blipFill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F344F047-1793-D4AB-4EFD-2A246A181E79}"/>
              </a:ext>
            </a:extLst>
          </p:cNvPr>
          <p:cNvCxnSpPr>
            <a:cxnSpLocks/>
          </p:cNvCxnSpPr>
          <p:nvPr/>
        </p:nvCxnSpPr>
        <p:spPr>
          <a:xfrm flipH="1">
            <a:off x="10021390" y="2039025"/>
            <a:ext cx="42701" cy="198863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A2429EDB-E2BB-31CA-2821-75B3F5DFF992}"/>
              </a:ext>
            </a:extLst>
          </p:cNvPr>
          <p:cNvGrpSpPr/>
          <p:nvPr/>
        </p:nvGrpSpPr>
        <p:grpSpPr>
          <a:xfrm>
            <a:off x="1010587" y="2738149"/>
            <a:ext cx="1552397" cy="469922"/>
            <a:chOff x="2719572" y="1536945"/>
            <a:chExt cx="1289076" cy="305400"/>
          </a:xfrm>
        </p:grpSpPr>
        <p:cxnSp>
          <p:nvCxnSpPr>
            <p:cNvPr id="36" name="Gerade Verbindung mit Pfeil 35">
              <a:extLst>
                <a:ext uri="{FF2B5EF4-FFF2-40B4-BE49-F238E27FC236}">
                  <a16:creationId xmlns:a16="http://schemas.microsoft.com/office/drawing/2014/main" id="{E0BA3BAB-194F-2614-63E2-8485076000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19572" y="1536945"/>
              <a:ext cx="639486" cy="305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Gerade Verbindung mit Pfeil 36">
              <a:extLst>
                <a:ext uri="{FF2B5EF4-FFF2-40B4-BE49-F238E27FC236}">
                  <a16:creationId xmlns:a16="http://schemas.microsoft.com/office/drawing/2014/main" id="{93C14A77-D1D8-9E6D-BA0B-FD743BDCE7B6}"/>
                </a:ext>
              </a:extLst>
            </p:cNvPr>
            <p:cNvCxnSpPr>
              <a:cxnSpLocks/>
            </p:cNvCxnSpPr>
            <p:nvPr/>
          </p:nvCxnSpPr>
          <p:spPr>
            <a:xfrm>
              <a:off x="3359058" y="1536945"/>
              <a:ext cx="649590" cy="305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feld 2">
            <a:extLst>
              <a:ext uri="{FF2B5EF4-FFF2-40B4-BE49-F238E27FC236}">
                <a16:creationId xmlns:a16="http://schemas.microsoft.com/office/drawing/2014/main" id="{1DCF5845-23C4-838A-E1D1-32A582B28FBD}"/>
              </a:ext>
            </a:extLst>
          </p:cNvPr>
          <p:cNvSpPr txBox="1"/>
          <p:nvPr/>
        </p:nvSpPr>
        <p:spPr>
          <a:xfrm>
            <a:off x="5646321" y="4970350"/>
            <a:ext cx="6099586" cy="2010807"/>
          </a:xfrm>
          <a:prstGeom prst="rect">
            <a:avLst/>
          </a:prstGeom>
          <a:solidFill>
            <a:schemeClr val="accent4">
              <a:alpha val="19758"/>
            </a:schemeClr>
          </a:solidFill>
          <a:ln w="12700">
            <a:noFill/>
          </a:ln>
        </p:spPr>
        <p:txBody>
          <a:bodyPr wrap="square">
            <a:spAutoFit/>
          </a:bodyPr>
          <a:lstStyle/>
          <a:p>
            <a:pPr algn="l">
              <a:spcAft>
                <a:spcPts val="1950"/>
              </a:spcAft>
              <a:buNone/>
            </a:pPr>
            <a:r>
              <a:rPr lang="de-CH" b="0" i="0" dirty="0">
                <a:solidFill>
                  <a:srgbClr val="767673"/>
                </a:solidFill>
                <a:effectLst/>
                <a:latin typeface="Droid Sans"/>
              </a:rPr>
              <a:t>The Games-Howell </a:t>
            </a:r>
            <a:r>
              <a:rPr lang="de-CH" b="0" i="0" dirty="0" err="1">
                <a:solidFill>
                  <a:srgbClr val="767673"/>
                </a:solidFill>
                <a:effectLst/>
                <a:latin typeface="Droid Sans"/>
              </a:rPr>
              <a:t>post</a:t>
            </a:r>
            <a:r>
              <a:rPr lang="de-CH" b="0" i="0" dirty="0">
                <a:solidFill>
                  <a:srgbClr val="767673"/>
                </a:solidFill>
                <a:effectLst/>
                <a:latin typeface="Droid Sans"/>
              </a:rPr>
              <a:t> hoc </a:t>
            </a:r>
            <a:r>
              <a:rPr lang="de-CH" b="0" i="0" dirty="0" err="1">
                <a:solidFill>
                  <a:srgbClr val="767673"/>
                </a:solidFill>
                <a:effectLst/>
                <a:latin typeface="Droid Sans"/>
              </a:rPr>
              <a:t>test</a:t>
            </a:r>
            <a:r>
              <a:rPr lang="de-CH" b="0" i="0" dirty="0">
                <a:solidFill>
                  <a:srgbClr val="767673"/>
                </a:solidFill>
                <a:effectLst/>
                <a:latin typeface="Droid Sans"/>
              </a:rPr>
              <a:t>, like </a:t>
            </a:r>
            <a:r>
              <a:rPr lang="de-CH" b="0" i="0" dirty="0" err="1">
                <a:solidFill>
                  <a:srgbClr val="767673"/>
                </a:solidFill>
                <a:effectLst/>
                <a:latin typeface="Droid Sans"/>
              </a:rPr>
              <a:t>Welch’s</a:t>
            </a:r>
            <a:r>
              <a:rPr lang="de-CH" b="0" i="0" dirty="0">
                <a:solidFill>
                  <a:srgbClr val="767673"/>
                </a:solidFill>
                <a:effectLst/>
                <a:latin typeface="Droid Sans"/>
              </a:rPr>
              <a:t> </a:t>
            </a:r>
            <a:r>
              <a:rPr lang="de-CH" b="0" i="0" dirty="0" err="1">
                <a:solidFill>
                  <a:srgbClr val="767673"/>
                </a:solidFill>
                <a:effectLst/>
                <a:latin typeface="Droid Sans"/>
              </a:rPr>
              <a:t>analysis</a:t>
            </a:r>
            <a:r>
              <a:rPr lang="de-CH" b="0" i="0" dirty="0">
                <a:solidFill>
                  <a:srgbClr val="767673"/>
                </a:solidFill>
                <a:effectLst/>
                <a:latin typeface="Droid Sans"/>
              </a:rPr>
              <a:t> </a:t>
            </a:r>
            <a:r>
              <a:rPr lang="de-CH" b="0" i="0" dirty="0" err="1">
                <a:solidFill>
                  <a:srgbClr val="767673"/>
                </a:solidFill>
                <a:effectLst/>
                <a:latin typeface="Droid Sans"/>
              </a:rPr>
              <a:t>of</a:t>
            </a:r>
            <a:r>
              <a:rPr lang="de-CH" b="0" i="0" dirty="0">
                <a:solidFill>
                  <a:srgbClr val="767673"/>
                </a:solidFill>
                <a:effectLst/>
                <a:latin typeface="Droid Sans"/>
              </a:rPr>
              <a:t> </a:t>
            </a:r>
            <a:r>
              <a:rPr lang="de-CH" b="0" i="0" dirty="0" err="1">
                <a:solidFill>
                  <a:srgbClr val="767673"/>
                </a:solidFill>
                <a:effectLst/>
                <a:latin typeface="Droid Sans"/>
              </a:rPr>
              <a:t>variance</a:t>
            </a:r>
            <a:r>
              <a:rPr lang="de-CH" b="0" i="0" dirty="0">
                <a:solidFill>
                  <a:srgbClr val="767673"/>
                </a:solidFill>
                <a:effectLst/>
                <a:latin typeface="Droid Sans"/>
              </a:rPr>
              <a:t>, </a:t>
            </a:r>
            <a:r>
              <a:rPr lang="de-CH" b="0" i="0" dirty="0" err="1">
                <a:solidFill>
                  <a:srgbClr val="767673"/>
                </a:solidFill>
                <a:effectLst/>
                <a:latin typeface="Droid Sans"/>
              </a:rPr>
              <a:t>does</a:t>
            </a:r>
            <a:r>
              <a:rPr lang="de-CH" b="0" i="0" dirty="0">
                <a:solidFill>
                  <a:srgbClr val="767673"/>
                </a:solidFill>
                <a:effectLst/>
                <a:latin typeface="Droid Sans"/>
              </a:rPr>
              <a:t> not </a:t>
            </a:r>
            <a:r>
              <a:rPr lang="de-CH" b="0" i="0" dirty="0" err="1">
                <a:solidFill>
                  <a:srgbClr val="767673"/>
                </a:solidFill>
                <a:effectLst/>
                <a:latin typeface="Droid Sans"/>
              </a:rPr>
              <a:t>require</a:t>
            </a:r>
            <a:r>
              <a:rPr lang="de-CH" b="0" i="0" dirty="0">
                <a:solidFill>
                  <a:srgbClr val="767673"/>
                </a:solidFill>
                <a:effectLst/>
                <a:latin typeface="Droid Sans"/>
              </a:rPr>
              <a:t> </a:t>
            </a:r>
            <a:r>
              <a:rPr lang="de-CH" b="0" i="0" dirty="0" err="1">
                <a:solidFill>
                  <a:srgbClr val="767673"/>
                </a:solidFill>
                <a:effectLst/>
                <a:latin typeface="Droid Sans"/>
              </a:rPr>
              <a:t>the</a:t>
            </a:r>
            <a:r>
              <a:rPr lang="de-CH" b="0" i="0" dirty="0">
                <a:solidFill>
                  <a:srgbClr val="767673"/>
                </a:solidFill>
                <a:effectLst/>
                <a:latin typeface="Droid Sans"/>
              </a:rPr>
              <a:t> </a:t>
            </a:r>
            <a:r>
              <a:rPr lang="de-CH" b="0" i="0" dirty="0" err="1">
                <a:solidFill>
                  <a:srgbClr val="767673"/>
                </a:solidFill>
                <a:effectLst/>
                <a:latin typeface="Droid Sans"/>
              </a:rPr>
              <a:t>groups</a:t>
            </a:r>
            <a:r>
              <a:rPr lang="de-CH" b="0" i="0" dirty="0">
                <a:solidFill>
                  <a:srgbClr val="767673"/>
                </a:solidFill>
                <a:effectLst/>
                <a:latin typeface="Droid Sans"/>
              </a:rPr>
              <a:t> </a:t>
            </a:r>
            <a:r>
              <a:rPr lang="de-CH" b="0" i="0" dirty="0" err="1">
                <a:solidFill>
                  <a:srgbClr val="767673"/>
                </a:solidFill>
                <a:effectLst/>
                <a:latin typeface="Droid Sans"/>
              </a:rPr>
              <a:t>to</a:t>
            </a:r>
            <a:r>
              <a:rPr lang="de-CH" b="0" i="0" dirty="0">
                <a:solidFill>
                  <a:srgbClr val="767673"/>
                </a:solidFill>
                <a:effectLst/>
                <a:latin typeface="Droid Sans"/>
              </a:rPr>
              <a:t> </a:t>
            </a:r>
            <a:r>
              <a:rPr lang="de-CH" b="0" i="0" dirty="0" err="1">
                <a:solidFill>
                  <a:srgbClr val="767673"/>
                </a:solidFill>
                <a:effectLst/>
                <a:latin typeface="Droid Sans"/>
              </a:rPr>
              <a:t>have</a:t>
            </a:r>
            <a:r>
              <a:rPr lang="de-CH" b="0" i="0" dirty="0">
                <a:solidFill>
                  <a:srgbClr val="767673"/>
                </a:solidFill>
                <a:effectLst/>
                <a:latin typeface="Droid Sans"/>
              </a:rPr>
              <a:t> </a:t>
            </a:r>
            <a:r>
              <a:rPr lang="de-CH" b="0" i="0" dirty="0" err="1">
                <a:solidFill>
                  <a:srgbClr val="767673"/>
                </a:solidFill>
                <a:effectLst/>
                <a:latin typeface="Droid Sans"/>
              </a:rPr>
              <a:t>equal</a:t>
            </a:r>
            <a:r>
              <a:rPr lang="de-CH" b="0" i="0" dirty="0">
                <a:solidFill>
                  <a:srgbClr val="767673"/>
                </a:solidFill>
                <a:effectLst/>
                <a:latin typeface="Droid Sans"/>
              </a:rPr>
              <a:t> </a:t>
            </a:r>
            <a:r>
              <a:rPr lang="de-CH" b="0" i="0" dirty="0" err="1">
                <a:solidFill>
                  <a:srgbClr val="767673"/>
                </a:solidFill>
                <a:effectLst/>
                <a:latin typeface="Droid Sans"/>
              </a:rPr>
              <a:t>standard</a:t>
            </a:r>
            <a:r>
              <a:rPr lang="de-CH" b="0" i="0" dirty="0">
                <a:solidFill>
                  <a:srgbClr val="767673"/>
                </a:solidFill>
                <a:effectLst/>
                <a:latin typeface="Droid Sans"/>
              </a:rPr>
              <a:t> </a:t>
            </a:r>
            <a:r>
              <a:rPr lang="de-CH" b="0" i="0" dirty="0" err="1">
                <a:solidFill>
                  <a:srgbClr val="767673"/>
                </a:solidFill>
                <a:effectLst/>
                <a:latin typeface="Droid Sans"/>
              </a:rPr>
              <a:t>deviations</a:t>
            </a:r>
            <a:r>
              <a:rPr lang="de-CH" b="0" i="0" dirty="0">
                <a:solidFill>
                  <a:srgbClr val="767673"/>
                </a:solidFill>
                <a:effectLst/>
                <a:latin typeface="Droid Sans"/>
              </a:rPr>
              <a:t>. </a:t>
            </a:r>
            <a:r>
              <a:rPr lang="de-CH" b="0" i="0" dirty="0" err="1">
                <a:solidFill>
                  <a:srgbClr val="767673"/>
                </a:solidFill>
                <a:effectLst/>
                <a:latin typeface="Droid Sans"/>
              </a:rPr>
              <a:t>Conversely</a:t>
            </a:r>
            <a:r>
              <a:rPr lang="de-CH" b="0" i="0" dirty="0">
                <a:solidFill>
                  <a:srgbClr val="767673"/>
                </a:solidFill>
                <a:effectLst/>
                <a:latin typeface="Droid Sans"/>
              </a:rPr>
              <a:t>, </a:t>
            </a:r>
            <a:r>
              <a:rPr lang="de-CH" b="0" i="0" dirty="0" err="1">
                <a:solidFill>
                  <a:srgbClr val="767673"/>
                </a:solidFill>
                <a:effectLst/>
                <a:latin typeface="Droid Sans"/>
              </a:rPr>
              <a:t>Tukey’s</a:t>
            </a:r>
            <a:r>
              <a:rPr lang="de-CH" b="0" i="0" dirty="0">
                <a:solidFill>
                  <a:srgbClr val="767673"/>
                </a:solidFill>
                <a:effectLst/>
                <a:latin typeface="Droid Sans"/>
              </a:rPr>
              <a:t> </a:t>
            </a:r>
            <a:r>
              <a:rPr lang="de-CH" b="0" i="0" dirty="0" err="1">
                <a:solidFill>
                  <a:srgbClr val="767673"/>
                </a:solidFill>
                <a:effectLst/>
                <a:latin typeface="Droid Sans"/>
              </a:rPr>
              <a:t>method</a:t>
            </a:r>
            <a:r>
              <a:rPr lang="de-CH" b="0" i="0" dirty="0">
                <a:solidFill>
                  <a:srgbClr val="767673"/>
                </a:solidFill>
                <a:effectLst/>
                <a:latin typeface="Droid Sans"/>
              </a:rPr>
              <a:t> </a:t>
            </a:r>
            <a:r>
              <a:rPr lang="de-CH" b="0" i="0" dirty="0" err="1">
                <a:solidFill>
                  <a:srgbClr val="767673"/>
                </a:solidFill>
                <a:effectLst/>
                <a:latin typeface="Droid Sans"/>
              </a:rPr>
              <a:t>does</a:t>
            </a:r>
            <a:r>
              <a:rPr lang="de-CH" b="0" i="0" dirty="0">
                <a:solidFill>
                  <a:srgbClr val="767673"/>
                </a:solidFill>
                <a:effectLst/>
                <a:latin typeface="Droid Sans"/>
              </a:rPr>
              <a:t> </a:t>
            </a:r>
            <a:r>
              <a:rPr lang="de-CH" b="0" i="0" dirty="0" err="1">
                <a:solidFill>
                  <a:srgbClr val="767673"/>
                </a:solidFill>
                <a:effectLst/>
                <a:latin typeface="Droid Sans"/>
              </a:rPr>
              <a:t>require</a:t>
            </a:r>
            <a:r>
              <a:rPr lang="de-CH" b="0" i="0" dirty="0">
                <a:solidFill>
                  <a:srgbClr val="767673"/>
                </a:solidFill>
                <a:effectLst/>
                <a:latin typeface="Droid Sans"/>
              </a:rPr>
              <a:t> </a:t>
            </a:r>
            <a:r>
              <a:rPr lang="de-CH" b="0" i="0" dirty="0" err="1">
                <a:solidFill>
                  <a:srgbClr val="767673"/>
                </a:solidFill>
                <a:effectLst/>
                <a:latin typeface="Droid Sans"/>
              </a:rPr>
              <a:t>equal</a:t>
            </a:r>
            <a:r>
              <a:rPr lang="de-CH" b="0" i="0" dirty="0">
                <a:solidFill>
                  <a:srgbClr val="767673"/>
                </a:solidFill>
                <a:effectLst/>
                <a:latin typeface="Droid Sans"/>
              </a:rPr>
              <a:t> </a:t>
            </a:r>
            <a:r>
              <a:rPr lang="de-CH" b="0" i="0" dirty="0" err="1">
                <a:solidFill>
                  <a:srgbClr val="767673"/>
                </a:solidFill>
                <a:effectLst/>
                <a:latin typeface="Droid Sans"/>
              </a:rPr>
              <a:t>standard</a:t>
            </a:r>
            <a:r>
              <a:rPr lang="de-CH" b="0" i="0" dirty="0">
                <a:solidFill>
                  <a:srgbClr val="767673"/>
                </a:solidFill>
                <a:effectLst/>
                <a:latin typeface="Droid Sans"/>
              </a:rPr>
              <a:t> </a:t>
            </a:r>
            <a:r>
              <a:rPr lang="de-CH" b="0" i="0" dirty="0" err="1">
                <a:solidFill>
                  <a:srgbClr val="767673"/>
                </a:solidFill>
                <a:effectLst/>
                <a:latin typeface="Droid Sans"/>
              </a:rPr>
              <a:t>deviations</a:t>
            </a:r>
            <a:r>
              <a:rPr lang="de-CH" b="0" i="0" dirty="0">
                <a:solidFill>
                  <a:srgbClr val="767673"/>
                </a:solidFill>
                <a:effectLst/>
                <a:latin typeface="Droid Sans"/>
              </a:rPr>
              <a:t>.</a:t>
            </a:r>
          </a:p>
          <a:p>
            <a:pPr>
              <a:buNone/>
            </a:pPr>
            <a:br>
              <a:rPr lang="de-CH" dirty="0"/>
            </a:b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416130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solidFill>
          <a:schemeClr val="accent4">
            <a:alpha val="19758"/>
          </a:schemeClr>
        </a:solidFill>
        <a:ln w="12700">
          <a:noFill/>
        </a:ln>
      </a:spPr>
      <a:bodyPr wrap="square">
        <a:spAutoFit/>
      </a:bodyPr>
      <a:lstStyle>
        <a:defPPr algn="ctr">
          <a:defRPr sz="800" noProof="0" dirty="0" smtClean="0">
            <a:latin typeface="Calibri" panose="020F0502020204030204" pitchFamily="34" charset="0"/>
            <a:ea typeface="Cambria Math" panose="02040503050406030204" pitchFamily="18" charset="0"/>
            <a:cs typeface="Calibri" panose="020F050202020403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628DB25-49C7-9C48-9DEB-221973F78786}">
  <we:reference id="wa104381909" version="3.1.0.0" store="en-US" storeType="OMEX"/>
  <we:alternateReferences>
    <we:reference id="WA104381909" version="3.1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162</Words>
  <Application>Microsoft Macintosh PowerPoint</Application>
  <PresentationFormat>Breitbild</PresentationFormat>
  <Paragraphs>24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9" baseType="lpstr">
      <vt:lpstr>Arial</vt:lpstr>
      <vt:lpstr>Calibri</vt:lpstr>
      <vt:lpstr>Calibri Light</vt:lpstr>
      <vt:lpstr>Cambria Math</vt:lpstr>
      <vt:lpstr>CMU Bright Roman</vt:lpstr>
      <vt:lpstr>Courier New</vt:lpstr>
      <vt:lpstr>Droid Sans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Decision trees</dc:title>
  <dc:creator>Schilling Sabine HSLU W</dc:creator>
  <cp:lastModifiedBy>Schilling Sabine HSLU W</cp:lastModifiedBy>
  <cp:revision>34</cp:revision>
  <dcterms:created xsi:type="dcterms:W3CDTF">2023-05-08T12:12:17Z</dcterms:created>
  <dcterms:modified xsi:type="dcterms:W3CDTF">2025-12-27T18:07:35Z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8b0afbd-3cf7-4707-aee4-8dc9d855de29_Enabled">
    <vt:lpwstr>true</vt:lpwstr>
  </property>
  <property fmtid="{D5CDD505-2E9C-101B-9397-08002B2CF9AE}" pid="3" name="MSIP_Label_e8b0afbd-3cf7-4707-aee4-8dc9d855de29_SetDate">
    <vt:lpwstr>2025-05-10T09:29:47Z</vt:lpwstr>
  </property>
  <property fmtid="{D5CDD505-2E9C-101B-9397-08002B2CF9AE}" pid="4" name="MSIP_Label_e8b0afbd-3cf7-4707-aee4-8dc9d855de29_Method">
    <vt:lpwstr>Privileged</vt:lpwstr>
  </property>
  <property fmtid="{D5CDD505-2E9C-101B-9397-08002B2CF9AE}" pid="5" name="MSIP_Label_e8b0afbd-3cf7-4707-aee4-8dc9d855de29_Name">
    <vt:lpwstr>intern</vt:lpwstr>
  </property>
  <property fmtid="{D5CDD505-2E9C-101B-9397-08002B2CF9AE}" pid="6" name="MSIP_Label_e8b0afbd-3cf7-4707-aee4-8dc9d855de29_SiteId">
    <vt:lpwstr>75a34008-d7d1-4924-8e78-31fea86f6e68</vt:lpwstr>
  </property>
  <property fmtid="{D5CDD505-2E9C-101B-9397-08002B2CF9AE}" pid="7" name="MSIP_Label_e8b0afbd-3cf7-4707-aee4-8dc9d855de29_ActionId">
    <vt:lpwstr>8647766f-e017-41ca-968f-3e61e90fbd83</vt:lpwstr>
  </property>
  <property fmtid="{D5CDD505-2E9C-101B-9397-08002B2CF9AE}" pid="8" name="MSIP_Label_e8b0afbd-3cf7-4707-aee4-8dc9d855de29_ContentBits">
    <vt:lpwstr>0</vt:lpwstr>
  </property>
  <property fmtid="{D5CDD505-2E9C-101B-9397-08002B2CF9AE}" pid="9" name="MSIP_Label_e8b0afbd-3cf7-4707-aee4-8dc9d855de29_Tag">
    <vt:lpwstr>50, 0, 1, 1</vt:lpwstr>
  </property>
</Properties>
</file>