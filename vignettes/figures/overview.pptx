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73" r:id="rId2"/>
    <p:sldId id="274" r:id="rId3"/>
    <p:sldId id="275" r:id="rId4"/>
    <p:sldId id="276" r:id="rId5"/>
    <p:sldId id="277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4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578F4-396C-7740-87A7-C4D5F9DB13DB}" v="214" dt="2026-05-27T09:57:47.2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86"/>
    <p:restoredTop sz="79305"/>
  </p:normalViewPr>
  <p:slideViewPr>
    <p:cSldViewPr snapToGrid="0" snapToObjects="1" showGuides="1">
      <p:cViewPr>
        <p:scale>
          <a:sx n="143" d="100"/>
          <a:sy n="143" d="100"/>
        </p:scale>
        <p:origin x="-1360" y="-984"/>
      </p:cViewPr>
      <p:guideLst>
        <p:guide orient="horz" pos="2273"/>
        <p:guide pos="3477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modSld">
      <pc:chgData name="Schilling Sabine HSLU W" userId="b0e2af5c-9187-4900-883a-c96514cd8e15" providerId="ADAL" clId="{5E51067F-94D7-505D-9735-0698788361AC}" dt="2026-05-27T10:33:16.575" v="664" actId="1076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26T22:08:55.372" v="4" actId="1076"/>
        <pc:sldMkLst>
          <pc:docMk/>
          <pc:sldMk cId="2052569025" sldId="275"/>
        </pc:sldMkLst>
        <pc:grpChg chg="mod">
          <ac:chgData name="Schilling Sabine HSLU W" userId="b0e2af5c-9187-4900-883a-c96514cd8e15" providerId="ADAL" clId="{5E51067F-94D7-505D-9735-0698788361AC}" dt="2026-05-26T22:08:55.372" v="4" actId="1076"/>
          <ac:grpSpMkLst>
            <pc:docMk/>
            <pc:sldMk cId="2052569025" sldId="275"/>
            <ac:grpSpMk id="25" creationId="{6D2399E9-90CC-6575-FAB8-005DA7317D93}"/>
          </ac:grpSpMkLst>
        </pc:grpChg>
      </pc:sldChg>
      <pc:sldChg chg="delSp modSp add mod">
        <pc:chgData name="Schilling Sabine HSLU W" userId="b0e2af5c-9187-4900-883a-c96514cd8e15" providerId="ADAL" clId="{5E51067F-94D7-505D-9735-0698788361AC}" dt="2026-05-26T22:10:15.016" v="14" actId="14100"/>
        <pc:sldMkLst>
          <pc:docMk/>
          <pc:sldMk cId="3563293283" sldId="276"/>
        </pc:sldMkLst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5" creationId="{D3F7C956-8F5E-CDF5-8717-BC4225E2BD16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6" creationId="{FDBCDD21-5E7C-DD03-71F6-FE950FBF3D4B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7" creationId="{DC4F1ADB-3849-F97C-D5E4-1BDD84C84D99}"/>
          </ac:spMkLst>
        </pc:spChg>
        <pc:spChg chg="mod">
          <ac:chgData name="Schilling Sabine HSLU W" userId="b0e2af5c-9187-4900-883a-c96514cd8e15" providerId="ADAL" clId="{5E51067F-94D7-505D-9735-0698788361AC}" dt="2026-05-26T22:09:55.840" v="12" actId="1076"/>
          <ac:spMkLst>
            <pc:docMk/>
            <pc:sldMk cId="3563293283" sldId="276"/>
            <ac:spMk id="11" creationId="{53E70E5B-5D7E-11CD-AEA9-677270387610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3" creationId="{710EF68B-67E5-4BFC-5A85-E08DE99B6B1D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4" creationId="{C79D8F29-37CF-8A09-3E23-59F2C947AD8C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8" creationId="{DEBFA8A2-6148-8711-FC2D-E3D98A562A7F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9" creationId="{6009A253-3506-714D-84D3-B2F4E3729A02}"/>
          </ac:spMkLst>
        </pc:spChg>
        <pc:spChg chg="mod">
          <ac:chgData name="Schilling Sabine HSLU W" userId="b0e2af5c-9187-4900-883a-c96514cd8e15" providerId="ADAL" clId="{5E51067F-94D7-505D-9735-0698788361AC}" dt="2026-05-26T22:10:02.175" v="13" actId="14100"/>
          <ac:spMkLst>
            <pc:docMk/>
            <pc:sldMk cId="3563293283" sldId="276"/>
            <ac:spMk id="20" creationId="{1B8A15B1-AA6D-2AB4-E25F-39B7ECC45099}"/>
          </ac:spMkLst>
        </pc:spChg>
        <pc:spChg chg="mod">
          <ac:chgData name="Schilling Sabine HSLU W" userId="b0e2af5c-9187-4900-883a-c96514cd8e15" providerId="ADAL" clId="{5E51067F-94D7-505D-9735-0698788361AC}" dt="2026-05-26T22:10:15.016" v="14" actId="14100"/>
          <ac:spMkLst>
            <pc:docMk/>
            <pc:sldMk cId="3563293283" sldId="276"/>
            <ac:spMk id="21" creationId="{664DBA35-A76B-7D64-A723-336435614C2D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22" creationId="{0832A3B2-F2C4-4CBB-8ED8-467E430EE142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36" creationId="{7C390E17-FD0A-6B27-751A-9D2588AE4AE9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40" creationId="{91080484-AE9B-04AE-0E84-129F6D2000F3}"/>
          </ac:spMkLst>
        </pc:spChg>
        <pc:grpChg chg="mod">
          <ac:chgData name="Schilling Sabine HSLU W" userId="b0e2af5c-9187-4900-883a-c96514cd8e15" providerId="ADAL" clId="{5E51067F-94D7-505D-9735-0698788361AC}" dt="2026-05-26T22:09:00.156" v="6" actId="1076"/>
          <ac:grpSpMkLst>
            <pc:docMk/>
            <pc:sldMk cId="3563293283" sldId="276"/>
            <ac:grpSpMk id="25" creationId="{DF37A4A9-C156-EBDB-F07B-50EE46062941}"/>
          </ac:grpSpMkLst>
        </pc:grpChg>
        <pc:cxnChg chg="mod">
          <ac:chgData name="Schilling Sabine HSLU W" userId="b0e2af5c-9187-4900-883a-c96514cd8e15" providerId="ADAL" clId="{5E51067F-94D7-505D-9735-0698788361AC}" dt="2026-05-26T22:09:55.840" v="12" actId="1076"/>
          <ac:cxnSpMkLst>
            <pc:docMk/>
            <pc:sldMk cId="3563293283" sldId="276"/>
            <ac:cxnSpMk id="86" creationId="{9EF62D55-372B-20C3-ABB9-9A7DEC43A514}"/>
          </ac:cxnSpMkLst>
        </pc:cxnChg>
      </pc:sldChg>
      <pc:sldChg chg="addSp delSp modSp add mod">
        <pc:chgData name="Schilling Sabine HSLU W" userId="b0e2af5c-9187-4900-883a-c96514cd8e15" providerId="ADAL" clId="{5E51067F-94D7-505D-9735-0698788361AC}" dt="2026-05-27T10:33:16.575" v="664" actId="1076"/>
        <pc:sldMkLst>
          <pc:docMk/>
          <pc:sldMk cId="4104955013" sldId="277"/>
        </pc:sldMkLst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5" creationId="{C8E8BD9F-432B-56EC-0F4D-ADF784F9E170}"/>
          </ac:spMkLst>
        </pc:spChg>
        <pc:spChg chg="mod">
          <ac:chgData name="Schilling Sabine HSLU W" userId="b0e2af5c-9187-4900-883a-c96514cd8e15" providerId="ADAL" clId="{5E51067F-94D7-505D-9735-0698788361AC}" dt="2026-05-27T07:57:19.145" v="163" actId="1036"/>
          <ac:spMkLst>
            <pc:docMk/>
            <pc:sldMk cId="4104955013" sldId="277"/>
            <ac:spMk id="8" creationId="{A41CC212-A60C-208D-35F3-B8CCC6937DA8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9" creationId="{DBF75D4E-8825-BAD0-B381-10669B6A6F6B}"/>
          </ac:spMkLst>
        </pc:spChg>
        <pc:spChg chg="mod topLvl">
          <ac:chgData name="Schilling Sabine HSLU W" userId="b0e2af5c-9187-4900-883a-c96514cd8e15" providerId="ADAL" clId="{5E51067F-94D7-505D-9735-0698788361AC}" dt="2026-05-27T10:33:16.575" v="664" actId="1076"/>
          <ac:spMkLst>
            <pc:docMk/>
            <pc:sldMk cId="4104955013" sldId="277"/>
            <ac:spMk id="11" creationId="{8B475B6F-280F-4A35-03D0-41F0DFCA83F3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12" creationId="{45F8E9B7-7280-DC03-BB2B-A1310BEC3DAF}"/>
          </ac:spMkLst>
        </pc:spChg>
        <pc:spChg chg="mod">
          <ac:chgData name="Schilling Sabine HSLU W" userId="b0e2af5c-9187-4900-883a-c96514cd8e15" providerId="ADAL" clId="{5E51067F-94D7-505D-9735-0698788361AC}" dt="2026-05-27T07:57:19.145" v="163" actId="1036"/>
          <ac:spMkLst>
            <pc:docMk/>
            <pc:sldMk cId="4104955013" sldId="277"/>
            <ac:spMk id="14" creationId="{2C28BFF0-B44A-540A-EC8D-6ED47BC96645}"/>
          </ac:spMkLst>
        </pc:spChg>
        <pc:spChg chg="mod">
          <ac:chgData name="Schilling Sabine HSLU W" userId="b0e2af5c-9187-4900-883a-c96514cd8e15" providerId="ADAL" clId="{5E51067F-94D7-505D-9735-0698788361AC}" dt="2026-05-27T09:51:30.122" v="591" actId="1076"/>
          <ac:spMkLst>
            <pc:docMk/>
            <pc:sldMk cId="4104955013" sldId="277"/>
            <ac:spMk id="19" creationId="{EE5D0758-DB05-1B93-C5B7-12D45C0EFC6F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21" creationId="{DF982242-EE07-A86A-CA9A-1B6AA1385B0F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22" creationId="{741D0FB7-565E-2711-349C-C82EBF8E3119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36" creationId="{4023D75A-D702-3F81-09DC-F3A9FF42F9F6}"/>
          </ac:spMkLst>
        </pc:spChg>
        <pc:spChg chg="add mod">
          <ac:chgData name="Schilling Sabine HSLU W" userId="b0e2af5c-9187-4900-883a-c96514cd8e15" providerId="ADAL" clId="{5E51067F-94D7-505D-9735-0698788361AC}" dt="2026-05-27T09:59:00.491" v="662" actId="20577"/>
          <ac:spMkLst>
            <pc:docMk/>
            <pc:sldMk cId="4104955013" sldId="277"/>
            <ac:spMk id="38" creationId="{B898312C-6EC1-809B-E83F-E7B06D7D6F2D}"/>
          </ac:spMkLst>
        </pc:spChg>
        <pc:spChg chg="mod">
          <ac:chgData name="Schilling Sabine HSLU W" userId="b0e2af5c-9187-4900-883a-c96514cd8e15" providerId="ADAL" clId="{5E51067F-94D7-505D-9735-0698788361AC}" dt="2026-05-27T07:57:19.145" v="163" actId="1036"/>
          <ac:spMkLst>
            <pc:docMk/>
            <pc:sldMk cId="4104955013" sldId="277"/>
            <ac:spMk id="40" creationId="{6D7EF49C-93D7-2FE7-8F02-6FA7D39FC16F}"/>
          </ac:spMkLst>
        </pc:spChg>
        <pc:spChg chg="add del mod">
          <ac:chgData name="Schilling Sabine HSLU W" userId="b0e2af5c-9187-4900-883a-c96514cd8e15" providerId="ADAL" clId="{5E51067F-94D7-505D-9735-0698788361AC}" dt="2026-05-27T09:52:54.781" v="610" actId="478"/>
          <ac:spMkLst>
            <pc:docMk/>
            <pc:sldMk cId="4104955013" sldId="277"/>
            <ac:spMk id="54" creationId="{5077B2D8-C5FC-F168-4E13-5B206752E475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57" creationId="{06151A23-0BD4-4576-17CE-CAFC00C30807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68" creationId="{3855A362-3E56-A0C4-6001-BC6EFB57ECDC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85" creationId="{70B7903D-AF54-6C2B-EF89-945DC6A2CE63}"/>
          </ac:spMkLst>
        </pc:spChg>
        <pc:grpChg chg="mod">
          <ac:chgData name="Schilling Sabine HSLU W" userId="b0e2af5c-9187-4900-883a-c96514cd8e15" providerId="ADAL" clId="{5E51067F-94D7-505D-9735-0698788361AC}" dt="2026-05-26T22:38:43.763" v="96" actId="1076"/>
          <ac:grpSpMkLst>
            <pc:docMk/>
            <pc:sldMk cId="4104955013" sldId="277"/>
            <ac:grpSpMk id="2" creationId="{0FDC65F3-A80E-CAA5-E2B0-945AEED65F4A}"/>
          </ac:grpSpMkLst>
        </pc:grpChg>
        <pc:cxnChg chg="add del mod">
          <ac:chgData name="Schilling Sabine HSLU W" userId="b0e2af5c-9187-4900-883a-c96514cd8e15" providerId="ADAL" clId="{5E51067F-94D7-505D-9735-0698788361AC}" dt="2026-05-26T22:38:49.620" v="97" actId="478"/>
          <ac:cxnSpMkLst>
            <pc:docMk/>
            <pc:sldMk cId="4104955013" sldId="277"/>
            <ac:cxnSpMk id="3" creationId="{3BCA7BC5-A134-9B8E-F507-2AAA9B17D74C}"/>
          </ac:cxnSpMkLst>
        </pc:cxnChg>
        <pc:cxnChg chg="del mod">
          <ac:chgData name="Schilling Sabine HSLU W" userId="b0e2af5c-9187-4900-883a-c96514cd8e15" providerId="ADAL" clId="{5E51067F-94D7-505D-9735-0698788361AC}" dt="2026-05-27T09:49:16.697" v="579" actId="478"/>
          <ac:cxnSpMkLst>
            <pc:docMk/>
            <pc:sldMk cId="4104955013" sldId="277"/>
            <ac:cxnSpMk id="15" creationId="{CF35F69A-8AFF-AE26-A69B-A01B9BE51C76}"/>
          </ac:cxnSpMkLst>
        </pc:cxnChg>
        <pc:cxnChg chg="add del mod">
          <ac:chgData name="Schilling Sabine HSLU W" userId="b0e2af5c-9187-4900-883a-c96514cd8e15" providerId="ADAL" clId="{5E51067F-94D7-505D-9735-0698788361AC}" dt="2026-05-26T22:38:52.816" v="98" actId="478"/>
          <ac:cxnSpMkLst>
            <pc:docMk/>
            <pc:sldMk cId="4104955013" sldId="277"/>
            <ac:cxnSpMk id="23" creationId="{BBAD91D1-B146-DE2C-1705-CDFF56DCC999}"/>
          </ac:cxnSpMkLst>
        </pc:cxnChg>
        <pc:cxnChg chg="add mod">
          <ac:chgData name="Schilling Sabine HSLU W" userId="b0e2af5c-9187-4900-883a-c96514cd8e15" providerId="ADAL" clId="{5E51067F-94D7-505D-9735-0698788361AC}" dt="2026-05-27T10:33:16.575" v="664" actId="1076"/>
          <ac:cxnSpMkLst>
            <pc:docMk/>
            <pc:sldMk cId="4104955013" sldId="277"/>
            <ac:cxnSpMk id="26" creationId="{A44724E2-EA26-7801-C5CD-8E574D2F7F3B}"/>
          </ac:cxnSpMkLst>
        </pc:cxnChg>
        <pc:cxnChg chg="add del mod">
          <ac:chgData name="Schilling Sabine HSLU W" userId="b0e2af5c-9187-4900-883a-c96514cd8e15" providerId="ADAL" clId="{5E51067F-94D7-505D-9735-0698788361AC}" dt="2026-05-27T08:57:10.841" v="216" actId="478"/>
          <ac:cxnSpMkLst>
            <pc:docMk/>
            <pc:sldMk cId="4104955013" sldId="277"/>
            <ac:cxnSpMk id="33" creationId="{A394D471-4E87-9780-558D-887F2B3D5838}"/>
          </ac:cxnSpMkLst>
        </pc:cxnChg>
        <pc:cxnChg chg="add mod">
          <ac:chgData name="Schilling Sabine HSLU W" userId="b0e2af5c-9187-4900-883a-c96514cd8e15" providerId="ADAL" clId="{5E51067F-94D7-505D-9735-0698788361AC}" dt="2026-05-27T09:47:44.960" v="564" actId="1076"/>
          <ac:cxnSpMkLst>
            <pc:docMk/>
            <pc:sldMk cId="4104955013" sldId="277"/>
            <ac:cxnSpMk id="35" creationId="{0A87760E-B77D-A62A-17C8-167F3DFF3746}"/>
          </ac:cxnSpMkLst>
        </pc:cxnChg>
        <pc:cxnChg chg="mod">
          <ac:chgData name="Schilling Sabine HSLU W" userId="b0e2af5c-9187-4900-883a-c96514cd8e15" providerId="ADAL" clId="{5E51067F-94D7-505D-9735-0698788361AC}" dt="2026-05-27T07:48:05.486" v="109" actId="1036"/>
          <ac:cxnSpMkLst>
            <pc:docMk/>
            <pc:sldMk cId="4104955013" sldId="277"/>
            <ac:cxnSpMk id="37" creationId="{13505D13-EFCE-E4A4-44E9-376E0F792A22}"/>
          </ac:cxnSpMkLst>
        </pc:cxnChg>
        <pc:cxnChg chg="add del mod">
          <ac:chgData name="Schilling Sabine HSLU W" userId="b0e2af5c-9187-4900-883a-c96514cd8e15" providerId="ADAL" clId="{5E51067F-94D7-505D-9735-0698788361AC}" dt="2026-05-27T09:47:57.299" v="566" actId="478"/>
          <ac:cxnSpMkLst>
            <pc:docMk/>
            <pc:sldMk cId="4104955013" sldId="277"/>
            <ac:cxnSpMk id="39" creationId="{ABBED563-775B-36F8-CCC8-CDB6D35521BE}"/>
          </ac:cxnSpMkLst>
        </pc:cxnChg>
        <pc:cxnChg chg="add mod">
          <ac:chgData name="Schilling Sabine HSLU W" userId="b0e2af5c-9187-4900-883a-c96514cd8e15" providerId="ADAL" clId="{5E51067F-94D7-505D-9735-0698788361AC}" dt="2026-05-27T09:58:53.029" v="660" actId="1037"/>
          <ac:cxnSpMkLst>
            <pc:docMk/>
            <pc:sldMk cId="4104955013" sldId="277"/>
            <ac:cxnSpMk id="44" creationId="{33A82D98-93F7-1C4C-62DA-58C792C8F9AE}"/>
          </ac:cxnSpMkLst>
        </pc:cxnChg>
        <pc:cxnChg chg="add mod">
          <ac:chgData name="Schilling Sabine HSLU W" userId="b0e2af5c-9187-4900-883a-c96514cd8e15" providerId="ADAL" clId="{5E51067F-94D7-505D-9735-0698788361AC}" dt="2026-05-27T09:49:29.650" v="583" actId="14100"/>
          <ac:cxnSpMkLst>
            <pc:docMk/>
            <pc:sldMk cId="4104955013" sldId="277"/>
            <ac:cxnSpMk id="48" creationId="{BF87B7B0-0D2C-437C-E0E4-BB6C5B611E1E}"/>
          </ac:cxnSpMkLst>
        </pc:cxnChg>
        <pc:cxnChg chg="mod">
          <ac:chgData name="Schilling Sabine HSLU W" userId="b0e2af5c-9187-4900-883a-c96514cd8e15" providerId="ADAL" clId="{5E51067F-94D7-505D-9735-0698788361AC}" dt="2026-05-27T07:57:19.145" v="163" actId="1036"/>
          <ac:cxnSpMkLst>
            <pc:docMk/>
            <pc:sldMk cId="4104955013" sldId="277"/>
            <ac:cxnSpMk id="49" creationId="{F85EA249-6F51-DB63-34C5-DF67F004A9EA}"/>
          </ac:cxnSpMkLst>
        </pc:cxnChg>
        <pc:cxnChg chg="add mod">
          <ac:chgData name="Schilling Sabine HSLU W" userId="b0e2af5c-9187-4900-883a-c96514cd8e15" providerId="ADAL" clId="{5E51067F-94D7-505D-9735-0698788361AC}" dt="2026-05-27T09:49:36.845" v="585" actId="1076"/>
          <ac:cxnSpMkLst>
            <pc:docMk/>
            <pc:sldMk cId="4104955013" sldId="277"/>
            <ac:cxnSpMk id="51" creationId="{D87037BC-DC60-ECF1-C371-204F88E7384B}"/>
          </ac:cxnSpMkLst>
        </pc:cxnChg>
        <pc:cxnChg chg="del mod">
          <ac:chgData name="Schilling Sabine HSLU W" userId="b0e2af5c-9187-4900-883a-c96514cd8e15" providerId="ADAL" clId="{5E51067F-94D7-505D-9735-0698788361AC}" dt="2026-05-27T09:49:18.959" v="580" actId="478"/>
          <ac:cxnSpMkLst>
            <pc:docMk/>
            <pc:sldMk cId="4104955013" sldId="277"/>
            <ac:cxnSpMk id="67" creationId="{B2F3DD35-FB61-5524-42E3-9D2F9CDC6A0B}"/>
          </ac:cxnSpMkLst>
        </pc:cxnChg>
        <pc:cxnChg chg="mod">
          <ac:chgData name="Schilling Sabine HSLU W" userId="b0e2af5c-9187-4900-883a-c96514cd8e15" providerId="ADAL" clId="{5E51067F-94D7-505D-9735-0698788361AC}" dt="2026-05-27T10:33:16.575" v="664" actId="1076"/>
          <ac:cxnSpMkLst>
            <pc:docMk/>
            <pc:sldMk cId="4104955013" sldId="277"/>
            <ac:cxnSpMk id="86" creationId="{EA654AFB-152F-E1B5-7BA3-94A302442F4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B1C8-E82E-45B4-25DB-FA1C8E124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B8433E-BB50-7865-35CE-735417ECC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1B875D8-711E-06F9-6591-DBA7757ED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DBCC81-C66E-CD05-D3ED-3E34D471DD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90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D984-0FC9-F12B-D120-E62F97DB7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4558817-C147-9795-E0FB-3FCD2E2EE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EC9550A-E316-ED34-964E-BC1B850D19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97020E-BDC5-048D-A830-A88E35FAD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8112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629498"/>
            <a:chOff x="1360460" y="316483"/>
            <a:chExt cx="10665159" cy="3629498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/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1"/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Simple linear regression: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lm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b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Spearman rank </a:t>
                  </a:r>
                  <a:r>
                    <a:rPr lang="en-GB" sz="120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correlation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:visstat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</a:t>
                  </a:r>
                  <a:r>
                    <a:rPr lang="en-GB" sz="1200" b="1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do_regression</a:t>
                  </a:r>
                  <a:r>
                    <a:rPr lang="en-GB" sz="1200" b="1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=FALSE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)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urier New" panose="02070309020205020404" pitchFamily="49" charset="0"/>
                        </a:rPr>
                        <m:t>→</m:t>
                      </m:r>
                    </m:oMath>
                  </a14:m>
                  <a:endParaRPr lang="en-US" sz="1200" b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lvl="1"/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             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cor.test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(…,method=“spearman”)</a:t>
                  </a:r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483198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711981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477981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8" y="2797386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03D655E-9CD9-685D-7B91-6B5945795D4E}"/>
              </a:ext>
            </a:extLst>
          </p:cNvPr>
          <p:cNvGrpSpPr/>
          <p:nvPr/>
        </p:nvGrpSpPr>
        <p:grpSpPr>
          <a:xfrm>
            <a:off x="715930" y="679404"/>
            <a:ext cx="10800839" cy="5113384"/>
            <a:chOff x="715930" y="679404"/>
            <a:chExt cx="10800839" cy="5113384"/>
          </a:xfrm>
        </p:grpSpPr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4009903-A0FE-1610-A44A-7945B84624B2}"/>
                </a:ext>
              </a:extLst>
            </p:cNvPr>
            <p:cNvGrpSpPr/>
            <p:nvPr/>
          </p:nvGrpSpPr>
          <p:grpSpPr>
            <a:xfrm>
              <a:off x="715930" y="679404"/>
              <a:ext cx="10800839" cy="5113384"/>
              <a:chOff x="744727" y="582418"/>
              <a:chExt cx="10800839" cy="5113384"/>
            </a:xfrm>
          </p:grpSpPr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91C313-141B-C0EB-7458-C988F814755D}"/>
                  </a:ext>
                </a:extLst>
              </p:cNvPr>
              <p:cNvSpPr txBox="1"/>
              <p:nvPr/>
            </p:nvSpPr>
            <p:spPr>
              <a:xfrm>
                <a:off x="5569708" y="582418"/>
                <a:ext cx="5975858" cy="193899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Tests of central tendencies</a:t>
                </a: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solidFill>
                    <a:schemeClr val="accent4">
                      <a:alpha val="2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b="0" dirty="0">
                        <a:ea typeface="Cambria Math" panose="02040503050406030204" pitchFamily="18" charset="0"/>
                      </a:rPr>
                      <a:t> parametric tests: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t.test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aov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oneway.test</a:t>
                    </a:r>
                    <a:endPara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59E59C-91A3-35E8-5F00-0D83BB6F2314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49759" y="2954852"/>
                <a:ext cx="4329205" cy="83099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b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  <a:p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8994B425-65B2-49E4-F84C-57A25705E933}"/>
                  </a:ext>
                </a:extLst>
              </p:cNvPr>
              <p:cNvSpPr txBox="1"/>
              <p:nvPr/>
            </p:nvSpPr>
            <p:spPr>
              <a:xfrm>
                <a:off x="744727" y="3517946"/>
                <a:ext cx="432844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19758"/>
                </a:schemeClr>
              </a:solidFill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flag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visstat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kumimoji="0" lang="en-GB" sz="12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do_regression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=FALSE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)</a:t>
                </a:r>
                <a:endParaRPr lang="de-DE" sz="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dirty="0">
                        <a:ea typeface="Cambria Math" panose="02040503050406030204" pitchFamily="18" charset="0"/>
                      </a:rPr>
                      <a:t>non-parametric tests: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wilcox.test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</a:t>
                    </a:r>
                    <a:r>
                      <a:rPr lang="en-GB" sz="1200" dirty="0">
                        <a:ea typeface="Cambria Math" panose="020405030504060302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kruskal.test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</a:t>
                    </a:r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500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F5D9D80-C8ED-1D5F-7CBA-0A72C71AD571}"/>
                  </a:ext>
                </a:extLst>
              </p:cNvPr>
              <p:cNvSpPr txBox="1"/>
              <p:nvPr/>
            </p:nvSpPr>
            <p:spPr>
              <a:xfrm>
                <a:off x="5614328" y="3021516"/>
                <a:ext cx="5719853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Simple linear regression:  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lm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/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numeric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7692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E4B8EE02-0F90-3F09-7990-89B6B3DCBB2E}"/>
                  </a:ext>
                </a:extLst>
              </p:cNvPr>
              <p:cNvSpPr txBox="1"/>
              <p:nvPr/>
            </p:nvSpPr>
            <p:spPr>
              <a:xfrm>
                <a:off x="772625" y="5234137"/>
                <a:ext cx="4329204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Both variables  of  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“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0C86A91-FDA7-431A-A97E-45AB5F8F86AC}"/>
                  </a:ext>
                </a:extLst>
              </p:cNvPr>
              <p:cNvCxnSpPr>
                <a:cxnSpLocks/>
                <a:stCxn id="36" idx="3"/>
                <a:endCxn id="40" idx="1"/>
              </p:cNvCxnSpPr>
              <p:nvPr/>
            </p:nvCxnSpPr>
            <p:spPr>
              <a:xfrm flipV="1">
                <a:off x="5101829" y="5460863"/>
                <a:ext cx="535366" cy="41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50FC18BF-DA43-100C-15F7-046360CBE26F}"/>
                  </a:ext>
                </a:extLst>
              </p:cNvPr>
              <p:cNvSpPr txBox="1"/>
              <p:nvPr/>
            </p:nvSpPr>
            <p:spPr>
              <a:xfrm>
                <a:off x="5637195" y="5230030"/>
                <a:ext cx="5719851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Comparing proportions:</a:t>
                </a:r>
                <a:b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chisq.test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fisher.test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 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</p:txBody>
              </p:sp>
            </mc:Choice>
            <mc:Fallback xmlns="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754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Gerade Verbindung mit Pfeil 9">
                <a:extLst>
                  <a:ext uri="{FF2B5EF4-FFF2-40B4-BE49-F238E27FC236}">
                    <a16:creationId xmlns:a16="http://schemas.microsoft.com/office/drawing/2014/main" id="{7FFB23BA-1A56-EA09-897C-EAA0A7C46798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5092625" y="1140739"/>
                <a:ext cx="477082" cy="10772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95EE3751-2F94-DC07-D76A-B01575DBC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1829" y="228623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C057720C-4C0C-4DDC-5805-67C405AC5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3167" y="319896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levels</a:t>
                    </a:r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4478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93B1E64-77B3-996B-0C03-74605808B38D}"/>
                  </a:ext>
                </a:extLst>
              </p:cNvPr>
              <p:cNvSpPr txBox="1"/>
              <p:nvPr/>
            </p:nvSpPr>
            <p:spPr>
              <a:xfrm>
                <a:off x="5614328" y="3564125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Spearman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(…,method=“spearman”)</a:t>
                </a:r>
              </a:p>
            </p:txBody>
          </p:sp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6B56266-E50F-E630-DFBD-3065C4177F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8966" y="462752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 Verbindung mit Pfeil 66">
                <a:extLst>
                  <a:ext uri="{FF2B5EF4-FFF2-40B4-BE49-F238E27FC236}">
                    <a16:creationId xmlns:a16="http://schemas.microsoft.com/office/drawing/2014/main" id="{90D9A013-B638-2CFA-D596-D59057052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6449" y="3688678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E005EFC1-18B1-0452-D704-9026052FF006}"/>
                  </a:ext>
                </a:extLst>
              </p:cNvPr>
              <p:cNvSpPr txBox="1"/>
              <p:nvPr/>
            </p:nvSpPr>
            <p:spPr>
              <a:xfrm>
                <a:off x="5637195" y="4504894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Kendall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kendall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”)</a:t>
                </a:r>
              </a:p>
            </p:txBody>
          </p:sp>
        </p:grp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</p:cNvCxnSpPr>
            <p:nvPr/>
          </p:nvCxnSpPr>
          <p:spPr>
            <a:xfrm>
              <a:off x="5084085" y="124061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7773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D2399E9-90CC-6575-FAB8-005DA7317D93}"/>
              </a:ext>
            </a:extLst>
          </p:cNvPr>
          <p:cNvGrpSpPr/>
          <p:nvPr/>
        </p:nvGrpSpPr>
        <p:grpSpPr>
          <a:xfrm>
            <a:off x="46500" y="590094"/>
            <a:ext cx="10904137" cy="5362211"/>
            <a:chOff x="49953" y="571433"/>
            <a:chExt cx="10904137" cy="5362211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4E91C313-141B-C0EB-7458-C988F814755D}"/>
                </a:ext>
              </a:extLst>
            </p:cNvPr>
            <p:cNvSpPr txBox="1"/>
            <p:nvPr/>
          </p:nvSpPr>
          <p:spPr>
            <a:xfrm>
              <a:off x="5533833" y="746066"/>
              <a:ext cx="541318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Tests of central tendencies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8994B425-65B2-49E4-F84C-57A25705E933}"/>
                </a:ext>
              </a:extLst>
            </p:cNvPr>
            <p:cNvSpPr txBox="1"/>
            <p:nvPr/>
          </p:nvSpPr>
          <p:spPr>
            <a:xfrm>
              <a:off x="728606" y="4910779"/>
              <a:ext cx="4320001" cy="276999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/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0"/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parametric tests: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…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var.equal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=TRUE), 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  <a:p>
                  <a:pPr lvl="0"/>
                  <a:r>
                    <a:rPr kumimoji="0" lang="en-US" sz="1200" b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Cambria Math" panose="02040503050406030204" pitchFamily="18" charset="0"/>
                      <a:cs typeface="+mn-cs"/>
                    </a:rPr>
                    <a:t>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                 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259E59C-91A3-35E8-5F00-0D83BB6F2314}"/>
                </a:ext>
              </a:extLst>
            </p:cNvPr>
            <p:cNvSpPr txBox="1">
              <a:spLocks/>
            </p:cNvSpPr>
            <p:nvPr/>
          </p:nvSpPr>
          <p:spPr>
            <a:xfrm>
              <a:off x="732015" y="4185311"/>
              <a:ext cx="4320000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response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/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non-parametric tests: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          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7895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F5D9D80-C8ED-1D5F-7CBA-0A72C71AD571}"/>
                </a:ext>
              </a:extLst>
            </p:cNvPr>
            <p:cNvSpPr txBox="1"/>
            <p:nvPr/>
          </p:nvSpPr>
          <p:spPr>
            <a:xfrm>
              <a:off x="5554090" y="4272051"/>
              <a:ext cx="540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imple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linear regression:  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/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E4B8EE02-0F90-3F09-7990-89B6B3DCBB2E}"/>
                </a:ext>
              </a:extLst>
            </p:cNvPr>
            <p:cNvSpPr txBox="1"/>
            <p:nvPr/>
          </p:nvSpPr>
          <p:spPr>
            <a:xfrm>
              <a:off x="743828" y="5471979"/>
              <a:ext cx="432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oth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variables  of 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0C86A91-FDA7-431A-A97E-45AB5F8F86AC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>
              <a:off x="5063828" y="5702812"/>
              <a:ext cx="4902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50FC18BF-DA43-100C-15F7-046360CBE26F}"/>
                </a:ext>
              </a:extLst>
            </p:cNvPr>
            <p:cNvSpPr txBox="1"/>
            <p:nvPr/>
          </p:nvSpPr>
          <p:spPr>
            <a:xfrm>
              <a:off x="5554090" y="5471979"/>
              <a:ext cx="540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/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754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FFB23BA-1A56-EA09-897C-EAA0A7C46798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063828" y="1237725"/>
              <a:ext cx="477082" cy="107724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5EE3751-2F94-DC07-D76A-B01575DBC8AF}"/>
                </a:ext>
              </a:extLst>
            </p:cNvPr>
            <p:cNvCxnSpPr>
              <a:cxnSpLocks/>
            </p:cNvCxnSpPr>
            <p:nvPr/>
          </p:nvCxnSpPr>
          <p:spPr>
            <a:xfrm>
              <a:off x="5073032" y="2383220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C057720C-4C0C-4DDC-5805-67C405AC5729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4429423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j levels</a:t>
                  </a:r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294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93B1E64-77B3-996B-0C03-74605808B38D}"/>
                </a:ext>
              </a:extLst>
            </p:cNvPr>
            <p:cNvSpPr txBox="1"/>
            <p:nvPr/>
          </p:nvSpPr>
          <p:spPr>
            <a:xfrm>
              <a:off x="5554090" y="4910779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Spearman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(…,method=“spearman”)</a:t>
              </a:r>
            </a:p>
          </p:txBody>
        </p: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A6B56266-E50F-E630-DFBD-3065C4177F4D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61" y="3812717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0D9A013-B638-2CFA-D596-D590570520DD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5075778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E005EFC1-18B1-0452-D704-9026052FF006}"/>
                </a:ext>
              </a:extLst>
            </p:cNvPr>
            <p:cNvSpPr txBox="1"/>
            <p:nvPr/>
          </p:nvSpPr>
          <p:spPr>
            <a:xfrm>
              <a:off x="5554090" y="3691915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Kendall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kendall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”)</a:t>
              </a:r>
            </a:p>
          </p:txBody>
        </p: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5084085" y="1237725"/>
              <a:ext cx="470005" cy="2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7A4D2BFC-D9DC-E3A8-A99F-C8E1E1FB67D8}"/>
                </a:ext>
              </a:extLst>
            </p:cNvPr>
            <p:cNvSpPr txBox="1"/>
            <p:nvPr/>
          </p:nvSpPr>
          <p:spPr>
            <a:xfrm>
              <a:off x="720803" y="3691915"/>
              <a:ext cx="432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5E3E9684-F568-DFE2-B115-681F2311D05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5036606" y="2496538"/>
              <a:ext cx="449748" cy="7141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F417F758-CA76-D532-21B6-735C47519F0F}"/>
                </a:ext>
              </a:extLst>
            </p:cNvPr>
            <p:cNvSpPr txBox="1"/>
            <p:nvPr/>
          </p:nvSpPr>
          <p:spPr>
            <a:xfrm>
              <a:off x="239524" y="1099225"/>
              <a:ext cx="236184" cy="215444"/>
            </a:xfrm>
            <a:prstGeom prst="rect">
              <a:avLst/>
            </a:prstGeom>
            <a:solidFill>
              <a:schemeClr val="bg2">
                <a:lumMod val="90000"/>
                <a:alpha val="19758"/>
              </a:schemeClr>
            </a:solidFill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8105820-9E2B-EE1E-03D4-B81791A38D81}"/>
                </a:ext>
              </a:extLst>
            </p:cNvPr>
            <p:cNvSpPr txBox="1"/>
            <p:nvPr/>
          </p:nvSpPr>
          <p:spPr>
            <a:xfrm>
              <a:off x="49953" y="571433"/>
              <a:ext cx="691375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Route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0BE9EB5-D803-DFA9-50B5-0875D1465580}"/>
                </a:ext>
              </a:extLst>
            </p:cNvPr>
            <p:cNvSpPr/>
            <p:nvPr/>
          </p:nvSpPr>
          <p:spPr>
            <a:xfrm>
              <a:off x="221016" y="1006892"/>
              <a:ext cx="347696" cy="46166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BFDF4DF-9E89-51BE-38BA-2941AA19B2D2}"/>
                </a:ext>
              </a:extLst>
            </p:cNvPr>
            <p:cNvSpPr/>
            <p:nvPr/>
          </p:nvSpPr>
          <p:spPr>
            <a:xfrm>
              <a:off x="215127" y="2010443"/>
              <a:ext cx="347696" cy="195847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D6F1D490-F1DA-72C5-A6CE-912541970EB7}"/>
                </a:ext>
              </a:extLst>
            </p:cNvPr>
            <p:cNvSpPr/>
            <p:nvPr/>
          </p:nvSpPr>
          <p:spPr>
            <a:xfrm>
              <a:off x="215127" y="4185311"/>
              <a:ext cx="347696" cy="100246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A244EA9-C7AB-8F81-B117-74B499E420BC}"/>
                </a:ext>
              </a:extLst>
            </p:cNvPr>
            <p:cNvSpPr/>
            <p:nvPr/>
          </p:nvSpPr>
          <p:spPr>
            <a:xfrm>
              <a:off x="244786" y="5471979"/>
              <a:ext cx="347696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569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A286-F9D5-0A95-8989-4414FE08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feld 11">
            <a:extLst>
              <a:ext uri="{FF2B5EF4-FFF2-40B4-BE49-F238E27FC236}">
                <a16:creationId xmlns:a16="http://schemas.microsoft.com/office/drawing/2014/main" id="{79FA03CA-E390-5B36-D0A5-A6281E5ABF12}"/>
              </a:ext>
            </a:extLst>
          </p:cNvPr>
          <p:cNvSpPr txBox="1"/>
          <p:nvPr/>
        </p:nvSpPr>
        <p:spPr>
          <a:xfrm>
            <a:off x="5483880" y="783388"/>
            <a:ext cx="5413180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           Tests of central tendencies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anose="02070309020205020404" pitchFamily="49" charset="0"/>
              <a:ea typeface="Cambria Math" panose="02040503050406030204" pitchFamily="18" charset="0"/>
              <a:cs typeface="Courier New" panose="02070309020205020404" pitchFamily="49" charset="0"/>
            </a:endParaRP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D9B8881F-21EF-EC1F-61E7-7AA7431F4455}"/>
              </a:ext>
            </a:extLst>
          </p:cNvPr>
          <p:cNvSpPr txBox="1"/>
          <p:nvPr/>
        </p:nvSpPr>
        <p:spPr>
          <a:xfrm>
            <a:off x="678653" y="4948101"/>
            <a:ext cx="4320001" cy="276999"/>
          </a:xfrm>
          <a:prstGeom prst="rect">
            <a:avLst/>
          </a:prstGeom>
          <a:solidFill>
            <a:schemeClr val="accent6">
              <a:lumMod val="60000"/>
              <a:lumOff val="40000"/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+ flag: </a:t>
            </a:r>
            <a:r>
              <a:rPr kumimoji="0" lang="en-GB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visstat</a:t>
            </a: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(…,correlation=TRUE)</a:t>
            </a:r>
            <a:endParaRPr kumimoji="0" lang="de-DE" sz="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BCDD21-5E7C-DD03-71F6-FE950FBF3D4B}"/>
                  </a:ext>
                </a:extLst>
              </p:cNvPr>
              <p:cNvSpPr txBox="1"/>
              <p:nvPr/>
            </p:nvSpPr>
            <p:spPr>
              <a:xfrm>
                <a:off x="5504137" y="1044214"/>
                <a:ext cx="5400000" cy="461665"/>
              </a:xfrm>
              <a:prstGeom prst="rect">
                <a:avLst/>
              </a:prstGeom>
              <a:solidFill>
                <a:schemeClr val="accent4">
                  <a:alpha val="2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0"/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rPr>
                  <a:t>parametric tests: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</a:t>
                </a:r>
                <a:r>
                  <a: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…</a:t>
                </a:r>
                <a:r>
                  <a:rPr lang="en-GB" sz="1200" dirty="0" err="1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=TRUE), </a:t>
                </a:r>
                <a:r>
                  <a:rPr lang="en-GB" sz="1200" dirty="0" err="1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  <a:p>
                <a:pPr lvl="0"/>
                <a:r>
                  <a:rPr kumimoji="0" lang="en-US" sz="1200" b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Cambria Math" panose="02040503050406030204" pitchFamily="18" charset="0"/>
                    <a:cs typeface="+mn-cs"/>
                  </a:rPr>
                  <a:t>                              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&gt;2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                 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BCDD21-5E7C-DD03-71F6-FE950FBF3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137" y="1044214"/>
                <a:ext cx="5400000" cy="461665"/>
              </a:xfrm>
              <a:prstGeom prst="rect">
                <a:avLst/>
              </a:prstGeom>
              <a:blipFill>
                <a:blip r:embed="rId3"/>
                <a:stretch>
                  <a:fillRect b="-512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F3EA5BD-BDA7-0B75-D0DE-76F7FC098822}"/>
              </a:ext>
            </a:extLst>
          </p:cNvPr>
          <p:cNvSpPr txBox="1">
            <a:spLocks/>
          </p:cNvSpPr>
          <p:nvPr/>
        </p:nvSpPr>
        <p:spPr>
          <a:xfrm>
            <a:off x="682062" y="4222633"/>
            <a:ext cx="4320000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numeric  predictor of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class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numeric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integer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</a:b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numeric response of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class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numeric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integer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982B1D-45AF-B336-831A-F9911A48F65A}"/>
                  </a:ext>
                </a:extLst>
              </p:cNvPr>
              <p:cNvSpPr txBox="1"/>
              <p:nvPr/>
            </p:nvSpPr>
            <p:spPr>
              <a:xfrm>
                <a:off x="5504137" y="2210242"/>
                <a:ext cx="5400000" cy="461665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rPr>
                  <a:t>non-parametric tests: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rPr>
                  <a:t>                                        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&gt;2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982B1D-45AF-B336-831A-F9911A48F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137" y="2210242"/>
                <a:ext cx="5400000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6009A253-3506-714D-84D3-B2F4E3729A02}"/>
              </a:ext>
            </a:extLst>
          </p:cNvPr>
          <p:cNvSpPr txBox="1"/>
          <p:nvPr/>
        </p:nvSpPr>
        <p:spPr>
          <a:xfrm>
            <a:off x="5504137" y="4309373"/>
            <a:ext cx="540000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prstClr val="black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imple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linear regression:  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lm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C4F1ADB-3849-F97C-D5E4-1BDD84C84D99}"/>
                  </a:ext>
                </a:extLst>
              </p:cNvPr>
              <p:cNvSpPr txBox="1"/>
              <p:nvPr/>
            </p:nvSpPr>
            <p:spPr>
              <a:xfrm>
                <a:off x="666653" y="1044214"/>
                <a:ext cx="4347222" cy="461665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predictor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response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C4F1ADB-3849-F97C-D5E4-1BDD84C84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53" y="1044214"/>
                <a:ext cx="4347222" cy="461665"/>
              </a:xfrm>
              <a:prstGeom prst="rect">
                <a:avLst/>
              </a:prstGeom>
              <a:blipFill>
                <a:blip r:embed="rId5"/>
                <a:stretch>
                  <a:fillRect b="-512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feld 35">
            <a:extLst>
              <a:ext uri="{FF2B5EF4-FFF2-40B4-BE49-F238E27FC236}">
                <a16:creationId xmlns:a16="http://schemas.microsoft.com/office/drawing/2014/main" id="{7C390E17-FD0A-6B27-751A-9D2588AE4AE9}"/>
              </a:ext>
            </a:extLst>
          </p:cNvPr>
          <p:cNvSpPr txBox="1"/>
          <p:nvPr/>
        </p:nvSpPr>
        <p:spPr>
          <a:xfrm>
            <a:off x="693875" y="5509301"/>
            <a:ext cx="4320000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dirty="0">
                <a:solidFill>
                  <a:prstClr val="black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variables  of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class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factor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“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2BBD0705-2001-8330-57A9-866CD7E520AC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>
            <a:off x="5013875" y="5740134"/>
            <a:ext cx="49026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91080484-AE9B-04AE-0E84-129F6D2000F3}"/>
              </a:ext>
            </a:extLst>
          </p:cNvPr>
          <p:cNvSpPr txBox="1"/>
          <p:nvPr/>
        </p:nvSpPr>
        <p:spPr>
          <a:xfrm>
            <a:off x="5504137" y="5509301"/>
            <a:ext cx="5400000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        comparing proportions: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</a:b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chisq.test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(),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fisher.test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3F7C956-8F5E-CDF5-8717-BC4225E2BD16}"/>
                  </a:ext>
                </a:extLst>
              </p:cNvPr>
              <p:cNvSpPr txBox="1"/>
              <p:nvPr/>
            </p:nvSpPr>
            <p:spPr>
              <a:xfrm>
                <a:off x="671010" y="2047766"/>
                <a:ext cx="4320000" cy="646331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predictor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response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 and</a:t>
                </a:r>
                <a:b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                              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ordered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3F7C956-8F5E-CDF5-8717-BC4225E2B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10" y="2047766"/>
                <a:ext cx="4320000" cy="646331"/>
              </a:xfrm>
              <a:prstGeom prst="rect">
                <a:avLst/>
              </a:prstGeom>
              <a:blipFill>
                <a:blip r:embed="rId6"/>
                <a:stretch>
                  <a:fillRect b="-754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CB3BE32-0A42-B120-F8CA-DF4234564E56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5013875" y="1275047"/>
            <a:ext cx="477082" cy="1077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3DE8868-0C7E-C32D-5582-C38792C2D2B4}"/>
              </a:ext>
            </a:extLst>
          </p:cNvPr>
          <p:cNvCxnSpPr>
            <a:cxnSpLocks/>
          </p:cNvCxnSpPr>
          <p:nvPr/>
        </p:nvCxnSpPr>
        <p:spPr>
          <a:xfrm>
            <a:off x="5023079" y="2420542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693564A-5A05-F489-9136-8B34293275D1}"/>
              </a:ext>
            </a:extLst>
          </p:cNvPr>
          <p:cNvCxnSpPr>
            <a:cxnSpLocks/>
          </p:cNvCxnSpPr>
          <p:nvPr/>
        </p:nvCxnSpPr>
        <p:spPr>
          <a:xfrm>
            <a:off x="5005470" y="4466745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3E70E5B-5D7E-11CD-AEA9-677270387610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63933" y="2757034"/>
                <a:ext cx="4320000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predictor  of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and</a:t>
                </a:r>
                <a:b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                              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ordered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response of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and</a:t>
                </a:r>
                <a:b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                              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ordered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with j levels</a:t>
                </a: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3E70E5B-5D7E-11CD-AEA9-6772703876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33" y="2757034"/>
                <a:ext cx="4320000" cy="830997"/>
              </a:xfrm>
              <a:prstGeom prst="rect">
                <a:avLst/>
              </a:prstGeom>
              <a:blipFill>
                <a:blip r:embed="rId7"/>
                <a:stretch>
                  <a:fillRect b="-4412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C79D8F29-37CF-8A09-3E23-59F2C947AD8C}"/>
              </a:ext>
            </a:extLst>
          </p:cNvPr>
          <p:cNvSpPr txBox="1"/>
          <p:nvPr/>
        </p:nvSpPr>
        <p:spPr>
          <a:xfrm>
            <a:off x="5504137" y="4948101"/>
            <a:ext cx="540000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Spearman rank correlation :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cor.test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(…,method=“spearman”)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4FA5052-5E58-62AA-3E03-E0824E87E185}"/>
              </a:ext>
            </a:extLst>
          </p:cNvPr>
          <p:cNvCxnSpPr>
            <a:cxnSpLocks/>
          </p:cNvCxnSpPr>
          <p:nvPr/>
        </p:nvCxnSpPr>
        <p:spPr>
          <a:xfrm>
            <a:off x="5004108" y="3850039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84915738-1FED-FE0E-6A7A-1ECD5480C851}"/>
              </a:ext>
            </a:extLst>
          </p:cNvPr>
          <p:cNvCxnSpPr>
            <a:cxnSpLocks/>
          </p:cNvCxnSpPr>
          <p:nvPr/>
        </p:nvCxnSpPr>
        <p:spPr>
          <a:xfrm>
            <a:off x="5005470" y="5113100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A7A4A9E7-DA01-D764-B444-F2F01DA6CEF7}"/>
              </a:ext>
            </a:extLst>
          </p:cNvPr>
          <p:cNvSpPr txBox="1"/>
          <p:nvPr/>
        </p:nvSpPr>
        <p:spPr>
          <a:xfrm>
            <a:off x="5504137" y="3729237"/>
            <a:ext cx="540000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Kendall rank correlation :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cor.test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(…,method=“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kendall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”)</a:t>
            </a:r>
          </a:p>
        </p:txBody>
      </p: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F3A044BB-7047-1A8E-87A2-BDF8F51B400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5034132" y="1275047"/>
            <a:ext cx="470005" cy="2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F1A6E6DF-3EA6-5DC6-FC3F-8EBBFD72977C}"/>
              </a:ext>
            </a:extLst>
          </p:cNvPr>
          <p:cNvSpPr txBox="1"/>
          <p:nvPr/>
        </p:nvSpPr>
        <p:spPr>
          <a:xfrm>
            <a:off x="670850" y="3729237"/>
            <a:ext cx="432000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+ flag: </a:t>
            </a:r>
            <a:r>
              <a:rPr kumimoji="0" lang="en-GB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visstat</a:t>
            </a: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(…,correlation=TRUE)</a:t>
            </a:r>
            <a:endParaRPr kumimoji="0" lang="de-DE" sz="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EF62D55-372B-20C3-ABB9-9A7DEC43A51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983933" y="2458342"/>
            <a:ext cx="449748" cy="714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8443FE01-1F07-0A94-9459-EA315FDED2AB}"/>
              </a:ext>
            </a:extLst>
          </p:cNvPr>
          <p:cNvSpPr txBox="1"/>
          <p:nvPr/>
        </p:nvSpPr>
        <p:spPr>
          <a:xfrm>
            <a:off x="189571" y="1136547"/>
            <a:ext cx="236184" cy="215444"/>
          </a:xfrm>
          <a:prstGeom prst="rect">
            <a:avLst/>
          </a:prstGeom>
          <a:solidFill>
            <a:schemeClr val="bg2">
              <a:lumMod val="90000"/>
              <a:alpha val="19758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800" noProof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10EF68B-67E5-4BFC-5A85-E08DE99B6B1D}"/>
              </a:ext>
            </a:extLst>
          </p:cNvPr>
          <p:cNvSpPr txBox="1"/>
          <p:nvPr/>
        </p:nvSpPr>
        <p:spPr>
          <a:xfrm>
            <a:off x="0" y="608755"/>
            <a:ext cx="691375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Route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EBFA8A2-6148-8711-FC2D-E3D98A562A7F}"/>
              </a:ext>
            </a:extLst>
          </p:cNvPr>
          <p:cNvSpPr/>
          <p:nvPr/>
        </p:nvSpPr>
        <p:spPr>
          <a:xfrm>
            <a:off x="171063" y="1044214"/>
            <a:ext cx="347696" cy="46166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B8A15B1-AA6D-2AB4-E25F-39B7ECC45099}"/>
              </a:ext>
            </a:extLst>
          </p:cNvPr>
          <p:cNvSpPr/>
          <p:nvPr/>
        </p:nvSpPr>
        <p:spPr>
          <a:xfrm>
            <a:off x="185255" y="2047766"/>
            <a:ext cx="327615" cy="15402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4DBA35-A76B-7D64-A723-336435614C2D}"/>
              </a:ext>
            </a:extLst>
          </p:cNvPr>
          <p:cNvSpPr/>
          <p:nvPr/>
        </p:nvSpPr>
        <p:spPr>
          <a:xfrm>
            <a:off x="165173" y="4222633"/>
            <a:ext cx="377355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32A3B2-F2C4-4CBB-8ED8-467E430EE142}"/>
              </a:ext>
            </a:extLst>
          </p:cNvPr>
          <p:cNvSpPr/>
          <p:nvPr/>
        </p:nvSpPr>
        <p:spPr>
          <a:xfrm>
            <a:off x="194833" y="5509301"/>
            <a:ext cx="347696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63293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2984B-318B-5F5B-2D7D-C6FF3EE5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AB662B65-8BBA-EAFD-148F-07C4E5472A79}"/>
              </a:ext>
            </a:extLst>
          </p:cNvPr>
          <p:cNvGrpSpPr/>
          <p:nvPr/>
        </p:nvGrpSpPr>
        <p:grpSpPr>
          <a:xfrm>
            <a:off x="285750" y="620185"/>
            <a:ext cx="10904137" cy="6109617"/>
            <a:chOff x="285750" y="620185"/>
            <a:chExt cx="10904137" cy="6109617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45F8E9B7-7280-DC03-BB2B-A1310BEC3DAF}"/>
                </a:ext>
              </a:extLst>
            </p:cNvPr>
            <p:cNvSpPr txBox="1"/>
            <p:nvPr/>
          </p:nvSpPr>
          <p:spPr>
            <a:xfrm>
              <a:off x="5769630" y="794818"/>
              <a:ext cx="5413180" cy="30469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Tests of central tendencies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06151A23-0BD4-4576-17CE-CAFC00C30807}"/>
                </a:ext>
              </a:extLst>
            </p:cNvPr>
            <p:cNvSpPr txBox="1"/>
            <p:nvPr/>
          </p:nvSpPr>
          <p:spPr>
            <a:xfrm>
              <a:off x="964403" y="5222421"/>
              <a:ext cx="4320001" cy="276999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+ correlation=TRUE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2DFACB15-C2C2-DCD1-2D0F-FE09AA1C52B5}"/>
                    </a:ext>
                  </a:extLst>
                </p:cNvPr>
                <p:cNvSpPr txBox="1"/>
                <p:nvPr/>
              </p:nvSpPr>
              <p:spPr>
                <a:xfrm>
                  <a:off x="5789887" y="1055644"/>
                  <a:ext cx="5400000" cy="461665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0"/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parametric tests: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…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var.equal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=TRUE), 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  <a:p>
                  <a:pPr lvl="0"/>
                  <a:r>
                    <a:rPr kumimoji="0" lang="en-US" sz="1200" b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Cambria Math" panose="02040503050406030204" pitchFamily="18" charset="0"/>
                      <a:cs typeface="+mn-cs"/>
                    </a:rPr>
                    <a:t>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                 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2DFACB15-C2C2-DCD1-2D0F-FE09AA1C5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9887" y="1055644"/>
                  <a:ext cx="54000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5128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A41CC212-A60C-208D-35F3-B8CCC6937DA8}"/>
                </a:ext>
              </a:extLst>
            </p:cNvPr>
            <p:cNvSpPr txBox="1">
              <a:spLocks/>
            </p:cNvSpPr>
            <p:nvPr/>
          </p:nvSpPr>
          <p:spPr>
            <a:xfrm>
              <a:off x="967812" y="4336933"/>
              <a:ext cx="4320000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response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DBF75D4E-8825-BAD0-B381-10669B6A6F6B}"/>
                    </a:ext>
                  </a:extLst>
                </p:cNvPr>
                <p:cNvSpPr txBox="1"/>
                <p:nvPr/>
              </p:nvSpPr>
              <p:spPr>
                <a:xfrm>
                  <a:off x="5782809" y="2071246"/>
                  <a:ext cx="5400000" cy="156966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US" sz="1200" dirty="0">
                    <a:solidFill>
                      <a:prstClr val="black"/>
                    </a:solidFill>
                    <a:latin typeface="Calibri" panose="020F0502020204030204"/>
                    <a:ea typeface="Cambria Math" panose="02040503050406030204" pitchFamily="18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non-parametric tests: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          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DBF75D4E-8825-BAD0-B381-10669B6A6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2809" y="2071246"/>
                  <a:ext cx="5400000" cy="15696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EE5D0758-DB05-1B93-C5B7-12D45C0EFC6F}"/>
                </a:ext>
              </a:extLst>
            </p:cNvPr>
            <p:cNvSpPr txBox="1"/>
            <p:nvPr/>
          </p:nvSpPr>
          <p:spPr>
            <a:xfrm>
              <a:off x="5789887" y="4473422"/>
              <a:ext cx="540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imple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linear regression:  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B72D7A3F-D313-2D75-6020-9562D2397B38}"/>
                    </a:ext>
                  </a:extLst>
                </p:cNvPr>
                <p:cNvSpPr txBox="1"/>
                <p:nvPr/>
              </p:nvSpPr>
              <p:spPr>
                <a:xfrm>
                  <a:off x="952403" y="1055644"/>
                  <a:ext cx="4347222" cy="461665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B72D7A3F-D313-2D75-6020-9562D2397B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403" y="1055644"/>
                  <a:ext cx="4347222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5128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4023D75A-D702-3F81-09DC-F3A9FF42F9F6}"/>
                </a:ext>
              </a:extLst>
            </p:cNvPr>
            <p:cNvSpPr txBox="1"/>
            <p:nvPr/>
          </p:nvSpPr>
          <p:spPr>
            <a:xfrm>
              <a:off x="979625" y="5737901"/>
              <a:ext cx="432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oth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variables  of 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13505D13-EFCE-E4A4-44E9-376E0F792A22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>
              <a:off x="5299625" y="5968734"/>
              <a:ext cx="4902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6D7EF49C-93D7-2FE7-8F02-6FA7D39FC16F}"/>
                </a:ext>
              </a:extLst>
            </p:cNvPr>
            <p:cNvSpPr txBox="1"/>
            <p:nvPr/>
          </p:nvSpPr>
          <p:spPr>
            <a:xfrm>
              <a:off x="5789887" y="5737901"/>
              <a:ext cx="540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C8E8BD9F-432B-56EC-0F4D-ADF784F9E170}"/>
                    </a:ext>
                  </a:extLst>
                </p:cNvPr>
                <p:cNvSpPr txBox="1"/>
                <p:nvPr/>
              </p:nvSpPr>
              <p:spPr>
                <a:xfrm>
                  <a:off x="956760" y="2059196"/>
                  <a:ext cx="4320000" cy="646331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C8E8BD9F-432B-56EC-0F4D-ADF784F9E1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60" y="2059196"/>
                  <a:ext cx="4320000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566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B0668179-B51B-6E6E-36E5-D95FC09059B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299625" y="1286477"/>
              <a:ext cx="477082" cy="107724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FD42F611-C4AA-DF4C-5C92-FBC79C14F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08829" y="2431972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F85EA249-6F51-DB63-34C5-DF67F004A9EA}"/>
                </a:ext>
              </a:extLst>
            </p:cNvPr>
            <p:cNvCxnSpPr>
              <a:cxnSpLocks/>
            </p:cNvCxnSpPr>
            <p:nvPr/>
          </p:nvCxnSpPr>
          <p:spPr>
            <a:xfrm>
              <a:off x="5291220" y="458104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B475B6F-280F-4A35-03D0-41F0DFCA83F3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953222" y="2795702"/>
                  <a:ext cx="4320000" cy="83099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  <a:prstDash val="sysDash"/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j levels</a:t>
                  </a:r>
                </a:p>
              </p:txBody>
            </p:sp>
          </mc:Choice>
          <mc:Fallback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B475B6F-280F-4A35-03D0-41F0DFCA83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222" y="2795702"/>
                  <a:ext cx="4320000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2941"/>
                  </a:stretch>
                </a:blipFill>
                <a:ln w="12700">
                  <a:solidFill>
                    <a:schemeClr val="tx1"/>
                  </a:solidFill>
                  <a:prstDash val="sysDash"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28BFF0-B44A-540A-EC8D-6ED47BC96645}"/>
                </a:ext>
              </a:extLst>
            </p:cNvPr>
            <p:cNvSpPr txBox="1"/>
            <p:nvPr/>
          </p:nvSpPr>
          <p:spPr>
            <a:xfrm>
              <a:off x="5789887" y="5222421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Spearman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(…,method=“spearman”)</a:t>
              </a:r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3855A362-3E56-A0C4-6001-BC6EFB57ECDC}"/>
                </a:ext>
              </a:extLst>
            </p:cNvPr>
            <p:cNvSpPr txBox="1"/>
            <p:nvPr/>
          </p:nvSpPr>
          <p:spPr>
            <a:xfrm>
              <a:off x="5782809" y="3882270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Kendall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kendall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”)</a:t>
              </a:r>
            </a:p>
          </p:txBody>
        </p: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359860EC-CB2E-6498-41F7-C0E71D709B00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5319882" y="1286477"/>
              <a:ext cx="470005" cy="2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70B7903D-AF54-6C2B-EF89-945DC6A2CE63}"/>
                </a:ext>
              </a:extLst>
            </p:cNvPr>
            <p:cNvSpPr txBox="1"/>
            <p:nvPr/>
          </p:nvSpPr>
          <p:spPr>
            <a:xfrm>
              <a:off x="949683" y="3882270"/>
              <a:ext cx="432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+ correlation=TRUE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EA654AFB-152F-E1B5-7BA3-94A302442F4F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5273222" y="2564698"/>
              <a:ext cx="499947" cy="6465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D4492FB3-1A4F-0300-25EF-5AEEEED5DE13}"/>
                </a:ext>
              </a:extLst>
            </p:cNvPr>
            <p:cNvSpPr txBox="1"/>
            <p:nvPr/>
          </p:nvSpPr>
          <p:spPr>
            <a:xfrm>
              <a:off x="475321" y="1147977"/>
              <a:ext cx="236184" cy="215444"/>
            </a:xfrm>
            <a:prstGeom prst="rect">
              <a:avLst/>
            </a:prstGeom>
            <a:solidFill>
              <a:schemeClr val="bg2">
                <a:lumMod val="90000"/>
                <a:alpha val="19758"/>
              </a:schemeClr>
            </a:solidFill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F9068A38-A9CB-766D-4CFD-111A5514FB5A}"/>
                </a:ext>
              </a:extLst>
            </p:cNvPr>
            <p:cNvSpPr txBox="1"/>
            <p:nvPr/>
          </p:nvSpPr>
          <p:spPr>
            <a:xfrm>
              <a:off x="285750" y="620185"/>
              <a:ext cx="691375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Route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19F62E2-8245-4CC6-BD75-E18711E3C62F}"/>
                </a:ext>
              </a:extLst>
            </p:cNvPr>
            <p:cNvSpPr/>
            <p:nvPr/>
          </p:nvSpPr>
          <p:spPr>
            <a:xfrm>
              <a:off x="456813" y="1055644"/>
              <a:ext cx="347696" cy="46166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255CF21F-0322-ECE6-F904-A98BCBBB1A4F}"/>
                </a:ext>
              </a:extLst>
            </p:cNvPr>
            <p:cNvSpPr/>
            <p:nvPr/>
          </p:nvSpPr>
          <p:spPr>
            <a:xfrm>
              <a:off x="471005" y="2059196"/>
              <a:ext cx="327615" cy="154026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DF982242-EE07-A86A-CA9A-1B6AA1385B0F}"/>
                </a:ext>
              </a:extLst>
            </p:cNvPr>
            <p:cNvSpPr/>
            <p:nvPr/>
          </p:nvSpPr>
          <p:spPr>
            <a:xfrm>
              <a:off x="450923" y="4336933"/>
              <a:ext cx="377355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741D0FB7-565E-2711-349C-C82EBF8E3119}"/>
                </a:ext>
              </a:extLst>
            </p:cNvPr>
            <p:cNvSpPr/>
            <p:nvPr/>
          </p:nvSpPr>
          <p:spPr>
            <a:xfrm>
              <a:off x="480583" y="5737901"/>
              <a:ext cx="347696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4</a:t>
              </a:r>
            </a:p>
          </p:txBody>
        </p: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A44724E2-EA26-7801-C5CD-8E574D2F7F3B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3113222" y="3626699"/>
              <a:ext cx="314" cy="282809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0A87760E-B77D-A62A-17C8-167F3DFF3746}"/>
                </a:ext>
              </a:extLst>
            </p:cNvPr>
            <p:cNvCxnSpPr>
              <a:cxnSpLocks/>
            </p:cNvCxnSpPr>
            <p:nvPr/>
          </p:nvCxnSpPr>
          <p:spPr>
            <a:xfrm>
              <a:off x="3126470" y="4992185"/>
              <a:ext cx="0" cy="230236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898312C-6EC1-809B-E83F-E7B06D7D6F2D}"/>
                </a:ext>
              </a:extLst>
            </p:cNvPr>
            <p:cNvSpPr txBox="1"/>
            <p:nvPr/>
          </p:nvSpPr>
          <p:spPr>
            <a:xfrm>
              <a:off x="5789886" y="6452803"/>
              <a:ext cx="5392923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>
                  <a:lumMod val="20000"/>
                  <a:lumOff val="8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optional rank correlation only selected, when </a:t>
              </a:r>
              <a:r>
                <a:rPr lang="en-GB" sz="1200" dirty="0">
                  <a:solidFill>
                    <a:prstClr val="black"/>
                  </a:solidFill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correlation = TRUE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33A82D98-93F7-1C4C-62DA-58C792C8F9AE}"/>
                </a:ext>
              </a:extLst>
            </p:cNvPr>
            <p:cNvCxnSpPr>
              <a:cxnSpLocks/>
            </p:cNvCxnSpPr>
            <p:nvPr/>
          </p:nvCxnSpPr>
          <p:spPr>
            <a:xfrm>
              <a:off x="5830065" y="6591302"/>
              <a:ext cx="337752" cy="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BF87B7B0-0D2C-437C-E0E4-BB6C5B611E1E}"/>
                </a:ext>
              </a:extLst>
            </p:cNvPr>
            <p:cNvCxnSpPr>
              <a:cxnSpLocks/>
              <a:endCxn id="68" idx="1"/>
            </p:cNvCxnSpPr>
            <p:nvPr/>
          </p:nvCxnSpPr>
          <p:spPr>
            <a:xfrm>
              <a:off x="5299625" y="4020769"/>
              <a:ext cx="483184" cy="1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D87037BC-DC60-ECF1-C371-204F88E7384B}"/>
                </a:ext>
              </a:extLst>
            </p:cNvPr>
            <p:cNvCxnSpPr>
              <a:cxnSpLocks/>
            </p:cNvCxnSpPr>
            <p:nvPr/>
          </p:nvCxnSpPr>
          <p:spPr>
            <a:xfrm>
              <a:off x="5296574" y="5367981"/>
              <a:ext cx="483184" cy="1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4955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1080</Words>
  <Application>Microsoft Macintosh PowerPoint</Application>
  <PresentationFormat>Breitbild</PresentationFormat>
  <Paragraphs>181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39</cp:revision>
  <dcterms:created xsi:type="dcterms:W3CDTF">2023-05-08T12:12:17Z</dcterms:created>
  <dcterms:modified xsi:type="dcterms:W3CDTF">2026-05-27T10:33:26Z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