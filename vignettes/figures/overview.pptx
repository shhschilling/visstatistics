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73" r:id="rId2"/>
    <p:sldId id="274" r:id="rId3"/>
    <p:sldId id="275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47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F92"/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9578F4-396C-7740-87A7-C4D5F9DB13DB}" v="186" dt="2026-05-24T07:24:44.1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87"/>
    <p:restoredTop sz="79317"/>
  </p:normalViewPr>
  <p:slideViewPr>
    <p:cSldViewPr snapToGrid="0" snapToObjects="1" showGuides="1">
      <p:cViewPr varScale="1">
        <p:scale>
          <a:sx n="69" d="100"/>
          <a:sy n="69" d="100"/>
        </p:scale>
        <p:origin x="1504" y="192"/>
      </p:cViewPr>
      <p:guideLst>
        <p:guide orient="horz" pos="2273"/>
        <p:guide pos="3477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custSel modSld">
      <pc:chgData name="Schilling Sabine HSLU W" userId="b0e2af5c-9187-4900-883a-c96514cd8e15" providerId="ADAL" clId="{5E51067F-94D7-505D-9735-0698788361AC}" dt="2026-05-24T07:24:55.295" v="3" actId="478"/>
      <pc:docMkLst>
        <pc:docMk/>
      </pc:docMkLst>
      <pc:sldChg chg="addSp delSp modSp mod">
        <pc:chgData name="Schilling Sabine HSLU W" userId="b0e2af5c-9187-4900-883a-c96514cd8e15" providerId="ADAL" clId="{5E51067F-94D7-505D-9735-0698788361AC}" dt="2026-05-24T07:24:55.295" v="3" actId="478"/>
        <pc:sldMkLst>
          <pc:docMk/>
          <pc:sldMk cId="2052569025" sldId="275"/>
        </pc:sldMkLst>
        <pc:spChg chg="add del mod">
          <ac:chgData name="Schilling Sabine HSLU W" userId="b0e2af5c-9187-4900-883a-c96514cd8e15" providerId="ADAL" clId="{5E51067F-94D7-505D-9735-0698788361AC}" dt="2026-05-24T07:24:55.295" v="3" actId="478"/>
          <ac:spMkLst>
            <pc:docMk/>
            <pc:sldMk cId="2052569025" sldId="275"/>
            <ac:spMk id="2" creationId="{5221C6E7-7004-E29B-D134-11E560A04FA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65AD4-97DF-01F2-1987-71F2F275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F12C5C2-CB0D-F12F-DE17-0FFE926109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60658DD-D8DF-C31B-64EE-BA489FC92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68812D-6268-7CDC-46BC-F3508F6B1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2441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77AA-2D02-C294-F1F2-EEB3F2EB2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08177B2-679D-B01E-6976-DA06E15A3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6B5C141-7E16-2F0E-B8F6-2F29BF0126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C38E17-2F54-5C54-9FFF-C56E170153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31714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77AA-2D02-C294-F1F2-EEB3F2EB2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08177B2-679D-B01E-6976-DA06E15A3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6B5C141-7E16-2F0E-B8F6-2F29BF0126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C38E17-2F54-5C54-9FFF-C56E170153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7B21A6D-3249-074E-BBD6-BCFA9536785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31714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C706-40C9-0C80-95BE-644E9791B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uppieren 50">
            <a:extLst>
              <a:ext uri="{FF2B5EF4-FFF2-40B4-BE49-F238E27FC236}">
                <a16:creationId xmlns:a16="http://schemas.microsoft.com/office/drawing/2014/main" id="{44770507-76CA-649E-2FC1-1F7141E749B8}"/>
              </a:ext>
            </a:extLst>
          </p:cNvPr>
          <p:cNvGrpSpPr/>
          <p:nvPr/>
        </p:nvGrpSpPr>
        <p:grpSpPr>
          <a:xfrm>
            <a:off x="763420" y="668463"/>
            <a:ext cx="10665159" cy="3629498"/>
            <a:chOff x="1360460" y="316483"/>
            <a:chExt cx="10665159" cy="3629498"/>
          </a:xfrm>
        </p:grpSpPr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C1981550-83BB-9397-710A-8F2694DD3EA9}"/>
                </a:ext>
              </a:extLst>
            </p:cNvPr>
            <p:cNvSpPr txBox="1"/>
            <p:nvPr/>
          </p:nvSpPr>
          <p:spPr>
            <a:xfrm>
              <a:off x="6117376" y="316483"/>
              <a:ext cx="5908243" cy="1938992"/>
            </a:xfrm>
            <a:prstGeom prst="rect">
              <a:avLst/>
            </a:prstGeom>
            <a:noFill/>
            <a:ln w="12700">
              <a:solidFill>
                <a:schemeClr val="bg1">
                  <a:lumMod val="6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              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Tests of central tendencies</a:t>
              </a: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endParaRPr lang="en-GB" sz="120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C5757D2-6CA8-B513-DC52-7F09F857A4C7}"/>
                    </a:ext>
                  </a:extLst>
                </p:cNvPr>
                <p:cNvSpPr txBox="1"/>
                <p:nvPr/>
              </p:nvSpPr>
              <p:spPr>
                <a:xfrm>
                  <a:off x="6211369" y="1842326"/>
                  <a:ext cx="5701592" cy="276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:r>
                    <a:rPr lang="en-US" sz="1200" dirty="0">
                      <a:ea typeface="Cambria Math" panose="02040503050406030204" pitchFamily="18" charset="0"/>
                    </a:rPr>
                    <a:t>non-parametric tests: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wilcox.test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</a:t>
                  </a:r>
                  <a:r>
                    <a:rPr lang="en-GB" sz="1200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kruskal.test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C5757D2-6CA8-B513-DC52-7F09F857A4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1369" y="1842326"/>
                  <a:ext cx="5701592" cy="276999"/>
                </a:xfrm>
                <a:prstGeom prst="rect">
                  <a:avLst/>
                </a:prstGeom>
                <a:blipFill>
                  <a:blip r:embed="rId3"/>
                  <a:stretch>
                    <a:fillRect b="-1739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B1B10A6C-E857-2AC7-9CD4-9F6187F56B57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360460" y="2508787"/>
              <a:ext cx="4329205" cy="64633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 predictor of 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b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response of 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5B16A604-2B7C-E85E-0A91-CC96741BDB01}"/>
                    </a:ext>
                  </a:extLst>
                </p:cNvPr>
                <p:cNvSpPr txBox="1"/>
                <p:nvPr/>
              </p:nvSpPr>
              <p:spPr>
                <a:xfrm>
                  <a:off x="6211570" y="2526658"/>
                  <a:ext cx="5719853" cy="646331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lvl="1"/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Simple linear regression:  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lm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  <a:b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</a:b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Spearman rank </a:t>
                  </a:r>
                  <a:r>
                    <a:rPr lang="en-GB" sz="120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correlation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:visstat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(…,</a:t>
                  </a:r>
                  <a:r>
                    <a:rPr lang="en-GB" sz="1200" b="1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do_regression</a:t>
                  </a:r>
                  <a:r>
                    <a:rPr lang="en-GB" sz="1200" b="1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=FALSE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)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ourier New" panose="02070309020205020404" pitchFamily="49" charset="0"/>
                        </a:rPr>
                        <m:t>→</m:t>
                      </m:r>
                    </m:oMath>
                  </a14:m>
                  <a:endParaRPr lang="en-US" sz="1200" b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  <a:p>
                  <a:pPr lvl="1"/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               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cor.test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(…,method=“spearman”)</a:t>
                  </a:r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5B16A604-2B7C-E85E-0A91-CC96741BDB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1570" y="2526658"/>
                  <a:ext cx="5719853" cy="646331"/>
                </a:xfrm>
                <a:prstGeom prst="rect">
                  <a:avLst/>
                </a:prstGeom>
                <a:blipFill>
                  <a:blip r:embed="rId4"/>
                  <a:stretch>
                    <a:fillRect b="-5769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83DBAF9-59AF-350E-62E3-D9DC7ADACC0D}"/>
                    </a:ext>
                  </a:extLst>
                </p:cNvPr>
                <p:cNvSpPr txBox="1"/>
                <p:nvPr/>
              </p:nvSpPr>
              <p:spPr>
                <a:xfrm>
                  <a:off x="1369665" y="502733"/>
                  <a:ext cx="4320000" cy="830997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endPara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predictor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numeric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response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</a:p>
                <a:p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83DBAF9-59AF-350E-62E3-D9DC7ADAC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665" y="502733"/>
                  <a:ext cx="4320000" cy="83099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Gerade Verbindung mit Pfeil 1">
              <a:extLst>
                <a:ext uri="{FF2B5EF4-FFF2-40B4-BE49-F238E27FC236}">
                  <a16:creationId xmlns:a16="http://schemas.microsoft.com/office/drawing/2014/main" id="{3C415C7F-748B-C1ED-EE4E-BD64FBAA59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85211" y="831821"/>
              <a:ext cx="503294" cy="11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85AF650F-788E-C688-388F-D4F5F7ACE59B}"/>
                </a:ext>
              </a:extLst>
            </p:cNvPr>
            <p:cNvSpPr txBox="1"/>
            <p:nvPr/>
          </p:nvSpPr>
          <p:spPr>
            <a:xfrm>
              <a:off x="1369664" y="3483198"/>
              <a:ext cx="4329204" cy="4616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Both variables  of  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factor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“</a:t>
              </a:r>
            </a:p>
            <a:p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39566372-3240-2CF2-23D0-16FAC566260E}"/>
                </a:ext>
              </a:extLst>
            </p:cNvPr>
            <p:cNvCxnSpPr>
              <a:cxnSpLocks/>
              <a:stCxn id="36" idx="3"/>
              <a:endCxn id="40" idx="1"/>
            </p:cNvCxnSpPr>
            <p:nvPr/>
          </p:nvCxnSpPr>
          <p:spPr>
            <a:xfrm flipV="1">
              <a:off x="5698868" y="3711981"/>
              <a:ext cx="494242" cy="20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24589715-130D-1803-FC06-FD5A8DB9FD73}"/>
                </a:ext>
              </a:extLst>
            </p:cNvPr>
            <p:cNvSpPr txBox="1"/>
            <p:nvPr/>
          </p:nvSpPr>
          <p:spPr>
            <a:xfrm>
              <a:off x="6193110" y="3477981"/>
              <a:ext cx="5719851" cy="4680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Comparing proportions:</a:t>
              </a:r>
              <a:b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chisq.test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(), </a:t>
              </a:r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fisher.test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52BE3A2-0408-78DD-3115-287BDBDD4277}"/>
                    </a:ext>
                  </a:extLst>
                </p:cNvPr>
                <p:cNvSpPr txBox="1"/>
                <p:nvPr/>
              </p:nvSpPr>
              <p:spPr>
                <a:xfrm>
                  <a:off x="6193111" y="693322"/>
                  <a:ext cx="5664357" cy="276999"/>
                </a:xfrm>
                <a:prstGeom prst="rect">
                  <a:avLst/>
                </a:prstGeom>
                <a:solidFill>
                  <a:schemeClr val="accent4">
                    <a:alpha val="2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:r>
                    <a:rPr lang="en-US" sz="1200" b="0" dirty="0">
                      <a:ea typeface="Cambria Math" panose="02040503050406030204" pitchFamily="18" charset="0"/>
                    </a:rPr>
                    <a:t> parametric tests: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aov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oneway.test</a:t>
                  </a:r>
                  <a:endPara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52BE3A2-0408-78DD-3115-287BDBDD4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3111" y="693322"/>
                  <a:ext cx="5664357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16667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746F3D3D-30AE-C976-B294-DB7D9B8FB409}"/>
                    </a:ext>
                  </a:extLst>
                </p:cNvPr>
                <p:cNvSpPr txBox="1"/>
                <p:nvPr/>
              </p:nvSpPr>
              <p:spPr>
                <a:xfrm>
                  <a:off x="1369665" y="1598093"/>
                  <a:ext cx="4329205" cy="646331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 and</a:t>
                  </a:r>
                  <a:b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𝑗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</p:txBody>
            </p:sp>
          </mc:Choice>
          <mc:Fallback xmlns="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746F3D3D-30AE-C976-B294-DB7D9B8FB4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665" y="1598093"/>
                  <a:ext cx="4329205" cy="646331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70C9F5FC-AF03-27DA-5350-C58CCEDDBC03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5689665" y="918232"/>
              <a:ext cx="512499" cy="96983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3DDE1A43-F7C7-70FB-7017-DCD87C3E884D}"/>
                </a:ext>
              </a:extLst>
            </p:cNvPr>
            <p:cNvCxnSpPr>
              <a:cxnSpLocks/>
            </p:cNvCxnSpPr>
            <p:nvPr/>
          </p:nvCxnSpPr>
          <p:spPr>
            <a:xfrm>
              <a:off x="5698870" y="1931390"/>
              <a:ext cx="512499" cy="390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5C5DBDB-04E0-3BA1-F10B-880665C4834B}"/>
                </a:ext>
              </a:extLst>
            </p:cNvPr>
            <p:cNvCxnSpPr>
              <a:cxnSpLocks/>
            </p:cNvCxnSpPr>
            <p:nvPr/>
          </p:nvCxnSpPr>
          <p:spPr>
            <a:xfrm>
              <a:off x="5680608" y="2797386"/>
              <a:ext cx="512499" cy="390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450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540CC-8A73-C021-D968-04CBBCB7F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03D655E-9CD9-685D-7B91-6B5945795D4E}"/>
              </a:ext>
            </a:extLst>
          </p:cNvPr>
          <p:cNvGrpSpPr/>
          <p:nvPr/>
        </p:nvGrpSpPr>
        <p:grpSpPr>
          <a:xfrm>
            <a:off x="715930" y="679404"/>
            <a:ext cx="10800839" cy="5113384"/>
            <a:chOff x="715930" y="679404"/>
            <a:chExt cx="10800839" cy="5113384"/>
          </a:xfrm>
        </p:grpSpPr>
        <p:grpSp>
          <p:nvGrpSpPr>
            <p:cNvPr id="69" name="Gruppieren 68">
              <a:extLst>
                <a:ext uri="{FF2B5EF4-FFF2-40B4-BE49-F238E27FC236}">
                  <a16:creationId xmlns:a16="http://schemas.microsoft.com/office/drawing/2014/main" id="{44009903-A0FE-1610-A44A-7945B84624B2}"/>
                </a:ext>
              </a:extLst>
            </p:cNvPr>
            <p:cNvGrpSpPr/>
            <p:nvPr/>
          </p:nvGrpSpPr>
          <p:grpSpPr>
            <a:xfrm>
              <a:off x="715930" y="679404"/>
              <a:ext cx="10800839" cy="5113384"/>
              <a:chOff x="744727" y="582418"/>
              <a:chExt cx="10800839" cy="5113384"/>
            </a:xfrm>
          </p:grpSpPr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4E91C313-141B-C0EB-7458-C988F814755D}"/>
                  </a:ext>
                </a:extLst>
              </p:cNvPr>
              <p:cNvSpPr txBox="1"/>
              <p:nvPr/>
            </p:nvSpPr>
            <p:spPr>
              <a:xfrm>
                <a:off x="5569708" y="582418"/>
                <a:ext cx="5975858" cy="1938992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                        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Tests of central tendencies</a:t>
                </a: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endPara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850F5D96-EAD6-2EF1-FC49-CD5ADD5C2CF4}"/>
                      </a:ext>
                    </a:extLst>
                  </p:cNvPr>
                  <p:cNvSpPr txBox="1"/>
                  <p:nvPr/>
                </p:nvSpPr>
                <p:spPr>
                  <a:xfrm>
                    <a:off x="5614328" y="1002239"/>
                    <a:ext cx="5664357" cy="276999"/>
                  </a:xfrm>
                  <a:prstGeom prst="rect">
                    <a:avLst/>
                  </a:prstGeom>
                  <a:solidFill>
                    <a:schemeClr val="accent4">
                      <a:alpha val="2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:r>
                      <a:rPr lang="en-US" sz="1200" b="0" dirty="0">
                        <a:ea typeface="Cambria Math" panose="02040503050406030204" pitchFamily="18" charset="0"/>
                      </a:rPr>
                      <a:t> parametric tests: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t.test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(),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aov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(),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oneway.test</a:t>
                    </a:r>
                    <a:endPara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endParaRPr>
                  </a:p>
                </p:txBody>
              </p:sp>
            </mc:Choice>
            <mc:Fallback xmlns="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850F5D96-EAD6-2EF1-FC49-CD5ADD5C2C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14328" y="1002239"/>
                    <a:ext cx="5664357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6667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259E59C-91A3-35E8-5F00-0D83BB6F2314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749759" y="2954852"/>
                <a:ext cx="4329205" cy="83099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numeric 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b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</a:b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numeric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</a:p>
              <a:p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57" name="Textfeld 56">
                <a:extLst>
                  <a:ext uri="{FF2B5EF4-FFF2-40B4-BE49-F238E27FC236}">
                    <a16:creationId xmlns:a16="http://schemas.microsoft.com/office/drawing/2014/main" id="{8994B425-65B2-49E4-F84C-57A25705E933}"/>
                  </a:ext>
                </a:extLst>
              </p:cNvPr>
              <p:cNvSpPr txBox="1"/>
              <p:nvPr/>
            </p:nvSpPr>
            <p:spPr>
              <a:xfrm>
                <a:off x="744727" y="3517946"/>
                <a:ext cx="4328440" cy="276999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  <a:alpha val="19758"/>
                </a:schemeClr>
              </a:solidFill>
              <a:ln w="1270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+ flag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</a:t>
                </a:r>
                <a:r>
                  <a:rPr kumimoji="0" lang="en-GB" sz="12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visstat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kumimoji="0" lang="en-GB" sz="12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do_regression</a:t>
                </a:r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=FALSE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)</a:t>
                </a:r>
                <a:endParaRPr lang="de-DE" sz="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2C733A43-BA90-EED8-6758-242898D59516}"/>
                      </a:ext>
                    </a:extLst>
                  </p:cNvPr>
                  <p:cNvSpPr txBox="1"/>
                  <p:nvPr/>
                </p:nvSpPr>
                <p:spPr>
                  <a:xfrm>
                    <a:off x="5614328" y="2075934"/>
                    <a:ext cx="5701592" cy="276999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:r>
                      <a:rPr lang="en-US" sz="1200" dirty="0">
                        <a:ea typeface="Cambria Math" panose="02040503050406030204" pitchFamily="18" charset="0"/>
                      </a:rPr>
                      <a:t>non-parametric tests: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wilcox.test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(),</a:t>
                    </a:r>
                    <a:r>
                      <a:rPr lang="en-GB" sz="1200" dirty="0">
                        <a:ea typeface="Cambria Math" panose="02040503050406030204" pitchFamily="18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kruskal.test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</a:t>
                    </a:r>
                  </a:p>
                </p:txBody>
              </p:sp>
            </mc:Choice>
            <mc:Fallback xmlns=""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2C733A43-BA90-EED8-6758-242898D595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14328" y="2075934"/>
                    <a:ext cx="5701592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2500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0F5D9D80-C8ED-1D5F-7CBA-0A72C71AD571}"/>
                  </a:ext>
                </a:extLst>
              </p:cNvPr>
              <p:cNvSpPr txBox="1"/>
              <p:nvPr/>
            </p:nvSpPr>
            <p:spPr>
              <a:xfrm>
                <a:off x="5614328" y="3021516"/>
                <a:ext cx="5719853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lvl="1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Simple linear regression:  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lm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F15C4A27-3FC3-4E72-00C0-8FCD121A3D3F}"/>
                      </a:ext>
                    </a:extLst>
                  </p:cNvPr>
                  <p:cNvSpPr txBox="1"/>
                  <p:nvPr/>
                </p:nvSpPr>
                <p:spPr>
                  <a:xfrm>
                    <a:off x="772625" y="909906"/>
                    <a:ext cx="4320000" cy="461665"/>
                  </a:xfrm>
                  <a:prstGeom prst="rect">
                    <a:avLst/>
                  </a:prstGeom>
                  <a:solidFill>
                    <a:schemeClr val="bg2">
                      <a:lumMod val="9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numeric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F15C4A27-3FC3-4E72-00C0-8FCD121A3D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2625" y="909906"/>
                    <a:ext cx="4320000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7692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E4B8EE02-0F90-3F09-7990-89B6B3DCBB2E}"/>
                  </a:ext>
                </a:extLst>
              </p:cNvPr>
              <p:cNvSpPr txBox="1"/>
              <p:nvPr/>
            </p:nvSpPr>
            <p:spPr>
              <a:xfrm>
                <a:off x="772625" y="5234137"/>
                <a:ext cx="4329204" cy="46166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Both variables  of  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“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D0C86A91-FDA7-431A-A97E-45AB5F8F86AC}"/>
                  </a:ext>
                </a:extLst>
              </p:cNvPr>
              <p:cNvCxnSpPr>
                <a:cxnSpLocks/>
                <a:stCxn id="36" idx="3"/>
                <a:endCxn id="40" idx="1"/>
              </p:cNvCxnSpPr>
              <p:nvPr/>
            </p:nvCxnSpPr>
            <p:spPr>
              <a:xfrm flipV="1">
                <a:off x="5101829" y="5460863"/>
                <a:ext cx="535366" cy="410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50FC18BF-DA43-100C-15F7-046360CBE26F}"/>
                  </a:ext>
                </a:extLst>
              </p:cNvPr>
              <p:cNvSpPr txBox="1"/>
              <p:nvPr/>
            </p:nvSpPr>
            <p:spPr>
              <a:xfrm>
                <a:off x="5637195" y="5230030"/>
                <a:ext cx="5719851" cy="46166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          Comparing proportions:</a:t>
                </a:r>
                <a:b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</a:b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chisq.test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(),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fisher.test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Textfeld 4">
                    <a:extLst>
                      <a:ext uri="{FF2B5EF4-FFF2-40B4-BE49-F238E27FC236}">
                        <a16:creationId xmlns:a16="http://schemas.microsoft.com/office/drawing/2014/main" id="{D88560B6-0A0F-0760-6149-6FF3B7B24210}"/>
                      </a:ext>
                    </a:extLst>
                  </p:cNvPr>
                  <p:cNvSpPr txBox="1"/>
                  <p:nvPr/>
                </p:nvSpPr>
                <p:spPr>
                  <a:xfrm>
                    <a:off x="749760" y="1913458"/>
                    <a:ext cx="4329205" cy="646331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predictor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  <a:p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response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 and</a:t>
                    </a:r>
                    <a:b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</a:b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                                                       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ordered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with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𝑗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</p:txBody>
              </p:sp>
            </mc:Choice>
            <mc:Fallback xmlns="">
              <p:sp>
                <p:nvSpPr>
                  <p:cNvPr id="5" name="Textfeld 4">
                    <a:extLst>
                      <a:ext uri="{FF2B5EF4-FFF2-40B4-BE49-F238E27FC236}">
                        <a16:creationId xmlns:a16="http://schemas.microsoft.com/office/drawing/2014/main" id="{D88560B6-0A0F-0760-6149-6FF3B7B242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9760" y="1913458"/>
                    <a:ext cx="4329205" cy="64633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7547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" name="Gerade Verbindung mit Pfeil 9">
                <a:extLst>
                  <a:ext uri="{FF2B5EF4-FFF2-40B4-BE49-F238E27FC236}">
                    <a16:creationId xmlns:a16="http://schemas.microsoft.com/office/drawing/2014/main" id="{7FFB23BA-1A56-EA09-897C-EAA0A7C46798}"/>
                  </a:ext>
                </a:extLst>
              </p:cNvPr>
              <p:cNvCxnSpPr>
                <a:cxnSpLocks/>
                <a:stCxn id="7" idx="3"/>
              </p:cNvCxnSpPr>
              <p:nvPr/>
            </p:nvCxnSpPr>
            <p:spPr>
              <a:xfrm>
                <a:off x="5092625" y="1140739"/>
                <a:ext cx="477082" cy="107724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Gerade Verbindung mit Pfeil 15">
                <a:extLst>
                  <a:ext uri="{FF2B5EF4-FFF2-40B4-BE49-F238E27FC236}">
                    <a16:creationId xmlns:a16="http://schemas.microsoft.com/office/drawing/2014/main" id="{95EE3751-2F94-DC07-D76A-B01575DBC8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1829" y="2286234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 Verbindung mit Pfeil 48">
                <a:extLst>
                  <a:ext uri="{FF2B5EF4-FFF2-40B4-BE49-F238E27FC236}">
                    <a16:creationId xmlns:a16="http://schemas.microsoft.com/office/drawing/2014/main" id="{C057720C-4C0C-4DDC-5805-67C405AC57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3167" y="3198964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FB9B848B-7023-14FC-D384-3530FD90ECCA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749761" y="4157944"/>
                    <a:ext cx="4329205" cy="830997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predictor 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</a:t>
                    </a:r>
                    <a:r>
                      <a:rPr lang="en-GB" sz="1200" b="1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and</a:t>
                    </a:r>
                    <a:b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</a:b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                                                       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ordered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with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response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</a:t>
                    </a:r>
                    <a:r>
                      <a:rPr lang="en-GB" sz="1200" b="1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and</a:t>
                    </a:r>
                    <a:b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</a:b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                                                       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ordered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with levels</a:t>
                    </a:r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FB9B848B-7023-14FC-D384-3530FD90EC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9761" y="4157944"/>
                    <a:ext cx="4329205" cy="83099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4478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93B1E64-77B3-996B-0C03-74605808B38D}"/>
                  </a:ext>
                </a:extLst>
              </p:cNvPr>
              <p:cNvSpPr txBox="1"/>
              <p:nvPr/>
            </p:nvSpPr>
            <p:spPr>
              <a:xfrm>
                <a:off x="5614328" y="3564125"/>
                <a:ext cx="5719853" cy="2769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lvl="1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Spearman rank correlation :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cor.test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(…,method=“spearman”)</a:t>
                </a:r>
              </a:p>
            </p:txBody>
          </p:sp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6B56266-E50F-E630-DFBD-3065C4177F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8966" y="4627524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Gerade Verbindung mit Pfeil 66">
                <a:extLst>
                  <a:ext uri="{FF2B5EF4-FFF2-40B4-BE49-F238E27FC236}">
                    <a16:creationId xmlns:a16="http://schemas.microsoft.com/office/drawing/2014/main" id="{90D9A013-B638-2CFA-D596-D590570520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6449" y="3688678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Textfeld 67">
                <a:extLst>
                  <a:ext uri="{FF2B5EF4-FFF2-40B4-BE49-F238E27FC236}">
                    <a16:creationId xmlns:a16="http://schemas.microsoft.com/office/drawing/2014/main" id="{E005EFC1-18B1-0452-D704-9026052FF006}"/>
                  </a:ext>
                </a:extLst>
              </p:cNvPr>
              <p:cNvSpPr txBox="1"/>
              <p:nvPr/>
            </p:nvSpPr>
            <p:spPr>
              <a:xfrm>
                <a:off x="5637195" y="4504894"/>
                <a:ext cx="5719853" cy="2769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lvl="1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Kendall rank correlation :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cor.test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(…,method=“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kendall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”)</a:t>
                </a:r>
              </a:p>
            </p:txBody>
          </p:sp>
        </p:grp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277F9311-EB83-9B97-DA2A-A783B756E3C6}"/>
                </a:ext>
              </a:extLst>
            </p:cNvPr>
            <p:cNvCxnSpPr>
              <a:cxnSpLocks/>
            </p:cNvCxnSpPr>
            <p:nvPr/>
          </p:nvCxnSpPr>
          <p:spPr>
            <a:xfrm>
              <a:off x="5084085" y="1240615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7773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540CC-8A73-C021-D968-04CBBCB7F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D2399E9-90CC-6575-FAB8-005DA7317D93}"/>
              </a:ext>
            </a:extLst>
          </p:cNvPr>
          <p:cNvGrpSpPr/>
          <p:nvPr/>
        </p:nvGrpSpPr>
        <p:grpSpPr>
          <a:xfrm>
            <a:off x="49953" y="571433"/>
            <a:ext cx="10904137" cy="5362211"/>
            <a:chOff x="49953" y="571433"/>
            <a:chExt cx="10904137" cy="5362211"/>
          </a:xfrm>
        </p:grpSpPr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4E91C313-141B-C0EB-7458-C988F814755D}"/>
                </a:ext>
              </a:extLst>
            </p:cNvPr>
            <p:cNvSpPr txBox="1"/>
            <p:nvPr/>
          </p:nvSpPr>
          <p:spPr>
            <a:xfrm>
              <a:off x="5533833" y="746066"/>
              <a:ext cx="5413180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   Tests of central tendencies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endParaRP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8994B425-65B2-49E4-F84C-57A25705E933}"/>
                </a:ext>
              </a:extLst>
            </p:cNvPr>
            <p:cNvSpPr txBox="1"/>
            <p:nvPr/>
          </p:nvSpPr>
          <p:spPr>
            <a:xfrm>
              <a:off x="728606" y="4910779"/>
              <a:ext cx="4320001" cy="276999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+ flag: </a:t>
              </a:r>
              <a:r>
                <a:rPr kumimoji="0" lang="en-GB" sz="120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visstat</a:t>
              </a: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(…,correlation=TRUE)</a:t>
              </a:r>
              <a:endParaRPr kumimoji="0" lang="de-DE" sz="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850F5D96-EAD6-2EF1-FC49-CD5ADD5C2CF4}"/>
                    </a:ext>
                  </a:extLst>
                </p:cNvPr>
                <p:cNvSpPr txBox="1"/>
                <p:nvPr/>
              </p:nvSpPr>
              <p:spPr>
                <a:xfrm>
                  <a:off x="5554090" y="1006892"/>
                  <a:ext cx="5400000" cy="461665"/>
                </a:xfrm>
                <a:prstGeom prst="rect">
                  <a:avLst/>
                </a:prstGeom>
                <a:solidFill>
                  <a:schemeClr val="accent4">
                    <a:alpha val="2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lvl="0"/>
                  <a:r>
                    <a:rPr kumimoji="0" 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parametric tests: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=2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…</a:t>
                  </a:r>
                  <a:r>
                    <a:rPr lang="en-GB" sz="1200" dirty="0" err="1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var.equal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=TRUE), </a:t>
                  </a:r>
                  <a:r>
                    <a:rPr lang="en-GB" sz="1200" dirty="0" err="1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</a:p>
                <a:p>
                  <a:pPr lvl="0"/>
                  <a:r>
                    <a:rPr kumimoji="0" lang="en-US" sz="1200" b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Cambria Math" panose="02040503050406030204" pitchFamily="18" charset="0"/>
                      <a:cs typeface="+mn-cs"/>
                    </a:rPr>
                    <a:t>                              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&gt;2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aov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                 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oneway.test</a:t>
                  </a:r>
                  <a:endPara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850F5D96-EAD6-2EF1-FC49-CD5ADD5C2C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4090" y="1006892"/>
                  <a:ext cx="5400000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7692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259E59C-91A3-35E8-5F00-0D83BB6F2314}"/>
                </a:ext>
              </a:extLst>
            </p:cNvPr>
            <p:cNvSpPr txBox="1">
              <a:spLocks/>
            </p:cNvSpPr>
            <p:nvPr/>
          </p:nvSpPr>
          <p:spPr>
            <a:xfrm>
              <a:off x="732015" y="4185311"/>
              <a:ext cx="4320000" cy="64633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 predictor of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b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response of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2C733A43-BA90-EED8-6758-242898D59516}"/>
                    </a:ext>
                  </a:extLst>
                </p:cNvPr>
                <p:cNvSpPr txBox="1"/>
                <p:nvPr/>
              </p:nvSpPr>
              <p:spPr>
                <a:xfrm>
                  <a:off x="5554090" y="2172920"/>
                  <a:ext cx="5400000" cy="461665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non-parametric tests: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=2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wilcox.test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</a:t>
                  </a: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                                        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&gt;2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kruskal.test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2C733A43-BA90-EED8-6758-242898D59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4090" y="2172920"/>
                  <a:ext cx="5400000" cy="461665"/>
                </a:xfrm>
                <a:prstGeom prst="rect">
                  <a:avLst/>
                </a:prstGeom>
                <a:blipFill>
                  <a:blip r:embed="rId4"/>
                  <a:stretch>
                    <a:fillRect b="-7895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0F5D9D80-C8ED-1D5F-7CBA-0A72C71AD571}"/>
                </a:ext>
              </a:extLst>
            </p:cNvPr>
            <p:cNvSpPr txBox="1"/>
            <p:nvPr/>
          </p:nvSpPr>
          <p:spPr>
            <a:xfrm>
              <a:off x="5554090" y="4272051"/>
              <a:ext cx="540000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200" dirty="0">
                  <a:solidFill>
                    <a:prstClr val="black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s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imple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linear regression:  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lm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F15C4A27-3FC3-4E72-00C0-8FCD121A3D3F}"/>
                    </a:ext>
                  </a:extLst>
                </p:cNvPr>
                <p:cNvSpPr txBox="1"/>
                <p:nvPr/>
              </p:nvSpPr>
              <p:spPr>
                <a:xfrm>
                  <a:off x="716606" y="1006892"/>
                  <a:ext cx="4347222" cy="461665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numeric response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F15C4A27-3FC3-4E72-00C0-8FCD121A3D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606" y="1006892"/>
                  <a:ext cx="4347222" cy="461665"/>
                </a:xfrm>
                <a:prstGeom prst="rect">
                  <a:avLst/>
                </a:prstGeom>
                <a:blipFill>
                  <a:blip r:embed="rId5"/>
                  <a:stretch>
                    <a:fillRect b="-7692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E4B8EE02-0F90-3F09-7990-89B6B3DCBB2E}"/>
                </a:ext>
              </a:extLst>
            </p:cNvPr>
            <p:cNvSpPr txBox="1"/>
            <p:nvPr/>
          </p:nvSpPr>
          <p:spPr>
            <a:xfrm>
              <a:off x="743828" y="5471979"/>
              <a:ext cx="4320000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GB" sz="1200" dirty="0">
                  <a:solidFill>
                    <a:prstClr val="black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b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oth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variables  of 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factor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“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D0C86A91-FDA7-431A-A97E-45AB5F8F86AC}"/>
                </a:ext>
              </a:extLst>
            </p:cNvPr>
            <p:cNvCxnSpPr>
              <a:cxnSpLocks/>
              <a:stCxn id="36" idx="3"/>
              <a:endCxn id="40" idx="1"/>
            </p:cNvCxnSpPr>
            <p:nvPr/>
          </p:nvCxnSpPr>
          <p:spPr>
            <a:xfrm>
              <a:off x="5063828" y="5702812"/>
              <a:ext cx="490262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50FC18BF-DA43-100C-15F7-046360CBE26F}"/>
                </a:ext>
              </a:extLst>
            </p:cNvPr>
            <p:cNvSpPr txBox="1"/>
            <p:nvPr/>
          </p:nvSpPr>
          <p:spPr>
            <a:xfrm>
              <a:off x="5554090" y="5471979"/>
              <a:ext cx="5400000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comparing proportions:</a:t>
              </a:r>
              <a:b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chisq.test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(),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fisher.test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D88560B6-0A0F-0760-6149-6FF3B7B24210}"/>
                    </a:ext>
                  </a:extLst>
                </p:cNvPr>
                <p:cNvSpPr txBox="1"/>
                <p:nvPr/>
              </p:nvSpPr>
              <p:spPr>
                <a:xfrm>
                  <a:off x="720963" y="2010444"/>
                  <a:ext cx="4320000" cy="646331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 and</a:t>
                  </a:r>
                  <a:b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𝑗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</p:txBody>
            </p:sp>
          </mc:Choice>
          <mc:Fallback xmlns="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D88560B6-0A0F-0760-6149-6FF3B7B24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0963" y="2010444"/>
                  <a:ext cx="4320000" cy="646331"/>
                </a:xfrm>
                <a:prstGeom prst="rect">
                  <a:avLst/>
                </a:prstGeom>
                <a:blipFill>
                  <a:blip r:embed="rId6"/>
                  <a:stretch>
                    <a:fillRect b="-7547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7FFB23BA-1A56-EA09-897C-EAA0A7C46798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5063828" y="1237725"/>
              <a:ext cx="477082" cy="107724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95EE3751-2F94-DC07-D76A-B01575DBC8AF}"/>
                </a:ext>
              </a:extLst>
            </p:cNvPr>
            <p:cNvCxnSpPr>
              <a:cxnSpLocks/>
            </p:cNvCxnSpPr>
            <p:nvPr/>
          </p:nvCxnSpPr>
          <p:spPr>
            <a:xfrm>
              <a:off x="5073032" y="2383220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C057720C-4C0C-4DDC-5805-67C405AC5729}"/>
                </a:ext>
              </a:extLst>
            </p:cNvPr>
            <p:cNvCxnSpPr>
              <a:cxnSpLocks/>
            </p:cNvCxnSpPr>
            <p:nvPr/>
          </p:nvCxnSpPr>
          <p:spPr>
            <a:xfrm>
              <a:off x="5055423" y="4429423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FB9B848B-7023-14FC-D384-3530FD90ECCA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716606" y="2795230"/>
                  <a:ext cx="4320000" cy="830997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 of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and</a:t>
                  </a:r>
                  <a:b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and</a:t>
                  </a:r>
                  <a:b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j levels</a:t>
                  </a:r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FB9B848B-7023-14FC-D384-3530FD90EC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606" y="2795230"/>
                  <a:ext cx="4320000" cy="830997"/>
                </a:xfrm>
                <a:prstGeom prst="rect">
                  <a:avLst/>
                </a:prstGeom>
                <a:blipFill>
                  <a:blip r:embed="rId7"/>
                  <a:stretch>
                    <a:fillRect b="-294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C93B1E64-77B3-996B-0C03-74605808B38D}"/>
                </a:ext>
              </a:extLst>
            </p:cNvPr>
            <p:cNvSpPr txBox="1"/>
            <p:nvPr/>
          </p:nvSpPr>
          <p:spPr>
            <a:xfrm>
              <a:off x="5554090" y="4910779"/>
              <a:ext cx="540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Spearman rank correlation :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cor.test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(…,method=“spearman”)</a:t>
              </a:r>
            </a:p>
          </p:txBody>
        </p: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A6B56266-E50F-E630-DFBD-3065C4177F4D}"/>
                </a:ext>
              </a:extLst>
            </p:cNvPr>
            <p:cNvCxnSpPr>
              <a:cxnSpLocks/>
            </p:cNvCxnSpPr>
            <p:nvPr/>
          </p:nvCxnSpPr>
          <p:spPr>
            <a:xfrm>
              <a:off x="5054061" y="3812717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90D9A013-B638-2CFA-D596-D590570520DD}"/>
                </a:ext>
              </a:extLst>
            </p:cNvPr>
            <p:cNvCxnSpPr>
              <a:cxnSpLocks/>
            </p:cNvCxnSpPr>
            <p:nvPr/>
          </p:nvCxnSpPr>
          <p:spPr>
            <a:xfrm>
              <a:off x="5055423" y="5075778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E005EFC1-18B1-0452-D704-9026052FF006}"/>
                </a:ext>
              </a:extLst>
            </p:cNvPr>
            <p:cNvSpPr txBox="1"/>
            <p:nvPr/>
          </p:nvSpPr>
          <p:spPr>
            <a:xfrm>
              <a:off x="5554090" y="3691915"/>
              <a:ext cx="540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Kendall rank correlation :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cor.test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(…,method=“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kendall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”)</a:t>
              </a:r>
            </a:p>
          </p:txBody>
        </p: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277F9311-EB83-9B97-DA2A-A783B756E3C6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 flipV="1">
              <a:off x="5084085" y="1237725"/>
              <a:ext cx="470005" cy="2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7A4D2BFC-D9DC-E3A8-A99F-C8E1E1FB67D8}"/>
                </a:ext>
              </a:extLst>
            </p:cNvPr>
            <p:cNvSpPr txBox="1"/>
            <p:nvPr/>
          </p:nvSpPr>
          <p:spPr>
            <a:xfrm>
              <a:off x="720803" y="3691915"/>
              <a:ext cx="432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+ flag: </a:t>
              </a:r>
              <a:r>
                <a:rPr kumimoji="0" lang="en-GB" sz="120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visstat</a:t>
              </a: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(…,correlation=TRUE)</a:t>
              </a:r>
              <a:endParaRPr kumimoji="0" lang="de-DE" sz="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5E3E9684-F568-DFE2-B115-681F2311D058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V="1">
              <a:off x="5036606" y="2496538"/>
              <a:ext cx="449748" cy="71419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F417F758-CA76-D532-21B6-735C47519F0F}"/>
                </a:ext>
              </a:extLst>
            </p:cNvPr>
            <p:cNvSpPr txBox="1"/>
            <p:nvPr/>
          </p:nvSpPr>
          <p:spPr>
            <a:xfrm>
              <a:off x="239524" y="1099225"/>
              <a:ext cx="236184" cy="215444"/>
            </a:xfrm>
            <a:prstGeom prst="rect">
              <a:avLst/>
            </a:prstGeom>
            <a:solidFill>
              <a:schemeClr val="bg2">
                <a:lumMod val="90000"/>
                <a:alpha val="19758"/>
              </a:schemeClr>
            </a:solidFill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noProof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B8105820-9E2B-EE1E-03D4-B81791A38D81}"/>
                </a:ext>
              </a:extLst>
            </p:cNvPr>
            <p:cNvSpPr txBox="1"/>
            <p:nvPr/>
          </p:nvSpPr>
          <p:spPr>
            <a:xfrm>
              <a:off x="49953" y="571433"/>
              <a:ext cx="691375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Route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A0BE9EB5-D803-DFA9-50B5-0875D1465580}"/>
                </a:ext>
              </a:extLst>
            </p:cNvPr>
            <p:cNvSpPr/>
            <p:nvPr/>
          </p:nvSpPr>
          <p:spPr>
            <a:xfrm>
              <a:off x="221016" y="1006892"/>
              <a:ext cx="347696" cy="46166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7BFDF4DF-9E89-51BE-38BA-2941AA19B2D2}"/>
                </a:ext>
              </a:extLst>
            </p:cNvPr>
            <p:cNvSpPr/>
            <p:nvPr/>
          </p:nvSpPr>
          <p:spPr>
            <a:xfrm>
              <a:off x="215127" y="2010443"/>
              <a:ext cx="347696" cy="195847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D6F1D490-F1DA-72C5-A6CE-912541970EB7}"/>
                </a:ext>
              </a:extLst>
            </p:cNvPr>
            <p:cNvSpPr/>
            <p:nvPr/>
          </p:nvSpPr>
          <p:spPr>
            <a:xfrm>
              <a:off x="215127" y="4185311"/>
              <a:ext cx="347696" cy="100246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FA244EA9-C7AB-8F81-B117-74B499E420BC}"/>
                </a:ext>
              </a:extLst>
            </p:cNvPr>
            <p:cNvSpPr/>
            <p:nvPr/>
          </p:nvSpPr>
          <p:spPr>
            <a:xfrm>
              <a:off x="244786" y="5471979"/>
              <a:ext cx="347696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5690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611</Words>
  <Application>Microsoft Macintosh PowerPoint</Application>
  <PresentationFormat>Breitbild</PresentationFormat>
  <Paragraphs>93</Paragraphs>
  <Slides>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9" baseType="lpstr">
      <vt:lpstr>Arial</vt:lpstr>
      <vt:lpstr>Calibri</vt:lpstr>
      <vt:lpstr>Calibri Light</vt:lpstr>
      <vt:lpstr>Cambria Math</vt:lpstr>
      <vt:lpstr>Courier New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39</cp:revision>
  <dcterms:created xsi:type="dcterms:W3CDTF">2023-05-08T12:12:17Z</dcterms:created>
  <dcterms:modified xsi:type="dcterms:W3CDTF">2026-05-24T07:25:04Z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