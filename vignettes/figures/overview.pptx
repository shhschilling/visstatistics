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73" r:id="rId2"/>
    <p:sldId id="274" r:id="rId3"/>
    <p:sldId id="275" r:id="rId4"/>
    <p:sldId id="276" r:id="rId5"/>
    <p:sldId id="277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3" userDrawn="1">
          <p15:clr>
            <a:srgbClr val="A4A3A4"/>
          </p15:clr>
        </p15:guide>
        <p15:guide id="2" pos="347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2F92"/>
    <a:srgbClr val="C55A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9578F4-396C-7740-87A7-C4D5F9DB13DB}" v="214" dt="2026-05-27T09:57:47.2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98"/>
    <p:restoredTop sz="79317"/>
  </p:normalViewPr>
  <p:slideViewPr>
    <p:cSldViewPr snapToGrid="0" snapToObjects="1" showGuides="1">
      <p:cViewPr>
        <p:scale>
          <a:sx n="107" d="100"/>
          <a:sy n="107" d="100"/>
        </p:scale>
        <p:origin x="144" y="-1048"/>
      </p:cViewPr>
      <p:guideLst>
        <p:guide orient="horz" pos="2273"/>
        <p:guide pos="3477"/>
      </p:guideLst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hilling Sabine HSLU W" userId="b0e2af5c-9187-4900-883a-c96514cd8e15" providerId="ADAL" clId="{5E51067F-94D7-505D-9735-0698788361AC}"/>
    <pc:docChg chg="undo custSel addSld modSld">
      <pc:chgData name="Schilling Sabine HSLU W" userId="b0e2af5c-9187-4900-883a-c96514cd8e15" providerId="ADAL" clId="{5E51067F-94D7-505D-9735-0698788361AC}" dt="2026-07-29T14:08:24.743" v="719" actId="20577"/>
      <pc:docMkLst>
        <pc:docMk/>
      </pc:docMkLst>
      <pc:sldChg chg="addSp delSp modSp add mod">
        <pc:chgData name="Schilling Sabine HSLU W" userId="b0e2af5c-9187-4900-883a-c96514cd8e15" providerId="ADAL" clId="{5E51067F-94D7-505D-9735-0698788361AC}" dt="2026-07-29T14:08:24.743" v="719" actId="20577"/>
        <pc:sldMkLst>
          <pc:docMk/>
          <pc:sldMk cId="4104955013" sldId="277"/>
        </pc:sldMkLst>
        <pc:spChg chg="mod topLvl">
          <ac:chgData name="Schilling Sabine HSLU W" userId="b0e2af5c-9187-4900-883a-c96514cd8e15" providerId="ADAL" clId="{5E51067F-94D7-505D-9735-0698788361AC}" dt="2026-07-29T14:08:04.854" v="694" actId="20577"/>
          <ac:spMkLst>
            <pc:docMk/>
            <pc:sldMk cId="4104955013" sldId="277"/>
            <ac:spMk id="12" creationId="{45F8E9B7-7280-DC03-BB2B-A1310BEC3DAF}"/>
          </ac:spMkLst>
        </pc:spChg>
        <pc:spChg chg="mod">
          <ac:chgData name="Schilling Sabine HSLU W" userId="b0e2af5c-9187-4900-883a-c96514cd8e15" providerId="ADAL" clId="{5E51067F-94D7-505D-9735-0698788361AC}" dt="2026-07-29T14:08:24.743" v="719" actId="20577"/>
          <ac:spMkLst>
            <pc:docMk/>
            <pc:sldMk cId="4104955013" sldId="277"/>
            <ac:spMk id="40" creationId="{6D7EF49C-93D7-2FE7-8F02-6FA7D39FC16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CA108-3915-9043-8428-B4BE4472B821}" type="datetimeFigureOut">
              <a:rPr lang="de-DE" smtClean="0"/>
              <a:t>29.07.26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B21A6D-3249-074E-BBD6-BCFA953678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3666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65AD4-97DF-01F2-1987-71F2F275A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F12C5C2-CB0D-F12F-DE17-0FFE926109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60658DD-D8DF-C31B-64EE-BA489FC92D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C68812D-6268-7CDC-46BC-F3508F6B14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21A6D-3249-074E-BBD6-BCFA95367850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24415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77AA-2D02-C294-F1F2-EEB3F2EB2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08177B2-679D-B01E-6976-DA06E15A35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6B5C141-7E16-2F0E-B8F6-2F29BF0126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C38E17-2F54-5C54-9FFF-C56E170153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21A6D-3249-074E-BBD6-BCFA95367850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31714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77AA-2D02-C294-F1F2-EEB3F2EB2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08177B2-679D-B01E-6976-DA06E15A35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6B5C141-7E16-2F0E-B8F6-2F29BF0126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C38E17-2F54-5C54-9FFF-C56E170153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B21A6D-3249-074E-BBD6-BCFA95367850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31714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0B1C8-E82E-45B4-25DB-FA1C8E124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9B8433E-BB50-7865-35CE-735417ECCD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1B875D8-711E-06F9-6591-DBA7757EDB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8DBCC81-C66E-CD05-D3ED-3E34D471DD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B21A6D-3249-074E-BBD6-BCFA95367850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8790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4D984-0FC9-F12B-D120-E62F97DB7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4558817-C147-9795-E0FB-3FCD2E2EE1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EC9550A-E316-ED34-964E-BC1B850D19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097020E-BDC5-048D-A830-A88E35FADE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B21A6D-3249-074E-BBD6-BCFA95367850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8112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ECEF21-0523-3245-A3FA-5D78C65A5F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75FCB35-54D7-B745-9657-FF74691F5D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3FB4C31-A070-E749-B7E9-CAD5936A1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29.07.26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E4BDDB1-76AF-F240-BE46-91A5D3ACF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5ED5B39-7F00-5F46-862B-911988D34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349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554BE9-111B-6643-8D26-3DD596FEA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B77CD3-C0E5-484B-AA36-1FAB6E941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AE1DB2-DB10-BF4C-875B-98CAE475B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29.07.26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A9CC44-0F69-3747-A15E-BACC77796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55398D-D950-0B47-9A96-AABF434F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1793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EDCAD7-127F-4A49-A00E-1493C9F4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93E74A8-D7E8-5E47-9B26-F406CD93C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1EC5F87-4EBC-EC46-BC69-2EA7086C5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29.07.26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6F350A8-A53D-4D41-A2F9-A9AFF938D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818D8E7-39AC-0B46-987D-0950F1CD0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8266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2F7841-3B2B-604F-815C-62EC3AAFD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D4B11C0-B11E-F540-81AE-52BAEDA20D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9245B3-41C8-C343-88E2-BE23F220ED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19DD4A7-C44D-9E43-BF1E-F13205AEE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29.07.26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44D8E9D-4D59-1F45-8E08-61D1A8B65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02EFA05-29DD-0641-A620-7019B4A07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8413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FB19D6-A6D2-AF40-A13C-FA7BE88B6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3ACBB3E-E485-5F42-BEC1-669009E5F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E955C11-20E8-0348-A806-9CDE1284CE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2D82558-8DBB-944E-BBE0-6A7C6E8343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5F790C5-2F18-8E45-94AA-64F30C096B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BFF6501-64C2-C943-A8E9-C5E1B7491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29.07.26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95BB371-362A-B645-9C58-F190A3C77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3A6B4C4-5B8D-2241-A404-A2768A846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7205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CCD577-05C9-164F-939D-D883FFD2C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0782072-9B65-E543-BC58-68B5955A0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29.07.26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4A1934E-231F-354D-B826-E7AD8E44F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53B6EAF-2961-3F47-B50E-4F501253E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9639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11E0EEA-87BD-7E4D-BDD1-E816BF786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29.07.26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FA06A65-624C-EA4B-936E-DBCEC9D5E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982C9F7-D6EF-DC40-B7B5-4E48A4586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319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5B16D9-E2F7-324E-A99A-47378B28E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B2D12D-5159-294F-8EA7-5F484B348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C48EA53-C77F-FF44-992C-A85A3C70F2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BCC8764-0DBF-344B-912D-C3453B17B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29.07.26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220CBC3-1569-3744-9FB2-E12E54EAA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850A68D-38F0-CC4E-8DE1-604F3C84E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1960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F1231F-387B-1544-82E5-776081E5C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BE53984-9ED8-374C-9F9D-A49EB58D00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27C99D1-BB16-F749-B0AB-0A6B34283A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B531638-E076-814A-870C-37518A17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29.07.26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D3AFDA6-425A-4C48-A64B-2FC02B245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FCAA1C2-0368-3F42-B248-087F91717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9740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49C4A6-64B8-904B-959B-523D63313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FA91367-9EA8-B14F-A1E3-0D7488D175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95B52B-F627-0243-95BF-CAF30A424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29.07.26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27D948D-68F0-444F-A060-6F3ECCFE0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A557819-4A50-7C44-911B-582581B3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3412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E74BDCF-A048-7341-8942-C4374B8484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7FF7B22-2769-8144-A326-25919C1D0D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C5B7B6A-9CEB-6C42-9C7B-F9ED38263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29.07.26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08C4A24-0F26-0840-A896-381E0715D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2341010-5E03-FB4F-AE26-6B22D37B1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5877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18E2AF2-F7FF-0F4F-A4BE-509679ACA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22B262F-55F8-F14A-9AC3-B59BB1C13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1F1D78-192B-D042-83F5-BB397139B2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497422-92ED-3D47-BF28-17000E80E497}" type="datetimeFigureOut">
              <a:rPr lang="de-DE" smtClean="0"/>
              <a:t>29.07.26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94F689-F2F7-294B-8BF5-FD360E11C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D99928-F7B0-4B46-865C-13B1B95B4C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4065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AC706-40C9-0C80-95BE-644E9791B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uppieren 50">
            <a:extLst>
              <a:ext uri="{FF2B5EF4-FFF2-40B4-BE49-F238E27FC236}">
                <a16:creationId xmlns:a16="http://schemas.microsoft.com/office/drawing/2014/main" id="{44770507-76CA-649E-2FC1-1F7141E749B8}"/>
              </a:ext>
            </a:extLst>
          </p:cNvPr>
          <p:cNvGrpSpPr/>
          <p:nvPr/>
        </p:nvGrpSpPr>
        <p:grpSpPr>
          <a:xfrm>
            <a:off x="763420" y="668463"/>
            <a:ext cx="10665159" cy="3629498"/>
            <a:chOff x="1360460" y="316483"/>
            <a:chExt cx="10665159" cy="3629498"/>
          </a:xfrm>
        </p:grpSpPr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C1981550-83BB-9397-710A-8F2694DD3EA9}"/>
                </a:ext>
              </a:extLst>
            </p:cNvPr>
            <p:cNvSpPr txBox="1"/>
            <p:nvPr/>
          </p:nvSpPr>
          <p:spPr>
            <a:xfrm>
              <a:off x="6117376" y="316483"/>
              <a:ext cx="5908243" cy="1938992"/>
            </a:xfrm>
            <a:prstGeom prst="rect">
              <a:avLst/>
            </a:prstGeom>
            <a:noFill/>
            <a:ln w="12700">
              <a:solidFill>
                <a:schemeClr val="bg1">
                  <a:lumMod val="65000"/>
                </a:schemeClr>
              </a:solidFill>
            </a:ln>
          </p:spPr>
          <p:txBody>
            <a:bodyPr wrap="square">
              <a:spAutoFit/>
            </a:bodyPr>
            <a:lstStyle>
              <a:defPPr>
                <a:defRPr lang="de-DE"/>
              </a:defPPr>
            </a:lstStyle>
            <a:p>
              <a:pPr algn="ctr"/>
              <a:r>
                <a: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                           </a:t>
              </a:r>
              <a:r>
                <a:rPr lang="en-GB" sz="12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Tests of central tendencies</a:t>
              </a:r>
            </a:p>
            <a:p>
              <a:pPr algn="ctr"/>
              <a:endParaRPr lang="en-GB" sz="12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algn="ctr"/>
              <a:endParaRPr lang="en-GB" sz="12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algn="ctr"/>
              <a:endParaRPr lang="en-GB" sz="12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algn="ctr"/>
              <a:endParaRPr lang="en-GB" sz="12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algn="ctr"/>
              <a:endParaRPr lang="en-GB" sz="12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algn="ctr"/>
              <a:endParaRPr lang="en-GB" sz="12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algn="ctr"/>
              <a:endParaRPr lang="en-GB" sz="12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algn="ctr"/>
              <a:endParaRPr lang="en-GB" sz="12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algn="ctr"/>
              <a:r>
                <a: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 </a:t>
              </a:r>
              <a:endParaRPr lang="en-GB" sz="120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7C5757D2-6CA8-B513-DC52-7F09F857A4C7}"/>
                    </a:ext>
                  </a:extLst>
                </p:cNvPr>
                <p:cNvSpPr txBox="1"/>
                <p:nvPr/>
              </p:nvSpPr>
              <p:spPr>
                <a:xfrm>
                  <a:off x="6211369" y="1842326"/>
                  <a:ext cx="5701592" cy="276999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>
                  <a:defPPr>
                    <a:defRPr lang="de-DE"/>
                  </a:defPPr>
                </a:lstStyle>
                <a:p>
                  <a:pPr algn="ctr"/>
                  <a:r>
                    <a:rPr lang="en-US" sz="1200" dirty="0">
                      <a:ea typeface="Cambria Math" panose="02040503050406030204" pitchFamily="18" charset="0"/>
                    </a:rPr>
                    <a:t>non-parametric tests:</a:t>
                  </a:r>
                  <a:r>
                    <a:rPr lang="en-GB" sz="120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a14:m>
                  <a:r>
                    <a:rPr lang="en-GB" sz="120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: </a:t>
                  </a:r>
                  <a:r>
                    <a:rPr lang="en-GB" sz="1200" dirty="0" err="1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wilcox.test</a:t>
                  </a:r>
                  <a:r>
                    <a:rPr lang="en-GB" sz="120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(),</a:t>
                  </a:r>
                  <a:r>
                    <a:rPr lang="en-GB" sz="1200" dirty="0"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&gt;2</m:t>
                      </m:r>
                    </m:oMath>
                  </a14:m>
                  <a:r>
                    <a:rPr lang="en-GB" sz="120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: </a:t>
                  </a:r>
                  <a:r>
                    <a:rPr lang="en-GB" sz="1200" dirty="0" err="1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kruskal.test</a:t>
                  </a:r>
                  <a:r>
                    <a:rPr lang="en-GB" sz="120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()</a:t>
                  </a:r>
                </a:p>
              </p:txBody>
            </p:sp>
          </mc:Choice>
          <mc:Fallback xmlns="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7C5757D2-6CA8-B513-DC52-7F09F857A4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11369" y="1842326"/>
                  <a:ext cx="5701592" cy="276999"/>
                </a:xfrm>
                <a:prstGeom prst="rect">
                  <a:avLst/>
                </a:prstGeom>
                <a:blipFill>
                  <a:blip r:embed="rId3"/>
                  <a:stretch>
                    <a:fillRect b="-17391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B1B10A6C-E857-2AC7-9CD4-9F6187F56B5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360460" y="2508787"/>
              <a:ext cx="4329205" cy="646331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numeric  predictor of </a:t>
              </a:r>
              <a:r>
                <a:rPr lang="en-GB" sz="1200" noProof="0" dirty="0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class </a:t>
              </a:r>
              <a:r>
                <a:rPr lang="en-GB" sz="12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“</a:t>
              </a:r>
              <a:r>
                <a:rPr lang="en-GB" sz="1200" dirty="0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numeric</a:t>
              </a:r>
              <a:r>
                <a:rPr lang="en-GB" sz="12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”</a:t>
              </a:r>
              <a:r>
                <a:rPr lang="en-GB" sz="1200" dirty="0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 </a:t>
              </a:r>
              <a:r>
                <a:rPr lang="en-GB" sz="12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or “</a:t>
              </a:r>
              <a:r>
                <a:rPr lang="en-GB" sz="1200" dirty="0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integer</a:t>
              </a:r>
              <a:r>
                <a:rPr lang="en-GB" sz="12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”</a:t>
              </a:r>
              <a:br>
                <a:rPr lang="en-GB" sz="12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</a:br>
              <a:endParaRPr lang="en-GB" sz="12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numeric</a:t>
              </a:r>
              <a:r>
                <a: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 response of </a:t>
              </a:r>
              <a:r>
                <a:rPr lang="en-GB" sz="1200" noProof="0" dirty="0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class </a:t>
              </a:r>
              <a:r>
                <a:rPr lang="en-GB" sz="12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“</a:t>
              </a:r>
              <a:r>
                <a:rPr lang="en-GB" sz="1200" noProof="0" dirty="0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numeric</a:t>
              </a:r>
              <a:r>
                <a:rPr lang="en-GB" sz="12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”</a:t>
              </a:r>
              <a:r>
                <a:rPr lang="en-GB" sz="1200" dirty="0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 </a:t>
              </a:r>
              <a:r>
                <a: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or “</a:t>
              </a:r>
              <a:r>
                <a:rPr lang="en-GB" sz="1200" noProof="0" dirty="0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integer</a:t>
              </a:r>
              <a:r>
                <a:rPr lang="en-GB" sz="12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”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feld 18">
                  <a:extLst>
                    <a:ext uri="{FF2B5EF4-FFF2-40B4-BE49-F238E27FC236}">
                      <a16:creationId xmlns:a16="http://schemas.microsoft.com/office/drawing/2014/main" id="{5B16A604-2B7C-E85E-0A91-CC96741BDB01}"/>
                    </a:ext>
                  </a:extLst>
                </p:cNvPr>
                <p:cNvSpPr txBox="1"/>
                <p:nvPr/>
              </p:nvSpPr>
              <p:spPr>
                <a:xfrm>
                  <a:off x="6211570" y="2526658"/>
                  <a:ext cx="5719853" cy="646331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>
                  <a:defPPr>
                    <a:defRPr lang="de-DE"/>
                  </a:defPPr>
                </a:lstStyle>
                <a:p>
                  <a:pPr lvl="1"/>
                  <a:r>
                    <a: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Simple linear regression:   </a:t>
                  </a:r>
                  <a:r>
                    <a:rPr lang="en-GB" sz="1200" dirty="0" err="1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lm</a:t>
                  </a:r>
                  <a:r>
                    <a:rPr lang="en-GB" sz="120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()</a:t>
                  </a:r>
                  <a:br>
                    <a:rPr lang="en-GB" sz="120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</a:br>
                  <a:r>
                    <a: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Spearman rank </a:t>
                  </a:r>
                  <a:r>
                    <a:rPr lang="en-GB" sz="1200" dirty="0" err="1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correlation</a:t>
                  </a:r>
                  <a:r>
                    <a:rPr lang="en-GB" sz="1200" dirty="0" err="1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:visstat</a:t>
                  </a:r>
                  <a:r>
                    <a:rPr lang="en-GB" sz="120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(…,</a:t>
                  </a:r>
                  <a:r>
                    <a:rPr lang="en-GB" sz="1200" b="1" dirty="0" err="1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do_regression</a:t>
                  </a:r>
                  <a:r>
                    <a:rPr lang="en-GB" sz="1200" b="1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=FALSE</a:t>
                  </a:r>
                  <a:r>
                    <a:rPr lang="en-GB" sz="120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)</a:t>
                  </a:r>
                  <a14:m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urier New" panose="02070309020205020404" pitchFamily="49" charset="0"/>
                        </a:rPr>
                        <m:t>→</m:t>
                      </m:r>
                    </m:oMath>
                  </a14:m>
                  <a:endParaRPr lang="en-US" sz="1200" b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endParaRPr>
                </a:p>
                <a:p>
                  <a:pPr lvl="1"/>
                  <a:r>
                    <a:rPr lang="en-GB" sz="120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                 </a:t>
                  </a:r>
                  <a:r>
                    <a:rPr lang="en-GB" sz="1200" dirty="0" err="1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cor.test</a:t>
                  </a:r>
                  <a:r>
                    <a:rPr lang="en-GB" sz="120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(…,method=“spearman”)</a:t>
                  </a:r>
                </a:p>
              </p:txBody>
            </p:sp>
          </mc:Choice>
          <mc:Fallback xmlns="">
            <p:sp>
              <p:nvSpPr>
                <p:cNvPr id="19" name="Textfeld 18">
                  <a:extLst>
                    <a:ext uri="{FF2B5EF4-FFF2-40B4-BE49-F238E27FC236}">
                      <a16:creationId xmlns:a16="http://schemas.microsoft.com/office/drawing/2014/main" id="{5B16A604-2B7C-E85E-0A91-CC96741BDB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11570" y="2526658"/>
                  <a:ext cx="5719853" cy="646331"/>
                </a:xfrm>
                <a:prstGeom prst="rect">
                  <a:avLst/>
                </a:prstGeom>
                <a:blipFill>
                  <a:blip r:embed="rId4"/>
                  <a:stretch>
                    <a:fillRect b="-5769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283DBAF9-59AF-350E-62E3-D9DC7ADACC0D}"/>
                    </a:ext>
                  </a:extLst>
                </p:cNvPr>
                <p:cNvSpPr txBox="1"/>
                <p:nvPr/>
              </p:nvSpPr>
              <p:spPr>
                <a:xfrm>
                  <a:off x="1369665" y="502733"/>
                  <a:ext cx="4320000" cy="830997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 marL="171450" indent="-171450">
                    <a:buFont typeface="Arial" panose="020B0604020202020204" pitchFamily="34" charset="0"/>
                    <a:buChar char="•"/>
                  </a:pPr>
                  <a:endPara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endParaRPr>
                </a:p>
                <a:p>
                  <a:pPr marL="171450" indent="-171450">
                    <a:buFont typeface="Arial" panose="020B0604020202020204" pitchFamily="34" charset="0"/>
                    <a:buChar char="•"/>
                  </a:pPr>
                  <a:r>
                    <a: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categorical</a:t>
                  </a:r>
                  <a:r>
                    <a: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 predictor of </a:t>
                  </a:r>
                  <a:r>
                    <a:rPr lang="en-GB" sz="1200" noProof="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class </a:t>
                  </a:r>
                  <a:r>
                    <a: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</a:t>
                  </a:r>
                  <a:r>
                    <a:rPr lang="en-GB" sz="120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factor</a:t>
                  </a:r>
                  <a:r>
                    <a: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  with </a:t>
                  </a:r>
                  <a14:m>
                    <m:oMath xmlns:m="http://schemas.openxmlformats.org/officeDocument/2006/math">
                      <m:r>
                        <a:rPr lang="en-US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𝑘</m:t>
                      </m:r>
                    </m:oMath>
                  </a14:m>
                  <a:r>
                    <a: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 levels</a:t>
                  </a:r>
                </a:p>
                <a:p>
                  <a:pPr marL="171450" indent="-171450">
                    <a:buFont typeface="Arial" panose="020B0604020202020204" pitchFamily="34" charset="0"/>
                    <a:buChar char="•"/>
                  </a:pPr>
                  <a:r>
                    <a: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numeric </a:t>
                  </a:r>
                  <a:r>
                    <a: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response of </a:t>
                  </a:r>
                  <a:r>
                    <a:rPr lang="en-GB" sz="1200" noProof="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class </a:t>
                  </a:r>
                  <a:r>
                    <a: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</a:t>
                  </a:r>
                  <a:r>
                    <a:rPr lang="en-GB" sz="1200" noProof="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numeric</a:t>
                  </a:r>
                  <a:r>
                    <a: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”</a:t>
                  </a:r>
                  <a:r>
                    <a:rPr lang="en-GB" sz="120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 </a:t>
                  </a:r>
                  <a:r>
                    <a: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or “</a:t>
                  </a:r>
                  <a:r>
                    <a:rPr lang="en-GB" sz="1200" noProof="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integer</a:t>
                  </a:r>
                  <a:r>
                    <a: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”</a:t>
                  </a:r>
                </a:p>
                <a:p>
                  <a:endPara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283DBAF9-59AF-350E-62E3-D9DC7ADACC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9665" y="502733"/>
                  <a:ext cx="4320000" cy="83099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" name="Gerade Verbindung mit Pfeil 1">
              <a:extLst>
                <a:ext uri="{FF2B5EF4-FFF2-40B4-BE49-F238E27FC236}">
                  <a16:creationId xmlns:a16="http://schemas.microsoft.com/office/drawing/2014/main" id="{3C415C7F-748B-C1ED-EE4E-BD64FBAA59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85211" y="831821"/>
              <a:ext cx="503294" cy="119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85AF650F-788E-C688-388F-D4F5F7ACE59B}"/>
                </a:ext>
              </a:extLst>
            </p:cNvPr>
            <p:cNvSpPr txBox="1"/>
            <p:nvPr/>
          </p:nvSpPr>
          <p:spPr>
            <a:xfrm>
              <a:off x="1369664" y="3483198"/>
              <a:ext cx="4329204" cy="461665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Both variables  of  </a:t>
              </a:r>
              <a:r>
                <a:rPr lang="en-GB" sz="1200" dirty="0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class </a:t>
              </a:r>
              <a:r>
                <a:rPr lang="en-GB" sz="12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“</a:t>
              </a:r>
              <a:r>
                <a:rPr lang="en-GB" sz="1200" dirty="0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factor</a:t>
              </a:r>
              <a:r>
                <a:rPr lang="en-GB" sz="12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 “</a:t>
              </a:r>
            </a:p>
            <a:p>
              <a:r>
                <a:rPr lang="en-GB" sz="1200" noProof="0" dirty="0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 </a:t>
              </a:r>
              <a:endParaRPr lang="en-GB" sz="12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</p:txBody>
        </p:sp>
        <p:cxnSp>
          <p:nvCxnSpPr>
            <p:cNvPr id="37" name="Gerade Verbindung mit Pfeil 36">
              <a:extLst>
                <a:ext uri="{FF2B5EF4-FFF2-40B4-BE49-F238E27FC236}">
                  <a16:creationId xmlns:a16="http://schemas.microsoft.com/office/drawing/2014/main" id="{39566372-3240-2CF2-23D0-16FAC566260E}"/>
                </a:ext>
              </a:extLst>
            </p:cNvPr>
            <p:cNvCxnSpPr>
              <a:cxnSpLocks/>
              <a:stCxn id="36" idx="3"/>
              <a:endCxn id="40" idx="1"/>
            </p:cNvCxnSpPr>
            <p:nvPr/>
          </p:nvCxnSpPr>
          <p:spPr>
            <a:xfrm flipV="1">
              <a:off x="5698868" y="3711981"/>
              <a:ext cx="494242" cy="20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feld 39">
              <a:extLst>
                <a:ext uri="{FF2B5EF4-FFF2-40B4-BE49-F238E27FC236}">
                  <a16:creationId xmlns:a16="http://schemas.microsoft.com/office/drawing/2014/main" id="{24589715-130D-1803-FC06-FD5A8DB9FD73}"/>
                </a:ext>
              </a:extLst>
            </p:cNvPr>
            <p:cNvSpPr txBox="1"/>
            <p:nvPr/>
          </p:nvSpPr>
          <p:spPr>
            <a:xfrm>
              <a:off x="6193110" y="3477981"/>
              <a:ext cx="5719851" cy="468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>
              <a:spAutoFit/>
            </a:bodyPr>
            <a:lstStyle>
              <a:defPPr>
                <a:defRPr lang="de-DE"/>
              </a:defPPr>
            </a:lstStyle>
            <a:p>
              <a:pPr algn="ctr"/>
              <a:r>
                <a: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            Comparing proportions:</a:t>
              </a:r>
              <a:br>
                <a: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</a:br>
              <a:r>
                <a:rPr lang="en-GB" sz="1200" dirty="0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 </a:t>
              </a:r>
              <a:r>
                <a:rPr lang="en-GB" sz="1200" dirty="0" err="1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chisq.test</a:t>
              </a:r>
              <a:r>
                <a:rPr lang="en-GB" sz="1200" dirty="0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(), </a:t>
              </a:r>
              <a:r>
                <a:rPr lang="en-GB" sz="1200" dirty="0" err="1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fisher.test</a:t>
              </a:r>
              <a:r>
                <a:rPr lang="en-GB" sz="1200" dirty="0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()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C52BE3A2-0408-78DD-3115-287BDBDD4277}"/>
                    </a:ext>
                  </a:extLst>
                </p:cNvPr>
                <p:cNvSpPr txBox="1"/>
                <p:nvPr/>
              </p:nvSpPr>
              <p:spPr>
                <a:xfrm>
                  <a:off x="6193111" y="693322"/>
                  <a:ext cx="5664357" cy="276999"/>
                </a:xfrm>
                <a:prstGeom prst="rect">
                  <a:avLst/>
                </a:prstGeom>
                <a:solidFill>
                  <a:schemeClr val="accent4">
                    <a:alpha val="2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>
                  <a:defPPr>
                    <a:defRPr lang="de-DE"/>
                  </a:defPPr>
                </a:lstStyle>
                <a:p>
                  <a:pPr algn="ctr"/>
                  <a:r>
                    <a:rPr lang="en-US" sz="1200" b="0" dirty="0">
                      <a:ea typeface="Cambria Math" panose="02040503050406030204" pitchFamily="18" charset="0"/>
                    </a:rPr>
                    <a:t> parametric tests: </a:t>
                  </a:r>
                  <a14:m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a14:m>
                  <a:r>
                    <a:rPr lang="en-GB" sz="120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: </a:t>
                  </a:r>
                  <a:r>
                    <a:rPr lang="en-GB" sz="1200" dirty="0" err="1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t.test</a:t>
                  </a:r>
                  <a:r>
                    <a:rPr lang="en-GB" sz="120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(), </a:t>
                  </a:r>
                  <a14:m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&gt;2</m:t>
                      </m:r>
                    </m:oMath>
                  </a14:m>
                  <a:r>
                    <a:rPr lang="en-GB" sz="120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: </a:t>
                  </a:r>
                  <a:r>
                    <a:rPr lang="en-GB" sz="1200" dirty="0" err="1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aov</a:t>
                  </a:r>
                  <a:r>
                    <a:rPr lang="en-GB" sz="120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(), </a:t>
                  </a:r>
                  <a:r>
                    <a:rPr lang="en-GB" sz="1200" dirty="0" err="1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oneway.test</a:t>
                  </a:r>
                  <a:endParaRPr lang="en-GB" sz="12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endParaRPr>
                </a:p>
              </p:txBody>
            </p:sp>
          </mc:Choice>
          <mc:Fallback xmlns="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C52BE3A2-0408-78DD-3115-287BDBDD42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93111" y="693322"/>
                  <a:ext cx="5664357" cy="276999"/>
                </a:xfrm>
                <a:prstGeom prst="rect">
                  <a:avLst/>
                </a:prstGeom>
                <a:blipFill>
                  <a:blip r:embed="rId6"/>
                  <a:stretch>
                    <a:fillRect b="-16667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feld 4">
                  <a:extLst>
                    <a:ext uri="{FF2B5EF4-FFF2-40B4-BE49-F238E27FC236}">
                      <a16:creationId xmlns:a16="http://schemas.microsoft.com/office/drawing/2014/main" id="{746F3D3D-30AE-C976-B294-DB7D9B8FB409}"/>
                    </a:ext>
                  </a:extLst>
                </p:cNvPr>
                <p:cNvSpPr txBox="1"/>
                <p:nvPr/>
              </p:nvSpPr>
              <p:spPr>
                <a:xfrm>
                  <a:off x="1369665" y="1598093"/>
                  <a:ext cx="4329205" cy="646331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categorical predictor of </a:t>
                  </a:r>
                  <a:r>
                    <a:rPr lang="en-GB" sz="120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class </a:t>
                  </a:r>
                  <a:r>
                    <a: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</a:t>
                  </a:r>
                  <a:r>
                    <a:rPr lang="en-GB" sz="120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factor</a:t>
                  </a:r>
                  <a:r>
                    <a: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  with </a:t>
                  </a:r>
                  <a14:m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𝑘</m:t>
                      </m:r>
                    </m:oMath>
                  </a14:m>
                  <a:r>
                    <a: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 levels</a:t>
                  </a:r>
                </a:p>
                <a:p>
                  <a:r>
                    <a: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categorical response of </a:t>
                  </a:r>
                  <a:r>
                    <a:rPr lang="en-GB" sz="120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class </a:t>
                  </a:r>
                  <a:r>
                    <a: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</a:t>
                  </a:r>
                  <a:r>
                    <a:rPr lang="en-GB" sz="120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factor</a:t>
                  </a:r>
                  <a:r>
                    <a: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   and</a:t>
                  </a:r>
                  <a:br>
                    <a: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</a:br>
                  <a:r>
                    <a: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                                                         “</a:t>
                  </a:r>
                  <a:r>
                    <a:rPr lang="en-GB" sz="120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ordered</a:t>
                  </a:r>
                  <a:r>
                    <a: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 with </a:t>
                  </a:r>
                  <a14:m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𝑗</m:t>
                      </m:r>
                    </m:oMath>
                  </a14:m>
                  <a:r>
                    <a: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 levels</a:t>
                  </a:r>
                </a:p>
              </p:txBody>
            </p:sp>
          </mc:Choice>
          <mc:Fallback xmlns="">
            <p:sp>
              <p:nvSpPr>
                <p:cNvPr id="5" name="Textfeld 4">
                  <a:extLst>
                    <a:ext uri="{FF2B5EF4-FFF2-40B4-BE49-F238E27FC236}">
                      <a16:creationId xmlns:a16="http://schemas.microsoft.com/office/drawing/2014/main" id="{746F3D3D-30AE-C976-B294-DB7D9B8FB4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9665" y="1598093"/>
                  <a:ext cx="4329205" cy="646331"/>
                </a:xfrm>
                <a:prstGeom prst="rect">
                  <a:avLst/>
                </a:prstGeom>
                <a:blipFill>
                  <a:blip r:embed="rId7"/>
                  <a:stretch>
                    <a:fillRect b="-7692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Gerade Verbindung mit Pfeil 9">
              <a:extLst>
                <a:ext uri="{FF2B5EF4-FFF2-40B4-BE49-F238E27FC236}">
                  <a16:creationId xmlns:a16="http://schemas.microsoft.com/office/drawing/2014/main" id="{70C9F5FC-AF03-27DA-5350-C58CCEDDBC03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>
              <a:off x="5689665" y="918232"/>
              <a:ext cx="512499" cy="96983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 Verbindung mit Pfeil 15">
              <a:extLst>
                <a:ext uri="{FF2B5EF4-FFF2-40B4-BE49-F238E27FC236}">
                  <a16:creationId xmlns:a16="http://schemas.microsoft.com/office/drawing/2014/main" id="{3DDE1A43-F7C7-70FB-7017-DCD87C3E884D}"/>
                </a:ext>
              </a:extLst>
            </p:cNvPr>
            <p:cNvCxnSpPr>
              <a:cxnSpLocks/>
            </p:cNvCxnSpPr>
            <p:nvPr/>
          </p:nvCxnSpPr>
          <p:spPr>
            <a:xfrm>
              <a:off x="5698870" y="1931390"/>
              <a:ext cx="512499" cy="390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Gerade Verbindung mit Pfeil 48">
              <a:extLst>
                <a:ext uri="{FF2B5EF4-FFF2-40B4-BE49-F238E27FC236}">
                  <a16:creationId xmlns:a16="http://schemas.microsoft.com/office/drawing/2014/main" id="{B5C5DBDB-04E0-3BA1-F10B-880665C4834B}"/>
                </a:ext>
              </a:extLst>
            </p:cNvPr>
            <p:cNvCxnSpPr>
              <a:cxnSpLocks/>
            </p:cNvCxnSpPr>
            <p:nvPr/>
          </p:nvCxnSpPr>
          <p:spPr>
            <a:xfrm>
              <a:off x="5680608" y="2797386"/>
              <a:ext cx="512499" cy="390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1450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540CC-8A73-C021-D968-04CBBCB7F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E03D655E-9CD9-685D-7B91-6B5945795D4E}"/>
              </a:ext>
            </a:extLst>
          </p:cNvPr>
          <p:cNvGrpSpPr/>
          <p:nvPr/>
        </p:nvGrpSpPr>
        <p:grpSpPr>
          <a:xfrm>
            <a:off x="715930" y="679404"/>
            <a:ext cx="10800839" cy="5113384"/>
            <a:chOff x="715930" y="679404"/>
            <a:chExt cx="10800839" cy="5113384"/>
          </a:xfrm>
        </p:grpSpPr>
        <p:grpSp>
          <p:nvGrpSpPr>
            <p:cNvPr id="69" name="Gruppieren 68">
              <a:extLst>
                <a:ext uri="{FF2B5EF4-FFF2-40B4-BE49-F238E27FC236}">
                  <a16:creationId xmlns:a16="http://schemas.microsoft.com/office/drawing/2014/main" id="{44009903-A0FE-1610-A44A-7945B84624B2}"/>
                </a:ext>
              </a:extLst>
            </p:cNvPr>
            <p:cNvGrpSpPr/>
            <p:nvPr/>
          </p:nvGrpSpPr>
          <p:grpSpPr>
            <a:xfrm>
              <a:off x="715930" y="679404"/>
              <a:ext cx="10800839" cy="5113384"/>
              <a:chOff x="744727" y="582418"/>
              <a:chExt cx="10800839" cy="5113384"/>
            </a:xfrm>
          </p:grpSpPr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4E91C313-141B-C0EB-7458-C988F814755D}"/>
                  </a:ext>
                </a:extLst>
              </p:cNvPr>
              <p:cNvSpPr txBox="1"/>
              <p:nvPr/>
            </p:nvSpPr>
            <p:spPr>
              <a:xfrm>
                <a:off x="5569708" y="582418"/>
                <a:ext cx="5975858" cy="193899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bg1">
                    <a:lumMod val="65000"/>
                  </a:schemeClr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</a:lstStyle>
              <a:p>
                <a:pPr algn="ctr"/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                          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Tests of central tendencies</a:t>
                </a:r>
              </a:p>
              <a:p>
                <a:pPr algn="ctr"/>
                <a:endParaRPr lang="en-GB" sz="12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algn="ctr"/>
                <a:endParaRPr lang="en-GB" sz="12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algn="ctr"/>
                <a:endParaRPr lang="en-GB" sz="12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algn="ctr"/>
                <a:endParaRPr lang="en-GB" sz="12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algn="ctr"/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algn="ctr"/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algn="ctr"/>
                <a:endParaRPr lang="en-GB" sz="12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algn="ctr"/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algn="ctr"/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endParaRPr lang="en-GB" sz="1200" dirty="0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Textfeld 5">
                    <a:extLst>
                      <a:ext uri="{FF2B5EF4-FFF2-40B4-BE49-F238E27FC236}">
                        <a16:creationId xmlns:a16="http://schemas.microsoft.com/office/drawing/2014/main" id="{850F5D96-EAD6-2EF1-FC49-CD5ADD5C2CF4}"/>
                      </a:ext>
                    </a:extLst>
                  </p:cNvPr>
                  <p:cNvSpPr txBox="1"/>
                  <p:nvPr/>
                </p:nvSpPr>
                <p:spPr>
                  <a:xfrm>
                    <a:off x="5614328" y="1002239"/>
                    <a:ext cx="5664357" cy="276999"/>
                  </a:xfrm>
                  <a:prstGeom prst="rect">
                    <a:avLst/>
                  </a:prstGeom>
                  <a:solidFill>
                    <a:schemeClr val="accent4">
                      <a:alpha val="20000"/>
                    </a:schemeClr>
                  </a:solidFill>
                  <a:ln w="12700">
                    <a:solidFill>
                      <a:schemeClr val="tx1"/>
                    </a:solidFill>
                  </a:ln>
                </p:spPr>
                <p:txBody>
                  <a:bodyPr wrap="square">
                    <a:spAutoFit/>
                  </a:bodyPr>
                  <a:lstStyle>
                    <a:defPPr>
                      <a:defRPr lang="de-DE"/>
                    </a:defPPr>
                  </a:lstStyle>
                  <a:p>
                    <a:pPr algn="ctr"/>
                    <a:r>
                      <a:rPr lang="en-US" sz="1200" b="0" dirty="0">
                        <a:ea typeface="Cambria Math" panose="02040503050406030204" pitchFamily="18" charset="0"/>
                      </a:rPr>
                      <a:t> parametric tests: </a:t>
                    </a:r>
                    <a14:m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=2</m:t>
                        </m:r>
                      </m:oMath>
                    </a14:m>
                    <a:r>
                      <a:rPr lang="en-GB" sz="120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: </a:t>
                    </a:r>
                    <a:r>
                      <a:rPr lang="en-GB" sz="1200" dirty="0" err="1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t.test</a:t>
                    </a:r>
                    <a:r>
                      <a:rPr lang="en-GB" sz="120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(), </a:t>
                    </a:r>
                    <a14:m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&gt;2</m:t>
                        </m:r>
                      </m:oMath>
                    </a14:m>
                    <a:r>
                      <a:rPr lang="en-GB" sz="120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: </a:t>
                    </a:r>
                    <a:r>
                      <a:rPr lang="en-GB" sz="1200" dirty="0" err="1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aov</a:t>
                    </a:r>
                    <a:r>
                      <a:rPr lang="en-GB" sz="120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(), </a:t>
                    </a:r>
                    <a:r>
                      <a:rPr lang="en-GB" sz="1200" dirty="0" err="1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oneway.test</a:t>
                    </a:r>
                    <a:endParaRPr lang="en-GB" sz="120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endParaRPr>
                  </a:p>
                </p:txBody>
              </p:sp>
            </mc:Choice>
            <mc:Fallback xmlns="">
              <p:sp>
                <p:nvSpPr>
                  <p:cNvPr id="6" name="Textfeld 5">
                    <a:extLst>
                      <a:ext uri="{FF2B5EF4-FFF2-40B4-BE49-F238E27FC236}">
                        <a16:creationId xmlns:a16="http://schemas.microsoft.com/office/drawing/2014/main" id="{850F5D96-EAD6-2EF1-FC49-CD5ADD5C2CF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14328" y="1002239"/>
                    <a:ext cx="5664357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16667"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1259E59C-91A3-35E8-5F00-0D83BB6F2314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749759" y="2954852"/>
                <a:ext cx="4329205" cy="83099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numeric  predictor of 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class 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</a:t>
                </a:r>
                <a:r>
                  <a:rPr lang="en-GB" sz="12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numeric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”</a:t>
                </a:r>
                <a:r>
                  <a:rPr lang="en-GB" sz="12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 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or “</a:t>
                </a:r>
                <a:r>
                  <a:rPr lang="en-GB" sz="12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integer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”</a:t>
                </a:r>
                <a:b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</a:br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numeric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response of 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class 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numeric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”</a:t>
                </a:r>
                <a:r>
                  <a:rPr lang="en-GB" sz="12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 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or “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integer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”</a:t>
                </a:r>
              </a:p>
              <a:p>
                <a:endParaRPr lang="en-GB" sz="12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7" name="Textfeld 56">
                <a:extLst>
                  <a:ext uri="{FF2B5EF4-FFF2-40B4-BE49-F238E27FC236}">
                    <a16:creationId xmlns:a16="http://schemas.microsoft.com/office/drawing/2014/main" id="{8994B425-65B2-49E4-F84C-57A25705E933}"/>
                  </a:ext>
                </a:extLst>
              </p:cNvPr>
              <p:cNvSpPr txBox="1"/>
              <p:nvPr/>
            </p:nvSpPr>
            <p:spPr>
              <a:xfrm>
                <a:off x="744727" y="3517946"/>
                <a:ext cx="4328440" cy="276999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  <a:alpha val="19758"/>
                </a:schemeClr>
              </a:solidFill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0" lang="en-GB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+ flag</a:t>
                </a: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: </a:t>
                </a:r>
                <a:r>
                  <a:rPr kumimoji="0" lang="en-GB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visstat</a:t>
                </a: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(…,</a:t>
                </a:r>
                <a:r>
                  <a:rPr kumimoji="0" lang="en-GB" sz="12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do_regression</a:t>
                </a:r>
                <a:r>
                  <a:rPr kumimoji="0" lang="en-GB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=FALSE</a:t>
                </a:r>
                <a:r>
                  <a:rPr kumimoji="0" lang="en-GB" sz="12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)</a:t>
                </a:r>
                <a:endParaRPr lang="de-DE" sz="8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feld 8">
                    <a:extLst>
                      <a:ext uri="{FF2B5EF4-FFF2-40B4-BE49-F238E27FC236}">
                        <a16:creationId xmlns:a16="http://schemas.microsoft.com/office/drawing/2014/main" id="{2C733A43-BA90-EED8-6758-242898D59516}"/>
                      </a:ext>
                    </a:extLst>
                  </p:cNvPr>
                  <p:cNvSpPr txBox="1"/>
                  <p:nvPr/>
                </p:nvSpPr>
                <p:spPr>
                  <a:xfrm>
                    <a:off x="5614328" y="2075934"/>
                    <a:ext cx="5701592" cy="276999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 w="12700">
                    <a:solidFill>
                      <a:schemeClr val="tx1"/>
                    </a:solidFill>
                  </a:ln>
                </p:spPr>
                <p:txBody>
                  <a:bodyPr wrap="square">
                    <a:spAutoFit/>
                  </a:bodyPr>
                  <a:lstStyle>
                    <a:defPPr>
                      <a:defRPr lang="de-DE"/>
                    </a:defPPr>
                  </a:lstStyle>
                  <a:p>
                    <a:pPr algn="ctr"/>
                    <a:r>
                      <a:rPr lang="en-US" sz="1200" dirty="0">
                        <a:ea typeface="Cambria Math" panose="02040503050406030204" pitchFamily="18" charset="0"/>
                      </a:rPr>
                      <a:t>non-parametric tests:</a:t>
                    </a:r>
                    <a:r>
                      <a:rPr lang="en-GB" sz="120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=2</m:t>
                        </m:r>
                      </m:oMath>
                    </a14:m>
                    <a:r>
                      <a:rPr lang="en-GB" sz="120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: </a:t>
                    </a:r>
                    <a:r>
                      <a:rPr lang="en-GB" sz="1200" dirty="0" err="1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wilcox.test</a:t>
                    </a:r>
                    <a:r>
                      <a:rPr lang="en-GB" sz="120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(),</a:t>
                    </a:r>
                    <a:r>
                      <a:rPr lang="en-GB" sz="1200" dirty="0">
                        <a:ea typeface="Cambria Math" panose="02040503050406030204" pitchFamily="18" charset="0"/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&gt;2</m:t>
                        </m:r>
                      </m:oMath>
                    </a14:m>
                    <a:r>
                      <a:rPr lang="en-GB" sz="120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: </a:t>
                    </a:r>
                    <a:r>
                      <a:rPr lang="en-GB" sz="1200" dirty="0" err="1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kruskal.test</a:t>
                    </a:r>
                    <a:r>
                      <a:rPr lang="en-GB" sz="120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()</a:t>
                    </a:r>
                  </a:p>
                </p:txBody>
              </p:sp>
            </mc:Choice>
            <mc:Fallback xmlns="">
              <p:sp>
                <p:nvSpPr>
                  <p:cNvPr id="9" name="Textfeld 8">
                    <a:extLst>
                      <a:ext uri="{FF2B5EF4-FFF2-40B4-BE49-F238E27FC236}">
                        <a16:creationId xmlns:a16="http://schemas.microsoft.com/office/drawing/2014/main" id="{2C733A43-BA90-EED8-6758-242898D5951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14328" y="2075934"/>
                    <a:ext cx="5701592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12500"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0F5D9D80-C8ED-1D5F-7CBA-0A72C71AD571}"/>
                  </a:ext>
                </a:extLst>
              </p:cNvPr>
              <p:cNvSpPr txBox="1"/>
              <p:nvPr/>
            </p:nvSpPr>
            <p:spPr>
              <a:xfrm>
                <a:off x="5614328" y="3021516"/>
                <a:ext cx="5719853" cy="2769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</a:lstStyle>
              <a:p>
                <a:pPr lvl="1"/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Simple linear regression:   </a:t>
                </a:r>
                <a:r>
                  <a:rPr lang="en-GB" sz="120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lm</a:t>
                </a:r>
                <a:r>
                  <a:rPr lang="en-GB" sz="12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()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feld 6">
                    <a:extLst>
                      <a:ext uri="{FF2B5EF4-FFF2-40B4-BE49-F238E27FC236}">
                        <a16:creationId xmlns:a16="http://schemas.microsoft.com/office/drawing/2014/main" id="{F15C4A27-3FC3-4E72-00C0-8FCD121A3D3F}"/>
                      </a:ext>
                    </a:extLst>
                  </p:cNvPr>
                  <p:cNvSpPr txBox="1"/>
                  <p:nvPr/>
                </p:nvSpPr>
                <p:spPr>
                  <a:xfrm>
                    <a:off x="772625" y="909906"/>
                    <a:ext cx="4320000" cy="461665"/>
                  </a:xfrm>
                  <a:prstGeom prst="rect">
                    <a:avLst/>
                  </a:prstGeom>
                  <a:solidFill>
                    <a:schemeClr val="bg2">
                      <a:lumMod val="90000"/>
                    </a:schemeClr>
                  </a:solidFill>
                  <a:ln w="12700">
                    <a:solidFill>
                      <a:schemeClr val="tx1"/>
                    </a:solidFill>
                  </a:ln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categorical</a:t>
                    </a:r>
                    <a:r>
                      <a:rPr lang="en-GB" sz="1200" noProof="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 predictor of </a:t>
                    </a:r>
                    <a:r>
                      <a:rPr lang="en-GB" sz="1200" noProof="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class </a:t>
                    </a: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“</a:t>
                    </a:r>
                    <a:r>
                      <a:rPr lang="en-GB" sz="120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factor</a:t>
                    </a:r>
                    <a:r>
                      <a:rPr lang="en-GB" sz="1200" noProof="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“  with </a:t>
                    </a:r>
                    <a14:m>
                      <m:oMath xmlns:m="http://schemas.openxmlformats.org/officeDocument/2006/math">
                        <m:r>
                          <a:rPr lang="en-US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𝑘</m:t>
                        </m:r>
                      </m:oMath>
                    </a14:m>
                    <a:r>
                      <a:rPr lang="en-GB" sz="1200" noProof="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 levels</a:t>
                    </a:r>
                  </a:p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numeric </a:t>
                    </a:r>
                    <a:r>
                      <a:rPr lang="en-GB" sz="1200" noProof="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response of </a:t>
                    </a:r>
                    <a:r>
                      <a:rPr lang="en-GB" sz="1200" noProof="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class </a:t>
                    </a: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“</a:t>
                    </a:r>
                    <a:r>
                      <a:rPr lang="en-GB" sz="1200" noProof="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numeric</a:t>
                    </a: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”</a:t>
                    </a:r>
                    <a:r>
                      <a:rPr lang="en-GB" sz="120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 </a:t>
                    </a:r>
                    <a:r>
                      <a:rPr lang="en-GB" sz="1200" noProof="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or “</a:t>
                    </a:r>
                    <a:r>
                      <a:rPr lang="en-GB" sz="1200" noProof="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integer</a:t>
                    </a: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”</a:t>
                    </a:r>
                  </a:p>
                </p:txBody>
              </p:sp>
            </mc:Choice>
            <mc:Fallback xmlns="">
              <p:sp>
                <p:nvSpPr>
                  <p:cNvPr id="7" name="Textfeld 6">
                    <a:extLst>
                      <a:ext uri="{FF2B5EF4-FFF2-40B4-BE49-F238E27FC236}">
                        <a16:creationId xmlns:a16="http://schemas.microsoft.com/office/drawing/2014/main" id="{F15C4A27-3FC3-4E72-00C0-8FCD121A3D3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2625" y="909906"/>
                    <a:ext cx="4320000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7692"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6" name="Textfeld 35">
                <a:extLst>
                  <a:ext uri="{FF2B5EF4-FFF2-40B4-BE49-F238E27FC236}">
                    <a16:creationId xmlns:a16="http://schemas.microsoft.com/office/drawing/2014/main" id="{E4B8EE02-0F90-3F09-7990-89B6B3DCBB2E}"/>
                  </a:ext>
                </a:extLst>
              </p:cNvPr>
              <p:cNvSpPr txBox="1"/>
              <p:nvPr/>
            </p:nvSpPr>
            <p:spPr>
              <a:xfrm>
                <a:off x="772625" y="5234137"/>
                <a:ext cx="4329204" cy="46166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Both variables  of  </a:t>
                </a:r>
                <a:r>
                  <a:rPr lang="en-GB" sz="12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class 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</a:t>
                </a:r>
                <a:r>
                  <a:rPr lang="en-GB" sz="12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factor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“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GB" sz="12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37" name="Gerade Verbindung mit Pfeil 36">
                <a:extLst>
                  <a:ext uri="{FF2B5EF4-FFF2-40B4-BE49-F238E27FC236}">
                    <a16:creationId xmlns:a16="http://schemas.microsoft.com/office/drawing/2014/main" id="{D0C86A91-FDA7-431A-A97E-45AB5F8F86AC}"/>
                  </a:ext>
                </a:extLst>
              </p:cNvPr>
              <p:cNvCxnSpPr>
                <a:cxnSpLocks/>
                <a:stCxn id="36" idx="3"/>
                <a:endCxn id="40" idx="1"/>
              </p:cNvCxnSpPr>
              <p:nvPr/>
            </p:nvCxnSpPr>
            <p:spPr>
              <a:xfrm flipV="1">
                <a:off x="5101829" y="5460863"/>
                <a:ext cx="535366" cy="410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50FC18BF-DA43-100C-15F7-046360CBE26F}"/>
                  </a:ext>
                </a:extLst>
              </p:cNvPr>
              <p:cNvSpPr txBox="1"/>
              <p:nvPr/>
            </p:nvSpPr>
            <p:spPr>
              <a:xfrm>
                <a:off x="5637195" y="5230030"/>
                <a:ext cx="5719851" cy="46166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</a:lstStyle>
              <a:p>
                <a:pPr algn="ctr"/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           Comparing proportions:</a:t>
                </a:r>
                <a:b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</a:br>
                <a:r>
                  <a:rPr lang="en-GB" sz="120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chisq.test</a:t>
                </a:r>
                <a:r>
                  <a:rPr lang="en-GB" sz="12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(), </a:t>
                </a:r>
                <a:r>
                  <a:rPr lang="en-GB" sz="120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fisher.test</a:t>
                </a:r>
                <a:r>
                  <a:rPr lang="en-GB" sz="12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() 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Textfeld 4">
                    <a:extLst>
                      <a:ext uri="{FF2B5EF4-FFF2-40B4-BE49-F238E27FC236}">
                        <a16:creationId xmlns:a16="http://schemas.microsoft.com/office/drawing/2014/main" id="{D88560B6-0A0F-0760-6149-6FF3B7B24210}"/>
                      </a:ext>
                    </a:extLst>
                  </p:cNvPr>
                  <p:cNvSpPr txBox="1"/>
                  <p:nvPr/>
                </p:nvSpPr>
                <p:spPr>
                  <a:xfrm>
                    <a:off x="749760" y="1913458"/>
                    <a:ext cx="4329205" cy="646331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categorical predictor of </a:t>
                    </a:r>
                    <a:r>
                      <a:rPr lang="en-GB" sz="120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class </a:t>
                    </a: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“</a:t>
                    </a:r>
                    <a:r>
                      <a:rPr lang="en-GB" sz="120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factor</a:t>
                    </a: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“  with </a:t>
                    </a:r>
                    <a14:m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𝑘</m:t>
                        </m:r>
                      </m:oMath>
                    </a14:m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 levels</a:t>
                    </a:r>
                  </a:p>
                  <a:p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categorical response of </a:t>
                    </a:r>
                    <a:r>
                      <a:rPr lang="en-GB" sz="120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class </a:t>
                    </a: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“</a:t>
                    </a:r>
                    <a:r>
                      <a:rPr lang="en-GB" sz="120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factor</a:t>
                    </a: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“   and</a:t>
                    </a:r>
                    <a:b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</a:b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                                                         “</a:t>
                    </a:r>
                    <a:r>
                      <a:rPr lang="en-GB" sz="120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ordered</a:t>
                    </a: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“ with </a:t>
                    </a:r>
                    <a14:m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𝑗</m:t>
                        </m:r>
                      </m:oMath>
                    </a14:m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 levels</a:t>
                    </a:r>
                  </a:p>
                </p:txBody>
              </p:sp>
            </mc:Choice>
            <mc:Fallback xmlns="">
              <p:sp>
                <p:nvSpPr>
                  <p:cNvPr id="5" name="Textfeld 4">
                    <a:extLst>
                      <a:ext uri="{FF2B5EF4-FFF2-40B4-BE49-F238E27FC236}">
                        <a16:creationId xmlns:a16="http://schemas.microsoft.com/office/drawing/2014/main" id="{D88560B6-0A0F-0760-6149-6FF3B7B2421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9760" y="1913458"/>
                    <a:ext cx="4329205" cy="646331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7547"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0" name="Gerade Verbindung mit Pfeil 9">
                <a:extLst>
                  <a:ext uri="{FF2B5EF4-FFF2-40B4-BE49-F238E27FC236}">
                    <a16:creationId xmlns:a16="http://schemas.microsoft.com/office/drawing/2014/main" id="{7FFB23BA-1A56-EA09-897C-EAA0A7C46798}"/>
                  </a:ext>
                </a:extLst>
              </p:cNvPr>
              <p:cNvCxnSpPr>
                <a:cxnSpLocks/>
                <a:stCxn id="7" idx="3"/>
              </p:cNvCxnSpPr>
              <p:nvPr/>
            </p:nvCxnSpPr>
            <p:spPr>
              <a:xfrm>
                <a:off x="5092625" y="1140739"/>
                <a:ext cx="477082" cy="107724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Gerade Verbindung mit Pfeil 15">
                <a:extLst>
                  <a:ext uri="{FF2B5EF4-FFF2-40B4-BE49-F238E27FC236}">
                    <a16:creationId xmlns:a16="http://schemas.microsoft.com/office/drawing/2014/main" id="{95EE3751-2F94-DC07-D76A-B01575DBC8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01829" y="2286234"/>
                <a:ext cx="512499" cy="505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Gerade Verbindung mit Pfeil 48">
                <a:extLst>
                  <a:ext uri="{FF2B5EF4-FFF2-40B4-BE49-F238E27FC236}">
                    <a16:creationId xmlns:a16="http://schemas.microsoft.com/office/drawing/2014/main" id="{C057720C-4C0C-4DDC-5805-67C405AC57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73167" y="3198964"/>
                <a:ext cx="512499" cy="505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feld 10">
                    <a:extLst>
                      <a:ext uri="{FF2B5EF4-FFF2-40B4-BE49-F238E27FC236}">
                        <a16:creationId xmlns:a16="http://schemas.microsoft.com/office/drawing/2014/main" id="{FB9B848B-7023-14FC-D384-3530FD90ECCA}"/>
                      </a:ext>
                    </a:extLst>
                  </p:cNvPr>
                  <p:cNvSpPr txBox="1">
                    <a:spLocks noChangeAspect="1"/>
                  </p:cNvSpPr>
                  <p:nvPr/>
                </p:nvSpPr>
                <p:spPr>
                  <a:xfrm>
                    <a:off x="749761" y="4157944"/>
                    <a:ext cx="4329205" cy="830997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12700">
                    <a:solidFill>
                      <a:schemeClr val="tx1"/>
                    </a:solidFill>
                  </a:ln>
                </p:spPr>
                <p:txBody>
                  <a:bodyPr wrap="square">
                    <a:spAutoFit/>
                  </a:bodyPr>
                  <a:lstStyle/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categorical predictor  of </a:t>
                    </a:r>
                    <a:r>
                      <a:rPr lang="en-GB" sz="120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class </a:t>
                    </a: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“</a:t>
                    </a:r>
                    <a:r>
                      <a:rPr lang="en-GB" sz="120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factor</a:t>
                    </a: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“  </a:t>
                    </a:r>
                    <a:r>
                      <a:rPr lang="en-GB" sz="1200" b="1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and</a:t>
                    </a:r>
                    <a:b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</a:b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                                                         “</a:t>
                    </a:r>
                    <a:r>
                      <a:rPr lang="en-GB" sz="120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ordered</a:t>
                    </a: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“ with </a:t>
                    </a:r>
                    <a14:m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𝑘</m:t>
                        </m:r>
                      </m:oMath>
                    </a14:m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 levels</a:t>
                    </a:r>
                  </a:p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categorical response of </a:t>
                    </a:r>
                    <a:r>
                      <a:rPr lang="en-GB" sz="120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class </a:t>
                    </a: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“</a:t>
                    </a:r>
                    <a:r>
                      <a:rPr lang="en-GB" sz="120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factor</a:t>
                    </a: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“  </a:t>
                    </a:r>
                    <a:r>
                      <a:rPr lang="en-GB" sz="1200" b="1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and</a:t>
                    </a:r>
                    <a:b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</a:b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                                                         “</a:t>
                    </a:r>
                    <a:r>
                      <a:rPr lang="en-GB" sz="120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ordered</a:t>
                    </a: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“ with levels</a:t>
                    </a:r>
                  </a:p>
                </p:txBody>
              </p:sp>
            </mc:Choice>
            <mc:Fallback xmlns="">
              <p:sp>
                <p:nvSpPr>
                  <p:cNvPr id="11" name="Textfeld 10">
                    <a:extLst>
                      <a:ext uri="{FF2B5EF4-FFF2-40B4-BE49-F238E27FC236}">
                        <a16:creationId xmlns:a16="http://schemas.microsoft.com/office/drawing/2014/main" id="{FB9B848B-7023-14FC-D384-3530FD90EC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9761" y="4157944"/>
                    <a:ext cx="4329205" cy="83099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4478"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C93B1E64-77B3-996B-0C03-74605808B38D}"/>
                  </a:ext>
                </a:extLst>
              </p:cNvPr>
              <p:cNvSpPr txBox="1"/>
              <p:nvPr/>
            </p:nvSpPr>
            <p:spPr>
              <a:xfrm>
                <a:off x="5614328" y="3564125"/>
                <a:ext cx="5719853" cy="27699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</a:lstStyle>
              <a:p>
                <a:pPr lvl="1"/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Spearman rank correlation : </a:t>
                </a:r>
                <a:r>
                  <a:rPr lang="en-GB" sz="120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cor.test</a:t>
                </a:r>
                <a:r>
                  <a:rPr lang="en-GB" sz="12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(…,method=“spearman”)</a:t>
                </a:r>
              </a:p>
            </p:txBody>
          </p:sp>
          <p:cxnSp>
            <p:nvCxnSpPr>
              <p:cNvPr id="15" name="Gerade Verbindung mit Pfeil 14">
                <a:extLst>
                  <a:ext uri="{FF2B5EF4-FFF2-40B4-BE49-F238E27FC236}">
                    <a16:creationId xmlns:a16="http://schemas.microsoft.com/office/drawing/2014/main" id="{A6B56266-E50F-E630-DFBD-3065C4177F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78966" y="4627524"/>
                <a:ext cx="512499" cy="505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Gerade Verbindung mit Pfeil 66">
                <a:extLst>
                  <a:ext uri="{FF2B5EF4-FFF2-40B4-BE49-F238E27FC236}">
                    <a16:creationId xmlns:a16="http://schemas.microsoft.com/office/drawing/2014/main" id="{90D9A013-B638-2CFA-D596-D590570520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76449" y="3688678"/>
                <a:ext cx="512499" cy="505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Textfeld 67">
                <a:extLst>
                  <a:ext uri="{FF2B5EF4-FFF2-40B4-BE49-F238E27FC236}">
                    <a16:creationId xmlns:a16="http://schemas.microsoft.com/office/drawing/2014/main" id="{E005EFC1-18B1-0452-D704-9026052FF006}"/>
                  </a:ext>
                </a:extLst>
              </p:cNvPr>
              <p:cNvSpPr txBox="1"/>
              <p:nvPr/>
            </p:nvSpPr>
            <p:spPr>
              <a:xfrm>
                <a:off x="5637195" y="4504894"/>
                <a:ext cx="5719853" cy="27699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</a:lstStyle>
              <a:p>
                <a:pPr lvl="1"/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Kendall rank correlation : </a:t>
                </a:r>
                <a:r>
                  <a:rPr lang="en-GB" sz="120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cor.test</a:t>
                </a:r>
                <a:r>
                  <a:rPr lang="en-GB" sz="12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(…,method=“</a:t>
                </a:r>
                <a:r>
                  <a:rPr lang="en-GB" sz="120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kendall</a:t>
                </a:r>
                <a:r>
                  <a:rPr lang="en-GB" sz="12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”)</a:t>
                </a:r>
              </a:p>
            </p:txBody>
          </p:sp>
        </p:grpSp>
        <p:cxnSp>
          <p:nvCxnSpPr>
            <p:cNvPr id="83" name="Gerade Verbindung mit Pfeil 82">
              <a:extLst>
                <a:ext uri="{FF2B5EF4-FFF2-40B4-BE49-F238E27FC236}">
                  <a16:creationId xmlns:a16="http://schemas.microsoft.com/office/drawing/2014/main" id="{277F9311-EB83-9B97-DA2A-A783B756E3C6}"/>
                </a:ext>
              </a:extLst>
            </p:cNvPr>
            <p:cNvCxnSpPr>
              <a:cxnSpLocks/>
            </p:cNvCxnSpPr>
            <p:nvPr/>
          </p:nvCxnSpPr>
          <p:spPr>
            <a:xfrm>
              <a:off x="5084085" y="1240615"/>
              <a:ext cx="512499" cy="505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87773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540CC-8A73-C021-D968-04CBBCB7F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6D2399E9-90CC-6575-FAB8-005DA7317D93}"/>
              </a:ext>
            </a:extLst>
          </p:cNvPr>
          <p:cNvGrpSpPr/>
          <p:nvPr/>
        </p:nvGrpSpPr>
        <p:grpSpPr>
          <a:xfrm>
            <a:off x="46500" y="590094"/>
            <a:ext cx="10904137" cy="5362211"/>
            <a:chOff x="49953" y="571433"/>
            <a:chExt cx="10904137" cy="5362211"/>
          </a:xfrm>
        </p:grpSpPr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4E91C313-141B-C0EB-7458-C988F814755D}"/>
                </a:ext>
              </a:extLst>
            </p:cNvPr>
            <p:cNvSpPr txBox="1"/>
            <p:nvPr/>
          </p:nvSpPr>
          <p:spPr>
            <a:xfrm>
              <a:off x="5533833" y="746066"/>
              <a:ext cx="5413180" cy="286232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txBody>
            <a:bodyPr wrap="square">
              <a:spAutoFit/>
            </a:bodyPr>
            <a:lstStyle>
              <a:defPPr>
                <a:defRPr lang="de-DE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               Tests of central tendencies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 </a:t>
              </a: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57" name="Textfeld 56">
              <a:extLst>
                <a:ext uri="{FF2B5EF4-FFF2-40B4-BE49-F238E27FC236}">
                  <a16:creationId xmlns:a16="http://schemas.microsoft.com/office/drawing/2014/main" id="{8994B425-65B2-49E4-F84C-57A25705E933}"/>
                </a:ext>
              </a:extLst>
            </p:cNvPr>
            <p:cNvSpPr txBox="1"/>
            <p:nvPr/>
          </p:nvSpPr>
          <p:spPr>
            <a:xfrm>
              <a:off x="728606" y="4910779"/>
              <a:ext cx="4320001" cy="276999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19758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+ flag: </a:t>
              </a:r>
              <a:r>
                <a:rPr kumimoji="0" lang="en-GB" sz="120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visstat</a:t>
              </a:r>
              <a:r>
                <a:rPr kumimoji="0" lang="en-GB" sz="12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(…,correlation=TRUE)</a:t>
              </a:r>
              <a:endParaRPr kumimoji="0" lang="de-DE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850F5D96-EAD6-2EF1-FC49-CD5ADD5C2CF4}"/>
                    </a:ext>
                  </a:extLst>
                </p:cNvPr>
                <p:cNvSpPr txBox="1"/>
                <p:nvPr/>
              </p:nvSpPr>
              <p:spPr>
                <a:xfrm>
                  <a:off x="5554090" y="1006892"/>
                  <a:ext cx="5400000" cy="461665"/>
                </a:xfrm>
                <a:prstGeom prst="rect">
                  <a:avLst/>
                </a:prstGeom>
                <a:solidFill>
                  <a:schemeClr val="accent4">
                    <a:alpha val="2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>
                  <a:defPPr>
                    <a:defRPr lang="de-DE"/>
                  </a:defPPr>
                </a:lstStyle>
                <a:p>
                  <a:pPr lvl="0"/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Cambria Math" panose="02040503050406030204" pitchFamily="18" charset="0"/>
                      <a:cs typeface="+mn-cs"/>
                    </a:rPr>
                    <a:t>parametric tests: </a:t>
                  </a:r>
                  <a14:m>
                    <m:oMath xmlns:m="http://schemas.openxmlformats.org/officeDocument/2006/math">
                      <m:r>
                        <a:rPr kumimoji="0" lang="en-U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𝑘</m:t>
                      </m:r>
                      <m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=2</m:t>
                      </m:r>
                    </m:oMath>
                  </a14:m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: </a:t>
                  </a:r>
                  <a:r>
                    <a:rPr kumimoji="0" lang="en-GB" sz="12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t.test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(</a:t>
                  </a:r>
                  <a:r>
                    <a:rPr lang="en-GB" sz="12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…</a:t>
                  </a:r>
                  <a:r>
                    <a:rPr lang="en-GB" sz="1200" dirty="0" err="1">
                      <a:solidFill>
                        <a:prstClr val="black"/>
                      </a:solidFill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var.equal</a:t>
                  </a:r>
                  <a:r>
                    <a:rPr lang="en-GB" sz="12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=TRUE), </a:t>
                  </a:r>
                  <a:r>
                    <a:rPr lang="en-GB" sz="1200" dirty="0" err="1">
                      <a:solidFill>
                        <a:prstClr val="black"/>
                      </a:solidFill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t.test</a:t>
                  </a:r>
                  <a:r>
                    <a:rPr lang="en-GB" sz="12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()</a:t>
                  </a:r>
                </a:p>
                <a:p>
                  <a:pPr lvl="0"/>
                  <a:r>
                    <a:rPr kumimoji="0" lang="en-US" sz="1200" b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Cambria Math" panose="02040503050406030204" pitchFamily="18" charset="0"/>
                      <a:cs typeface="+mn-cs"/>
                    </a:rPr>
                    <a:t>                               </a:t>
                  </a:r>
                  <a14:m>
                    <m:oMath xmlns:m="http://schemas.openxmlformats.org/officeDocument/2006/math">
                      <m:r>
                        <a:rPr kumimoji="0" lang="en-U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𝑘</m:t>
                      </m:r>
                      <m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&gt;2</m:t>
                      </m:r>
                    </m:oMath>
                  </a14:m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: </a:t>
                  </a:r>
                  <a:r>
                    <a:rPr kumimoji="0" lang="en-GB" sz="12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aov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(),                   </a:t>
                  </a:r>
                  <a:r>
                    <a:rPr kumimoji="0" lang="en-GB" sz="12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oneway.test</a:t>
                  </a:r>
                  <a:endPara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endParaRPr>
                </a:p>
              </p:txBody>
            </p:sp>
          </mc:Choice>
          <mc:Fallback xmlns="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850F5D96-EAD6-2EF1-FC49-CD5ADD5C2C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54090" y="1006892"/>
                  <a:ext cx="5400000" cy="461665"/>
                </a:xfrm>
                <a:prstGeom prst="rect">
                  <a:avLst/>
                </a:prstGeom>
                <a:blipFill>
                  <a:blip r:embed="rId3"/>
                  <a:stretch>
                    <a:fillRect b="-7692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1259E59C-91A3-35E8-5F00-0D83BB6F2314}"/>
                </a:ext>
              </a:extLst>
            </p:cNvPr>
            <p:cNvSpPr txBox="1">
              <a:spLocks/>
            </p:cNvSpPr>
            <p:nvPr/>
          </p:nvSpPr>
          <p:spPr>
            <a:xfrm>
              <a:off x="732015" y="4185311"/>
              <a:ext cx="4320000" cy="64633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numeric  predictor of 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class 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“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numeric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”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 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or “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integer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”</a:t>
              </a:r>
              <a:b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</a:b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numeric response of 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class 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“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numeric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”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 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or “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integer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”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2C733A43-BA90-EED8-6758-242898D59516}"/>
                    </a:ext>
                  </a:extLst>
                </p:cNvPr>
                <p:cNvSpPr txBox="1"/>
                <p:nvPr/>
              </p:nvSpPr>
              <p:spPr>
                <a:xfrm>
                  <a:off x="5554090" y="2172920"/>
                  <a:ext cx="5400000" cy="46166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>
                  <a:defPPr>
                    <a:defRPr lang="de-DE"/>
                  </a:defPPr>
                </a:lstStyle>
                <a:p>
                  <a:pPr marL="0" marR="0" lvl="0" indent="0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Cambria Math" panose="02040503050406030204" pitchFamily="18" charset="0"/>
                      <a:cs typeface="+mn-cs"/>
                    </a:rPr>
                    <a:t>non-parametric tests: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kumimoji="0" lang="en-U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𝑘</m:t>
                      </m:r>
                      <m:r>
                        <a:rPr kumimoji="0" lang="en-U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=2</m:t>
                      </m:r>
                    </m:oMath>
                  </a14:m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: </a:t>
                  </a:r>
                  <a:r>
                    <a:rPr kumimoji="0" lang="en-GB" sz="12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wilcox.test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(),</a:t>
                  </a:r>
                </a:p>
                <a:p>
                  <a:pPr marL="0" marR="0" lvl="0" indent="0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Cambria Math" panose="02040503050406030204" pitchFamily="18" charset="0"/>
                      <a:cs typeface="+mn-cs"/>
                    </a:rPr>
                    <a:t>                                         </a:t>
                  </a:r>
                  <a14:m>
                    <m:oMath xmlns:m="http://schemas.openxmlformats.org/officeDocument/2006/math">
                      <m:r>
                        <a:rPr kumimoji="0" lang="en-U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𝑘</m:t>
                      </m:r>
                      <m:r>
                        <a:rPr kumimoji="0" lang="en-U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&gt;2</m:t>
                      </m:r>
                    </m:oMath>
                  </a14:m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: </a:t>
                  </a:r>
                  <a:r>
                    <a:rPr kumimoji="0" lang="en-GB" sz="12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kruskal.test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()</a:t>
                  </a:r>
                </a:p>
              </p:txBody>
            </p:sp>
          </mc:Choice>
          <mc:Fallback xmlns="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2C733A43-BA90-EED8-6758-242898D595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54090" y="2172920"/>
                  <a:ext cx="5400000" cy="461665"/>
                </a:xfrm>
                <a:prstGeom prst="rect">
                  <a:avLst/>
                </a:prstGeom>
                <a:blipFill>
                  <a:blip r:embed="rId4"/>
                  <a:stretch>
                    <a:fillRect b="-7895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0F5D9D80-C8ED-1D5F-7CBA-0A72C71AD571}"/>
                </a:ext>
              </a:extLst>
            </p:cNvPr>
            <p:cNvSpPr txBox="1"/>
            <p:nvPr/>
          </p:nvSpPr>
          <p:spPr>
            <a:xfrm>
              <a:off x="5554090" y="4272051"/>
              <a:ext cx="5400000" cy="27699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>
              <a:spAutoFit/>
            </a:bodyPr>
            <a:lstStyle>
              <a:defPPr>
                <a:defRPr lang="de-DE"/>
              </a:defPPr>
            </a:lstStyle>
            <a:p>
              <a:pPr marL="457200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200" dirty="0">
                  <a:solidFill>
                    <a:prstClr val="black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s</a:t>
              </a:r>
              <a:r>
                <a:rPr kumimoji="0" lang="en-GB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imple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 linear regression:   </a:t>
              </a:r>
              <a:r>
                <a:rPr kumimoji="0" lang="en-GB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lm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()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F15C4A27-3FC3-4E72-00C0-8FCD121A3D3F}"/>
                    </a:ext>
                  </a:extLst>
                </p:cNvPr>
                <p:cNvSpPr txBox="1"/>
                <p:nvPr/>
              </p:nvSpPr>
              <p:spPr>
                <a:xfrm>
                  <a:off x="716606" y="1006892"/>
                  <a:ext cx="4347222" cy="461665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 marL="171450" marR="0" lvl="0" indent="-17145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categorical predictor of 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class 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factor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  with </a:t>
                  </a:r>
                  <a14:m>
                    <m:oMath xmlns:m="http://schemas.openxmlformats.org/officeDocument/2006/math">
                      <m:r>
                        <a:rPr kumimoji="0" lang="en-U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𝑘</m:t>
                      </m:r>
                    </m:oMath>
                  </a14:m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 levels</a:t>
                  </a:r>
                </a:p>
                <a:p>
                  <a:pPr marL="171450" marR="0" lvl="0" indent="-17145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numeric response of 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class 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numeric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”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 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or “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integer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”</a:t>
                  </a:r>
                </a:p>
              </p:txBody>
            </p:sp>
          </mc:Choice>
          <mc:Fallback xmlns="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F15C4A27-3FC3-4E72-00C0-8FCD121A3D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6606" y="1006892"/>
                  <a:ext cx="4347222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7692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E4B8EE02-0F90-3F09-7990-89B6B3DCBB2E}"/>
                </a:ext>
              </a:extLst>
            </p:cNvPr>
            <p:cNvSpPr txBox="1"/>
            <p:nvPr/>
          </p:nvSpPr>
          <p:spPr>
            <a:xfrm>
              <a:off x="743828" y="5471979"/>
              <a:ext cx="4320000" cy="46166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GB" sz="1200" dirty="0">
                  <a:solidFill>
                    <a:prstClr val="black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b</a:t>
              </a:r>
              <a:r>
                <a:rPr kumimoji="0" lang="en-GB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oth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 variables  of  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class 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“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factor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 “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</p:txBody>
        </p:sp>
        <p:cxnSp>
          <p:nvCxnSpPr>
            <p:cNvPr id="37" name="Gerade Verbindung mit Pfeil 36">
              <a:extLst>
                <a:ext uri="{FF2B5EF4-FFF2-40B4-BE49-F238E27FC236}">
                  <a16:creationId xmlns:a16="http://schemas.microsoft.com/office/drawing/2014/main" id="{D0C86A91-FDA7-431A-A97E-45AB5F8F86AC}"/>
                </a:ext>
              </a:extLst>
            </p:cNvPr>
            <p:cNvCxnSpPr>
              <a:cxnSpLocks/>
              <a:stCxn id="36" idx="3"/>
              <a:endCxn id="40" idx="1"/>
            </p:cNvCxnSpPr>
            <p:nvPr/>
          </p:nvCxnSpPr>
          <p:spPr>
            <a:xfrm>
              <a:off x="5063828" y="5702812"/>
              <a:ext cx="49026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feld 39">
              <a:extLst>
                <a:ext uri="{FF2B5EF4-FFF2-40B4-BE49-F238E27FC236}">
                  <a16:creationId xmlns:a16="http://schemas.microsoft.com/office/drawing/2014/main" id="{50FC18BF-DA43-100C-15F7-046360CBE26F}"/>
                </a:ext>
              </a:extLst>
            </p:cNvPr>
            <p:cNvSpPr txBox="1"/>
            <p:nvPr/>
          </p:nvSpPr>
          <p:spPr>
            <a:xfrm>
              <a:off x="5554090" y="5471979"/>
              <a:ext cx="5400000" cy="46166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>
              <a:spAutoFit/>
            </a:bodyPr>
            <a:lstStyle>
              <a:defPPr>
                <a:defRPr lang="de-DE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            comparing proportions:</a:t>
              </a:r>
              <a:b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chisq.test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(), </a:t>
              </a:r>
              <a:r>
                <a:rPr kumimoji="0" lang="en-GB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fisher.test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()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feld 4">
                  <a:extLst>
                    <a:ext uri="{FF2B5EF4-FFF2-40B4-BE49-F238E27FC236}">
                      <a16:creationId xmlns:a16="http://schemas.microsoft.com/office/drawing/2014/main" id="{D88560B6-0A0F-0760-6149-6FF3B7B24210}"/>
                    </a:ext>
                  </a:extLst>
                </p:cNvPr>
                <p:cNvSpPr txBox="1"/>
                <p:nvPr/>
              </p:nvSpPr>
              <p:spPr>
                <a:xfrm>
                  <a:off x="720963" y="2010444"/>
                  <a:ext cx="4320000" cy="646331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 marL="171450" marR="0" lvl="0" indent="-17145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categorical predictor of 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class 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factor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  with </a:t>
                  </a:r>
                  <a14:m>
                    <m:oMath xmlns:m="http://schemas.openxmlformats.org/officeDocument/2006/math">
                      <m:r>
                        <a:rPr kumimoji="0" lang="en-U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𝑘</m:t>
                      </m:r>
                    </m:oMath>
                  </a14:m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 levels</a:t>
                  </a:r>
                </a:p>
                <a:p>
                  <a:pPr marL="171450" marR="0" lvl="0" indent="-17145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categorical response of 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class 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factor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   and</a:t>
                  </a:r>
                  <a:b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</a:b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                                                         “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ordered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 with </a:t>
                  </a:r>
                  <a14:m>
                    <m:oMath xmlns:m="http://schemas.openxmlformats.org/officeDocument/2006/math">
                      <m:r>
                        <a:rPr kumimoji="0" lang="en-U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𝑗</m:t>
                      </m:r>
                    </m:oMath>
                  </a14:m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 levels</a:t>
                  </a:r>
                </a:p>
              </p:txBody>
            </p:sp>
          </mc:Choice>
          <mc:Fallback xmlns="">
            <p:sp>
              <p:nvSpPr>
                <p:cNvPr id="5" name="Textfeld 4">
                  <a:extLst>
                    <a:ext uri="{FF2B5EF4-FFF2-40B4-BE49-F238E27FC236}">
                      <a16:creationId xmlns:a16="http://schemas.microsoft.com/office/drawing/2014/main" id="{D88560B6-0A0F-0760-6149-6FF3B7B242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963" y="2010444"/>
                  <a:ext cx="4320000" cy="646331"/>
                </a:xfrm>
                <a:prstGeom prst="rect">
                  <a:avLst/>
                </a:prstGeom>
                <a:blipFill>
                  <a:blip r:embed="rId6"/>
                  <a:stretch>
                    <a:fillRect b="-7547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Gerade Verbindung mit Pfeil 9">
              <a:extLst>
                <a:ext uri="{FF2B5EF4-FFF2-40B4-BE49-F238E27FC236}">
                  <a16:creationId xmlns:a16="http://schemas.microsoft.com/office/drawing/2014/main" id="{7FFB23BA-1A56-EA09-897C-EAA0A7C46798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>
              <a:off x="5063828" y="1237725"/>
              <a:ext cx="477082" cy="107724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 Verbindung mit Pfeil 15">
              <a:extLst>
                <a:ext uri="{FF2B5EF4-FFF2-40B4-BE49-F238E27FC236}">
                  <a16:creationId xmlns:a16="http://schemas.microsoft.com/office/drawing/2014/main" id="{95EE3751-2F94-DC07-D76A-B01575DBC8AF}"/>
                </a:ext>
              </a:extLst>
            </p:cNvPr>
            <p:cNvCxnSpPr>
              <a:cxnSpLocks/>
            </p:cNvCxnSpPr>
            <p:nvPr/>
          </p:nvCxnSpPr>
          <p:spPr>
            <a:xfrm>
              <a:off x="5073032" y="2383220"/>
              <a:ext cx="512499" cy="505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Gerade Verbindung mit Pfeil 48">
              <a:extLst>
                <a:ext uri="{FF2B5EF4-FFF2-40B4-BE49-F238E27FC236}">
                  <a16:creationId xmlns:a16="http://schemas.microsoft.com/office/drawing/2014/main" id="{C057720C-4C0C-4DDC-5805-67C405AC5729}"/>
                </a:ext>
              </a:extLst>
            </p:cNvPr>
            <p:cNvCxnSpPr>
              <a:cxnSpLocks/>
            </p:cNvCxnSpPr>
            <p:nvPr/>
          </p:nvCxnSpPr>
          <p:spPr>
            <a:xfrm>
              <a:off x="5055423" y="4429423"/>
              <a:ext cx="512499" cy="505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feld 10">
                  <a:extLst>
                    <a:ext uri="{FF2B5EF4-FFF2-40B4-BE49-F238E27FC236}">
                      <a16:creationId xmlns:a16="http://schemas.microsoft.com/office/drawing/2014/main" id="{FB9B848B-7023-14FC-D384-3530FD90ECCA}"/>
                    </a:ext>
                  </a:extLst>
                </p:cNvPr>
                <p:cNvSpPr txBox="1">
                  <a:spLocks noChangeAspect="1"/>
                </p:cNvSpPr>
                <p:nvPr/>
              </p:nvSpPr>
              <p:spPr>
                <a:xfrm>
                  <a:off x="716606" y="2795230"/>
                  <a:ext cx="4320000" cy="830997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 marL="171450" marR="0" lvl="0" indent="-17145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categorical predictor  of </a:t>
                  </a: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class </a:t>
                  </a: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</a:t>
                  </a: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factor</a:t>
                  </a: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  and</a:t>
                  </a:r>
                  <a:b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</a:b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                                                         “</a:t>
                  </a: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ordered</a:t>
                  </a: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 with </a:t>
                  </a:r>
                  <a14:m>
                    <m:oMath xmlns:m="http://schemas.openxmlformats.org/officeDocument/2006/math">
                      <m:r>
                        <a:rPr kumimoji="0" lang="en-U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𝑘</m:t>
                      </m:r>
                    </m:oMath>
                  </a14:m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 levels</a:t>
                  </a:r>
                </a:p>
                <a:p>
                  <a:pPr marL="171450" marR="0" lvl="0" indent="-17145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categorical response of </a:t>
                  </a: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class </a:t>
                  </a: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</a:t>
                  </a: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factor</a:t>
                  </a: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  and</a:t>
                  </a:r>
                  <a:b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</a:b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                                                         “</a:t>
                  </a: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ordered</a:t>
                  </a: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 with j levels</a:t>
                  </a:r>
                </a:p>
              </p:txBody>
            </p:sp>
          </mc:Choice>
          <mc:Fallback xmlns="">
            <p:sp>
              <p:nvSpPr>
                <p:cNvPr id="11" name="Textfeld 10">
                  <a:extLst>
                    <a:ext uri="{FF2B5EF4-FFF2-40B4-BE49-F238E27FC236}">
                      <a16:creationId xmlns:a16="http://schemas.microsoft.com/office/drawing/2014/main" id="{FB9B848B-7023-14FC-D384-3530FD90EC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6606" y="2795230"/>
                  <a:ext cx="4320000" cy="830997"/>
                </a:xfrm>
                <a:prstGeom prst="rect">
                  <a:avLst/>
                </a:prstGeom>
                <a:blipFill>
                  <a:blip r:embed="rId7"/>
                  <a:stretch>
                    <a:fillRect b="-2941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C93B1E64-77B3-996B-0C03-74605808B38D}"/>
                </a:ext>
              </a:extLst>
            </p:cNvPr>
            <p:cNvSpPr txBox="1"/>
            <p:nvPr/>
          </p:nvSpPr>
          <p:spPr>
            <a:xfrm>
              <a:off x="5554090" y="4910779"/>
              <a:ext cx="5400000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>
              <a:spAutoFit/>
            </a:bodyPr>
            <a:lstStyle>
              <a:defPPr>
                <a:defRPr lang="de-DE"/>
              </a:defPPr>
            </a:lstStyle>
            <a:p>
              <a:pPr marL="457200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Spearman rank correlation : </a:t>
              </a:r>
              <a:r>
                <a:rPr kumimoji="0" lang="en-GB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cor.test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(…,method=“spearman”)</a:t>
              </a:r>
            </a:p>
          </p:txBody>
        </p:sp>
        <p:cxnSp>
          <p:nvCxnSpPr>
            <p:cNvPr id="15" name="Gerade Verbindung mit Pfeil 14">
              <a:extLst>
                <a:ext uri="{FF2B5EF4-FFF2-40B4-BE49-F238E27FC236}">
                  <a16:creationId xmlns:a16="http://schemas.microsoft.com/office/drawing/2014/main" id="{A6B56266-E50F-E630-DFBD-3065C4177F4D}"/>
                </a:ext>
              </a:extLst>
            </p:cNvPr>
            <p:cNvCxnSpPr>
              <a:cxnSpLocks/>
            </p:cNvCxnSpPr>
            <p:nvPr/>
          </p:nvCxnSpPr>
          <p:spPr>
            <a:xfrm>
              <a:off x="5054061" y="3812717"/>
              <a:ext cx="512499" cy="505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Gerade Verbindung mit Pfeil 66">
              <a:extLst>
                <a:ext uri="{FF2B5EF4-FFF2-40B4-BE49-F238E27FC236}">
                  <a16:creationId xmlns:a16="http://schemas.microsoft.com/office/drawing/2014/main" id="{90D9A013-B638-2CFA-D596-D590570520DD}"/>
                </a:ext>
              </a:extLst>
            </p:cNvPr>
            <p:cNvCxnSpPr>
              <a:cxnSpLocks/>
            </p:cNvCxnSpPr>
            <p:nvPr/>
          </p:nvCxnSpPr>
          <p:spPr>
            <a:xfrm>
              <a:off x="5055423" y="5075778"/>
              <a:ext cx="512499" cy="505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E005EFC1-18B1-0452-D704-9026052FF006}"/>
                </a:ext>
              </a:extLst>
            </p:cNvPr>
            <p:cNvSpPr txBox="1"/>
            <p:nvPr/>
          </p:nvSpPr>
          <p:spPr>
            <a:xfrm>
              <a:off x="5554090" y="3691915"/>
              <a:ext cx="5400000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>
              <a:spAutoFit/>
            </a:bodyPr>
            <a:lstStyle>
              <a:defPPr>
                <a:defRPr lang="de-DE"/>
              </a:defPPr>
            </a:lstStyle>
            <a:p>
              <a:pPr marL="457200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Kendall rank correlation : </a:t>
              </a:r>
              <a:r>
                <a:rPr kumimoji="0" lang="en-GB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cor.test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(…,method=“</a:t>
              </a:r>
              <a:r>
                <a:rPr kumimoji="0" lang="en-GB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kendall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”)</a:t>
              </a:r>
            </a:p>
          </p:txBody>
        </p:sp>
        <p:cxnSp>
          <p:nvCxnSpPr>
            <p:cNvPr id="83" name="Gerade Verbindung mit Pfeil 82">
              <a:extLst>
                <a:ext uri="{FF2B5EF4-FFF2-40B4-BE49-F238E27FC236}">
                  <a16:creationId xmlns:a16="http://schemas.microsoft.com/office/drawing/2014/main" id="{277F9311-EB83-9B97-DA2A-A783B756E3C6}"/>
                </a:ext>
              </a:extLst>
            </p:cNvPr>
            <p:cNvCxnSpPr>
              <a:cxnSpLocks/>
              <a:endCxn id="6" idx="1"/>
            </p:cNvCxnSpPr>
            <p:nvPr/>
          </p:nvCxnSpPr>
          <p:spPr>
            <a:xfrm flipV="1">
              <a:off x="5084085" y="1237725"/>
              <a:ext cx="470005" cy="289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feld 84">
              <a:extLst>
                <a:ext uri="{FF2B5EF4-FFF2-40B4-BE49-F238E27FC236}">
                  <a16:creationId xmlns:a16="http://schemas.microsoft.com/office/drawing/2014/main" id="{7A4D2BFC-D9DC-E3A8-A99F-C8E1E1FB67D8}"/>
                </a:ext>
              </a:extLst>
            </p:cNvPr>
            <p:cNvSpPr txBox="1"/>
            <p:nvPr/>
          </p:nvSpPr>
          <p:spPr>
            <a:xfrm>
              <a:off x="720803" y="3691915"/>
              <a:ext cx="4320000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+ flag: </a:t>
              </a:r>
              <a:r>
                <a:rPr kumimoji="0" lang="en-GB" sz="120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visstat</a:t>
              </a:r>
              <a:r>
                <a:rPr kumimoji="0" lang="en-GB" sz="12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(…,correlation=TRUE)</a:t>
              </a:r>
              <a:endParaRPr kumimoji="0" lang="de-DE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</p:txBody>
        </p:sp>
        <p:cxnSp>
          <p:nvCxnSpPr>
            <p:cNvPr id="86" name="Gerade Verbindung mit Pfeil 85">
              <a:extLst>
                <a:ext uri="{FF2B5EF4-FFF2-40B4-BE49-F238E27FC236}">
                  <a16:creationId xmlns:a16="http://schemas.microsoft.com/office/drawing/2014/main" id="{5E3E9684-F568-DFE2-B115-681F2311D058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 flipV="1">
              <a:off x="5036606" y="2496538"/>
              <a:ext cx="449748" cy="71419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Textfeld 3">
              <a:extLst>
                <a:ext uri="{FF2B5EF4-FFF2-40B4-BE49-F238E27FC236}">
                  <a16:creationId xmlns:a16="http://schemas.microsoft.com/office/drawing/2014/main" id="{F417F758-CA76-D532-21B6-735C47519F0F}"/>
                </a:ext>
              </a:extLst>
            </p:cNvPr>
            <p:cNvSpPr txBox="1"/>
            <p:nvPr/>
          </p:nvSpPr>
          <p:spPr>
            <a:xfrm>
              <a:off x="239524" y="1099225"/>
              <a:ext cx="236184" cy="215444"/>
            </a:xfrm>
            <a:prstGeom prst="rect">
              <a:avLst/>
            </a:prstGeom>
            <a:solidFill>
              <a:schemeClr val="bg2">
                <a:lumMod val="90000"/>
                <a:alpha val="19758"/>
              </a:schemeClr>
            </a:solidFill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800" noProof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B8105820-9E2B-EE1E-03D4-B81791A38D81}"/>
                </a:ext>
              </a:extLst>
            </p:cNvPr>
            <p:cNvSpPr txBox="1"/>
            <p:nvPr/>
          </p:nvSpPr>
          <p:spPr>
            <a:xfrm>
              <a:off x="49953" y="571433"/>
              <a:ext cx="691375" cy="27699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Route</a:t>
              </a:r>
            </a:p>
          </p:txBody>
        </p: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A0BE9EB5-D803-DFA9-50B5-0875D1465580}"/>
                </a:ext>
              </a:extLst>
            </p:cNvPr>
            <p:cNvSpPr/>
            <p:nvPr/>
          </p:nvSpPr>
          <p:spPr>
            <a:xfrm>
              <a:off x="221016" y="1006892"/>
              <a:ext cx="347696" cy="46166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7BFDF4DF-9E89-51BE-38BA-2941AA19B2D2}"/>
                </a:ext>
              </a:extLst>
            </p:cNvPr>
            <p:cNvSpPr/>
            <p:nvPr/>
          </p:nvSpPr>
          <p:spPr>
            <a:xfrm>
              <a:off x="215127" y="2010443"/>
              <a:ext cx="347696" cy="1958471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D6F1D490-F1DA-72C5-A6CE-912541970EB7}"/>
                </a:ext>
              </a:extLst>
            </p:cNvPr>
            <p:cNvSpPr/>
            <p:nvPr/>
          </p:nvSpPr>
          <p:spPr>
            <a:xfrm>
              <a:off x="215127" y="4185311"/>
              <a:ext cx="347696" cy="100246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FA244EA9-C7AB-8F81-B117-74B499E420BC}"/>
                </a:ext>
              </a:extLst>
            </p:cNvPr>
            <p:cNvSpPr/>
            <p:nvPr/>
          </p:nvSpPr>
          <p:spPr>
            <a:xfrm>
              <a:off x="244786" y="5471979"/>
              <a:ext cx="347696" cy="46166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52569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7A286-F9D5-0A95-8989-4414FE08A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feld 11">
            <a:extLst>
              <a:ext uri="{FF2B5EF4-FFF2-40B4-BE49-F238E27FC236}">
                <a16:creationId xmlns:a16="http://schemas.microsoft.com/office/drawing/2014/main" id="{79FA03CA-E390-5B36-D0A5-A6281E5ABF12}"/>
              </a:ext>
            </a:extLst>
          </p:cNvPr>
          <p:cNvSpPr txBox="1"/>
          <p:nvPr/>
        </p:nvSpPr>
        <p:spPr>
          <a:xfrm>
            <a:off x="5483880" y="783388"/>
            <a:ext cx="5413180" cy="2862322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              Tests of central tendencies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Cambria Math" panose="02040503050406030204" pitchFamily="18" charset="0"/>
              <a:cs typeface="Courier New" panose="02070309020205020404" pitchFamily="49" charset="0"/>
            </a:endParaRPr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D9B8881F-21EF-EC1F-61E7-7AA7431F4455}"/>
              </a:ext>
            </a:extLst>
          </p:cNvPr>
          <p:cNvSpPr txBox="1"/>
          <p:nvPr/>
        </p:nvSpPr>
        <p:spPr>
          <a:xfrm>
            <a:off x="678653" y="4948101"/>
            <a:ext cx="4320001" cy="276999"/>
          </a:xfrm>
          <a:prstGeom prst="rect">
            <a:avLst/>
          </a:prstGeom>
          <a:solidFill>
            <a:schemeClr val="accent6">
              <a:lumMod val="60000"/>
              <a:lumOff val="40000"/>
              <a:alpha val="19758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+ flag: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visstat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(…,correlation=TRUE)</a:t>
            </a:r>
            <a:endParaRPr kumimoji="0" lang="de-DE" sz="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FDBCDD21-5E7C-DD03-71F6-FE950FBF3D4B}"/>
                  </a:ext>
                </a:extLst>
              </p:cNvPr>
              <p:cNvSpPr txBox="1"/>
              <p:nvPr/>
            </p:nvSpPr>
            <p:spPr>
              <a:xfrm>
                <a:off x="5504137" y="1044214"/>
                <a:ext cx="5400000" cy="461665"/>
              </a:xfrm>
              <a:prstGeom prst="rect">
                <a:avLst/>
              </a:prstGeom>
              <a:solidFill>
                <a:schemeClr val="accent4">
                  <a:alpha val="20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</a:lstStyle>
              <a:p>
                <a:pPr lvl="0"/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Cambria Math" panose="02040503050406030204" pitchFamily="18" charset="0"/>
                    <a:cs typeface="+mn-cs"/>
                  </a:rPr>
                  <a:t>parametric tests: </a:t>
                </a:r>
                <a14:m>
                  <m:oMath xmlns:m="http://schemas.openxmlformats.org/officeDocument/2006/math">
                    <m:r>
                      <a:rPr kumimoji="0" lang="en-US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kumimoji="0" lang="en-US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𝑘</m:t>
                    </m:r>
                    <m:r>
                      <a:rPr kumimoji="0" lang="en-US" sz="1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=2</m:t>
                    </m:r>
                  </m:oMath>
                </a14:m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: </a:t>
                </a:r>
                <a:r>
                  <a:rPr kumimoji="0" lang="en-GB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t.test</a:t>
                </a: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</a:t>
                </a:r>
                <a:r>
                  <a:rPr lang="en-GB" sz="12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…</a:t>
                </a:r>
                <a:r>
                  <a:rPr lang="en-GB" sz="1200" dirty="0" err="1">
                    <a:solidFill>
                      <a:prstClr val="black"/>
                    </a:solidFill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var.equal</a:t>
                </a:r>
                <a:r>
                  <a:rPr lang="en-GB" sz="12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=TRUE), </a:t>
                </a:r>
                <a:r>
                  <a:rPr lang="en-GB" sz="1200" dirty="0" err="1">
                    <a:solidFill>
                      <a:prstClr val="black"/>
                    </a:solidFill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t.test</a:t>
                </a:r>
                <a:r>
                  <a:rPr lang="en-GB" sz="12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()</a:t>
                </a:r>
              </a:p>
              <a:p>
                <a:pPr lvl="0"/>
                <a:r>
                  <a:rPr kumimoji="0" lang="en-US" sz="1200" b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Cambria Math" panose="02040503050406030204" pitchFamily="18" charset="0"/>
                    <a:cs typeface="+mn-cs"/>
                  </a:rPr>
                  <a:t>                               </a:t>
                </a:r>
                <a14:m>
                  <m:oMath xmlns:m="http://schemas.openxmlformats.org/officeDocument/2006/math">
                    <m:r>
                      <a:rPr kumimoji="0" lang="en-US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𝑘</m:t>
                    </m:r>
                    <m:r>
                      <a:rPr kumimoji="0" lang="en-US" sz="1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&gt;2</m:t>
                    </m:r>
                  </m:oMath>
                </a14:m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: </a:t>
                </a:r>
                <a:r>
                  <a:rPr kumimoji="0" lang="en-GB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aov</a:t>
                </a: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(),                   </a:t>
                </a:r>
                <a:r>
                  <a:rPr kumimoji="0" lang="en-GB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oneway.test</a:t>
                </a: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FDBCDD21-5E7C-DD03-71F6-FE950FBF3D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4137" y="1044214"/>
                <a:ext cx="5400000" cy="461665"/>
              </a:xfrm>
              <a:prstGeom prst="rect">
                <a:avLst/>
              </a:prstGeom>
              <a:blipFill>
                <a:blip r:embed="rId3"/>
                <a:stretch>
                  <a:fillRect b="-5128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feld 7">
            <a:extLst>
              <a:ext uri="{FF2B5EF4-FFF2-40B4-BE49-F238E27FC236}">
                <a16:creationId xmlns:a16="http://schemas.microsoft.com/office/drawing/2014/main" id="{5F3EA5BD-BDA7-0B75-D0DE-76F7FC098822}"/>
              </a:ext>
            </a:extLst>
          </p:cNvPr>
          <p:cNvSpPr txBox="1">
            <a:spLocks/>
          </p:cNvSpPr>
          <p:nvPr/>
        </p:nvSpPr>
        <p:spPr>
          <a:xfrm>
            <a:off x="682062" y="4222633"/>
            <a:ext cx="4320000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numeric  predictor of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class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“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numeric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”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or “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integer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”</a:t>
            </a:r>
            <a:b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</a:b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numeric response of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class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“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numeric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”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or “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integer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4B982B1D-45AF-B336-831A-F9911A48F65A}"/>
                  </a:ext>
                </a:extLst>
              </p:cNvPr>
              <p:cNvSpPr txBox="1"/>
              <p:nvPr/>
            </p:nvSpPr>
            <p:spPr>
              <a:xfrm>
                <a:off x="5504137" y="2210242"/>
                <a:ext cx="5400000" cy="461665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</a:lstStyle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Cambria Math" panose="02040503050406030204" pitchFamily="18" charset="0"/>
                    <a:cs typeface="+mn-cs"/>
                  </a:rPr>
                  <a:t>non-parametric tests:</a:t>
                </a: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𝑘</m:t>
                    </m:r>
                    <m:r>
                      <a:rPr kumimoji="0" lang="en-US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=2</m:t>
                    </m:r>
                  </m:oMath>
                </a14:m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: </a:t>
                </a:r>
                <a:r>
                  <a:rPr kumimoji="0" lang="en-GB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wilcox.test</a:t>
                </a: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(),</a:t>
                </a:r>
              </a:p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Cambria Math" panose="02040503050406030204" pitchFamily="18" charset="0"/>
                    <a:cs typeface="+mn-cs"/>
                  </a:rPr>
                  <a:t>                                         </a:t>
                </a:r>
                <a14:m>
                  <m:oMath xmlns:m="http://schemas.openxmlformats.org/officeDocument/2006/math">
                    <m:r>
                      <a:rPr kumimoji="0" lang="en-US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𝑘</m:t>
                    </m:r>
                    <m:r>
                      <a:rPr kumimoji="0" lang="en-US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&gt;2</m:t>
                    </m:r>
                  </m:oMath>
                </a14:m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: </a:t>
                </a:r>
                <a:r>
                  <a:rPr kumimoji="0" lang="en-GB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kruskal.test</a:t>
                </a: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()</a:t>
                </a:r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4B982B1D-45AF-B336-831A-F9911A48F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4137" y="2210242"/>
                <a:ext cx="5400000" cy="461665"/>
              </a:xfrm>
              <a:prstGeom prst="rect">
                <a:avLst/>
              </a:prstGeom>
              <a:blipFill>
                <a:blip r:embed="rId4"/>
                <a:stretch>
                  <a:fillRect b="-10526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feld 18">
            <a:extLst>
              <a:ext uri="{FF2B5EF4-FFF2-40B4-BE49-F238E27FC236}">
                <a16:creationId xmlns:a16="http://schemas.microsoft.com/office/drawing/2014/main" id="{6009A253-3506-714D-84D3-B2F4E3729A02}"/>
              </a:ext>
            </a:extLst>
          </p:cNvPr>
          <p:cNvSpPr txBox="1"/>
          <p:nvPr/>
        </p:nvSpPr>
        <p:spPr>
          <a:xfrm>
            <a:off x="5504137" y="4309373"/>
            <a:ext cx="5400000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solidFill>
                  <a:prstClr val="black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imple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linear regression:  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lm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DC4F1ADB-3849-F97C-D5E4-1BDD84C84D99}"/>
                  </a:ext>
                </a:extLst>
              </p:cNvPr>
              <p:cNvSpPr txBox="1"/>
              <p:nvPr/>
            </p:nvSpPr>
            <p:spPr>
              <a:xfrm>
                <a:off x="666653" y="1044214"/>
                <a:ext cx="4347222" cy="461665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categorical predictor of </a:t>
                </a: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class </a:t>
                </a: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</a:t>
                </a: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factor</a:t>
                </a: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  with </a:t>
                </a:r>
                <a14:m>
                  <m:oMath xmlns:m="http://schemas.openxmlformats.org/officeDocument/2006/math">
                    <m:r>
                      <a:rPr kumimoji="0" lang="en-US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𝑘</m:t>
                    </m:r>
                  </m:oMath>
                </a14:m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levels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numeric response of </a:t>
                </a: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class </a:t>
                </a: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</a:t>
                </a: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numeric</a:t>
                </a: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”</a:t>
                </a: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 </a:t>
                </a: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or “</a:t>
                </a: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integer</a:t>
                </a: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”</a:t>
                </a:r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DC4F1ADB-3849-F97C-D5E4-1BDD84C84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653" y="1044214"/>
                <a:ext cx="4347222" cy="461665"/>
              </a:xfrm>
              <a:prstGeom prst="rect">
                <a:avLst/>
              </a:prstGeom>
              <a:blipFill>
                <a:blip r:embed="rId5"/>
                <a:stretch>
                  <a:fillRect b="-5128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feld 35">
            <a:extLst>
              <a:ext uri="{FF2B5EF4-FFF2-40B4-BE49-F238E27FC236}">
                <a16:creationId xmlns:a16="http://schemas.microsoft.com/office/drawing/2014/main" id="{7C390E17-FD0A-6B27-751A-9D2588AE4AE9}"/>
              </a:ext>
            </a:extLst>
          </p:cNvPr>
          <p:cNvSpPr txBox="1"/>
          <p:nvPr/>
        </p:nvSpPr>
        <p:spPr>
          <a:xfrm>
            <a:off x="693875" y="5509301"/>
            <a:ext cx="4320000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dirty="0">
                <a:solidFill>
                  <a:prstClr val="black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b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oth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variables  of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class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“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factor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“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2BBD0705-2001-8330-57A9-866CD7E520AC}"/>
              </a:ext>
            </a:extLst>
          </p:cNvPr>
          <p:cNvCxnSpPr>
            <a:cxnSpLocks/>
            <a:stCxn id="36" idx="3"/>
            <a:endCxn id="40" idx="1"/>
          </p:cNvCxnSpPr>
          <p:nvPr/>
        </p:nvCxnSpPr>
        <p:spPr>
          <a:xfrm>
            <a:off x="5013875" y="5740134"/>
            <a:ext cx="49026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feld 39">
            <a:extLst>
              <a:ext uri="{FF2B5EF4-FFF2-40B4-BE49-F238E27FC236}">
                <a16:creationId xmlns:a16="http://schemas.microsoft.com/office/drawing/2014/main" id="{91080484-AE9B-04AE-0E84-129F6D2000F3}"/>
              </a:ext>
            </a:extLst>
          </p:cNvPr>
          <p:cNvSpPr txBox="1"/>
          <p:nvPr/>
        </p:nvSpPr>
        <p:spPr>
          <a:xfrm>
            <a:off x="5504137" y="5509301"/>
            <a:ext cx="5400000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           comparing proportions:</a:t>
            </a:r>
            <a:b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</a:b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chisq.test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(),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fisher.test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D3F7C956-8F5E-CDF5-8717-BC4225E2BD16}"/>
                  </a:ext>
                </a:extLst>
              </p:cNvPr>
              <p:cNvSpPr txBox="1"/>
              <p:nvPr/>
            </p:nvSpPr>
            <p:spPr>
              <a:xfrm>
                <a:off x="671010" y="2047766"/>
                <a:ext cx="4320000" cy="646331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categorical predictor of </a:t>
                </a: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class </a:t>
                </a: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</a:t>
                </a: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factor</a:t>
                </a: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  with </a:t>
                </a:r>
                <a14:m>
                  <m:oMath xmlns:m="http://schemas.openxmlformats.org/officeDocument/2006/math">
                    <m:r>
                      <a:rPr kumimoji="0" lang="en-US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𝑘</m:t>
                    </m:r>
                  </m:oMath>
                </a14:m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levels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categorical response of </a:t>
                </a: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class </a:t>
                </a: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</a:t>
                </a: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factor</a:t>
                </a: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   and</a:t>
                </a:r>
                <a:b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</a:b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                                                        “</a:t>
                </a: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ordered</a:t>
                </a: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 with </a:t>
                </a:r>
                <a14:m>
                  <m:oMath xmlns:m="http://schemas.openxmlformats.org/officeDocument/2006/math">
                    <m:r>
                      <a:rPr kumimoji="0" lang="en-US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𝑗</m:t>
                    </m:r>
                  </m:oMath>
                </a14:m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levels</a:t>
                </a:r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D3F7C956-8F5E-CDF5-8717-BC4225E2BD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010" y="2047766"/>
                <a:ext cx="4320000" cy="646331"/>
              </a:xfrm>
              <a:prstGeom prst="rect">
                <a:avLst/>
              </a:prstGeom>
              <a:blipFill>
                <a:blip r:embed="rId6"/>
                <a:stretch>
                  <a:fillRect b="-7547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7CB3BE32-0A42-B120-F8CA-DF4234564E56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5013875" y="1275047"/>
            <a:ext cx="477082" cy="10772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B3DE8868-0C7E-C32D-5582-C38792C2D2B4}"/>
              </a:ext>
            </a:extLst>
          </p:cNvPr>
          <p:cNvCxnSpPr>
            <a:cxnSpLocks/>
          </p:cNvCxnSpPr>
          <p:nvPr/>
        </p:nvCxnSpPr>
        <p:spPr>
          <a:xfrm>
            <a:off x="5023079" y="2420542"/>
            <a:ext cx="512499" cy="505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8693564A-5A05-F489-9136-8B34293275D1}"/>
              </a:ext>
            </a:extLst>
          </p:cNvPr>
          <p:cNvCxnSpPr>
            <a:cxnSpLocks/>
          </p:cNvCxnSpPr>
          <p:nvPr/>
        </p:nvCxnSpPr>
        <p:spPr>
          <a:xfrm>
            <a:off x="5005470" y="4466745"/>
            <a:ext cx="512499" cy="505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53E70E5B-5D7E-11CD-AEA9-677270387610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663933" y="2757034"/>
                <a:ext cx="4320000" cy="830997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GB" sz="12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categorical predictor  of </a:t>
                </a:r>
                <a:r>
                  <a:rPr kumimoji="0" lang="en-GB" sz="12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class </a:t>
                </a:r>
                <a:r>
                  <a:rPr kumimoji="0" lang="en-GB" sz="12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</a:t>
                </a:r>
                <a:r>
                  <a:rPr kumimoji="0" lang="en-GB" sz="12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factor</a:t>
                </a:r>
                <a:r>
                  <a:rPr kumimoji="0" lang="en-GB" sz="12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  and</a:t>
                </a:r>
                <a:br>
                  <a:rPr kumimoji="0" lang="en-GB" sz="12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</a:br>
                <a:r>
                  <a:rPr kumimoji="0" lang="en-GB" sz="12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                                                        “</a:t>
                </a:r>
                <a:r>
                  <a:rPr kumimoji="0" lang="en-GB" sz="12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ordered</a:t>
                </a:r>
                <a:r>
                  <a:rPr kumimoji="0" lang="en-GB" sz="12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 with </a:t>
                </a:r>
                <a14:m>
                  <m:oMath xmlns:m="http://schemas.openxmlformats.org/officeDocument/2006/math">
                    <m:r>
                      <a:rPr kumimoji="0" lang="en-US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𝑘</m:t>
                    </m:r>
                  </m:oMath>
                </a14:m>
                <a:r>
                  <a:rPr kumimoji="0" lang="en-GB" sz="12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levels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GB" sz="12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categorical response of </a:t>
                </a:r>
                <a:r>
                  <a:rPr kumimoji="0" lang="en-GB" sz="12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class </a:t>
                </a:r>
                <a:r>
                  <a:rPr kumimoji="0" lang="en-GB" sz="12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</a:t>
                </a:r>
                <a:r>
                  <a:rPr kumimoji="0" lang="en-GB" sz="12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factor</a:t>
                </a:r>
                <a:r>
                  <a:rPr kumimoji="0" lang="en-GB" sz="12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  and</a:t>
                </a:r>
                <a:br>
                  <a:rPr kumimoji="0" lang="en-GB" sz="12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</a:br>
                <a:r>
                  <a:rPr kumimoji="0" lang="en-GB" sz="12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                                                        “</a:t>
                </a:r>
                <a:r>
                  <a:rPr kumimoji="0" lang="en-GB" sz="12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ordered</a:t>
                </a:r>
                <a:r>
                  <a:rPr kumimoji="0" lang="en-GB" sz="12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 with j levels</a:t>
                </a:r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53E70E5B-5D7E-11CD-AEA9-6772703876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933" y="2757034"/>
                <a:ext cx="4320000" cy="830997"/>
              </a:xfrm>
              <a:prstGeom prst="rect">
                <a:avLst/>
              </a:prstGeom>
              <a:blipFill>
                <a:blip r:embed="rId7"/>
                <a:stretch>
                  <a:fillRect b="-4412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feld 13">
            <a:extLst>
              <a:ext uri="{FF2B5EF4-FFF2-40B4-BE49-F238E27FC236}">
                <a16:creationId xmlns:a16="http://schemas.microsoft.com/office/drawing/2014/main" id="{C79D8F29-37CF-8A09-3E23-59F2C947AD8C}"/>
              </a:ext>
            </a:extLst>
          </p:cNvPr>
          <p:cNvSpPr txBox="1"/>
          <p:nvPr/>
        </p:nvSpPr>
        <p:spPr>
          <a:xfrm>
            <a:off x="5504137" y="4948101"/>
            <a:ext cx="5400000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Spearman rank correlation :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cor.test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(…,method=“spearman”)</a:t>
            </a: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F4FA5052-5E58-62AA-3E03-E0824E87E185}"/>
              </a:ext>
            </a:extLst>
          </p:cNvPr>
          <p:cNvCxnSpPr>
            <a:cxnSpLocks/>
          </p:cNvCxnSpPr>
          <p:nvPr/>
        </p:nvCxnSpPr>
        <p:spPr>
          <a:xfrm>
            <a:off x="5004108" y="3850039"/>
            <a:ext cx="512499" cy="505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Gerade Verbindung mit Pfeil 66">
            <a:extLst>
              <a:ext uri="{FF2B5EF4-FFF2-40B4-BE49-F238E27FC236}">
                <a16:creationId xmlns:a16="http://schemas.microsoft.com/office/drawing/2014/main" id="{84915738-1FED-FE0E-6A7A-1ECD5480C851}"/>
              </a:ext>
            </a:extLst>
          </p:cNvPr>
          <p:cNvCxnSpPr>
            <a:cxnSpLocks/>
          </p:cNvCxnSpPr>
          <p:nvPr/>
        </p:nvCxnSpPr>
        <p:spPr>
          <a:xfrm>
            <a:off x="5005470" y="5113100"/>
            <a:ext cx="512499" cy="505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feld 67">
            <a:extLst>
              <a:ext uri="{FF2B5EF4-FFF2-40B4-BE49-F238E27FC236}">
                <a16:creationId xmlns:a16="http://schemas.microsoft.com/office/drawing/2014/main" id="{A7A4A9E7-DA01-D764-B444-F2F01DA6CEF7}"/>
              </a:ext>
            </a:extLst>
          </p:cNvPr>
          <p:cNvSpPr txBox="1"/>
          <p:nvPr/>
        </p:nvSpPr>
        <p:spPr>
          <a:xfrm>
            <a:off x="5504137" y="3729237"/>
            <a:ext cx="5400000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</a:lstStyle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Kendall rank correlation :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cor.test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(…,method=“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kendall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”)</a:t>
            </a:r>
          </a:p>
        </p:txBody>
      </p:sp>
      <p:cxnSp>
        <p:nvCxnSpPr>
          <p:cNvPr id="83" name="Gerade Verbindung mit Pfeil 82">
            <a:extLst>
              <a:ext uri="{FF2B5EF4-FFF2-40B4-BE49-F238E27FC236}">
                <a16:creationId xmlns:a16="http://schemas.microsoft.com/office/drawing/2014/main" id="{F3A044BB-7047-1A8E-87A2-BDF8F51B4009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5034132" y="1275047"/>
            <a:ext cx="470005" cy="2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feld 84">
            <a:extLst>
              <a:ext uri="{FF2B5EF4-FFF2-40B4-BE49-F238E27FC236}">
                <a16:creationId xmlns:a16="http://schemas.microsoft.com/office/drawing/2014/main" id="{F1A6E6DF-3EA6-5DC6-FC3F-8EBBFD72977C}"/>
              </a:ext>
            </a:extLst>
          </p:cNvPr>
          <p:cNvSpPr txBox="1"/>
          <p:nvPr/>
        </p:nvSpPr>
        <p:spPr>
          <a:xfrm>
            <a:off x="670850" y="3729237"/>
            <a:ext cx="4320000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+ flag: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visstat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(…,correlation=TRUE)</a:t>
            </a:r>
            <a:endParaRPr kumimoji="0" lang="de-DE" sz="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cxnSp>
        <p:nvCxnSpPr>
          <p:cNvPr id="86" name="Gerade Verbindung mit Pfeil 85">
            <a:extLst>
              <a:ext uri="{FF2B5EF4-FFF2-40B4-BE49-F238E27FC236}">
                <a16:creationId xmlns:a16="http://schemas.microsoft.com/office/drawing/2014/main" id="{9EF62D55-372B-20C3-ABB9-9A7DEC43A514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4983933" y="2458342"/>
            <a:ext cx="449748" cy="71419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feld 3">
            <a:extLst>
              <a:ext uri="{FF2B5EF4-FFF2-40B4-BE49-F238E27FC236}">
                <a16:creationId xmlns:a16="http://schemas.microsoft.com/office/drawing/2014/main" id="{8443FE01-1F07-0A94-9459-EA315FDED2AB}"/>
              </a:ext>
            </a:extLst>
          </p:cNvPr>
          <p:cNvSpPr txBox="1"/>
          <p:nvPr/>
        </p:nvSpPr>
        <p:spPr>
          <a:xfrm>
            <a:off x="189571" y="1136547"/>
            <a:ext cx="236184" cy="215444"/>
          </a:xfrm>
          <a:prstGeom prst="rect">
            <a:avLst/>
          </a:prstGeom>
          <a:solidFill>
            <a:schemeClr val="bg2">
              <a:lumMod val="90000"/>
              <a:alpha val="19758"/>
            </a:schemeClr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8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710EF68B-67E5-4BFC-5A85-E08DE99B6B1D}"/>
              </a:ext>
            </a:extLst>
          </p:cNvPr>
          <p:cNvSpPr txBox="1"/>
          <p:nvPr/>
        </p:nvSpPr>
        <p:spPr>
          <a:xfrm>
            <a:off x="0" y="608755"/>
            <a:ext cx="691375" cy="276999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2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Route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DEBFA8A2-6148-8711-FC2D-E3D98A562A7F}"/>
              </a:ext>
            </a:extLst>
          </p:cNvPr>
          <p:cNvSpPr/>
          <p:nvPr/>
        </p:nvSpPr>
        <p:spPr>
          <a:xfrm>
            <a:off x="171063" y="1044214"/>
            <a:ext cx="347696" cy="4616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1B8A15B1-AA6D-2AB4-E25F-39B7ECC45099}"/>
              </a:ext>
            </a:extLst>
          </p:cNvPr>
          <p:cNvSpPr/>
          <p:nvPr/>
        </p:nvSpPr>
        <p:spPr>
          <a:xfrm>
            <a:off x="185255" y="2047766"/>
            <a:ext cx="327615" cy="15402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664DBA35-A76B-7D64-A723-336435614C2D}"/>
              </a:ext>
            </a:extLst>
          </p:cNvPr>
          <p:cNvSpPr/>
          <p:nvPr/>
        </p:nvSpPr>
        <p:spPr>
          <a:xfrm>
            <a:off x="165173" y="4222633"/>
            <a:ext cx="377355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0832A3B2-F2C4-4CBB-8ED8-467E430EE142}"/>
              </a:ext>
            </a:extLst>
          </p:cNvPr>
          <p:cNvSpPr/>
          <p:nvPr/>
        </p:nvSpPr>
        <p:spPr>
          <a:xfrm>
            <a:off x="194833" y="5509301"/>
            <a:ext cx="347696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563293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2984B-318B-5F5B-2D7D-C6FF3EE5F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uppieren 54">
            <a:extLst>
              <a:ext uri="{FF2B5EF4-FFF2-40B4-BE49-F238E27FC236}">
                <a16:creationId xmlns:a16="http://schemas.microsoft.com/office/drawing/2014/main" id="{AB662B65-8BBA-EAFD-148F-07C4E5472A79}"/>
              </a:ext>
            </a:extLst>
          </p:cNvPr>
          <p:cNvGrpSpPr/>
          <p:nvPr/>
        </p:nvGrpSpPr>
        <p:grpSpPr>
          <a:xfrm>
            <a:off x="285750" y="620185"/>
            <a:ext cx="10904137" cy="6109617"/>
            <a:chOff x="285750" y="620185"/>
            <a:chExt cx="10904137" cy="6109617"/>
          </a:xfrm>
        </p:grpSpPr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45F8E9B7-7280-DC03-BB2B-A1310BEC3DAF}"/>
                </a:ext>
              </a:extLst>
            </p:cNvPr>
            <p:cNvSpPr txBox="1"/>
            <p:nvPr/>
          </p:nvSpPr>
          <p:spPr>
            <a:xfrm>
              <a:off x="5769630" y="794818"/>
              <a:ext cx="5413180" cy="304698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>
              <a:spAutoFit/>
            </a:bodyPr>
            <a:lstStyle>
              <a:defPPr>
                <a:defRPr lang="de-DE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               </a:t>
              </a:r>
              <a:r>
                <a:rPr lang="en-GB" sz="1200" dirty="0">
                  <a:solidFill>
                    <a:prstClr val="black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g</a:t>
              </a:r>
              <a:r>
                <a:rPr kumimoji="0" lang="en-GB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roup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 comparisons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 </a:t>
              </a: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57" name="Textfeld 56">
              <a:extLst>
                <a:ext uri="{FF2B5EF4-FFF2-40B4-BE49-F238E27FC236}">
                  <a16:creationId xmlns:a16="http://schemas.microsoft.com/office/drawing/2014/main" id="{06151A23-0BD4-4576-17CE-CAFC00C30807}"/>
                </a:ext>
              </a:extLst>
            </p:cNvPr>
            <p:cNvSpPr txBox="1"/>
            <p:nvPr/>
          </p:nvSpPr>
          <p:spPr>
            <a:xfrm>
              <a:off x="964403" y="5222421"/>
              <a:ext cx="4320001" cy="276999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19758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+ correlation=TRUE</a:t>
              </a:r>
              <a:endParaRPr kumimoji="0" lang="de-DE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2DFACB15-C2C2-DCD1-2D0F-FE09AA1C52B5}"/>
                    </a:ext>
                  </a:extLst>
                </p:cNvPr>
                <p:cNvSpPr txBox="1"/>
                <p:nvPr/>
              </p:nvSpPr>
              <p:spPr>
                <a:xfrm>
                  <a:off x="5789887" y="1055644"/>
                  <a:ext cx="5400000" cy="461665"/>
                </a:xfrm>
                <a:prstGeom prst="rect">
                  <a:avLst/>
                </a:prstGeom>
                <a:solidFill>
                  <a:schemeClr val="accent4">
                    <a:alpha val="2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>
                  <a:defPPr>
                    <a:defRPr lang="de-DE"/>
                  </a:defPPr>
                </a:lstStyle>
                <a:p>
                  <a:pPr lvl="0"/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Cambria Math" panose="02040503050406030204" pitchFamily="18" charset="0"/>
                      <a:cs typeface="+mn-cs"/>
                    </a:rPr>
                    <a:t>parametric tests: </a:t>
                  </a:r>
                  <a14:m>
                    <m:oMath xmlns:m="http://schemas.openxmlformats.org/officeDocument/2006/math">
                      <m:r>
                        <a:rPr kumimoji="0" lang="en-U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𝑘</m:t>
                      </m:r>
                      <m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=2</m:t>
                      </m:r>
                    </m:oMath>
                  </a14:m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: </a:t>
                  </a:r>
                  <a:r>
                    <a:rPr kumimoji="0" lang="en-GB" sz="12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t.test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(</a:t>
                  </a:r>
                  <a:r>
                    <a:rPr lang="en-GB" sz="12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…</a:t>
                  </a:r>
                  <a:r>
                    <a:rPr lang="en-GB" sz="1200" dirty="0" err="1">
                      <a:solidFill>
                        <a:prstClr val="black"/>
                      </a:solidFill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var.equal</a:t>
                  </a:r>
                  <a:r>
                    <a:rPr lang="en-GB" sz="12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=TRUE), </a:t>
                  </a:r>
                  <a:r>
                    <a:rPr lang="en-GB" sz="1200" dirty="0" err="1">
                      <a:solidFill>
                        <a:prstClr val="black"/>
                      </a:solidFill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t.test</a:t>
                  </a:r>
                  <a:r>
                    <a:rPr lang="en-GB" sz="12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()</a:t>
                  </a:r>
                </a:p>
                <a:p>
                  <a:pPr lvl="0"/>
                  <a:r>
                    <a:rPr kumimoji="0" lang="en-US" sz="1200" b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Cambria Math" panose="02040503050406030204" pitchFamily="18" charset="0"/>
                      <a:cs typeface="+mn-cs"/>
                    </a:rPr>
                    <a:t>                               </a:t>
                  </a:r>
                  <a14:m>
                    <m:oMath xmlns:m="http://schemas.openxmlformats.org/officeDocument/2006/math">
                      <m:r>
                        <a:rPr kumimoji="0" lang="en-U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𝑘</m:t>
                      </m:r>
                      <m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&gt;2</m:t>
                      </m:r>
                    </m:oMath>
                  </a14:m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: </a:t>
                  </a:r>
                  <a:r>
                    <a:rPr kumimoji="0" lang="en-GB" sz="12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aov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(),                   </a:t>
                  </a:r>
                  <a:r>
                    <a:rPr kumimoji="0" lang="en-GB" sz="12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oneway.test</a:t>
                  </a:r>
                  <a:endPara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endParaRPr>
                </a:p>
              </p:txBody>
            </p:sp>
          </mc:Choice>
          <mc:Fallback xmlns="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2DFACB15-C2C2-DCD1-2D0F-FE09AA1C52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89887" y="1055644"/>
                  <a:ext cx="5400000" cy="461665"/>
                </a:xfrm>
                <a:prstGeom prst="rect">
                  <a:avLst/>
                </a:prstGeom>
                <a:blipFill>
                  <a:blip r:embed="rId3"/>
                  <a:stretch>
                    <a:fillRect b="-5128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A41CC212-A60C-208D-35F3-B8CCC6937DA8}"/>
                </a:ext>
              </a:extLst>
            </p:cNvPr>
            <p:cNvSpPr txBox="1">
              <a:spLocks/>
            </p:cNvSpPr>
            <p:nvPr/>
          </p:nvSpPr>
          <p:spPr>
            <a:xfrm>
              <a:off x="967812" y="4336933"/>
              <a:ext cx="4320000" cy="64633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numeric  predictor of 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class 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“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numeric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”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 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or “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integer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”</a:t>
              </a:r>
              <a:b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</a:b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numeric response of 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class 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“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numeric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”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 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or “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integer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”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DBF75D4E-8825-BAD0-B381-10669B6A6F6B}"/>
                    </a:ext>
                  </a:extLst>
                </p:cNvPr>
                <p:cNvSpPr txBox="1"/>
                <p:nvPr/>
              </p:nvSpPr>
              <p:spPr>
                <a:xfrm>
                  <a:off x="5782809" y="2071246"/>
                  <a:ext cx="5400000" cy="156966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>
                  <a:defPPr>
                    <a:defRPr lang="de-DE"/>
                  </a:defPPr>
                </a:lstStyle>
                <a:p>
                  <a:pPr marL="0" marR="0" lvl="0" indent="0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Cambria Math" panose="02040503050406030204" pitchFamily="18" charset="0"/>
                    <a:cs typeface="+mn-cs"/>
                  </a:endParaRPr>
                </a:p>
                <a:p>
                  <a:pPr marL="0" marR="0" lvl="0" indent="0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lang="en-US" sz="1200" dirty="0">
                    <a:solidFill>
                      <a:prstClr val="black"/>
                    </a:solidFill>
                    <a:latin typeface="Calibri" panose="020F0502020204030204"/>
                    <a:ea typeface="Cambria Math" panose="02040503050406030204" pitchFamily="18" charset="0"/>
                  </a:endParaRPr>
                </a:p>
                <a:p>
                  <a:pPr marL="0" marR="0" lvl="0" indent="0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Cambria Math" panose="02040503050406030204" pitchFamily="18" charset="0"/>
                      <a:cs typeface="+mn-cs"/>
                    </a:rPr>
                    <a:t>non-parametric tests: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kumimoji="0" lang="en-U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𝑘</m:t>
                      </m:r>
                      <m:r>
                        <a:rPr kumimoji="0" lang="en-U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=2</m:t>
                      </m:r>
                    </m:oMath>
                  </a14:m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: </a:t>
                  </a:r>
                  <a:r>
                    <a:rPr kumimoji="0" lang="en-GB" sz="12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wilcox.test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(),</a:t>
                  </a:r>
                </a:p>
                <a:p>
                  <a:pPr marL="0" marR="0" lvl="0" indent="0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Cambria Math" panose="02040503050406030204" pitchFamily="18" charset="0"/>
                      <a:cs typeface="+mn-cs"/>
                    </a:rPr>
                    <a:t>                                         </a:t>
                  </a:r>
                  <a14:m>
                    <m:oMath xmlns:m="http://schemas.openxmlformats.org/officeDocument/2006/math">
                      <m:r>
                        <a:rPr kumimoji="0" lang="en-U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𝑘</m:t>
                      </m:r>
                      <m:r>
                        <a:rPr kumimoji="0" lang="en-U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&gt;2</m:t>
                      </m:r>
                    </m:oMath>
                  </a14:m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: </a:t>
                  </a:r>
                  <a:r>
                    <a:rPr kumimoji="0" lang="en-GB" sz="12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kruskal.test</a:t>
                  </a:r>
                  <a:r>
                    <a:rPr lang="en-GB" sz="12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()</a:t>
                  </a:r>
                  <a:endPara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endParaRPr>
                </a:p>
                <a:p>
                  <a:pPr marL="0" marR="0" lvl="0" indent="0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lang="en-GB" sz="12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endParaRPr>
                </a:p>
                <a:p>
                  <a:pPr marL="0" marR="0" lvl="0" indent="0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endParaRPr>
                </a:p>
                <a:p>
                  <a:pPr marL="0" marR="0" lvl="0" indent="0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lang="en-GB" sz="12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endParaRPr>
                </a:p>
                <a:p>
                  <a:pPr marL="0" marR="0" lvl="0" indent="0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endParaRPr>
                </a:p>
              </p:txBody>
            </p:sp>
          </mc:Choice>
          <mc:Fallback xmlns="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DBF75D4E-8825-BAD0-B381-10669B6A6F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82809" y="2071246"/>
                  <a:ext cx="5400000" cy="156966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EE5D0758-DB05-1B93-C5B7-12D45C0EFC6F}"/>
                </a:ext>
              </a:extLst>
            </p:cNvPr>
            <p:cNvSpPr txBox="1"/>
            <p:nvPr/>
          </p:nvSpPr>
          <p:spPr>
            <a:xfrm>
              <a:off x="5789887" y="4473422"/>
              <a:ext cx="5400000" cy="27699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>
              <a:spAutoFit/>
            </a:bodyPr>
            <a:lstStyle>
              <a:defPPr>
                <a:defRPr lang="de-DE"/>
              </a:defPPr>
            </a:lstStyle>
            <a:p>
              <a:pPr marL="457200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200" dirty="0">
                  <a:solidFill>
                    <a:prstClr val="black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s</a:t>
              </a:r>
              <a:r>
                <a:rPr kumimoji="0" lang="en-GB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imple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 linear regression:   </a:t>
              </a:r>
              <a:r>
                <a:rPr kumimoji="0" lang="en-GB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lm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()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B72D7A3F-D313-2D75-6020-9562D2397B38}"/>
                    </a:ext>
                  </a:extLst>
                </p:cNvPr>
                <p:cNvSpPr txBox="1"/>
                <p:nvPr/>
              </p:nvSpPr>
              <p:spPr>
                <a:xfrm>
                  <a:off x="952403" y="1055644"/>
                  <a:ext cx="4347222" cy="461665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 marL="171450" marR="0" lvl="0" indent="-17145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categorical predictor of 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class 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factor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  with </a:t>
                  </a:r>
                  <a14:m>
                    <m:oMath xmlns:m="http://schemas.openxmlformats.org/officeDocument/2006/math">
                      <m:r>
                        <a:rPr kumimoji="0" lang="en-U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𝑘</m:t>
                      </m:r>
                    </m:oMath>
                  </a14:m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 levels</a:t>
                  </a:r>
                </a:p>
                <a:p>
                  <a:pPr marL="171450" marR="0" lvl="0" indent="-17145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numeric response of 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class 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numeric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”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 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or “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integer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”</a:t>
                  </a:r>
                </a:p>
              </p:txBody>
            </p:sp>
          </mc:Choice>
          <mc:Fallback xmlns="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B72D7A3F-D313-2D75-6020-9562D2397B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403" y="1055644"/>
                  <a:ext cx="4347222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5128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4023D75A-D702-3F81-09DC-F3A9FF42F9F6}"/>
                </a:ext>
              </a:extLst>
            </p:cNvPr>
            <p:cNvSpPr txBox="1"/>
            <p:nvPr/>
          </p:nvSpPr>
          <p:spPr>
            <a:xfrm>
              <a:off x="979625" y="5737901"/>
              <a:ext cx="4320000" cy="46166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GB" sz="1200" dirty="0">
                  <a:solidFill>
                    <a:prstClr val="black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b</a:t>
              </a:r>
              <a:r>
                <a:rPr kumimoji="0" lang="en-GB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oth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 variables  of  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class 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“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factor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 “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</p:txBody>
        </p:sp>
        <p:cxnSp>
          <p:nvCxnSpPr>
            <p:cNvPr id="37" name="Gerade Verbindung mit Pfeil 36">
              <a:extLst>
                <a:ext uri="{FF2B5EF4-FFF2-40B4-BE49-F238E27FC236}">
                  <a16:creationId xmlns:a16="http://schemas.microsoft.com/office/drawing/2014/main" id="{13505D13-EFCE-E4A4-44E9-376E0F792A22}"/>
                </a:ext>
              </a:extLst>
            </p:cNvPr>
            <p:cNvCxnSpPr>
              <a:cxnSpLocks/>
              <a:stCxn id="36" idx="3"/>
              <a:endCxn id="40" idx="1"/>
            </p:cNvCxnSpPr>
            <p:nvPr/>
          </p:nvCxnSpPr>
          <p:spPr>
            <a:xfrm>
              <a:off x="5299625" y="5968734"/>
              <a:ext cx="49026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feld 39">
              <a:extLst>
                <a:ext uri="{FF2B5EF4-FFF2-40B4-BE49-F238E27FC236}">
                  <a16:creationId xmlns:a16="http://schemas.microsoft.com/office/drawing/2014/main" id="{6D7EF49C-93D7-2FE7-8F02-6FA7D39FC16F}"/>
                </a:ext>
              </a:extLst>
            </p:cNvPr>
            <p:cNvSpPr txBox="1"/>
            <p:nvPr/>
          </p:nvSpPr>
          <p:spPr>
            <a:xfrm>
              <a:off x="5789887" y="5737901"/>
              <a:ext cx="5400000" cy="46166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>
              <a:spAutoFit/>
            </a:bodyPr>
            <a:lstStyle>
              <a:defPPr>
                <a:defRPr lang="de-DE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            </a:t>
              </a:r>
              <a:r>
                <a: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proportions comparison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s</a:t>
              </a:r>
              <a:b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chisq.test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(), </a:t>
              </a:r>
              <a:r>
                <a:rPr kumimoji="0" lang="en-GB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fisher.test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()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feld 4">
                  <a:extLst>
                    <a:ext uri="{FF2B5EF4-FFF2-40B4-BE49-F238E27FC236}">
                      <a16:creationId xmlns:a16="http://schemas.microsoft.com/office/drawing/2014/main" id="{C8E8BD9F-432B-56EC-0F4D-ADF784F9E170}"/>
                    </a:ext>
                  </a:extLst>
                </p:cNvPr>
                <p:cNvSpPr txBox="1"/>
                <p:nvPr/>
              </p:nvSpPr>
              <p:spPr>
                <a:xfrm>
                  <a:off x="956760" y="2059196"/>
                  <a:ext cx="4320000" cy="646331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 marL="171450" marR="0" lvl="0" indent="-17145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categorical predictor of 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class 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factor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  with </a:t>
                  </a:r>
                  <a14:m>
                    <m:oMath xmlns:m="http://schemas.openxmlformats.org/officeDocument/2006/math">
                      <m:r>
                        <a:rPr kumimoji="0" lang="en-U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𝑘</m:t>
                      </m:r>
                    </m:oMath>
                  </a14:m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 levels</a:t>
                  </a:r>
                </a:p>
                <a:p>
                  <a:pPr marL="171450" marR="0" lvl="0" indent="-17145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categorical response of 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class 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factor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   and</a:t>
                  </a:r>
                  <a:b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</a:b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                                                         “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ordered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 with </a:t>
                  </a:r>
                  <a14:m>
                    <m:oMath xmlns:m="http://schemas.openxmlformats.org/officeDocument/2006/math">
                      <m:r>
                        <a:rPr kumimoji="0" lang="en-U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𝑗</m:t>
                      </m:r>
                    </m:oMath>
                  </a14:m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 levels</a:t>
                  </a:r>
                </a:p>
              </p:txBody>
            </p:sp>
          </mc:Choice>
          <mc:Fallback xmlns="">
            <p:sp>
              <p:nvSpPr>
                <p:cNvPr id="5" name="Textfeld 4">
                  <a:extLst>
                    <a:ext uri="{FF2B5EF4-FFF2-40B4-BE49-F238E27FC236}">
                      <a16:creationId xmlns:a16="http://schemas.microsoft.com/office/drawing/2014/main" id="{C8E8BD9F-432B-56EC-0F4D-ADF784F9E1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6760" y="2059196"/>
                  <a:ext cx="4320000" cy="646331"/>
                </a:xfrm>
                <a:prstGeom prst="rect">
                  <a:avLst/>
                </a:prstGeom>
                <a:blipFill>
                  <a:blip r:embed="rId6"/>
                  <a:stretch>
                    <a:fillRect b="-5660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Gerade Verbindung mit Pfeil 9">
              <a:extLst>
                <a:ext uri="{FF2B5EF4-FFF2-40B4-BE49-F238E27FC236}">
                  <a16:creationId xmlns:a16="http://schemas.microsoft.com/office/drawing/2014/main" id="{B0668179-B51B-6E6E-36E5-D95FC09059B3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>
              <a:off x="5299625" y="1286477"/>
              <a:ext cx="477082" cy="107724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 Verbindung mit Pfeil 15">
              <a:extLst>
                <a:ext uri="{FF2B5EF4-FFF2-40B4-BE49-F238E27FC236}">
                  <a16:creationId xmlns:a16="http://schemas.microsoft.com/office/drawing/2014/main" id="{FD42F611-C4AA-DF4C-5C92-FBC79C14F938}"/>
                </a:ext>
              </a:extLst>
            </p:cNvPr>
            <p:cNvCxnSpPr>
              <a:cxnSpLocks/>
            </p:cNvCxnSpPr>
            <p:nvPr/>
          </p:nvCxnSpPr>
          <p:spPr>
            <a:xfrm>
              <a:off x="5308829" y="2431972"/>
              <a:ext cx="512499" cy="505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Gerade Verbindung mit Pfeil 48">
              <a:extLst>
                <a:ext uri="{FF2B5EF4-FFF2-40B4-BE49-F238E27FC236}">
                  <a16:creationId xmlns:a16="http://schemas.microsoft.com/office/drawing/2014/main" id="{F85EA249-6F51-DB63-34C5-DF67F004A9EA}"/>
                </a:ext>
              </a:extLst>
            </p:cNvPr>
            <p:cNvCxnSpPr>
              <a:cxnSpLocks/>
            </p:cNvCxnSpPr>
            <p:nvPr/>
          </p:nvCxnSpPr>
          <p:spPr>
            <a:xfrm>
              <a:off x="5291220" y="4581045"/>
              <a:ext cx="512499" cy="505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feld 10">
                  <a:extLst>
                    <a:ext uri="{FF2B5EF4-FFF2-40B4-BE49-F238E27FC236}">
                      <a16:creationId xmlns:a16="http://schemas.microsoft.com/office/drawing/2014/main" id="{8B475B6F-280F-4A35-03D0-41F0DFCA83F3}"/>
                    </a:ext>
                  </a:extLst>
                </p:cNvPr>
                <p:cNvSpPr txBox="1">
                  <a:spLocks noChangeAspect="1"/>
                </p:cNvSpPr>
                <p:nvPr/>
              </p:nvSpPr>
              <p:spPr>
                <a:xfrm>
                  <a:off x="953222" y="2795702"/>
                  <a:ext cx="4320000" cy="830997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12700">
                  <a:solidFill>
                    <a:schemeClr val="tx1"/>
                  </a:solidFill>
                  <a:prstDash val="sysDash"/>
                </a:ln>
              </p:spPr>
              <p:txBody>
                <a:bodyPr wrap="square">
                  <a:spAutoFit/>
                </a:bodyPr>
                <a:lstStyle/>
                <a:p>
                  <a:pPr marL="171450" marR="0" lvl="0" indent="-17145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categorical predictor  of </a:t>
                  </a: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class </a:t>
                  </a: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</a:t>
                  </a: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factor</a:t>
                  </a: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  and</a:t>
                  </a:r>
                  <a:b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</a:b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                                                         “</a:t>
                  </a: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ordered</a:t>
                  </a: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 with </a:t>
                  </a:r>
                  <a14:m>
                    <m:oMath xmlns:m="http://schemas.openxmlformats.org/officeDocument/2006/math">
                      <m:r>
                        <a:rPr kumimoji="0" lang="en-U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𝑘</m:t>
                      </m:r>
                    </m:oMath>
                  </a14:m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 levels</a:t>
                  </a:r>
                </a:p>
                <a:p>
                  <a:pPr marL="171450" marR="0" lvl="0" indent="-17145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categorical response of </a:t>
                  </a: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class </a:t>
                  </a: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</a:t>
                  </a: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factor</a:t>
                  </a: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  and</a:t>
                  </a:r>
                  <a:b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</a:b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                                                         “</a:t>
                  </a: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ordered</a:t>
                  </a: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 with j levels</a:t>
                  </a:r>
                </a:p>
              </p:txBody>
            </p:sp>
          </mc:Choice>
          <mc:Fallback xmlns="">
            <p:sp>
              <p:nvSpPr>
                <p:cNvPr id="11" name="Textfeld 10">
                  <a:extLst>
                    <a:ext uri="{FF2B5EF4-FFF2-40B4-BE49-F238E27FC236}">
                      <a16:creationId xmlns:a16="http://schemas.microsoft.com/office/drawing/2014/main" id="{8B475B6F-280F-4A35-03D0-41F0DFCA83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3222" y="2795702"/>
                  <a:ext cx="4320000" cy="830997"/>
                </a:xfrm>
                <a:prstGeom prst="rect">
                  <a:avLst/>
                </a:prstGeom>
                <a:blipFill>
                  <a:blip r:embed="rId7"/>
                  <a:stretch>
                    <a:fillRect b="-2941"/>
                  </a:stretch>
                </a:blipFill>
                <a:ln w="12700">
                  <a:solidFill>
                    <a:schemeClr val="tx1"/>
                  </a:solidFill>
                  <a:prstDash val="sysDash"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2C28BFF0-B44A-540A-EC8D-6ED47BC96645}"/>
                </a:ext>
              </a:extLst>
            </p:cNvPr>
            <p:cNvSpPr txBox="1"/>
            <p:nvPr/>
          </p:nvSpPr>
          <p:spPr>
            <a:xfrm>
              <a:off x="5789887" y="5222421"/>
              <a:ext cx="5400000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>
              <a:spAutoFit/>
            </a:bodyPr>
            <a:lstStyle>
              <a:defPPr>
                <a:defRPr lang="de-DE"/>
              </a:defPPr>
            </a:lstStyle>
            <a:p>
              <a:pPr marL="457200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Spearman rank correlation : </a:t>
              </a:r>
              <a:r>
                <a:rPr kumimoji="0" lang="en-GB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cor.test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(…,method=“spearman”)</a:t>
              </a:r>
            </a:p>
          </p:txBody>
        </p: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3855A362-3E56-A0C4-6001-BC6EFB57ECDC}"/>
                </a:ext>
              </a:extLst>
            </p:cNvPr>
            <p:cNvSpPr txBox="1"/>
            <p:nvPr/>
          </p:nvSpPr>
          <p:spPr>
            <a:xfrm>
              <a:off x="5782809" y="3882270"/>
              <a:ext cx="5400000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>
              <a:spAutoFit/>
            </a:bodyPr>
            <a:lstStyle>
              <a:defPPr>
                <a:defRPr lang="de-DE"/>
              </a:defPPr>
            </a:lstStyle>
            <a:p>
              <a:pPr marL="457200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Kendall rank correlation : </a:t>
              </a:r>
              <a:r>
                <a:rPr kumimoji="0" lang="en-GB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cor.test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(…,method=“</a:t>
              </a:r>
              <a:r>
                <a:rPr kumimoji="0" lang="en-GB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kendall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”)</a:t>
              </a:r>
            </a:p>
          </p:txBody>
        </p:sp>
        <p:cxnSp>
          <p:nvCxnSpPr>
            <p:cNvPr id="83" name="Gerade Verbindung mit Pfeil 82">
              <a:extLst>
                <a:ext uri="{FF2B5EF4-FFF2-40B4-BE49-F238E27FC236}">
                  <a16:creationId xmlns:a16="http://schemas.microsoft.com/office/drawing/2014/main" id="{359860EC-CB2E-6498-41F7-C0E71D709B00}"/>
                </a:ext>
              </a:extLst>
            </p:cNvPr>
            <p:cNvCxnSpPr>
              <a:cxnSpLocks/>
              <a:endCxn id="6" idx="1"/>
            </p:cNvCxnSpPr>
            <p:nvPr/>
          </p:nvCxnSpPr>
          <p:spPr>
            <a:xfrm flipV="1">
              <a:off x="5319882" y="1286477"/>
              <a:ext cx="470005" cy="289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feld 84">
              <a:extLst>
                <a:ext uri="{FF2B5EF4-FFF2-40B4-BE49-F238E27FC236}">
                  <a16:creationId xmlns:a16="http://schemas.microsoft.com/office/drawing/2014/main" id="{70B7903D-AF54-6C2B-EF89-945DC6A2CE63}"/>
                </a:ext>
              </a:extLst>
            </p:cNvPr>
            <p:cNvSpPr txBox="1"/>
            <p:nvPr/>
          </p:nvSpPr>
          <p:spPr>
            <a:xfrm>
              <a:off x="949683" y="3882270"/>
              <a:ext cx="4320000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 + correlation=TRUE</a:t>
              </a:r>
              <a:endParaRPr kumimoji="0" lang="de-DE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</p:txBody>
        </p:sp>
        <p:cxnSp>
          <p:nvCxnSpPr>
            <p:cNvPr id="86" name="Gerade Verbindung mit Pfeil 85">
              <a:extLst>
                <a:ext uri="{FF2B5EF4-FFF2-40B4-BE49-F238E27FC236}">
                  <a16:creationId xmlns:a16="http://schemas.microsoft.com/office/drawing/2014/main" id="{EA654AFB-152F-E1B5-7BA3-94A302442F4F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 flipV="1">
              <a:off x="5273222" y="2564698"/>
              <a:ext cx="499947" cy="64650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Textfeld 3">
              <a:extLst>
                <a:ext uri="{FF2B5EF4-FFF2-40B4-BE49-F238E27FC236}">
                  <a16:creationId xmlns:a16="http://schemas.microsoft.com/office/drawing/2014/main" id="{D4492FB3-1A4F-0300-25EF-5AEEEED5DE13}"/>
                </a:ext>
              </a:extLst>
            </p:cNvPr>
            <p:cNvSpPr txBox="1"/>
            <p:nvPr/>
          </p:nvSpPr>
          <p:spPr>
            <a:xfrm>
              <a:off x="475321" y="1147977"/>
              <a:ext cx="236184" cy="215444"/>
            </a:xfrm>
            <a:prstGeom prst="rect">
              <a:avLst/>
            </a:prstGeom>
            <a:solidFill>
              <a:schemeClr val="bg2">
                <a:lumMod val="90000"/>
                <a:alpha val="19758"/>
              </a:schemeClr>
            </a:solidFill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800" noProof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F9068A38-A9CB-766D-4CFD-111A5514FB5A}"/>
                </a:ext>
              </a:extLst>
            </p:cNvPr>
            <p:cNvSpPr txBox="1"/>
            <p:nvPr/>
          </p:nvSpPr>
          <p:spPr>
            <a:xfrm>
              <a:off x="285750" y="620185"/>
              <a:ext cx="691375" cy="27699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Route</a:t>
              </a:r>
            </a:p>
          </p:txBody>
        </p: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119F62E2-8245-4CC6-BD75-E18711E3C62F}"/>
                </a:ext>
              </a:extLst>
            </p:cNvPr>
            <p:cNvSpPr/>
            <p:nvPr/>
          </p:nvSpPr>
          <p:spPr>
            <a:xfrm>
              <a:off x="456813" y="1055644"/>
              <a:ext cx="347696" cy="46166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255CF21F-0322-ECE6-F904-A98BCBBB1A4F}"/>
                </a:ext>
              </a:extLst>
            </p:cNvPr>
            <p:cNvSpPr/>
            <p:nvPr/>
          </p:nvSpPr>
          <p:spPr>
            <a:xfrm>
              <a:off x="471005" y="2059196"/>
              <a:ext cx="327615" cy="154026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DF982242-EE07-A86A-CA9A-1B6AA1385B0F}"/>
                </a:ext>
              </a:extLst>
            </p:cNvPr>
            <p:cNvSpPr/>
            <p:nvPr/>
          </p:nvSpPr>
          <p:spPr>
            <a:xfrm>
              <a:off x="450923" y="4336933"/>
              <a:ext cx="377355" cy="64633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741D0FB7-565E-2711-349C-C82EBF8E3119}"/>
                </a:ext>
              </a:extLst>
            </p:cNvPr>
            <p:cNvSpPr/>
            <p:nvPr/>
          </p:nvSpPr>
          <p:spPr>
            <a:xfrm>
              <a:off x="480583" y="5737901"/>
              <a:ext cx="347696" cy="46166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4</a:t>
              </a:r>
            </a:p>
          </p:txBody>
        </p:sp>
        <p:cxnSp>
          <p:nvCxnSpPr>
            <p:cNvPr id="26" name="Gerade Verbindung mit Pfeil 25">
              <a:extLst>
                <a:ext uri="{FF2B5EF4-FFF2-40B4-BE49-F238E27FC236}">
                  <a16:creationId xmlns:a16="http://schemas.microsoft.com/office/drawing/2014/main" id="{A44724E2-EA26-7801-C5CD-8E574D2F7F3B}"/>
                </a:ext>
              </a:extLst>
            </p:cNvPr>
            <p:cNvCxnSpPr>
              <a:cxnSpLocks/>
              <a:stCxn id="11" idx="2"/>
            </p:cNvCxnSpPr>
            <p:nvPr/>
          </p:nvCxnSpPr>
          <p:spPr>
            <a:xfrm>
              <a:off x="3113222" y="3626699"/>
              <a:ext cx="314" cy="282809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 Verbindung mit Pfeil 34">
              <a:extLst>
                <a:ext uri="{FF2B5EF4-FFF2-40B4-BE49-F238E27FC236}">
                  <a16:creationId xmlns:a16="http://schemas.microsoft.com/office/drawing/2014/main" id="{0A87760E-B77D-A62A-17C8-167F3DFF3746}"/>
                </a:ext>
              </a:extLst>
            </p:cNvPr>
            <p:cNvCxnSpPr>
              <a:cxnSpLocks/>
            </p:cNvCxnSpPr>
            <p:nvPr/>
          </p:nvCxnSpPr>
          <p:spPr>
            <a:xfrm>
              <a:off x="3126470" y="4992185"/>
              <a:ext cx="0" cy="230236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B898312C-6EC1-809B-E83F-E7B06D7D6F2D}"/>
                </a:ext>
              </a:extLst>
            </p:cNvPr>
            <p:cNvSpPr txBox="1"/>
            <p:nvPr/>
          </p:nvSpPr>
          <p:spPr>
            <a:xfrm>
              <a:off x="5789886" y="6452803"/>
              <a:ext cx="5392923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accent6">
                  <a:lumMod val="20000"/>
                  <a:lumOff val="8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200" dirty="0">
                  <a:solidFill>
                    <a:prstClr val="black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optional rank correlation only selected, when </a:t>
              </a:r>
              <a:r>
                <a:rPr lang="en-GB" sz="1200" dirty="0">
                  <a:solidFill>
                    <a:prstClr val="black"/>
                  </a:solidFill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correlation = TRUE</a:t>
              </a:r>
              <a:endParaRPr kumimoji="0" lang="de-DE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endParaRPr>
            </a:p>
          </p:txBody>
        </p:sp>
        <p:cxnSp>
          <p:nvCxnSpPr>
            <p:cNvPr id="44" name="Gerade Verbindung mit Pfeil 43">
              <a:extLst>
                <a:ext uri="{FF2B5EF4-FFF2-40B4-BE49-F238E27FC236}">
                  <a16:creationId xmlns:a16="http://schemas.microsoft.com/office/drawing/2014/main" id="{33A82D98-93F7-1C4C-62DA-58C792C8F9AE}"/>
                </a:ext>
              </a:extLst>
            </p:cNvPr>
            <p:cNvCxnSpPr>
              <a:cxnSpLocks/>
            </p:cNvCxnSpPr>
            <p:nvPr/>
          </p:nvCxnSpPr>
          <p:spPr>
            <a:xfrm>
              <a:off x="5830065" y="6591302"/>
              <a:ext cx="337752" cy="0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Gerade Verbindung mit Pfeil 47">
              <a:extLst>
                <a:ext uri="{FF2B5EF4-FFF2-40B4-BE49-F238E27FC236}">
                  <a16:creationId xmlns:a16="http://schemas.microsoft.com/office/drawing/2014/main" id="{BF87B7B0-0D2C-437C-E0E4-BB6C5B611E1E}"/>
                </a:ext>
              </a:extLst>
            </p:cNvPr>
            <p:cNvCxnSpPr>
              <a:cxnSpLocks/>
              <a:endCxn id="68" idx="1"/>
            </p:cNvCxnSpPr>
            <p:nvPr/>
          </p:nvCxnSpPr>
          <p:spPr>
            <a:xfrm>
              <a:off x="5299625" y="4020769"/>
              <a:ext cx="483184" cy="1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Gerade Verbindung mit Pfeil 50">
              <a:extLst>
                <a:ext uri="{FF2B5EF4-FFF2-40B4-BE49-F238E27FC236}">
                  <a16:creationId xmlns:a16="http://schemas.microsoft.com/office/drawing/2014/main" id="{D87037BC-DC60-ECF1-C371-204F88E7384B}"/>
                </a:ext>
              </a:extLst>
            </p:cNvPr>
            <p:cNvCxnSpPr>
              <a:cxnSpLocks/>
            </p:cNvCxnSpPr>
            <p:nvPr/>
          </p:nvCxnSpPr>
          <p:spPr>
            <a:xfrm>
              <a:off x="5296574" y="5367981"/>
              <a:ext cx="483184" cy="1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04955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solidFill>
          <a:schemeClr val="accent4">
            <a:alpha val="19758"/>
          </a:schemeClr>
        </a:solidFill>
        <a:ln w="12700">
          <a:noFill/>
        </a:ln>
      </a:spPr>
      <a:bodyPr wrap="square">
        <a:spAutoFit/>
      </a:bodyPr>
      <a:lstStyle>
        <a:defPPr algn="ctr">
          <a:defRPr sz="800" noProof="0" dirty="0" smtClean="0">
            <a:latin typeface="Calibri" panose="020F0502020204030204" pitchFamily="34" charset="0"/>
            <a:ea typeface="Cambria Math" panose="02040503050406030204" pitchFamily="18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628DB25-49C7-9C48-9DEB-221973F78786}">
  <we:reference id="wa104381909" version="3.1.0.0" store="en-US" storeType="OMEX"/>
  <we:alternateReferences>
    <we:reference id="WA104381909" version="3.1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1077</Words>
  <Application>Microsoft Macintosh PowerPoint</Application>
  <PresentationFormat>Breitbild</PresentationFormat>
  <Paragraphs>181</Paragraphs>
  <Slides>5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Courier New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 trees</dc:title>
  <dc:creator>Schilling Sabine HSLU W</dc:creator>
  <cp:lastModifiedBy>Schilling Sabine HSLU W</cp:lastModifiedBy>
  <cp:revision>39</cp:revision>
  <dcterms:created xsi:type="dcterms:W3CDTF">2023-05-08T12:12:17Z</dcterms:created>
  <dcterms:modified xsi:type="dcterms:W3CDTF">2026-07-29T14:08:25Z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b0afbd-3cf7-4707-aee4-8dc9d855de29_Enabled">
    <vt:lpwstr>true</vt:lpwstr>
  </property>
  <property fmtid="{D5CDD505-2E9C-101B-9397-08002B2CF9AE}" pid="3" name="MSIP_Label_e8b0afbd-3cf7-4707-aee4-8dc9d855de29_SetDate">
    <vt:lpwstr>2025-05-10T09:29:47Z</vt:lpwstr>
  </property>
  <property fmtid="{D5CDD505-2E9C-101B-9397-08002B2CF9AE}" pid="4" name="MSIP_Label_e8b0afbd-3cf7-4707-aee4-8dc9d855de29_Method">
    <vt:lpwstr>Privileged</vt:lpwstr>
  </property>
  <property fmtid="{D5CDD505-2E9C-101B-9397-08002B2CF9AE}" pid="5" name="MSIP_Label_e8b0afbd-3cf7-4707-aee4-8dc9d855de29_Name">
    <vt:lpwstr>intern</vt:lpwstr>
  </property>
  <property fmtid="{D5CDD505-2E9C-101B-9397-08002B2CF9AE}" pid="6" name="MSIP_Label_e8b0afbd-3cf7-4707-aee4-8dc9d855de29_SiteId">
    <vt:lpwstr>75a34008-d7d1-4924-8e78-31fea86f6e68</vt:lpwstr>
  </property>
  <property fmtid="{D5CDD505-2E9C-101B-9397-08002B2CF9AE}" pid="7" name="MSIP_Label_e8b0afbd-3cf7-4707-aee4-8dc9d855de29_ActionId">
    <vt:lpwstr>8647766f-e017-41ca-968f-3e61e90fbd83</vt:lpwstr>
  </property>
  <property fmtid="{D5CDD505-2E9C-101B-9397-08002B2CF9AE}" pid="8" name="MSIP_Label_e8b0afbd-3cf7-4707-aee4-8dc9d855de29_ContentBits">
    <vt:lpwstr>0</vt:lpwstr>
  </property>
  <property fmtid="{D5CDD505-2E9C-101B-9397-08002B2CF9AE}" pid="9" name="MSIP_Label_e8b0afbd-3cf7-4707-aee4-8dc9d855de29_Tag">
    <vt:lpwstr>50, 0, 1, 1</vt:lpwstr>
  </property>
</Properties>
</file>