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73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73" userDrawn="1">
          <p15:clr>
            <a:srgbClr val="A4A3A4"/>
          </p15:clr>
        </p15:guide>
        <p15:guide id="2" pos="347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AA116FE-460E-754C-A3BF-FE57C3E35162}" v="46" dt="2026-05-06T19:22:14.83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79317"/>
  </p:normalViewPr>
  <p:slideViewPr>
    <p:cSldViewPr snapToGrid="0" snapToObjects="1" showGuides="1">
      <p:cViewPr>
        <p:scale>
          <a:sx n="62" d="100"/>
          <a:sy n="62" d="100"/>
        </p:scale>
        <p:origin x="656" y="344"/>
      </p:cViewPr>
      <p:guideLst>
        <p:guide orient="horz" pos="2273"/>
        <p:guide pos="3477"/>
      </p:guideLst>
    </p:cSldViewPr>
  </p:slideViewPr>
  <p:notesTextViewPr>
    <p:cViewPr>
      <p:scale>
        <a:sx n="20" d="100"/>
        <a:sy n="2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hilling Sabine HSLU W" userId="b0e2af5c-9187-4900-883a-c96514cd8e15" providerId="ADAL" clId="{5E51067F-94D7-505D-9735-0698788361AC}"/>
    <pc:docChg chg="undo custSel addSld delSld modSld">
      <pc:chgData name="Schilling Sabine HSLU W" userId="b0e2af5c-9187-4900-883a-c96514cd8e15" providerId="ADAL" clId="{5E51067F-94D7-505D-9735-0698788361AC}" dt="2026-05-06T19:22:14.838" v="1842" actId="20577"/>
      <pc:docMkLst>
        <pc:docMk/>
      </pc:docMkLst>
      <pc:sldChg chg="addSp delSp modSp add mod">
        <pc:chgData name="Schilling Sabine HSLU W" userId="b0e2af5c-9187-4900-883a-c96514cd8e15" providerId="ADAL" clId="{5E51067F-94D7-505D-9735-0698788361AC}" dt="2026-05-06T19:22:14.838" v="1842" actId="20577"/>
        <pc:sldMkLst>
          <pc:docMk/>
          <pc:sldMk cId="211450528" sldId="273"/>
        </pc:sldMkLst>
        <pc:spChg chg="mod">
          <ac:chgData name="Schilling Sabine HSLU W" userId="b0e2af5c-9187-4900-883a-c96514cd8e15" providerId="ADAL" clId="{5E51067F-94D7-505D-9735-0698788361AC}" dt="2026-05-06T19:18:36.355" v="1782" actId="20577"/>
          <ac:spMkLst>
            <pc:docMk/>
            <pc:sldMk cId="211450528" sldId="273"/>
            <ac:spMk id="5" creationId="{746F3D3D-30AE-C976-B294-DB7D9B8FB409}"/>
          </ac:spMkLst>
        </pc:spChg>
        <pc:spChg chg="mod topLvl">
          <ac:chgData name="Schilling Sabine HSLU W" userId="b0e2af5c-9187-4900-883a-c96514cd8e15" providerId="ADAL" clId="{5E51067F-94D7-505D-9735-0698788361AC}" dt="2026-05-06T19:18:36.355" v="1782" actId="20577"/>
          <ac:spMkLst>
            <pc:docMk/>
            <pc:sldMk cId="211450528" sldId="273"/>
            <ac:spMk id="6" creationId="{C52BE3A2-0408-78DD-3115-287BDBDD4277}"/>
          </ac:spMkLst>
        </pc:spChg>
        <pc:spChg chg="mod">
          <ac:chgData name="Schilling Sabine HSLU W" userId="b0e2af5c-9187-4900-883a-c96514cd8e15" providerId="ADAL" clId="{5E51067F-94D7-505D-9735-0698788361AC}" dt="2026-05-06T19:18:36.355" v="1782" actId="20577"/>
          <ac:spMkLst>
            <pc:docMk/>
            <pc:sldMk cId="211450528" sldId="273"/>
            <ac:spMk id="7" creationId="{283DBAF9-59AF-350E-62E3-D9DC7ADACC0D}"/>
          </ac:spMkLst>
        </pc:spChg>
        <pc:spChg chg="mod">
          <ac:chgData name="Schilling Sabine HSLU W" userId="b0e2af5c-9187-4900-883a-c96514cd8e15" providerId="ADAL" clId="{5E51067F-94D7-505D-9735-0698788361AC}" dt="2026-05-06T19:20:11.622" v="1808" actId="20577"/>
          <ac:spMkLst>
            <pc:docMk/>
            <pc:sldMk cId="211450528" sldId="273"/>
            <ac:spMk id="8" creationId="{B1B10A6C-E857-2AC7-9CD4-9F6187F56B57}"/>
          </ac:spMkLst>
        </pc:spChg>
        <pc:spChg chg="mod">
          <ac:chgData name="Schilling Sabine HSLU W" userId="b0e2af5c-9187-4900-883a-c96514cd8e15" providerId="ADAL" clId="{5E51067F-94D7-505D-9735-0698788361AC}" dt="2026-05-06T19:18:36.355" v="1782" actId="20577"/>
          <ac:spMkLst>
            <pc:docMk/>
            <pc:sldMk cId="211450528" sldId="273"/>
            <ac:spMk id="9" creationId="{7C5757D2-6CA8-B513-DC52-7F09F857A4C7}"/>
          </ac:spMkLst>
        </pc:spChg>
        <pc:spChg chg="add mod">
          <ac:chgData name="Schilling Sabine HSLU W" userId="b0e2af5c-9187-4900-883a-c96514cd8e15" providerId="ADAL" clId="{5E51067F-94D7-505D-9735-0698788361AC}" dt="2026-05-06T19:18:36.355" v="1782" actId="20577"/>
          <ac:spMkLst>
            <pc:docMk/>
            <pc:sldMk cId="211450528" sldId="273"/>
            <ac:spMk id="12" creationId="{C1981550-83BB-9397-710A-8F2694DD3EA9}"/>
          </ac:spMkLst>
        </pc:spChg>
        <pc:spChg chg="mod">
          <ac:chgData name="Schilling Sabine HSLU W" userId="b0e2af5c-9187-4900-883a-c96514cd8e15" providerId="ADAL" clId="{5E51067F-94D7-505D-9735-0698788361AC}" dt="2026-05-06T19:22:14.838" v="1842" actId="20577"/>
          <ac:spMkLst>
            <pc:docMk/>
            <pc:sldMk cId="211450528" sldId="273"/>
            <ac:spMk id="19" creationId="{5B16A604-2B7C-E85E-0A91-CC96741BDB01}"/>
          </ac:spMkLst>
        </pc:spChg>
        <pc:spChg chg="mod">
          <ac:chgData name="Schilling Sabine HSLU W" userId="b0e2af5c-9187-4900-883a-c96514cd8e15" providerId="ADAL" clId="{5E51067F-94D7-505D-9735-0698788361AC}" dt="2026-05-06T19:19:42.567" v="1804" actId="1036"/>
          <ac:spMkLst>
            <pc:docMk/>
            <pc:sldMk cId="211450528" sldId="273"/>
            <ac:spMk id="36" creationId="{85AF650F-788E-C688-388F-D4F5F7ACE59B}"/>
          </ac:spMkLst>
        </pc:spChg>
        <pc:spChg chg="mod">
          <ac:chgData name="Schilling Sabine HSLU W" userId="b0e2af5c-9187-4900-883a-c96514cd8e15" providerId="ADAL" clId="{5E51067F-94D7-505D-9735-0698788361AC}" dt="2026-05-06T19:19:42.567" v="1804" actId="1036"/>
          <ac:spMkLst>
            <pc:docMk/>
            <pc:sldMk cId="211450528" sldId="273"/>
            <ac:spMk id="40" creationId="{24589715-130D-1803-FC06-FD5A8DB9FD73}"/>
          </ac:spMkLst>
        </pc:spChg>
        <pc:grpChg chg="add mod">
          <ac:chgData name="Schilling Sabine HSLU W" userId="b0e2af5c-9187-4900-883a-c96514cd8e15" providerId="ADAL" clId="{5E51067F-94D7-505D-9735-0698788361AC}" dt="2026-05-06T19:18:36.355" v="1782" actId="20577"/>
          <ac:grpSpMkLst>
            <pc:docMk/>
            <pc:sldMk cId="211450528" sldId="273"/>
            <ac:grpSpMk id="51" creationId="{44770507-76CA-649E-2FC1-1F7141E749B8}"/>
          </ac:grpSpMkLst>
        </pc:grpChg>
        <pc:cxnChg chg="mod">
          <ac:chgData name="Schilling Sabine HSLU W" userId="b0e2af5c-9187-4900-883a-c96514cd8e15" providerId="ADAL" clId="{5E51067F-94D7-505D-9735-0698788361AC}" dt="2026-05-04T13:28:57.693" v="1423" actId="1076"/>
          <ac:cxnSpMkLst>
            <pc:docMk/>
            <pc:sldMk cId="211450528" sldId="273"/>
            <ac:cxnSpMk id="2" creationId="{3C415C7F-748B-C1ED-EE4E-BD64FBAA5934}"/>
          </ac:cxnSpMkLst>
        </pc:cxnChg>
        <pc:cxnChg chg="add del mod">
          <ac:chgData name="Schilling Sabine HSLU W" userId="b0e2af5c-9187-4900-883a-c96514cd8e15" providerId="ADAL" clId="{5E51067F-94D7-505D-9735-0698788361AC}" dt="2026-05-06T19:18:17.398" v="1756" actId="478"/>
          <ac:cxnSpMkLst>
            <pc:docMk/>
            <pc:sldMk cId="211450528" sldId="273"/>
            <ac:cxnSpMk id="3" creationId="{FCE9BDC2-6EF6-C498-0819-E7C698505B6C}"/>
          </ac:cxnSpMkLst>
        </pc:cxnChg>
        <pc:cxnChg chg="mod">
          <ac:chgData name="Schilling Sabine HSLU W" userId="b0e2af5c-9187-4900-883a-c96514cd8e15" providerId="ADAL" clId="{5E51067F-94D7-505D-9735-0698788361AC}" dt="2026-05-04T13:15:36.033" v="1388" actId="20577"/>
          <ac:cxnSpMkLst>
            <pc:docMk/>
            <pc:sldMk cId="211450528" sldId="273"/>
            <ac:cxnSpMk id="10" creationId="{70C9F5FC-AF03-27DA-5350-C58CCEDDBC03}"/>
          </ac:cxnSpMkLst>
        </pc:cxnChg>
        <pc:cxnChg chg="mod">
          <ac:chgData name="Schilling Sabine HSLU W" userId="b0e2af5c-9187-4900-883a-c96514cd8e15" providerId="ADAL" clId="{5E51067F-94D7-505D-9735-0698788361AC}" dt="2026-05-04T13:03:32.506" v="1370" actId="14100"/>
          <ac:cxnSpMkLst>
            <pc:docMk/>
            <pc:sldMk cId="211450528" sldId="273"/>
            <ac:cxnSpMk id="16" creationId="{3DDE1A43-F7C7-70FB-7017-DCD87C3E884D}"/>
          </ac:cxnSpMkLst>
        </pc:cxnChg>
        <pc:cxnChg chg="mod">
          <ac:chgData name="Schilling Sabine HSLU W" userId="b0e2af5c-9187-4900-883a-c96514cd8e15" providerId="ADAL" clId="{5E51067F-94D7-505D-9735-0698788361AC}" dt="2026-05-06T19:19:42.567" v="1804" actId="1036"/>
          <ac:cxnSpMkLst>
            <pc:docMk/>
            <pc:sldMk cId="211450528" sldId="273"/>
            <ac:cxnSpMk id="37" creationId="{39566372-3240-2CF2-23D0-16FAC566260E}"/>
          </ac:cxnSpMkLst>
        </pc:cxnChg>
        <pc:cxnChg chg="add mod">
          <ac:chgData name="Schilling Sabine HSLU W" userId="b0e2af5c-9187-4900-883a-c96514cd8e15" providerId="ADAL" clId="{5E51067F-94D7-505D-9735-0698788361AC}" dt="2026-05-06T19:20:16.733" v="1809" actId="1076"/>
          <ac:cxnSpMkLst>
            <pc:docMk/>
            <pc:sldMk cId="211450528" sldId="273"/>
            <ac:cxnSpMk id="49" creationId="{B5C5DBDB-04E0-3BA1-F10B-880665C4834B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CA108-3915-9043-8428-B4BE4472B821}" type="datetimeFigureOut">
              <a:rPr lang="de-DE" smtClean="0"/>
              <a:t>06.05.26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B21A6D-3249-074E-BBD6-BCFA9536785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3666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165AD4-97DF-01F2-1987-71F2F275A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F12C5C2-CB0D-F12F-DE17-0FFE926109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60658DD-D8DF-C31B-64EE-BA489FC92D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C68812D-6268-7CDC-46BC-F3508F6B14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24415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ECEF21-0523-3245-A3FA-5D78C65A5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75FCB35-54D7-B745-9657-FF74691F5D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FB4C31-A070-E749-B7E9-CAD5936A1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06.05.26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E4BDDB1-76AF-F240-BE46-91A5D3ACF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D5B39-7F00-5F46-862B-911988D34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349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554BE9-111B-6643-8D26-3DD596FEA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B77CD3-C0E5-484B-AA36-1FAB6E941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8AE1DB2-DB10-BF4C-875B-98CAE475B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06.05.26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A9CC44-0F69-3747-A15E-BACC77796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55398D-D950-0B47-9A96-AABF434F0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1793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EDCAD7-127F-4A49-A00E-1493C9F4F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93E74A8-D7E8-5E47-9B26-F406CD93C6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EC5F87-4EBC-EC46-BC69-2EA7086C5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06.05.26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6F350A8-A53D-4D41-A2F9-A9AFF938D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18D8E7-39AC-0B46-987D-0950F1CD0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82666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2F7841-3B2B-604F-815C-62EC3AAFD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4B11C0-B11E-F540-81AE-52BAEDA20D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19245B3-41C8-C343-88E2-BE23F220ED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19DD4A7-C44D-9E43-BF1E-F13205AEE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06.05.26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44D8E9D-4D59-1F45-8E08-61D1A8B65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02EFA05-29DD-0641-A620-7019B4A07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8413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FB19D6-A6D2-AF40-A13C-FA7BE88B6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3ACBB3E-E485-5F42-BEC1-669009E5F8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E955C11-20E8-0348-A806-9CDE1284CE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2D82558-8DBB-944E-BBE0-6A7C6E8343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5F790C5-2F18-8E45-94AA-64F30C096B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BFF6501-64C2-C943-A8E9-C5E1B7491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06.05.26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95BB371-362A-B645-9C58-F190A3C77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3A6B4C4-5B8D-2241-A404-A2768A846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7205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CCD577-05C9-164F-939D-D883FFD2C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782072-9B65-E543-BC58-68B5955A0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06.05.26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4A1934E-231F-354D-B826-E7AD8E44F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3B6EAF-2961-3F47-B50E-4F501253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9639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11E0EEA-87BD-7E4D-BDD1-E816BF786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06.05.26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FA06A65-624C-EA4B-936E-DBCEC9D5E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82C9F7-D6EF-DC40-B7B5-4E48A4586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319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5B16D9-E2F7-324E-A99A-47378B28E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DB2D12D-5159-294F-8EA7-5F484B3488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C48EA53-C77F-FF44-992C-A85A3C70F2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BCC8764-0DBF-344B-912D-C3453B17B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06.05.26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220CBC3-1569-3744-9FB2-E12E54EAA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850A68D-38F0-CC4E-8DE1-604F3C84E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19603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F1231F-387B-1544-82E5-776081E5C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BE53984-9ED8-374C-9F9D-A49EB58D00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27C99D1-BB16-F749-B0AB-0A6B34283A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B531638-E076-814A-870C-37518A17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06.05.26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3AFDA6-425A-4C48-A64B-2FC02B245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FCAA1C2-0368-3F42-B248-087F91717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9740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49C4A6-64B8-904B-959B-523D63313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FA91367-9EA8-B14F-A1E3-0D7488D17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95B52B-F627-0243-95BF-CAF30A424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06.05.26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27D948D-68F0-444F-A060-6F3ECCFE0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557819-4A50-7C44-911B-582581B34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3412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E74BDCF-A048-7341-8942-C4374B8484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7FF7B22-2769-8144-A326-25919C1D0D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5B7B6A-9CEB-6C42-9C7B-F9ED38263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06.05.26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08C4A24-0F26-0840-A896-381E0715D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341010-5E03-FB4F-AE26-6B22D37B1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5877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18E2AF2-F7FF-0F4F-A4BE-509679ACA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2B262F-55F8-F14A-9AC3-B59BB1C137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1F1D78-192B-D042-83F5-BB397139B2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497422-92ED-3D47-BF28-17000E80E497}" type="datetimeFigureOut">
              <a:rPr lang="de-DE" smtClean="0"/>
              <a:t>06.05.26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94F689-F2F7-294B-8BF5-FD360E11C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D99928-F7B0-4B46-865C-13B1B95B4C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065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0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AC706-40C9-0C80-95BE-644E9791B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ruppieren 50">
            <a:extLst>
              <a:ext uri="{FF2B5EF4-FFF2-40B4-BE49-F238E27FC236}">
                <a16:creationId xmlns:a16="http://schemas.microsoft.com/office/drawing/2014/main" id="{44770507-76CA-649E-2FC1-1F7141E749B8}"/>
              </a:ext>
            </a:extLst>
          </p:cNvPr>
          <p:cNvGrpSpPr/>
          <p:nvPr/>
        </p:nvGrpSpPr>
        <p:grpSpPr>
          <a:xfrm>
            <a:off x="763420" y="668463"/>
            <a:ext cx="10665159" cy="3629498"/>
            <a:chOff x="1360460" y="316483"/>
            <a:chExt cx="10665159" cy="3629498"/>
          </a:xfrm>
        </p:grpSpPr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C1981550-83BB-9397-710A-8F2694DD3EA9}"/>
                </a:ext>
              </a:extLst>
            </p:cNvPr>
            <p:cNvSpPr txBox="1"/>
            <p:nvPr/>
          </p:nvSpPr>
          <p:spPr>
            <a:xfrm>
              <a:off x="6117376" y="316483"/>
              <a:ext cx="5908243" cy="1938992"/>
            </a:xfrm>
            <a:prstGeom prst="rect">
              <a:avLst/>
            </a:prstGeom>
            <a:noFill/>
            <a:ln w="12700">
              <a:solidFill>
                <a:schemeClr val="bg1">
                  <a:lumMod val="65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algn="ctr"/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                         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Tests of central tendencies</a:t>
              </a: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</a:t>
              </a:r>
              <a:endParaRPr lang="en-GB" sz="120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7C5757D2-6CA8-B513-DC52-7F09F857A4C7}"/>
                    </a:ext>
                  </a:extLst>
                </p:cNvPr>
                <p:cNvSpPr txBox="1"/>
                <p:nvPr/>
              </p:nvSpPr>
              <p:spPr>
                <a:xfrm>
                  <a:off x="6211369" y="1842326"/>
                  <a:ext cx="5701592" cy="27699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algn="ctr"/>
                  <a:r>
                    <a:rPr lang="en-US" sz="1200" dirty="0">
                      <a:ea typeface="Cambria Math" panose="02040503050406030204" pitchFamily="18" charset="0"/>
                    </a:rPr>
                    <a:t>non-parametric tests: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a14:m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wilcox.test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(),</a:t>
                  </a:r>
                  <a:r>
                    <a:rPr lang="en-GB" sz="1200" dirty="0"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&gt;2</m:t>
                      </m:r>
                    </m:oMath>
                  </a14:m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kruskal.test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</a:t>
                  </a:r>
                </a:p>
              </p:txBody>
            </p:sp>
          </mc:Choice>
          <mc:Fallback xmlns="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7C5757D2-6CA8-B513-DC52-7F09F857A4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1369" y="1842326"/>
                  <a:ext cx="5701592" cy="276999"/>
                </a:xfrm>
                <a:prstGeom prst="rect">
                  <a:avLst/>
                </a:prstGeom>
                <a:blipFill>
                  <a:blip r:embed="rId3"/>
                  <a:stretch>
                    <a:fillRect b="-17391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B1B10A6C-E857-2AC7-9CD4-9F6187F56B57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1360460" y="2508787"/>
              <a:ext cx="4329205" cy="646331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Numeric  predictor of 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class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“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numeric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or “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integer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  <a:b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</a:br>
              <a:endPara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</a:t>
              </a:r>
              <a:r>
                <a:rPr lang="en-GB" sz="1200" noProof="0" dirty="0" err="1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umeric</a:t>
              </a:r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response of 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class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“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numeric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</a:t>
              </a:r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or “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integer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5B16A604-2B7C-E85E-0A91-CC96741BDB01}"/>
                    </a:ext>
                  </a:extLst>
                </p:cNvPr>
                <p:cNvSpPr txBox="1"/>
                <p:nvPr/>
              </p:nvSpPr>
              <p:spPr>
                <a:xfrm>
                  <a:off x="6211570" y="2526658"/>
                  <a:ext cx="5719853" cy="646331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lvl="1"/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Simple linear regression:  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lm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</a:t>
                  </a:r>
                  <a:b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</a:b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Spearman rank </a:t>
                  </a:r>
                  <a:r>
                    <a:rPr lang="en-GB" sz="1200" dirty="0" err="1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correlation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:visstat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(…,</a:t>
                  </a:r>
                  <a:r>
                    <a:rPr lang="en-GB" sz="1200" b="1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do_regression</a:t>
                  </a:r>
                  <a:r>
                    <a:rPr lang="en-GB" sz="1200" b="1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=FALSE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)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ourier New" panose="02070309020205020404" pitchFamily="49" charset="0"/>
                        </a:rPr>
                        <m:t>→</m:t>
                      </m:r>
                    </m:oMath>
                  </a14:m>
                  <a:endParaRPr lang="en-US" sz="1200" b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endParaRPr>
                </a:p>
                <a:p>
                  <a:pPr lvl="1"/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               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cor.test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(…,method=“spearman”)</a:t>
                  </a:r>
                </a:p>
              </p:txBody>
            </p:sp>
          </mc:Choice>
          <mc:Fallback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5B16A604-2B7C-E85E-0A91-CC96741BDB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1570" y="2526658"/>
                  <a:ext cx="5719853" cy="646331"/>
                </a:xfrm>
                <a:prstGeom prst="rect">
                  <a:avLst/>
                </a:prstGeom>
                <a:blipFill>
                  <a:blip r:embed="rId4"/>
                  <a:stretch>
                    <a:fillRect b="-5769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283DBAF9-59AF-350E-62E3-D9DC7ADACC0D}"/>
                    </a:ext>
                  </a:extLst>
                </p:cNvPr>
                <p:cNvSpPr txBox="1"/>
                <p:nvPr/>
              </p:nvSpPr>
              <p:spPr>
                <a:xfrm>
                  <a:off x="1369665" y="502733"/>
                  <a:ext cx="4320000" cy="830997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endPara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</a:t>
                  </a:r>
                  <a:r>
                    <a:rPr lang="en-GB" sz="1200" noProof="0" dirty="0" err="1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ategorical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predictor of 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with </a:t>
                  </a:r>
                  <a14:m>
                    <m:oMath xmlns:m="http://schemas.openxmlformats.org/officeDocument/2006/math"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N</a:t>
                  </a:r>
                  <a:r>
                    <a:rPr lang="en-GB" sz="1200" noProof="0" dirty="0" err="1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umeric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response of 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numeric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or “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integer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</a:p>
                <a:p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283DBAF9-59AF-350E-62E3-D9DC7ADACC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9665" y="502733"/>
                  <a:ext cx="4320000" cy="83099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" name="Gerade Verbindung mit Pfeil 1">
              <a:extLst>
                <a:ext uri="{FF2B5EF4-FFF2-40B4-BE49-F238E27FC236}">
                  <a16:creationId xmlns:a16="http://schemas.microsoft.com/office/drawing/2014/main" id="{3C415C7F-748B-C1ED-EE4E-BD64FBAA59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85211" y="831821"/>
              <a:ext cx="503294" cy="119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85AF650F-788E-C688-388F-D4F5F7ACE59B}"/>
                </a:ext>
              </a:extLst>
            </p:cNvPr>
            <p:cNvSpPr txBox="1"/>
            <p:nvPr/>
          </p:nvSpPr>
          <p:spPr>
            <a:xfrm>
              <a:off x="1369664" y="3483198"/>
              <a:ext cx="4329204" cy="4616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Both variables  of  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class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“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factor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“</a:t>
              </a:r>
            </a:p>
            <a:p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</a:t>
              </a:r>
              <a:endPara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39566372-3240-2CF2-23D0-16FAC566260E}"/>
                </a:ext>
              </a:extLst>
            </p:cNvPr>
            <p:cNvCxnSpPr>
              <a:cxnSpLocks/>
              <a:stCxn id="36" idx="3"/>
              <a:endCxn id="40" idx="1"/>
            </p:cNvCxnSpPr>
            <p:nvPr/>
          </p:nvCxnSpPr>
          <p:spPr>
            <a:xfrm flipV="1">
              <a:off x="5698868" y="3711981"/>
              <a:ext cx="494242" cy="205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feld 39">
              <a:extLst>
                <a:ext uri="{FF2B5EF4-FFF2-40B4-BE49-F238E27FC236}">
                  <a16:creationId xmlns:a16="http://schemas.microsoft.com/office/drawing/2014/main" id="{24589715-130D-1803-FC06-FD5A8DB9FD73}"/>
                </a:ext>
              </a:extLst>
            </p:cNvPr>
            <p:cNvSpPr txBox="1"/>
            <p:nvPr/>
          </p:nvSpPr>
          <p:spPr>
            <a:xfrm>
              <a:off x="6193110" y="3477981"/>
              <a:ext cx="5719851" cy="4680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algn="ctr"/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           Comparing proportions:</a:t>
              </a:r>
              <a:b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</a:b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</a:t>
              </a:r>
              <a:r>
                <a:rPr lang="en-GB" sz="120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chisq.test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(), </a:t>
              </a:r>
              <a:r>
                <a:rPr lang="en-GB" sz="120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fisher.test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C52BE3A2-0408-78DD-3115-287BDBDD4277}"/>
                    </a:ext>
                  </a:extLst>
                </p:cNvPr>
                <p:cNvSpPr txBox="1"/>
                <p:nvPr/>
              </p:nvSpPr>
              <p:spPr>
                <a:xfrm>
                  <a:off x="6193111" y="693322"/>
                  <a:ext cx="5664357" cy="276999"/>
                </a:xfrm>
                <a:prstGeom prst="rect">
                  <a:avLst/>
                </a:prstGeom>
                <a:solidFill>
                  <a:schemeClr val="accent4">
                    <a:alpha val="2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algn="ctr"/>
                  <a:r>
                    <a:rPr lang="en-US" sz="1200" b="0" dirty="0">
                      <a:ea typeface="Cambria Math" panose="02040503050406030204" pitchFamily="18" charset="0"/>
                    </a:rPr>
                    <a:t> parametric tests: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a14:m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t.test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(),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&gt;2</m:t>
                      </m:r>
                    </m:oMath>
                  </a14:m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aov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(),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oneway.test</a:t>
                  </a:r>
                  <a:endPara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endParaRPr>
                </a:p>
              </p:txBody>
            </p:sp>
          </mc:Choice>
          <mc:Fallback xmlns="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C52BE3A2-0408-78DD-3115-287BDBDD42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3111" y="693322"/>
                  <a:ext cx="5664357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16667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feld 4">
                  <a:extLst>
                    <a:ext uri="{FF2B5EF4-FFF2-40B4-BE49-F238E27FC236}">
                      <a16:creationId xmlns:a16="http://schemas.microsoft.com/office/drawing/2014/main" id="{746F3D3D-30AE-C976-B294-DB7D9B8FB409}"/>
                    </a:ext>
                  </a:extLst>
                </p:cNvPr>
                <p:cNvSpPr txBox="1"/>
                <p:nvPr/>
              </p:nvSpPr>
              <p:spPr>
                <a:xfrm>
                  <a:off x="1369665" y="1598093"/>
                  <a:ext cx="4329205" cy="646331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predictor of 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with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  <a:p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response of 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 and</a:t>
                  </a:r>
                  <a:b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</a:b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                                                        “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ordered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with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𝑗</m:t>
                      </m:r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</p:txBody>
            </p:sp>
          </mc:Choice>
          <mc:Fallback xmlns="">
            <p:sp>
              <p:nvSpPr>
                <p:cNvPr id="5" name="Textfeld 4">
                  <a:extLst>
                    <a:ext uri="{FF2B5EF4-FFF2-40B4-BE49-F238E27FC236}">
                      <a16:creationId xmlns:a16="http://schemas.microsoft.com/office/drawing/2014/main" id="{746F3D3D-30AE-C976-B294-DB7D9B8FB4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9665" y="1598093"/>
                  <a:ext cx="4329205" cy="646331"/>
                </a:xfrm>
                <a:prstGeom prst="rect">
                  <a:avLst/>
                </a:prstGeom>
                <a:blipFill>
                  <a:blip r:embed="rId7"/>
                  <a:stretch>
                    <a:fillRect b="-7692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Gerade Verbindung mit Pfeil 9">
              <a:extLst>
                <a:ext uri="{FF2B5EF4-FFF2-40B4-BE49-F238E27FC236}">
                  <a16:creationId xmlns:a16="http://schemas.microsoft.com/office/drawing/2014/main" id="{70C9F5FC-AF03-27DA-5350-C58CCEDDBC03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5689665" y="918232"/>
              <a:ext cx="512499" cy="96983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3DDE1A43-F7C7-70FB-7017-DCD87C3E884D}"/>
                </a:ext>
              </a:extLst>
            </p:cNvPr>
            <p:cNvCxnSpPr>
              <a:cxnSpLocks/>
            </p:cNvCxnSpPr>
            <p:nvPr/>
          </p:nvCxnSpPr>
          <p:spPr>
            <a:xfrm>
              <a:off x="5698870" y="1931390"/>
              <a:ext cx="512499" cy="390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B5C5DBDB-04E0-3BA1-F10B-880665C4834B}"/>
                </a:ext>
              </a:extLst>
            </p:cNvPr>
            <p:cNvCxnSpPr>
              <a:cxnSpLocks/>
            </p:cNvCxnSpPr>
            <p:nvPr/>
          </p:nvCxnSpPr>
          <p:spPr>
            <a:xfrm>
              <a:off x="5680608" y="2797386"/>
              <a:ext cx="512499" cy="390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14505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solidFill>
          <a:schemeClr val="accent4">
            <a:alpha val="19758"/>
          </a:schemeClr>
        </a:solidFill>
        <a:ln w="12700">
          <a:noFill/>
        </a:ln>
      </a:spPr>
      <a:bodyPr wrap="square">
        <a:spAutoFit/>
      </a:bodyPr>
      <a:lstStyle>
        <a:defPPr algn="ctr">
          <a:defRPr sz="800" noProof="0" dirty="0" smtClean="0">
            <a:latin typeface="Calibri" panose="020F0502020204030204" pitchFamily="34" charset="0"/>
            <a:ea typeface="Cambria Math" panose="02040503050406030204" pitchFamily="18" charset="0"/>
            <a:cs typeface="Calibri" panose="020F050202020403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628DB25-49C7-9C48-9DEB-221973F78786}">
  <we:reference id="wa104381909" version="3.1.0.0" store="en-US" storeType="OMEX"/>
  <we:alternateReferences>
    <we:reference id="WA104381909" version="3.1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168</Words>
  <Application>Microsoft Macintosh PowerPoint</Application>
  <PresentationFormat>Breitbild</PresentationFormat>
  <Paragraphs>25</Paragraphs>
  <Slides>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7" baseType="lpstr">
      <vt:lpstr>Arial</vt:lpstr>
      <vt:lpstr>Calibri</vt:lpstr>
      <vt:lpstr>Calibri Light</vt:lpstr>
      <vt:lpstr>Cambria Math</vt:lpstr>
      <vt:lpstr>Courier New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Decision trees</dc:title>
  <dc:creator>Schilling Sabine HSLU W</dc:creator>
  <cp:lastModifiedBy>Schilling Sabine HSLU W</cp:lastModifiedBy>
  <cp:revision>38</cp:revision>
  <dcterms:created xsi:type="dcterms:W3CDTF">2023-05-08T12:12:17Z</dcterms:created>
  <dcterms:modified xsi:type="dcterms:W3CDTF">2026-05-06T19:32:09Z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8b0afbd-3cf7-4707-aee4-8dc9d855de29_Enabled">
    <vt:lpwstr>true</vt:lpwstr>
  </property>
  <property fmtid="{D5CDD505-2E9C-101B-9397-08002B2CF9AE}" pid="3" name="MSIP_Label_e8b0afbd-3cf7-4707-aee4-8dc9d855de29_SetDate">
    <vt:lpwstr>2025-05-10T09:29:47Z</vt:lpwstr>
  </property>
  <property fmtid="{D5CDD505-2E9C-101B-9397-08002B2CF9AE}" pid="4" name="MSIP_Label_e8b0afbd-3cf7-4707-aee4-8dc9d855de29_Method">
    <vt:lpwstr>Privileged</vt:lpwstr>
  </property>
  <property fmtid="{D5CDD505-2E9C-101B-9397-08002B2CF9AE}" pid="5" name="MSIP_Label_e8b0afbd-3cf7-4707-aee4-8dc9d855de29_Name">
    <vt:lpwstr>intern</vt:lpwstr>
  </property>
  <property fmtid="{D5CDD505-2E9C-101B-9397-08002B2CF9AE}" pid="6" name="MSIP_Label_e8b0afbd-3cf7-4707-aee4-8dc9d855de29_SiteId">
    <vt:lpwstr>75a34008-d7d1-4924-8e78-31fea86f6e68</vt:lpwstr>
  </property>
  <property fmtid="{D5CDD505-2E9C-101B-9397-08002B2CF9AE}" pid="7" name="MSIP_Label_e8b0afbd-3cf7-4707-aee4-8dc9d855de29_ActionId">
    <vt:lpwstr>8647766f-e017-41ca-968f-3e61e90fbd83</vt:lpwstr>
  </property>
  <property fmtid="{D5CDD505-2E9C-101B-9397-08002B2CF9AE}" pid="8" name="MSIP_Label_e8b0afbd-3cf7-4707-aee4-8dc9d855de29_ContentBits">
    <vt:lpwstr>0</vt:lpwstr>
  </property>
  <property fmtid="{D5CDD505-2E9C-101B-9397-08002B2CF9AE}" pid="9" name="MSIP_Label_e8b0afbd-3cf7-4707-aee4-8dc9d855de29_Tag">
    <vt:lpwstr>50, 0, 1, 1</vt:lpwstr>
  </property>
</Properties>
</file>