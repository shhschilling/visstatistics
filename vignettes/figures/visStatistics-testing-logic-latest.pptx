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85725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0" userDrawn="1">
          <p15:clr>
            <a:srgbClr val="A4A3A4"/>
          </p15:clr>
        </p15:guide>
        <p15:guide id="2" pos="4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8BAD7B-80BF-FD4F-AFFC-39F568301D0F}" v="137" dt="2026-09-28T17:14:07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86398"/>
  </p:normalViewPr>
  <p:slideViewPr>
    <p:cSldViewPr snapToGrid="0" showGuides="1">
      <p:cViewPr>
        <p:scale>
          <a:sx n="87" d="100"/>
          <a:sy n="87" d="100"/>
        </p:scale>
        <p:origin x="448" y="144"/>
      </p:cViewPr>
      <p:guideLst>
        <p:guide orient="horz" pos="2700"/>
        <p:guide pos="4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lling Sabine HSLU W" userId="b0e2af5c-9187-4900-883a-c96514cd8e15" providerId="ADAL" clId="{5E51067F-94D7-505D-9735-0698788361AC}"/>
    <pc:docChg chg="undo custSel modSld">
      <pc:chgData name="Schilling Sabine HSLU W" userId="b0e2af5c-9187-4900-883a-c96514cd8e15" providerId="ADAL" clId="{5E51067F-94D7-505D-9735-0698788361AC}" dt="2026-09-28T17:16:30.112" v="487" actId="20577"/>
      <pc:docMkLst>
        <pc:docMk/>
      </pc:docMkLst>
      <pc:sldChg chg="modSp mod">
        <pc:chgData name="Schilling Sabine HSLU W" userId="b0e2af5c-9187-4900-883a-c96514cd8e15" providerId="ADAL" clId="{5E51067F-94D7-505D-9735-0698788361AC}" dt="2026-09-28T17:16:30.112" v="487" actId="20577"/>
        <pc:sldMkLst>
          <pc:docMk/>
          <pc:sldMk cId="1491121567" sldId="256"/>
        </pc:sldMkLst>
        <pc:spChg chg="mod">
          <ac:chgData name="Schilling Sabine HSLU W" userId="b0e2af5c-9187-4900-883a-c96514cd8e15" providerId="ADAL" clId="{5E51067F-94D7-505D-9735-0698788361AC}" dt="2026-09-28T16:32:05.616" v="393" actId="1035"/>
          <ac:spMkLst>
            <pc:docMk/>
            <pc:sldMk cId="1491121567" sldId="256"/>
            <ac:spMk id="10" creationId="{133AC75A-068C-441E-95D2-3567E34CA38C}"/>
          </ac:spMkLst>
        </pc:spChg>
        <pc:spChg chg="mod">
          <ac:chgData name="Schilling Sabine HSLU W" userId="b0e2af5c-9187-4900-883a-c96514cd8e15" providerId="ADAL" clId="{5E51067F-94D7-505D-9735-0698788361AC}" dt="2026-09-28T17:16:30.112" v="487" actId="20577"/>
          <ac:spMkLst>
            <pc:docMk/>
            <pc:sldMk cId="1491121567" sldId="256"/>
            <ac:spMk id="13" creationId="{3327C1BD-DB28-4403-94D4-A0301BE24380}"/>
          </ac:spMkLst>
        </pc:spChg>
        <pc:spChg chg="mod">
          <ac:chgData name="Schilling Sabine HSLU W" userId="b0e2af5c-9187-4900-883a-c96514cd8e15" providerId="ADAL" clId="{5E51067F-94D7-505D-9735-0698788361AC}" dt="2026-09-28T16:31:12.967" v="354" actId="20577"/>
          <ac:spMkLst>
            <pc:docMk/>
            <pc:sldMk cId="1491121567" sldId="256"/>
            <ac:spMk id="15" creationId="{5CF7FB9D-D19A-4A07-B626-98D186E83D86}"/>
          </ac:spMkLst>
        </pc:spChg>
        <pc:spChg chg="mod">
          <ac:chgData name="Schilling Sabine HSLU W" userId="b0e2af5c-9187-4900-883a-c96514cd8e15" providerId="ADAL" clId="{5E51067F-94D7-505D-9735-0698788361AC}" dt="2026-09-28T16:31:46.809" v="362" actId="20577"/>
          <ac:spMkLst>
            <pc:docMk/>
            <pc:sldMk cId="1491121567" sldId="256"/>
            <ac:spMk id="16" creationId="{3EB4457A-2D1B-40C6-8800-51CB795266B3}"/>
          </ac:spMkLst>
        </pc:spChg>
        <pc:spChg chg="mod">
          <ac:chgData name="Schilling Sabine HSLU W" userId="b0e2af5c-9187-4900-883a-c96514cd8e15" providerId="ADAL" clId="{5E51067F-94D7-505D-9735-0698788361AC}" dt="2026-09-28T15:56:26.735" v="73" actId="20577"/>
          <ac:spMkLst>
            <pc:docMk/>
            <pc:sldMk cId="1491121567" sldId="256"/>
            <ac:spMk id="19" creationId="{8BAB12D1-D759-436F-AE84-BA3953DB3832}"/>
          </ac:spMkLst>
        </pc:spChg>
        <pc:spChg chg="mod">
          <ac:chgData name="Schilling Sabine HSLU W" userId="b0e2af5c-9187-4900-883a-c96514cd8e15" providerId="ADAL" clId="{5E51067F-94D7-505D-9735-0698788361AC}" dt="2026-09-28T15:56:29.989" v="75" actId="20577"/>
          <ac:spMkLst>
            <pc:docMk/>
            <pc:sldMk cId="1491121567" sldId="256"/>
            <ac:spMk id="20" creationId="{F24C98E8-DA27-44FD-8EC4-C938003F1034}"/>
          </ac:spMkLst>
        </pc:spChg>
        <pc:spChg chg="mod">
          <ac:chgData name="Schilling Sabine HSLU W" userId="b0e2af5c-9187-4900-883a-c96514cd8e15" providerId="ADAL" clId="{5E51067F-94D7-505D-9735-0698788361AC}" dt="2026-09-28T15:56:35.009" v="77" actId="20577"/>
          <ac:spMkLst>
            <pc:docMk/>
            <pc:sldMk cId="1491121567" sldId="256"/>
            <ac:spMk id="28" creationId="{1E7B4358-0250-441D-AC17-8BD40551AA0F}"/>
          </ac:spMkLst>
        </pc:spChg>
        <pc:spChg chg="mod">
          <ac:chgData name="Schilling Sabine HSLU W" userId="b0e2af5c-9187-4900-883a-c96514cd8e15" providerId="ADAL" clId="{5E51067F-94D7-505D-9735-0698788361AC}" dt="2026-09-28T15:56:39.680" v="79" actId="20577"/>
          <ac:spMkLst>
            <pc:docMk/>
            <pc:sldMk cId="1491121567" sldId="256"/>
            <ac:spMk id="29" creationId="{2E424959-2AB7-421B-B1EE-DE6AFC1A2905}"/>
          </ac:spMkLst>
        </pc:spChg>
        <pc:spChg chg="mod">
          <ac:chgData name="Schilling Sabine HSLU W" userId="b0e2af5c-9187-4900-883a-c96514cd8e15" providerId="ADAL" clId="{5E51067F-94D7-505D-9735-0698788361AC}" dt="2026-09-28T16:53:04.180" v="483" actId="20577"/>
          <ac:spMkLst>
            <pc:docMk/>
            <pc:sldMk cId="1491121567" sldId="256"/>
            <ac:spMk id="30" creationId="{C6840D8B-7FBA-4104-92E2-3C789511B6D5}"/>
          </ac:spMkLst>
        </pc:spChg>
        <pc:spChg chg="mod">
          <ac:chgData name="Schilling Sabine HSLU W" userId="b0e2af5c-9187-4900-883a-c96514cd8e15" providerId="ADAL" clId="{5E51067F-94D7-505D-9735-0698788361AC}" dt="2026-09-28T16:52:10.170" v="478" actId="58"/>
          <ac:spMkLst>
            <pc:docMk/>
            <pc:sldMk cId="1491121567" sldId="256"/>
            <ac:spMk id="31" creationId="{8B349720-9083-4459-B8A4-049929938172}"/>
          </ac:spMkLst>
        </pc:spChg>
        <pc:spChg chg="mod">
          <ac:chgData name="Schilling Sabine HSLU W" userId="b0e2af5c-9187-4900-883a-c96514cd8e15" providerId="ADAL" clId="{5E51067F-94D7-505D-9735-0698788361AC}" dt="2026-09-28T16:52:46.569" v="482" actId="14100"/>
          <ac:spMkLst>
            <pc:docMk/>
            <pc:sldMk cId="1491121567" sldId="256"/>
            <ac:spMk id="62" creationId="{B172DF48-1373-C86E-51B7-3EC651C596E1}"/>
          </ac:spMkLst>
        </pc:spChg>
        <pc:cxnChg chg="mod">
          <ac:chgData name="Schilling Sabine HSLU W" userId="b0e2af5c-9187-4900-883a-c96514cd8e15" providerId="ADAL" clId="{5E51067F-94D7-505D-9735-0698788361AC}" dt="2026-09-28T16:31:56.826" v="363" actId="14100"/>
          <ac:cxnSpMkLst>
            <pc:docMk/>
            <pc:sldMk cId="1491121567" sldId="256"/>
            <ac:cxnSpMk id="67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8T16:32:30.091" v="403" actId="14100"/>
          <ac:cxnSpMkLst>
            <pc:docMk/>
            <pc:sldMk cId="1491121567" sldId="256"/>
            <ac:cxnSpMk id="69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8T16:32:23.137" v="402" actId="1038"/>
          <ac:cxnSpMkLst>
            <pc:docMk/>
            <pc:sldMk cId="1491121567" sldId="256"/>
            <ac:cxnSpMk id="72" creationId="{00000000-0000-0000-0000-000000000000}"/>
          </ac:cxnSpMkLst>
        </pc:cxnChg>
        <pc:cxnChg chg="mod">
          <ac:chgData name="Schilling Sabine HSLU W" userId="b0e2af5c-9187-4900-883a-c96514cd8e15" providerId="ADAL" clId="{5E51067F-94D7-505D-9735-0698788361AC}" dt="2026-09-28T16:32:23.137" v="402" actId="1038"/>
          <ac:cxnSpMkLst>
            <pc:docMk/>
            <pc:sldMk cId="1491121567" sldId="256"/>
            <ac:cxnSpMk id="73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a">
            <a:extLst>
              <a:ext uri="{FF2B5EF4-FFF2-40B4-BE49-F238E27FC236}">
                <a16:creationId xmlns:a16="http://schemas.microsoft.com/office/drawing/2014/main" id="{133AC75A-068C-441E-95D2-3567E34CA38C}"/>
              </a:ext>
            </a:extLst>
          </p:cNvPr>
          <p:cNvSpPr>
            <a:spLocks noGrp="1"/>
          </p:cNvSpPr>
          <p:nvPr/>
        </p:nvSpPr>
        <p:spPr>
          <a:xfrm>
            <a:off x="3969937" y="521261"/>
            <a:ext cx="7286625" cy="6477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Categorical predictor </a:t>
            </a:r>
            <a:r>
              <a:rPr lang="en-US" sz="1725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x</a:t>
            </a:r>
            <a:r>
              <a:rPr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of class “factor” with k levels/groups</a:t>
            </a:r>
            <a:r>
              <a:rPr lang="en-US"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 =1,…k </a:t>
            </a:r>
            <a:endParaRPr sz="1725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7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Numeric response </a:t>
            </a:r>
            <a:r>
              <a:rPr sz="1725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y </a:t>
            </a:r>
            <a:r>
              <a:rPr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of class “numeric” or “integer”</a:t>
            </a:r>
            <a:r>
              <a:rPr lang="en-US"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with </a:t>
            </a:r>
            <a:r>
              <a:rPr lang="de-CH" sz="172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</a:t>
            </a:r>
            <a:r>
              <a:rPr lang="de-CH"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CH" sz="172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subgroups</a:t>
            </a:r>
            <a:r>
              <a:rPr lang="de-CH"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de-CH" sz="172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y_g</a:t>
            </a:r>
            <a:r>
              <a:rPr lang="de-CH" sz="172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725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model residuals">
            <a:extLst>
              <a:ext uri="{FF2B5EF4-FFF2-40B4-BE49-F238E27FC236}">
                <a16:creationId xmlns:a16="http://schemas.microsoft.com/office/drawing/2014/main" id="{AFE08EEA-69B6-434C-A12F-0043FF35E8C0}"/>
              </a:ext>
            </a:extLst>
          </p:cNvPr>
          <p:cNvSpPr>
            <a:spLocks noGrp="1"/>
          </p:cNvSpPr>
          <p:nvPr/>
        </p:nvSpPr>
        <p:spPr>
          <a:xfrm>
            <a:off x="5048250" y="1571625"/>
            <a:ext cx="5143500" cy="55245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 &lt;- </a:t>
            </a:r>
            <a:r>
              <a:rPr sz="1575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rstandard</a:t>
            </a:r>
            <a:r>
              <a:rPr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575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lm</a:t>
            </a:r>
            <a:r>
              <a:rPr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(y ~ </a:t>
            </a:r>
            <a:r>
              <a:rPr lang="en-US"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x</a:t>
            </a:r>
            <a:r>
              <a:rPr sz="157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))</a:t>
            </a:r>
          </a:p>
        </p:txBody>
      </p:sp>
      <p:cxnSp>
        <p:nvCxnSpPr>
          <p:cNvPr id="67" name="Gerade Verbindung mit Pfeil 66"/>
          <p:cNvCxnSpPr>
            <a:cxnSpLocks/>
            <a:endCxn id="11" idx="0"/>
          </p:cNvCxnSpPr>
          <p:nvPr/>
        </p:nvCxnSpPr>
        <p:spPr>
          <a:xfrm>
            <a:off x="7620000" y="1181100"/>
            <a:ext cx="0" cy="39052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13" name="Brown Forsythe first gate">
            <a:extLst>
              <a:ext uri="{FF2B5EF4-FFF2-40B4-BE49-F238E27FC236}">
                <a16:creationId xmlns:a16="http://schemas.microsoft.com/office/drawing/2014/main" id="{3327C1BD-DB28-4403-94D4-A0301BE24380}"/>
              </a:ext>
            </a:extLst>
          </p:cNvPr>
          <p:cNvSpPr>
            <a:spLocks noGrp="1"/>
          </p:cNvSpPr>
          <p:nvPr/>
        </p:nvSpPr>
        <p:spPr>
          <a:xfrm>
            <a:off x="5078394" y="2293938"/>
            <a:ext cx="5095875" cy="792162"/>
          </a:xfrm>
          <a:prstGeom prst="rect">
            <a:avLst/>
          </a:prstGeom>
          <a:solidFill>
            <a:srgbClr val="E2F0D9"/>
          </a:solidFill>
          <a:ln w="9525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de-CH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Homoscedasticity</a:t>
            </a:r>
            <a:r>
              <a:rPr lang="de-CH"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de-CH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Median-</a:t>
            </a:r>
            <a:r>
              <a:rPr lang="de-CH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centred</a:t>
            </a:r>
            <a:r>
              <a:rPr lang="de-CH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CH"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Levene (L)– </a:t>
            </a:r>
            <a:r>
              <a:rPr lang="de-CH" sz="18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</a:t>
            </a:r>
            <a:endParaRPr lang="de-CH"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de-CH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(</a:t>
            </a:r>
            <a:r>
              <a:rPr lang="de-CH" dirty="0">
                <a:solidFill>
                  <a:srgbClr val="000000"/>
                </a:solidFill>
                <a:ea typeface="Calibri"/>
                <a:cs typeface="Courier New" panose="02070309020205020404" pitchFamily="49" charset="0"/>
              </a:rPr>
              <a:t>Brown-Forsythe)</a:t>
            </a:r>
            <a:r>
              <a:rPr lang="de-CH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: </a:t>
            </a:r>
            <a:r>
              <a:rPr lang="de-CH" dirty="0" err="1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levene.test</a:t>
            </a:r>
            <a:r>
              <a:rPr lang="de-CH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(</a:t>
            </a:r>
            <a:r>
              <a:rPr lang="de-CH" dirty="0">
                <a:solidFill>
                  <a:srgbClr val="000000"/>
                </a:solidFill>
                <a:latin typeface="Courier New"/>
                <a:ea typeface="Calibri"/>
                <a:cs typeface="Courier New"/>
              </a:rPr>
              <a:t>r</a:t>
            </a:r>
            <a:r>
              <a:rPr lang="de-CH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~ x</a:t>
            </a:r>
            <a:r>
              <a:rPr lang="de-CH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)</a:t>
            </a:r>
            <a:r>
              <a:rPr lang="de-CH" sz="180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 </a:t>
            </a:r>
            <a:endParaRPr lang="de-CH" dirty="0">
              <a:solidFill>
                <a:srgbClr val="000000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 algn="ctr"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69" name="Gerade Verbindung mit Pfeil 68"/>
          <p:cNvCxnSpPr>
            <a:cxnSpLocks/>
            <a:stCxn id="11" idx="2"/>
            <a:endCxn id="13" idx="0"/>
          </p:cNvCxnSpPr>
          <p:nvPr/>
        </p:nvCxnSpPr>
        <p:spPr>
          <a:xfrm>
            <a:off x="7620000" y="2124075"/>
            <a:ext cx="6332" cy="169863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15" name="pooled normality">
            <a:extLst>
              <a:ext uri="{FF2B5EF4-FFF2-40B4-BE49-F238E27FC236}">
                <a16:creationId xmlns:a16="http://schemas.microsoft.com/office/drawing/2014/main" id="{5CF7FB9D-D19A-4A07-B626-98D186E83D86}"/>
              </a:ext>
            </a:extLst>
          </p:cNvPr>
          <p:cNvSpPr>
            <a:spLocks noGrp="1"/>
          </p:cNvSpPr>
          <p:nvPr/>
        </p:nvSpPr>
        <p:spPr>
          <a:xfrm>
            <a:off x="381001" y="4029075"/>
            <a:ext cx="7185420" cy="600519"/>
          </a:xfrm>
          <a:prstGeom prst="rect">
            <a:avLst/>
          </a:prstGeom>
          <a:solidFill>
            <a:srgbClr val="FBE5D6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</a:t>
            </a: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omoscedastic branch</a:t>
            </a:r>
            <a: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p</a:t>
            </a: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ooled </a:t>
            </a:r>
            <a: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Shapiro-Wilk (SW) </a:t>
            </a: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residual normality: </a:t>
            </a:r>
            <a:r>
              <a:rPr sz="1650" dirty="0" err="1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shapiro.test</a:t>
            </a:r>
            <a:r>
              <a:rPr sz="1650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(r)</a:t>
            </a:r>
          </a:p>
        </p:txBody>
      </p:sp>
      <p:sp>
        <p:nvSpPr>
          <p:cNvPr id="16" name="groupwise normality">
            <a:extLst>
              <a:ext uri="{FF2B5EF4-FFF2-40B4-BE49-F238E27FC236}">
                <a16:creationId xmlns:a16="http://schemas.microsoft.com/office/drawing/2014/main" id="{3EB4457A-2D1B-40C6-8800-51CB795266B3}"/>
              </a:ext>
            </a:extLst>
          </p:cNvPr>
          <p:cNvSpPr>
            <a:spLocks noGrp="1"/>
          </p:cNvSpPr>
          <p:nvPr/>
        </p:nvSpPr>
        <p:spPr>
          <a:xfrm>
            <a:off x="7715251" y="4029075"/>
            <a:ext cx="6477000" cy="666750"/>
          </a:xfrm>
          <a:prstGeom prst="rect">
            <a:avLst/>
          </a:prstGeom>
          <a:solidFill>
            <a:srgbClr val="FBE5D6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</a:t>
            </a: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eteroscedastic branch</a:t>
            </a:r>
            <a: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g</a:t>
            </a: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roup-wise Shapiro–Wilk </a:t>
            </a:r>
            <a: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(SW) </a:t>
            </a: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normality</a:t>
            </a:r>
            <a: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b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de-CH" sz="1650" dirty="0" err="1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shapiro.test</a:t>
            </a:r>
            <a:r>
              <a:rPr lang="de-CH" sz="1650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(</a:t>
            </a:r>
            <a:r>
              <a:rPr lang="de-CH" sz="1650" dirty="0" err="1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y</a:t>
            </a:r>
            <a:r>
              <a:rPr lang="de-CH" sz="1650" baseline="-25000" dirty="0" err="1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g</a:t>
            </a:r>
            <a:r>
              <a:rPr lang="de-CH" sz="1650" dirty="0">
                <a:solidFill>
                  <a:srgbClr val="000000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)</a:t>
            </a:r>
            <a:endParaRPr sz="16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72" name="Gerade Verbindung mit Pfeil 71"/>
          <p:cNvCxnSpPr>
            <a:cxnSpLocks/>
            <a:stCxn id="13" idx="2"/>
            <a:endCxn id="15" idx="0"/>
          </p:cNvCxnSpPr>
          <p:nvPr/>
        </p:nvCxnSpPr>
        <p:spPr>
          <a:xfrm flipH="1">
            <a:off x="3973711" y="3086100"/>
            <a:ext cx="3652621" cy="9429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cxnSp>
        <p:nvCxnSpPr>
          <p:cNvPr id="73" name="Gerade Verbindung mit Pfeil 72"/>
          <p:cNvCxnSpPr>
            <a:cxnSpLocks/>
            <a:stCxn id="13" idx="2"/>
            <a:endCxn id="16" idx="0"/>
          </p:cNvCxnSpPr>
          <p:nvPr/>
        </p:nvCxnSpPr>
        <p:spPr>
          <a:xfrm>
            <a:off x="7626332" y="3086100"/>
            <a:ext cx="3327419" cy="9429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19" name="BF pass">
            <a:extLst>
              <a:ext uri="{FF2B5EF4-FFF2-40B4-BE49-F238E27FC236}">
                <a16:creationId xmlns:a16="http://schemas.microsoft.com/office/drawing/2014/main" id="{8BAB12D1-D759-436F-AE84-BA3953DB3832}"/>
              </a:ext>
            </a:extLst>
          </p:cNvPr>
          <p:cNvSpPr>
            <a:spLocks noGrp="1"/>
          </p:cNvSpPr>
          <p:nvPr/>
        </p:nvSpPr>
        <p:spPr>
          <a:xfrm>
            <a:off x="4985385" y="3486150"/>
            <a:ext cx="1129665" cy="2762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 i="1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lang="en-US" sz="1200" i="1" baseline="-25000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L</a:t>
            </a:r>
            <a:r>
              <a:rPr sz="1650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≥ α</a:t>
            </a:r>
            <a:r>
              <a:rPr lang="en-US" sz="1650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/2</a:t>
            </a:r>
            <a:endParaRPr sz="1650" i="1" dirty="0">
              <a:solidFill>
                <a:srgbClr val="000000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0" name="BF fail">
            <a:extLst>
              <a:ext uri="{FF2B5EF4-FFF2-40B4-BE49-F238E27FC236}">
                <a16:creationId xmlns:a16="http://schemas.microsoft.com/office/drawing/2014/main" id="{F24C98E8-DA27-44FD-8EC4-C938003F1034}"/>
              </a:ext>
            </a:extLst>
          </p:cNvPr>
          <p:cNvSpPr>
            <a:spLocks noGrp="1"/>
          </p:cNvSpPr>
          <p:nvPr/>
        </p:nvSpPr>
        <p:spPr>
          <a:xfrm>
            <a:off x="9144000" y="3480434"/>
            <a:ext cx="1000126" cy="24193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 i="1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lang="en-US" sz="1200" i="1" baseline="-25000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L</a:t>
            </a:r>
            <a:r>
              <a:rPr sz="1650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&lt; α</a:t>
            </a:r>
            <a:r>
              <a:rPr lang="en-US" sz="1650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/2</a:t>
            </a:r>
            <a:endParaRPr sz="1650" i="1" dirty="0">
              <a:solidFill>
                <a:srgbClr val="000000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1" name="equal variance family">
            <a:extLst>
              <a:ext uri="{FF2B5EF4-FFF2-40B4-BE49-F238E27FC236}">
                <a16:creationId xmlns:a16="http://schemas.microsoft.com/office/drawing/2014/main" id="{33A67ACE-1B16-4EC7-AFC6-BE017CFD8081}"/>
              </a:ext>
            </a:extLst>
          </p:cNvPr>
          <p:cNvSpPr>
            <a:spLocks noGrp="1"/>
          </p:cNvSpPr>
          <p:nvPr/>
        </p:nvSpPr>
        <p:spPr>
          <a:xfrm>
            <a:off x="443865" y="5934914"/>
            <a:ext cx="4223385" cy="438150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Student / Fisher tests</a:t>
            </a:r>
          </a:p>
        </p:txBody>
      </p:sp>
      <p:sp>
        <p:nvSpPr>
          <p:cNvPr id="22" name="shared rank family">
            <a:extLst>
              <a:ext uri="{FF2B5EF4-FFF2-40B4-BE49-F238E27FC236}">
                <a16:creationId xmlns:a16="http://schemas.microsoft.com/office/drawing/2014/main" id="{27855716-CF8A-4A4B-973E-D6141DBD9EA9}"/>
              </a:ext>
            </a:extLst>
          </p:cNvPr>
          <p:cNvSpPr>
            <a:spLocks noGrp="1"/>
          </p:cNvSpPr>
          <p:nvPr/>
        </p:nvSpPr>
        <p:spPr>
          <a:xfrm>
            <a:off x="5482828" y="5877764"/>
            <a:ext cx="4274344" cy="495300"/>
          </a:xfrm>
          <a:prstGeom prst="rect">
            <a:avLst/>
          </a:prstGeom>
          <a:solidFill>
            <a:srgbClr val="B4C7E7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non-parametric tests</a:t>
            </a:r>
          </a:p>
        </p:txBody>
      </p:sp>
      <p:sp>
        <p:nvSpPr>
          <p:cNvPr id="23" name="unequal variance family">
            <a:extLst>
              <a:ext uri="{FF2B5EF4-FFF2-40B4-BE49-F238E27FC236}">
                <a16:creationId xmlns:a16="http://schemas.microsoft.com/office/drawing/2014/main" id="{1E33975A-6811-4C99-891B-A28B167C201B}"/>
              </a:ext>
            </a:extLst>
          </p:cNvPr>
          <p:cNvSpPr>
            <a:spLocks noGrp="1"/>
          </p:cNvSpPr>
          <p:nvPr/>
        </p:nvSpPr>
        <p:spPr>
          <a:xfrm>
            <a:off x="9977438" y="5944439"/>
            <a:ext cx="4214812" cy="428625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Welch tests</a:t>
            </a:r>
          </a:p>
        </p:txBody>
      </p:sp>
      <p:cxnSp>
        <p:nvCxnSpPr>
          <p:cNvPr id="79" name="Gerade Verbindung mit Pfeil 78"/>
          <p:cNvCxnSpPr>
            <a:cxnSpLocks/>
            <a:stCxn id="15" idx="2"/>
            <a:endCxn id="21" idx="0"/>
          </p:cNvCxnSpPr>
          <p:nvPr/>
        </p:nvCxnSpPr>
        <p:spPr>
          <a:xfrm flipH="1">
            <a:off x="2555558" y="4629594"/>
            <a:ext cx="1418153" cy="1305320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cxnSp>
        <p:nvCxnSpPr>
          <p:cNvPr id="80" name="Gerade Verbindung mit Pfeil 79"/>
          <p:cNvCxnSpPr>
            <a:cxnSpLocks/>
            <a:stCxn id="15" idx="2"/>
            <a:endCxn id="22" idx="0"/>
          </p:cNvCxnSpPr>
          <p:nvPr/>
        </p:nvCxnSpPr>
        <p:spPr>
          <a:xfrm>
            <a:off x="3973711" y="4629594"/>
            <a:ext cx="3646289" cy="1248170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cxnSp>
        <p:nvCxnSpPr>
          <p:cNvPr id="81" name="Gerade Verbindung mit Pfeil 80"/>
          <p:cNvCxnSpPr>
            <a:cxnSpLocks/>
            <a:stCxn id="16" idx="2"/>
            <a:endCxn id="22" idx="0"/>
          </p:cNvCxnSpPr>
          <p:nvPr/>
        </p:nvCxnSpPr>
        <p:spPr>
          <a:xfrm flipH="1">
            <a:off x="7620000" y="4695825"/>
            <a:ext cx="3333751" cy="1181939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cxnSp>
        <p:nvCxnSpPr>
          <p:cNvPr id="82" name="Gerade Verbindung mit Pfeil 81"/>
          <p:cNvCxnSpPr>
            <a:cxnSpLocks/>
            <a:stCxn id="16" idx="2"/>
            <a:endCxn id="23" idx="0"/>
          </p:cNvCxnSpPr>
          <p:nvPr/>
        </p:nvCxnSpPr>
        <p:spPr>
          <a:xfrm>
            <a:off x="10953751" y="4695825"/>
            <a:ext cx="1131093" cy="1248614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28" name="pooled pass">
            <a:extLst>
              <a:ext uri="{FF2B5EF4-FFF2-40B4-BE49-F238E27FC236}">
                <a16:creationId xmlns:a16="http://schemas.microsoft.com/office/drawing/2014/main" id="{1E7B4358-0250-441D-AC17-8BD40551AA0F}"/>
              </a:ext>
            </a:extLst>
          </p:cNvPr>
          <p:cNvSpPr>
            <a:spLocks noGrp="1"/>
          </p:cNvSpPr>
          <p:nvPr/>
        </p:nvSpPr>
        <p:spPr>
          <a:xfrm>
            <a:off x="2619375" y="5124450"/>
            <a:ext cx="14287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 i="1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sz="1200" baseline="-25000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SW</a:t>
            </a:r>
            <a:r>
              <a:rPr sz="1650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≥ α</a:t>
            </a:r>
            <a:r>
              <a:rPr lang="en-US" sz="1650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/2</a:t>
            </a:r>
            <a:endParaRPr sz="1650" i="1" dirty="0">
              <a:solidFill>
                <a:srgbClr val="000000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9" name="pooled fail">
            <a:extLst>
              <a:ext uri="{FF2B5EF4-FFF2-40B4-BE49-F238E27FC236}">
                <a16:creationId xmlns:a16="http://schemas.microsoft.com/office/drawing/2014/main" id="{2E424959-2AB7-421B-B1EE-DE6AFC1A2905}"/>
              </a:ext>
            </a:extLst>
          </p:cNvPr>
          <p:cNvSpPr>
            <a:spLocks noGrp="1"/>
          </p:cNvSpPr>
          <p:nvPr/>
        </p:nvSpPr>
        <p:spPr>
          <a:xfrm>
            <a:off x="5000625" y="5124450"/>
            <a:ext cx="14287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 i="1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p</a:t>
            </a:r>
            <a:r>
              <a:rPr sz="1200" baseline="-25000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SW</a:t>
            </a:r>
            <a:r>
              <a:rPr sz="1650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 &lt; α</a:t>
            </a:r>
            <a:r>
              <a:rPr lang="en-US" sz="1650" i="1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/2</a:t>
            </a:r>
            <a:endParaRPr sz="1650" i="1" dirty="0">
              <a:solidFill>
                <a:srgbClr val="000000"/>
              </a:solidFill>
              <a:latin typeface="Cambria"/>
              <a:ea typeface="Cambria"/>
              <a:cs typeface="Cambri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group fail">
                <a:extLst>
                  <a:ext uri="{FF2B5EF4-FFF2-40B4-BE49-F238E27FC236}">
                    <a16:creationId xmlns:a16="http://schemas.microsoft.com/office/drawing/2014/main" id="{C6840D8B-7FBA-4104-92E2-3C789511B6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834312" y="5090160"/>
                <a:ext cx="2793683" cy="365759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txBody>
              <a:bodyPr lIns="47625" tIns="28575" rIns="47625" bIns="28575" anchor="ctr">
                <a:noAutofit/>
              </a:bodyPr>
              <a:lstStyle/>
              <a:p>
                <a:pPr algn="ctr">
                  <a:defRPr sz="1575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575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/>
                            <a:cs typeface="Cambria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en-US" sz="1575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/>
                                <a:cs typeface="Cambria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1575" b="0" i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/>
                                    <a:cs typeface="Cambria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1575" b="0" i="0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/>
                                    <a:cs typeface="Cambria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1575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/>
                                    <a:cs typeface="Cambria"/>
                                  </a:rPr>
                                  <m:t>𝑔</m:t>
                                </m:r>
                              </m:lim>
                            </m:limLow>
                          </m:fName>
                          <m:e>
                            <m:r>
                              <a:rPr lang="ar-AE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/>
                                <a:cs typeface="Cambria"/>
                              </a:rPr>
                              <m:t>(</m:t>
                            </m:r>
                            <m:r>
                              <a:rPr lang="ar-AE" i="1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/>
                                <a:cs typeface="Cambria"/>
                              </a:rPr>
                              <m:t>𝑝</m:t>
                            </m:r>
                            <m:r>
                              <a:rPr lang="ar-AE" sz="1400" i="1" baseline="-25000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/>
                                <a:cs typeface="Cambria"/>
                              </a:rPr>
                              <m:t>𝑆𝑊</m:t>
                            </m:r>
                            <m:r>
                              <a:rPr lang="ar-AE" sz="1400" i="1" baseline="-25000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/>
                                <a:cs typeface="Cambria"/>
                              </a:rPr>
                              <m:t>,</m:t>
                            </m:r>
                            <m:r>
                              <a:rPr lang="ar-AE" sz="1400" i="1" baseline="-25000" dirty="0" err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/>
                                <a:cs typeface="Cambria"/>
                              </a:rPr>
                              <m:t>𝑔</m:t>
                            </m:r>
                          </m:e>
                        </m:func>
                      </m:fName>
                      <m:e>
                        <m:r>
                          <a:rPr lang="en-US" sz="1575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/>
                            <a:cs typeface="Cambria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575" i="1" dirty="0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</a:rPr>
                  <a:t> &lt;</a:t>
                </a:r>
                <a:r>
                  <a:rPr lang="el-GR" sz="1575" i="1" dirty="0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</a:rPr>
                  <a:t>α</a:t>
                </a:r>
                <a:r>
                  <a:rPr lang="en-US" sz="1575" i="1" dirty="0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</a:rPr>
                  <a:t> </a:t>
                </a:r>
                <a:r>
                  <a:rPr lang="el-GR" sz="1575" i="1" dirty="0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</a:rPr>
                  <a:t>/2/</a:t>
                </a:r>
                <a:r>
                  <a:rPr lang="en-US" sz="1575" i="1" dirty="0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</a:rPr>
                  <a:t>k</a:t>
                </a:r>
                <a:endParaRPr sz="1575" dirty="0">
                  <a:solidFill>
                    <a:srgbClr val="000000"/>
                  </a:solidFill>
                  <a:latin typeface="Cambria"/>
                  <a:ea typeface="Cambria"/>
                  <a:cs typeface="Cambria"/>
                </a:endParaRPr>
              </a:p>
            </p:txBody>
          </p:sp>
        </mc:Choice>
        <mc:Fallback>
          <p:sp>
            <p:nvSpPr>
              <p:cNvPr id="30" name="group fail">
                <a:extLst>
                  <a:ext uri="{FF2B5EF4-FFF2-40B4-BE49-F238E27FC236}">
                    <a16:creationId xmlns:a16="http://schemas.microsoft.com/office/drawing/2014/main" id="{C6840D8B-7FBA-4104-92E2-3C789511B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312" y="5090160"/>
                <a:ext cx="2793683" cy="365759"/>
              </a:xfrm>
              <a:prstGeom prst="rect">
                <a:avLst/>
              </a:prstGeom>
              <a:blipFill>
                <a:blip r:embed="rId3"/>
                <a:stretch>
                  <a:fillRect t="-3333" b="-133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group pass">
                <a:extLst>
                  <a:ext uri="{FF2B5EF4-FFF2-40B4-BE49-F238E27FC236}">
                    <a16:creationId xmlns:a16="http://schemas.microsoft.com/office/drawing/2014/main" id="{8B349720-9083-4459-B8A4-0499299381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27996" y="5053852"/>
                <a:ext cx="3564254" cy="371475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txBody>
              <a:bodyPr lIns="47625" tIns="28575" rIns="47625" bIns="28575" anchor="ctr">
                <a:noAutofit/>
              </a:bodyPr>
              <a:lstStyle/>
              <a:p>
                <a:pPr algn="ctr">
                  <a:defRPr sz="1575">
                    <a:solidFill>
                      <a:srgbClr val="000000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57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"/>
                              <a:cs typeface="Cambria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sz="1575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"/>
                                  <a:cs typeface="Cambria"/>
                                </a:rPr>
                              </m:ctrlPr>
                            </m:funcPr>
                            <m:fName>
                              <m:r>
                                <a:rPr lang="en-US" sz="1575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"/>
                                  <a:cs typeface="Cambria"/>
                                </a:rPr>
                                <m:t>𝑚𝑖𝑛</m:t>
                              </m:r>
                              <m:r>
                                <a:rPr lang="en-US" sz="1575" b="0" i="1" baseline="-250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"/>
                                  <a:cs typeface="Cambria"/>
                                </a:rPr>
                                <m:t>𝑔</m:t>
                              </m:r>
                            </m:fName>
                            <m:e>
                              <m:r>
                                <a:rPr lang="ar-AE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"/>
                                  <a:cs typeface="Cambria"/>
                                </a:rPr>
                                <m:t>(</m:t>
                              </m:r>
                              <m:r>
                                <a:rPr lang="ar-AE" i="1" dirty="0" err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"/>
                                  <a:cs typeface="Cambria"/>
                                </a:rPr>
                                <m:t>𝑝</m:t>
                              </m:r>
                              <m:r>
                                <a:rPr lang="ar-AE" sz="1400" i="1" baseline="-25000" dirty="0" err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"/>
                                  <a:cs typeface="Cambria"/>
                                </a:rPr>
                                <m:t>𝑆𝑊</m:t>
                              </m:r>
                              <m:r>
                                <a:rPr lang="en-US" sz="1400" b="0" i="1" baseline="-2500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"/>
                                  <a:cs typeface="Cambria"/>
                                </a:rPr>
                                <m:t>, </m:t>
                              </m:r>
                              <m:r>
                                <a:rPr lang="ar-AE" sz="1400" i="1" baseline="-25000" dirty="0" err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"/>
                                  <a:cs typeface="Cambria"/>
                                </a:rPr>
                                <m:t>𝑔</m:t>
                              </m:r>
                            </m:e>
                          </m:func>
                        </m:fName>
                        <m:e>
                          <m:r>
                            <a:rPr lang="en-US" sz="157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"/>
                              <a:cs typeface="Cambria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1575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"/>
                              <a:cs typeface="Cambria"/>
                            </a:rPr>
                            <m:t> </m:t>
                          </m:r>
                          <m:r>
                            <a:rPr lang="en-US" sz="1575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"/>
                              <a:cs typeface="Cambria"/>
                            </a:rPr>
                            <m:t>≥</m:t>
                          </m:r>
                          <m:r>
                            <m:rPr>
                              <m:nor/>
                            </m:rPr>
                            <a:rPr lang="el-GR" sz="1600" i="1" dirty="0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</a:rPr>
                            <m:t>α</m:t>
                          </m:r>
                          <m:r>
                            <m:rPr>
                              <m:nor/>
                            </m:rPr>
                            <a:rPr lang="en-US" sz="1600" i="1" dirty="0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1600" i="1" dirty="0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</a:rPr>
                            <m:t>/2 /</m:t>
                          </m:r>
                          <m:r>
                            <m:rPr>
                              <m:nor/>
                            </m:rPr>
                            <a:rPr lang="en-US" sz="1600" i="1" dirty="0">
                              <a:solidFill>
                                <a:srgbClr val="000000"/>
                              </a:solidFill>
                              <a:latin typeface="Cambria"/>
                              <a:ea typeface="Cambria"/>
                              <a:cs typeface="Cambria"/>
                            </a:rPr>
                            <m:t>k</m:t>
                          </m:r>
                          <m:r>
                            <a:rPr lang="ar-AE" sz="1600" i="1" baseline="-25000" dirty="0" err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"/>
                              <a:cs typeface="Cambria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sz="1575" dirty="0">
                  <a:solidFill>
                    <a:srgbClr val="000000"/>
                  </a:solidFill>
                  <a:latin typeface="Cambria"/>
                  <a:ea typeface="Cambria"/>
                  <a:cs typeface="Cambria"/>
                </a:endParaRPr>
              </a:p>
            </p:txBody>
          </p:sp>
        </mc:Choice>
        <mc:Fallback>
          <p:sp>
            <p:nvSpPr>
              <p:cNvPr id="31" name="group pass">
                <a:extLst>
                  <a:ext uri="{FF2B5EF4-FFF2-40B4-BE49-F238E27FC236}">
                    <a16:creationId xmlns:a16="http://schemas.microsoft.com/office/drawing/2014/main" id="{8B349720-9083-4459-B8A4-049929938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7996" y="5053852"/>
                <a:ext cx="3564254" cy="371475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inal 0">
            <a:extLst>
              <a:ext uri="{FF2B5EF4-FFF2-40B4-BE49-F238E27FC236}">
                <a16:creationId xmlns:a16="http://schemas.microsoft.com/office/drawing/2014/main" id="{341A7F8C-519E-4A1A-9207-FAB1CC5D3CB2}"/>
              </a:ext>
            </a:extLst>
          </p:cNvPr>
          <p:cNvSpPr>
            <a:spLocks noGrp="1"/>
          </p:cNvSpPr>
          <p:nvPr/>
        </p:nvSpPr>
        <p:spPr>
          <a:xfrm>
            <a:off x="443865" y="7143750"/>
            <a:ext cx="2318385" cy="552450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t.test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de-CH" sz="1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</a:t>
            </a:r>
            <a:r>
              <a:rPr lang="de-CH" sz="12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~ x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</a:t>
            </a:r>
          </a:p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var.equal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=TRUE)</a:t>
            </a:r>
          </a:p>
        </p:txBody>
      </p:sp>
      <p:cxnSp>
        <p:nvCxnSpPr>
          <p:cNvPr id="88" name="Gerade Verbindung mit Pfeil 87"/>
          <p:cNvCxnSpPr>
            <a:cxnSpLocks/>
            <a:stCxn id="21" idx="2"/>
            <a:endCxn id="32" idx="0"/>
          </p:cNvCxnSpPr>
          <p:nvPr/>
        </p:nvCxnSpPr>
        <p:spPr>
          <a:xfrm flipH="1">
            <a:off x="1603058" y="6373064"/>
            <a:ext cx="952500" cy="770686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34" name="k 0">
            <a:extLst>
              <a:ext uri="{FF2B5EF4-FFF2-40B4-BE49-F238E27FC236}">
                <a16:creationId xmlns:a16="http://schemas.microsoft.com/office/drawing/2014/main" id="{7ADBEBB7-3CBE-4EF9-9791-DB1A56BBC1DA}"/>
              </a:ext>
            </a:extLst>
          </p:cNvPr>
          <p:cNvSpPr>
            <a:spLocks noGrp="1"/>
          </p:cNvSpPr>
          <p:nvPr/>
        </p:nvSpPr>
        <p:spPr>
          <a:xfrm>
            <a:off x="19526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= 2</a:t>
            </a:r>
          </a:p>
        </p:txBody>
      </p:sp>
      <p:sp>
        <p:nvSpPr>
          <p:cNvPr id="35" name="final 1">
            <a:extLst>
              <a:ext uri="{FF2B5EF4-FFF2-40B4-BE49-F238E27FC236}">
                <a16:creationId xmlns:a16="http://schemas.microsoft.com/office/drawing/2014/main" id="{5ADEC28F-93ED-48CD-B594-8C408476B0C7}"/>
              </a:ext>
            </a:extLst>
          </p:cNvPr>
          <p:cNvSpPr>
            <a:spLocks noGrp="1"/>
          </p:cNvSpPr>
          <p:nvPr/>
        </p:nvSpPr>
        <p:spPr>
          <a:xfrm>
            <a:off x="2952750" y="7143750"/>
            <a:ext cx="1714500" cy="552450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aov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de-CH" sz="1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</a:t>
            </a:r>
            <a:r>
              <a:rPr lang="de-CH" sz="14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~ x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cxnSp>
        <p:nvCxnSpPr>
          <p:cNvPr id="91" name="Gerade Verbindung mit Pfeil 90"/>
          <p:cNvCxnSpPr>
            <a:cxnSpLocks/>
            <a:stCxn id="21" idx="2"/>
            <a:endCxn id="35" idx="0"/>
          </p:cNvCxnSpPr>
          <p:nvPr/>
        </p:nvCxnSpPr>
        <p:spPr>
          <a:xfrm>
            <a:off x="2555558" y="6373064"/>
            <a:ext cx="1254442" cy="770686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37" name="k 1">
            <a:extLst>
              <a:ext uri="{FF2B5EF4-FFF2-40B4-BE49-F238E27FC236}">
                <a16:creationId xmlns:a16="http://schemas.microsoft.com/office/drawing/2014/main" id="{C63AD640-DBE1-4DAD-9FB3-583E351F8C8D}"/>
              </a:ext>
            </a:extLst>
          </p:cNvPr>
          <p:cNvSpPr>
            <a:spLocks noGrp="1"/>
          </p:cNvSpPr>
          <p:nvPr/>
        </p:nvSpPr>
        <p:spPr>
          <a:xfrm>
            <a:off x="29051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&gt; 2</a:t>
            </a:r>
          </a:p>
        </p:txBody>
      </p:sp>
      <p:sp>
        <p:nvSpPr>
          <p:cNvPr id="38" name="final 2">
            <a:extLst>
              <a:ext uri="{FF2B5EF4-FFF2-40B4-BE49-F238E27FC236}">
                <a16:creationId xmlns:a16="http://schemas.microsoft.com/office/drawing/2014/main" id="{4AE8AE50-83A0-40D2-A039-FC025923722B}"/>
              </a:ext>
            </a:extLst>
          </p:cNvPr>
          <p:cNvSpPr>
            <a:spLocks noGrp="1"/>
          </p:cNvSpPr>
          <p:nvPr/>
        </p:nvSpPr>
        <p:spPr>
          <a:xfrm>
            <a:off x="5589984" y="7143750"/>
            <a:ext cx="1976437" cy="552450"/>
          </a:xfrm>
          <a:prstGeom prst="rect">
            <a:avLst/>
          </a:prstGeom>
          <a:solidFill>
            <a:srgbClr val="B4C7E7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wilcox.test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de-CH" sz="1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</a:t>
            </a:r>
            <a:r>
              <a:rPr lang="de-CH" sz="12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~ x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cxnSp>
        <p:nvCxnSpPr>
          <p:cNvPr id="94" name="Gerade Verbindung mit Pfeil 93"/>
          <p:cNvCxnSpPr>
            <a:cxnSpLocks/>
            <a:stCxn id="22" idx="2"/>
            <a:endCxn id="38" idx="0"/>
          </p:cNvCxnSpPr>
          <p:nvPr/>
        </p:nvCxnSpPr>
        <p:spPr>
          <a:xfrm flipH="1">
            <a:off x="6578203" y="6373064"/>
            <a:ext cx="1041797" cy="770686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40" name="k 2">
            <a:extLst>
              <a:ext uri="{FF2B5EF4-FFF2-40B4-BE49-F238E27FC236}">
                <a16:creationId xmlns:a16="http://schemas.microsoft.com/office/drawing/2014/main" id="{D3593BFC-F113-4236-B025-8A0146B70F9C}"/>
              </a:ext>
            </a:extLst>
          </p:cNvPr>
          <p:cNvSpPr>
            <a:spLocks noGrp="1"/>
          </p:cNvSpPr>
          <p:nvPr/>
        </p:nvSpPr>
        <p:spPr>
          <a:xfrm>
            <a:off x="67151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= 2</a:t>
            </a:r>
          </a:p>
        </p:txBody>
      </p:sp>
      <p:sp>
        <p:nvSpPr>
          <p:cNvPr id="41" name="final 3">
            <a:extLst>
              <a:ext uri="{FF2B5EF4-FFF2-40B4-BE49-F238E27FC236}">
                <a16:creationId xmlns:a16="http://schemas.microsoft.com/office/drawing/2014/main" id="{3C0227E5-969A-4EC6-9F2E-14361875849C}"/>
              </a:ext>
            </a:extLst>
          </p:cNvPr>
          <p:cNvSpPr>
            <a:spLocks noGrp="1"/>
          </p:cNvSpPr>
          <p:nvPr/>
        </p:nvSpPr>
        <p:spPr>
          <a:xfrm>
            <a:off x="7715250" y="7143750"/>
            <a:ext cx="2125266" cy="552450"/>
          </a:xfrm>
          <a:prstGeom prst="rect">
            <a:avLst/>
          </a:prstGeom>
          <a:solidFill>
            <a:srgbClr val="B4C7E7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kruskal.test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de-CH" sz="1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</a:t>
            </a:r>
            <a:r>
              <a:rPr lang="de-CH" sz="12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~ x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cxnSp>
        <p:nvCxnSpPr>
          <p:cNvPr id="97" name="Gerade Verbindung mit Pfeil 96"/>
          <p:cNvCxnSpPr>
            <a:cxnSpLocks/>
            <a:stCxn id="22" idx="2"/>
            <a:endCxn id="41" idx="0"/>
          </p:cNvCxnSpPr>
          <p:nvPr/>
        </p:nvCxnSpPr>
        <p:spPr>
          <a:xfrm>
            <a:off x="7620000" y="6373064"/>
            <a:ext cx="1157883" cy="770686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43" name="k 3">
            <a:extLst>
              <a:ext uri="{FF2B5EF4-FFF2-40B4-BE49-F238E27FC236}">
                <a16:creationId xmlns:a16="http://schemas.microsoft.com/office/drawing/2014/main" id="{721AB1E7-90E9-4D13-A523-D5FE5DAEBAE7}"/>
              </a:ext>
            </a:extLst>
          </p:cNvPr>
          <p:cNvSpPr>
            <a:spLocks noGrp="1"/>
          </p:cNvSpPr>
          <p:nvPr/>
        </p:nvSpPr>
        <p:spPr>
          <a:xfrm>
            <a:off x="76676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&gt; 2</a:t>
            </a:r>
          </a:p>
        </p:txBody>
      </p:sp>
      <p:sp>
        <p:nvSpPr>
          <p:cNvPr id="44" name="final 4">
            <a:extLst>
              <a:ext uri="{FF2B5EF4-FFF2-40B4-BE49-F238E27FC236}">
                <a16:creationId xmlns:a16="http://schemas.microsoft.com/office/drawing/2014/main" id="{460A99CF-D6B4-464F-91AC-094B3F979262}"/>
              </a:ext>
            </a:extLst>
          </p:cNvPr>
          <p:cNvSpPr>
            <a:spLocks noGrp="1"/>
          </p:cNvSpPr>
          <p:nvPr/>
        </p:nvSpPr>
        <p:spPr>
          <a:xfrm>
            <a:off x="10036969" y="7143750"/>
            <a:ext cx="1714500" cy="552450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t.test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de-CH" sz="1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</a:t>
            </a:r>
            <a:r>
              <a:rPr lang="de-CH" sz="12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~ x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cxnSp>
        <p:nvCxnSpPr>
          <p:cNvPr id="100" name="Gerade Verbindung mit Pfeil 99"/>
          <p:cNvCxnSpPr>
            <a:cxnSpLocks/>
            <a:stCxn id="23" idx="2"/>
            <a:endCxn id="44" idx="0"/>
          </p:cNvCxnSpPr>
          <p:nvPr/>
        </p:nvCxnSpPr>
        <p:spPr>
          <a:xfrm flipH="1">
            <a:off x="10894219" y="6373064"/>
            <a:ext cx="1190625" cy="770686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46" name="k 4">
            <a:extLst>
              <a:ext uri="{FF2B5EF4-FFF2-40B4-BE49-F238E27FC236}">
                <a16:creationId xmlns:a16="http://schemas.microsoft.com/office/drawing/2014/main" id="{873D6527-7DEE-420B-95B2-C4594F337A17}"/>
              </a:ext>
            </a:extLst>
          </p:cNvPr>
          <p:cNvSpPr>
            <a:spLocks noGrp="1"/>
          </p:cNvSpPr>
          <p:nvPr/>
        </p:nvSpPr>
        <p:spPr>
          <a:xfrm>
            <a:off x="114776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= 2</a:t>
            </a:r>
          </a:p>
        </p:txBody>
      </p:sp>
      <p:sp>
        <p:nvSpPr>
          <p:cNvPr id="47" name="final 5">
            <a:extLst>
              <a:ext uri="{FF2B5EF4-FFF2-40B4-BE49-F238E27FC236}">
                <a16:creationId xmlns:a16="http://schemas.microsoft.com/office/drawing/2014/main" id="{A0568B61-DAF2-4F49-A54A-010CC2F5ED1A}"/>
              </a:ext>
            </a:extLst>
          </p:cNvPr>
          <p:cNvSpPr>
            <a:spLocks noGrp="1"/>
          </p:cNvSpPr>
          <p:nvPr/>
        </p:nvSpPr>
        <p:spPr>
          <a:xfrm>
            <a:off x="12084844" y="7143750"/>
            <a:ext cx="2107406" cy="552450"/>
          </a:xfrm>
          <a:prstGeom prst="rect">
            <a:avLst/>
          </a:prstGeom>
          <a:solidFill>
            <a:srgbClr val="FFF2CC"/>
          </a:solidFill>
          <a:ln w="9525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35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35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oneway.test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de-CH" sz="1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y</a:t>
            </a:r>
            <a:r>
              <a:rPr lang="de-CH" sz="12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~x</a:t>
            </a:r>
            <a:r>
              <a:rPr sz="135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cxnSp>
        <p:nvCxnSpPr>
          <p:cNvPr id="103" name="Gerade Verbindung mit Pfeil 102"/>
          <p:cNvCxnSpPr>
            <a:cxnSpLocks/>
            <a:stCxn id="23" idx="2"/>
            <a:endCxn id="47" idx="0"/>
          </p:cNvCxnSpPr>
          <p:nvPr/>
        </p:nvCxnSpPr>
        <p:spPr>
          <a:xfrm>
            <a:off x="12084844" y="6373064"/>
            <a:ext cx="1053703" cy="770686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49" name="k 5">
            <a:extLst>
              <a:ext uri="{FF2B5EF4-FFF2-40B4-BE49-F238E27FC236}">
                <a16:creationId xmlns:a16="http://schemas.microsoft.com/office/drawing/2014/main" id="{193FF6C7-3A2E-457C-BE07-2D73CAAE7B66}"/>
              </a:ext>
            </a:extLst>
          </p:cNvPr>
          <p:cNvSpPr>
            <a:spLocks noGrp="1"/>
          </p:cNvSpPr>
          <p:nvPr/>
        </p:nvSpPr>
        <p:spPr>
          <a:xfrm>
            <a:off x="12430125" y="6562725"/>
            <a:ext cx="857250" cy="304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65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k &gt; 2</a:t>
            </a:r>
          </a:p>
        </p:txBody>
      </p:sp>
      <p:sp>
        <p:nvSpPr>
          <p:cNvPr id="50" name="posthoc 1">
            <a:extLst>
              <a:ext uri="{FF2B5EF4-FFF2-40B4-BE49-F238E27FC236}">
                <a16:creationId xmlns:a16="http://schemas.microsoft.com/office/drawing/2014/main" id="{4E07DB88-D1FB-48FA-9DBB-2797B3A56A8F}"/>
              </a:ext>
            </a:extLst>
          </p:cNvPr>
          <p:cNvSpPr>
            <a:spLocks noGrp="1"/>
          </p:cNvSpPr>
          <p:nvPr/>
        </p:nvSpPr>
        <p:spPr>
          <a:xfrm>
            <a:off x="2952750" y="8067675"/>
            <a:ext cx="1714500" cy="323850"/>
          </a:xfrm>
          <a:prstGeom prst="rect">
            <a:avLst/>
          </a:prstGeom>
          <a:solidFill>
            <a:srgbClr val="D9D9D9"/>
          </a:solidFill>
          <a:ln w="9525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TukeyHSD()</a:t>
            </a:r>
          </a:p>
        </p:txBody>
      </p:sp>
      <p:cxnSp>
        <p:nvCxnSpPr>
          <p:cNvPr id="106" name="Gerade Verbindung mit Pfeil 105"/>
          <p:cNvCxnSpPr>
            <a:stCxn id="35" idx="2"/>
            <a:endCxn id="50" idx="0"/>
          </p:cNvCxnSpPr>
          <p:nvPr/>
        </p:nvCxnSpPr>
        <p:spPr>
          <a:xfrm>
            <a:off x="3810000" y="7696200"/>
            <a:ext cx="0" cy="3714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52" name="posthoc 3">
            <a:extLst>
              <a:ext uri="{FF2B5EF4-FFF2-40B4-BE49-F238E27FC236}">
                <a16:creationId xmlns:a16="http://schemas.microsoft.com/office/drawing/2014/main" id="{316F19C1-D27E-4BA1-9C62-157C10AFFB8B}"/>
              </a:ext>
            </a:extLst>
          </p:cNvPr>
          <p:cNvSpPr>
            <a:spLocks noGrp="1"/>
          </p:cNvSpPr>
          <p:nvPr/>
        </p:nvSpPr>
        <p:spPr>
          <a:xfrm>
            <a:off x="7715250" y="8133511"/>
            <a:ext cx="2125265" cy="333374"/>
          </a:xfrm>
          <a:prstGeom prst="rect">
            <a:avLst/>
          </a:prstGeom>
          <a:solidFill>
            <a:srgbClr val="D9D9D9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dunn.test()</a:t>
            </a:r>
          </a:p>
        </p:txBody>
      </p:sp>
      <p:cxnSp>
        <p:nvCxnSpPr>
          <p:cNvPr id="108" name="Gerade Verbindung mit Pfeil 107"/>
          <p:cNvCxnSpPr>
            <a:cxnSpLocks/>
            <a:stCxn id="41" idx="2"/>
            <a:endCxn id="52" idx="0"/>
          </p:cNvCxnSpPr>
          <p:nvPr/>
        </p:nvCxnSpPr>
        <p:spPr>
          <a:xfrm>
            <a:off x="8777883" y="7696200"/>
            <a:ext cx="0" cy="437311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54" name="posthoc 5">
            <a:extLst>
              <a:ext uri="{FF2B5EF4-FFF2-40B4-BE49-F238E27FC236}">
                <a16:creationId xmlns:a16="http://schemas.microsoft.com/office/drawing/2014/main" id="{9187C62C-E32B-4F0D-A651-5AA7A392F093}"/>
              </a:ext>
            </a:extLst>
          </p:cNvPr>
          <p:cNvSpPr>
            <a:spLocks noGrp="1"/>
          </p:cNvSpPr>
          <p:nvPr/>
        </p:nvSpPr>
        <p:spPr>
          <a:xfrm>
            <a:off x="12084844" y="8067675"/>
            <a:ext cx="2107406" cy="399210"/>
          </a:xfrm>
          <a:prstGeom prst="rect">
            <a:avLst/>
          </a:prstGeom>
          <a:solidFill>
            <a:srgbClr val="D9D9D9"/>
          </a:solidFill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425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425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games.howell</a:t>
            </a:r>
            <a:r>
              <a:rPr sz="1425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()</a:t>
            </a:r>
          </a:p>
        </p:txBody>
      </p:sp>
      <p:cxnSp>
        <p:nvCxnSpPr>
          <p:cNvPr id="110" name="Gerade Verbindung mit Pfeil 109"/>
          <p:cNvCxnSpPr>
            <a:cxnSpLocks/>
            <a:stCxn id="47" idx="2"/>
            <a:endCxn id="54" idx="0"/>
          </p:cNvCxnSpPr>
          <p:nvPr/>
        </p:nvCxnSpPr>
        <p:spPr>
          <a:xfrm>
            <a:off x="13138547" y="7696200"/>
            <a:ext cx="0" cy="371475"/>
          </a:xfrm>
          <a:prstGeom prst="straightConnector1">
            <a:avLst/>
          </a:prstGeom>
          <a:ln w="14288">
            <a:solidFill>
              <a:srgbClr val="4472C4"/>
            </a:solidFill>
            <a:tailEnd type="triangle" w="med" len="med"/>
          </a:ln>
        </p:spPr>
      </p:cxnSp>
      <p:sp>
        <p:nvSpPr>
          <p:cNvPr id="62" name="legend">
            <a:extLst>
              <a:ext uri="{FF2B5EF4-FFF2-40B4-BE49-F238E27FC236}">
                <a16:creationId xmlns:a16="http://schemas.microsoft.com/office/drawing/2014/main" id="{B172DF48-1373-C86E-51B7-3EC651C596E1}"/>
              </a:ext>
            </a:extLst>
          </p:cNvPr>
          <p:cNvSpPr>
            <a:spLocks noGrp="1"/>
          </p:cNvSpPr>
          <p:nvPr/>
        </p:nvSpPr>
        <p:spPr>
          <a:xfrm>
            <a:off x="381001" y="180975"/>
            <a:ext cx="3262306" cy="3476625"/>
          </a:xfrm>
          <a:prstGeom prst="rect">
            <a:avLst/>
          </a:prstGeom>
          <a:noFill/>
          <a:ln w="9525">
            <a:solidFill>
              <a:srgbClr val="9CB5DD"/>
            </a:solidFill>
          </a:ln>
        </p:spPr>
        <p:txBody>
          <a:bodyPr lIns="47625" tIns="28575" rIns="47625" bIns="28575" anchor="ctr">
            <a:noAutofit/>
          </a:bodyPr>
          <a:lstStyle/>
          <a:p>
            <a:endParaRPr dirty="0"/>
          </a:p>
        </p:txBody>
      </p:sp>
      <p:sp>
        <p:nvSpPr>
          <p:cNvPr id="63" name="legend title">
            <a:extLst>
              <a:ext uri="{FF2B5EF4-FFF2-40B4-BE49-F238E27FC236}">
                <a16:creationId xmlns:a16="http://schemas.microsoft.com/office/drawing/2014/main" id="{B449ACBE-A722-F3B8-9336-D29C802BFF3A}"/>
              </a:ext>
            </a:extLst>
          </p:cNvPr>
          <p:cNvSpPr>
            <a:spLocks noGrp="1"/>
          </p:cNvSpPr>
          <p:nvPr/>
        </p:nvSpPr>
        <p:spPr>
          <a:xfrm>
            <a:off x="443865" y="307391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</a:t>
            </a:r>
            <a:r>
              <a:rPr sz="1575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olour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code:</a:t>
            </a:r>
          </a:p>
        </p:txBody>
      </p:sp>
      <p:sp>
        <p:nvSpPr>
          <p:cNvPr id="64" name="parametric legend">
            <a:extLst>
              <a:ext uri="{FF2B5EF4-FFF2-40B4-BE49-F238E27FC236}">
                <a16:creationId xmlns:a16="http://schemas.microsoft.com/office/drawing/2014/main" id="{6E54D863-6FA4-B3E0-3E7C-FC8B444237E3}"/>
              </a:ext>
            </a:extLst>
          </p:cNvPr>
          <p:cNvSpPr>
            <a:spLocks noGrp="1"/>
          </p:cNvSpPr>
          <p:nvPr/>
        </p:nvSpPr>
        <p:spPr>
          <a:xfrm>
            <a:off x="443865" y="1876238"/>
            <a:ext cx="2571750" cy="285750"/>
          </a:xfrm>
          <a:prstGeom prst="rect">
            <a:avLst/>
          </a:prstGeom>
          <a:solidFill>
            <a:srgbClr val="FFF2CC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arametric tests</a:t>
            </a:r>
          </a:p>
        </p:txBody>
      </p:sp>
      <p:sp>
        <p:nvSpPr>
          <p:cNvPr id="65" name="rank legend">
            <a:extLst>
              <a:ext uri="{FF2B5EF4-FFF2-40B4-BE49-F238E27FC236}">
                <a16:creationId xmlns:a16="http://schemas.microsoft.com/office/drawing/2014/main" id="{6690DCD9-A78A-095D-4807-BAF0161DE4A6}"/>
              </a:ext>
            </a:extLst>
          </p:cNvPr>
          <p:cNvSpPr>
            <a:spLocks noGrp="1"/>
          </p:cNvSpPr>
          <p:nvPr/>
        </p:nvSpPr>
        <p:spPr>
          <a:xfrm>
            <a:off x="443865" y="1437260"/>
            <a:ext cx="2571750" cy="285750"/>
          </a:xfrm>
          <a:prstGeom prst="rect">
            <a:avLst/>
          </a:prstGeom>
          <a:solidFill>
            <a:srgbClr val="B4C7E7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on-parametric tests</a:t>
            </a:r>
          </a:p>
        </p:txBody>
      </p:sp>
      <p:sp>
        <p:nvSpPr>
          <p:cNvPr id="66" name="alpha">
            <a:extLst>
              <a:ext uri="{FF2B5EF4-FFF2-40B4-BE49-F238E27FC236}">
                <a16:creationId xmlns:a16="http://schemas.microsoft.com/office/drawing/2014/main" id="{7EBE6CDD-DD53-5B53-F3CD-83877C58177B}"/>
              </a:ext>
            </a:extLst>
          </p:cNvPr>
          <p:cNvSpPr>
            <a:spLocks noGrp="1"/>
          </p:cNvSpPr>
          <p:nvPr/>
        </p:nvSpPr>
        <p:spPr>
          <a:xfrm>
            <a:off x="404812" y="2962275"/>
            <a:ext cx="2619375" cy="26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00">
                <a:solidFill>
                  <a:srgbClr val="000000"/>
                </a:solidFill>
                <a:latin typeface="Cambria"/>
                <a:ea typeface="Cambria"/>
                <a:cs typeface="Cambria"/>
              </a:defRPr>
            </a:pPr>
            <a:r>
              <a:rPr sz="1500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α = 1 − </a:t>
            </a:r>
            <a:r>
              <a:rPr sz="1500" dirty="0" err="1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conf.level</a:t>
            </a:r>
            <a:endParaRPr sz="1500" dirty="0">
              <a:solidFill>
                <a:srgbClr val="000000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68" name="residual explanation">
            <a:extLst>
              <a:ext uri="{FF2B5EF4-FFF2-40B4-BE49-F238E27FC236}">
                <a16:creationId xmlns:a16="http://schemas.microsoft.com/office/drawing/2014/main" id="{79901F47-2A38-E67B-FCAA-5447C5456A03}"/>
              </a:ext>
            </a:extLst>
          </p:cNvPr>
          <p:cNvSpPr>
            <a:spLocks noGrp="1"/>
          </p:cNvSpPr>
          <p:nvPr/>
        </p:nvSpPr>
        <p:spPr>
          <a:xfrm>
            <a:off x="404812" y="3255963"/>
            <a:ext cx="3238495" cy="5715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r: internally </a:t>
            </a:r>
            <a:r>
              <a:rPr sz="15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studenti</a:t>
            </a:r>
            <a:r>
              <a:rPr lang="en-US" sz="15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5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ed</a:t>
            </a:r>
            <a:r>
              <a:rPr sz="15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model residuals</a:t>
            </a:r>
          </a:p>
          <a:p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rank legend">
            <a:extLst>
              <a:ext uri="{FF2B5EF4-FFF2-40B4-BE49-F238E27FC236}">
                <a16:creationId xmlns:a16="http://schemas.microsoft.com/office/drawing/2014/main" id="{8E47A9A3-AC52-6C6B-6DA6-325608C93921}"/>
              </a:ext>
            </a:extLst>
          </p:cNvPr>
          <p:cNvSpPr>
            <a:spLocks noGrp="1"/>
          </p:cNvSpPr>
          <p:nvPr/>
        </p:nvSpPr>
        <p:spPr>
          <a:xfrm>
            <a:off x="443865" y="535433"/>
            <a:ext cx="2571750" cy="2857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homoscedasticity 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test</a:t>
            </a:r>
          </a:p>
        </p:txBody>
      </p:sp>
      <p:sp>
        <p:nvSpPr>
          <p:cNvPr id="71" name="rank legend">
            <a:extLst>
              <a:ext uri="{FF2B5EF4-FFF2-40B4-BE49-F238E27FC236}">
                <a16:creationId xmlns:a16="http://schemas.microsoft.com/office/drawing/2014/main" id="{FCC78A9F-7160-6CDE-354E-96E53B93A0CD}"/>
              </a:ext>
            </a:extLst>
          </p:cNvPr>
          <p:cNvSpPr>
            <a:spLocks noGrp="1"/>
          </p:cNvSpPr>
          <p:nvPr/>
        </p:nvSpPr>
        <p:spPr>
          <a:xfrm>
            <a:off x="443865" y="989204"/>
            <a:ext cx="2571750" cy="2857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normality </a:t>
            </a:r>
            <a:r>
              <a:rPr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tests</a:t>
            </a:r>
          </a:p>
        </p:txBody>
      </p:sp>
      <p:sp>
        <p:nvSpPr>
          <p:cNvPr id="158" name="parametric legend">
            <a:extLst>
              <a:ext uri="{FF2B5EF4-FFF2-40B4-BE49-F238E27FC236}">
                <a16:creationId xmlns:a16="http://schemas.microsoft.com/office/drawing/2014/main" id="{0329C60C-E6E9-7B19-5C15-F71D25A99989}"/>
              </a:ext>
            </a:extLst>
          </p:cNvPr>
          <p:cNvSpPr>
            <a:spLocks noGrp="1"/>
          </p:cNvSpPr>
          <p:nvPr/>
        </p:nvSpPr>
        <p:spPr>
          <a:xfrm>
            <a:off x="443865" y="2293938"/>
            <a:ext cx="2571750" cy="285750"/>
          </a:xfrm>
          <a:prstGeom prst="rect">
            <a:avLst/>
          </a:prstGeom>
          <a:solidFill>
            <a:schemeClr val="bg1">
              <a:lumMod val="75000"/>
            </a:schemeClr>
          </a:solidFill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 algn="ctr"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575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Post-hoc tests </a:t>
            </a:r>
            <a:endParaRPr sz="1575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11215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Macintosh PowerPoint</Application>
  <DocSecurity>0</DocSecurity>
  <PresentationFormat>Benutzerdefiniert</PresentationFormat>
  <Paragraphs>40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Cambria</vt:lpstr>
      <vt:lpstr>Cambria Math</vt:lpstr>
      <vt:lpstr>Courier New</vt:lpstr>
      <vt:lpstr>ChatGPT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Schilling Sabine HSLU W</cp:lastModifiedBy>
  <cp:revision>5</cp:revision>
  <dcterms:created xsi:type="dcterms:W3CDTF">2026-09-26T10:15:21Z</dcterms:created>
  <dcterms:modified xsi:type="dcterms:W3CDTF">2026-09-28T17:16:40Z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2026-09-26T10:18:14Z</vt:lpwstr>
  </property>
  <property fmtid="{D5CDD505-2E9C-101B-9397-08002B2CF9AE}" pid="4" name="MSIP_Label_e8b0afbd-3cf7-4707-aee4-8dc9d855de29_Method">
    <vt:lpwstr>Standard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6d66af40-bde7-4b99-b252-832d7047b629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50, 3, 0, 1</vt:lpwstr>
  </property>
</Properties>
</file>