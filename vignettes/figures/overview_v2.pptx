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73" r:id="rId2"/>
    <p:sldId id="274" r:id="rId3"/>
    <p:sldId id="275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4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A116FE-460E-754C-A3BF-FE57C3E35162}" v="125" dt="2026-05-18T18:57:55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67"/>
    <p:restoredTop sz="79317"/>
  </p:normalViewPr>
  <p:slideViewPr>
    <p:cSldViewPr snapToGrid="0" snapToObjects="1" showGuides="1">
      <p:cViewPr varScale="1">
        <p:scale>
          <a:sx n="69" d="100"/>
          <a:sy n="69" d="100"/>
        </p:scale>
        <p:origin x="1336" y="192"/>
      </p:cViewPr>
      <p:guideLst>
        <p:guide orient="horz" pos="2273"/>
        <p:guide pos="3477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CA108-3915-9043-8428-B4BE4472B821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21A6D-3249-074E-BBD6-BCFA953678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66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65AD4-97DF-01F2-1987-71F2F275A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F12C5C2-CB0D-F12F-DE17-0FFE92610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60658DD-D8DF-C31B-64EE-BA489FC92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68812D-6268-7CDC-46BC-F3508F6B1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441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77AA-2D02-C294-F1F2-EEB3F2EB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08177B2-679D-B01E-6976-DA06E15A3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6B5C141-7E16-2F0E-B8F6-2F29BF012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C38E17-2F54-5C54-9FFF-C56E17015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3171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77AA-2D02-C294-F1F2-EEB3F2EB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08177B2-679D-B01E-6976-DA06E15A3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6B5C141-7E16-2F0E-B8F6-2F29BF012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C38E17-2F54-5C54-9FFF-C56E17015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B21A6D-3249-074E-BBD6-BCFA9536785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171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CEF21-0523-3245-A3FA-5D78C65A5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5FCB35-54D7-B745-9657-FF74691F5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B4C31-A070-E749-B7E9-CAD5936A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4BDDB1-76AF-F240-BE46-91A5D3AC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D5B39-7F00-5F46-862B-911988D3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4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54BE9-111B-6643-8D26-3DD596FE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B77CD3-C0E5-484B-AA36-1FAB6E94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AE1DB2-DB10-BF4C-875B-98CAE475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9CC44-0F69-3747-A15E-BACC777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5398D-D950-0B47-9A96-AABF434F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79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DCAD7-127F-4A49-A00E-1493C9F4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3E74A8-D7E8-5E47-9B26-F406CD93C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EC5F87-4EBC-EC46-BC69-2EA7086C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F350A8-A53D-4D41-A2F9-A9AFF938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18D8E7-39AC-0B46-987D-0950F1CD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26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F7841-3B2B-604F-815C-62EC3AAF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4B11C0-B11E-F540-81AE-52BAEDA20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9245B3-41C8-C343-88E2-BE23F220E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DD4A7-C44D-9E43-BF1E-F13205AEE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4D8E9D-4D59-1F45-8E08-61D1A8B6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2EFA05-29DD-0641-A620-7019B4A0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41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B19D6-A6D2-AF40-A13C-FA7BE88B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ACBB3E-E485-5F42-BEC1-669009E5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E955C11-20E8-0348-A806-9CDE1284C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D82558-8DBB-944E-BBE0-6A7C6E834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F790C5-2F18-8E45-94AA-64F30C096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FF6501-64C2-C943-A8E9-C5E1B749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95BB371-362A-B645-9C58-F190A3C7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3A6B4C4-5B8D-2241-A404-A2768A84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720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CD577-05C9-164F-939D-D883FFD2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782072-9B65-E543-BC58-68B5955A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A1934E-231F-354D-B826-E7AD8E44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B6EAF-2961-3F47-B50E-4F50125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63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1E0EEA-87BD-7E4D-BDD1-E816BF78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A06A65-624C-EA4B-936E-DBCEC9D5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82C9F7-D6EF-DC40-B7B5-4E48A458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31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B16D9-E2F7-324E-A99A-47378B28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B2D12D-5159-294F-8EA7-5F484B348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48EA53-C77F-FF44-992C-A85A3C70F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CC8764-0DBF-344B-912D-C3453B17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0CBC3-1569-3744-9FB2-E12E54EA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50A68D-38F0-CC4E-8DE1-604F3C84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96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F1231F-387B-1544-82E5-776081E5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E53984-9ED8-374C-9F9D-A49EB58D0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C99D1-BB16-F749-B0AB-0A6B34283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531638-E076-814A-870C-37518A17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3AFDA6-425A-4C48-A64B-2FC02B24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CAA1C2-0368-3F42-B248-087F9171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74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9C4A6-64B8-904B-959B-523D6331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A91367-9EA8-B14F-A1E3-0D7488D17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5B52B-F627-0243-95BF-CAF30A42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7D948D-68F0-444F-A060-6F3ECCFE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57819-4A50-7C44-911B-582581B3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41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74BDCF-A048-7341-8942-C4374B848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FF7B22-2769-8144-A326-25919C1D0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5B7B6A-9CEB-6C42-9C7B-F9ED3826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8C4A24-0F26-0840-A896-381E0715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341010-5E03-FB4F-AE26-6B22D37B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87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8E2AF2-F7FF-0F4F-A4BE-509679AC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B262F-55F8-F14A-9AC3-B59BB1C13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1F1D78-192B-D042-83F5-BB397139B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97422-92ED-3D47-BF28-17000E80E497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94F689-F2F7-294B-8BF5-FD360E11C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99928-F7B0-4B46-865C-13B1B95B4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06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C706-40C9-0C80-95BE-644E9791B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44770507-76CA-649E-2FC1-1F7141E749B8}"/>
              </a:ext>
            </a:extLst>
          </p:cNvPr>
          <p:cNvGrpSpPr/>
          <p:nvPr/>
        </p:nvGrpSpPr>
        <p:grpSpPr>
          <a:xfrm>
            <a:off x="763420" y="668463"/>
            <a:ext cx="10665159" cy="3629498"/>
            <a:chOff x="1360460" y="316483"/>
            <a:chExt cx="10665159" cy="3629498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C1981550-83BB-9397-710A-8F2694DD3EA9}"/>
                </a:ext>
              </a:extLst>
            </p:cNvPr>
            <p:cNvSpPr txBox="1"/>
            <p:nvPr/>
          </p:nvSpPr>
          <p:spPr>
            <a:xfrm>
              <a:off x="6117376" y="316483"/>
              <a:ext cx="5908243" cy="1938992"/>
            </a:xfrm>
            <a:prstGeom prst="rect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algn="ctr"/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                          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Tests of central tendencies</a:t>
              </a:r>
            </a:p>
            <a:p>
              <a:pPr algn="ctr"/>
              <a:endPara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endPara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endPara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endPara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endPara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endPara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endPara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endPara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</a:t>
              </a:r>
              <a:endParaRPr lang="en-GB" sz="120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7C5757D2-6CA8-B513-DC52-7F09F857A4C7}"/>
                    </a:ext>
                  </a:extLst>
                </p:cNvPr>
                <p:cNvSpPr txBox="1"/>
                <p:nvPr/>
              </p:nvSpPr>
              <p:spPr>
                <a:xfrm>
                  <a:off x="6211369" y="1842326"/>
                  <a:ext cx="5701592" cy="27699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algn="ctr"/>
                  <a:r>
                    <a:rPr lang="en-US" sz="1200" dirty="0">
                      <a:ea typeface="Cambria Math" panose="02040503050406030204" pitchFamily="18" charset="0"/>
                    </a:rPr>
                    <a:t>non-parametric tests: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a14:m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wilcox.test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</a:t>
                  </a:r>
                  <a:r>
                    <a:rPr lang="en-GB" sz="12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a14:m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kruskal.test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</a:t>
                  </a: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7C5757D2-6CA8-B513-DC52-7F09F857A4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1369" y="1842326"/>
                  <a:ext cx="5701592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739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B1B10A6C-E857-2AC7-9CD4-9F6187F56B5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60460" y="2508787"/>
              <a:ext cx="4329205" cy="64633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Numeric  predictor of 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numeric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or “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integer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b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</a:br>
              <a:endPara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</a:t>
              </a:r>
              <a:r>
                <a:rPr lang="en-GB" sz="1200" noProof="0" dirty="0" err="1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umeric</a:t>
              </a:r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response of 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numeric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or “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integer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5B16A604-2B7C-E85E-0A91-CC96741BDB01}"/>
                    </a:ext>
                  </a:extLst>
                </p:cNvPr>
                <p:cNvSpPr txBox="1"/>
                <p:nvPr/>
              </p:nvSpPr>
              <p:spPr>
                <a:xfrm>
                  <a:off x="6211570" y="2526658"/>
                  <a:ext cx="5719853" cy="646331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lvl="1"/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Simple linear regression:   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lm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</a:t>
                  </a:r>
                  <a:b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</a:b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Spearman rank </a:t>
                  </a:r>
                  <a:r>
                    <a:rPr lang="en-GB" sz="1200" dirty="0" err="1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correlation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:visstat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(…,</a:t>
                  </a:r>
                  <a:r>
                    <a:rPr lang="en-GB" sz="1200" b="1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do_regression</a:t>
                  </a:r>
                  <a:r>
                    <a:rPr lang="en-GB" sz="1200" b="1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=FALSE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)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→</m:t>
                      </m:r>
                    </m:oMath>
                  </a14:m>
                  <a:endParaRPr lang="en-US" sz="1200" b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endParaRPr>
                </a:p>
                <a:p>
                  <a:pPr lvl="1"/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                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cor.test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(…,method=“spearman”)</a:t>
                  </a:r>
                </a:p>
              </p:txBody>
            </p:sp>
          </mc:Choice>
          <mc:Fallback xmlns="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5B16A604-2B7C-E85E-0A91-CC96741BDB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1570" y="2526658"/>
                  <a:ext cx="5719853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5769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283DBAF9-59AF-350E-62E3-D9DC7ADACC0D}"/>
                    </a:ext>
                  </a:extLst>
                </p:cNvPr>
                <p:cNvSpPr txBox="1"/>
                <p:nvPr/>
              </p:nvSpPr>
              <p:spPr>
                <a:xfrm>
                  <a:off x="1369665" y="502733"/>
                  <a:ext cx="4320000" cy="830997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endPara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</a:t>
                  </a:r>
                  <a:r>
                    <a:rPr lang="en-GB" sz="1200" noProof="0" dirty="0" err="1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ategorical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predictor of 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N</a:t>
                  </a:r>
                  <a:r>
                    <a:rPr lang="en-GB" sz="1200" noProof="0" dirty="0" err="1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umeric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response of 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numeric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or “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integer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</a:p>
                <a:p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283DBAF9-59AF-350E-62E3-D9DC7ADACC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665" y="502733"/>
                  <a:ext cx="4320000" cy="83099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Gerade Verbindung mit Pfeil 1">
              <a:extLst>
                <a:ext uri="{FF2B5EF4-FFF2-40B4-BE49-F238E27FC236}">
                  <a16:creationId xmlns:a16="http://schemas.microsoft.com/office/drawing/2014/main" id="{3C415C7F-748B-C1ED-EE4E-BD64FBAA59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5211" y="831821"/>
              <a:ext cx="503294" cy="11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85AF650F-788E-C688-388F-D4F5F7ACE59B}"/>
                </a:ext>
              </a:extLst>
            </p:cNvPr>
            <p:cNvSpPr txBox="1"/>
            <p:nvPr/>
          </p:nvSpPr>
          <p:spPr>
            <a:xfrm>
              <a:off x="1369664" y="3483198"/>
              <a:ext cx="4329204" cy="46166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Both variables  of  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factor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“</a:t>
              </a:r>
            </a:p>
            <a:p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endPara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39566372-3240-2CF2-23D0-16FAC566260E}"/>
                </a:ext>
              </a:extLst>
            </p:cNvPr>
            <p:cNvCxnSpPr>
              <a:cxnSpLocks/>
              <a:stCxn id="36" idx="3"/>
              <a:endCxn id="40" idx="1"/>
            </p:cNvCxnSpPr>
            <p:nvPr/>
          </p:nvCxnSpPr>
          <p:spPr>
            <a:xfrm flipV="1">
              <a:off x="5698868" y="3711981"/>
              <a:ext cx="494242" cy="20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24589715-130D-1803-FC06-FD5A8DB9FD73}"/>
                </a:ext>
              </a:extLst>
            </p:cNvPr>
            <p:cNvSpPr txBox="1"/>
            <p:nvPr/>
          </p:nvSpPr>
          <p:spPr>
            <a:xfrm>
              <a:off x="6193110" y="3477981"/>
              <a:ext cx="5719851" cy="468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algn="ctr"/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           Comparing proportions:</a:t>
              </a:r>
              <a:b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</a:b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lang="en-GB" sz="120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chisq.test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(), </a:t>
              </a:r>
              <a:r>
                <a:rPr lang="en-GB" sz="120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fisher.test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52BE3A2-0408-78DD-3115-287BDBDD4277}"/>
                    </a:ext>
                  </a:extLst>
                </p:cNvPr>
                <p:cNvSpPr txBox="1"/>
                <p:nvPr/>
              </p:nvSpPr>
              <p:spPr>
                <a:xfrm>
                  <a:off x="6193111" y="693322"/>
                  <a:ext cx="5664357" cy="276999"/>
                </a:xfrm>
                <a:prstGeom prst="rect">
                  <a:avLst/>
                </a:prstGeom>
                <a:solidFill>
                  <a:schemeClr val="accent4">
                    <a:alpha val="2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algn="ctr"/>
                  <a:r>
                    <a:rPr lang="en-US" sz="1200" b="0" dirty="0">
                      <a:ea typeface="Cambria Math" panose="02040503050406030204" pitchFamily="18" charset="0"/>
                    </a:rPr>
                    <a:t> parametric tests: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a14:m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t.test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a14:m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aov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 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oneway.test</a:t>
                  </a:r>
                  <a:endPara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52BE3A2-0408-78DD-3115-287BDBDD4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3111" y="693322"/>
                  <a:ext cx="5664357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6667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746F3D3D-30AE-C976-B294-DB7D9B8FB409}"/>
                    </a:ext>
                  </a:extLst>
                </p:cNvPr>
                <p:cNvSpPr txBox="1"/>
                <p:nvPr/>
              </p:nvSpPr>
              <p:spPr>
                <a:xfrm>
                  <a:off x="1369665" y="1598093"/>
                  <a:ext cx="4329205" cy="646331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of 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response of 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 and</a:t>
                  </a:r>
                  <a:b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𝑗</m:t>
                      </m:r>
                    </m:oMath>
                  </a14:m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</p:txBody>
            </p:sp>
          </mc:Choice>
          <mc:Fallback xmlns="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746F3D3D-30AE-C976-B294-DB7D9B8FB4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665" y="1598093"/>
                  <a:ext cx="4329205" cy="646331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70C9F5FC-AF03-27DA-5350-C58CCEDDBC03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5689665" y="918232"/>
              <a:ext cx="512499" cy="96983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3DDE1A43-F7C7-70FB-7017-DCD87C3E884D}"/>
                </a:ext>
              </a:extLst>
            </p:cNvPr>
            <p:cNvCxnSpPr>
              <a:cxnSpLocks/>
            </p:cNvCxnSpPr>
            <p:nvPr/>
          </p:nvCxnSpPr>
          <p:spPr>
            <a:xfrm>
              <a:off x="5698870" y="1931390"/>
              <a:ext cx="512499" cy="390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B5C5DBDB-04E0-3BA1-F10B-880665C4834B}"/>
                </a:ext>
              </a:extLst>
            </p:cNvPr>
            <p:cNvCxnSpPr>
              <a:cxnSpLocks/>
            </p:cNvCxnSpPr>
            <p:nvPr/>
          </p:nvCxnSpPr>
          <p:spPr>
            <a:xfrm>
              <a:off x="5680608" y="2797386"/>
              <a:ext cx="512499" cy="390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450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40CC-8A73-C021-D968-04CBBCB7F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E03D655E-9CD9-685D-7B91-6B5945795D4E}"/>
              </a:ext>
            </a:extLst>
          </p:cNvPr>
          <p:cNvGrpSpPr/>
          <p:nvPr/>
        </p:nvGrpSpPr>
        <p:grpSpPr>
          <a:xfrm>
            <a:off x="675232" y="679404"/>
            <a:ext cx="10841537" cy="5113384"/>
            <a:chOff x="675232" y="679404"/>
            <a:chExt cx="10841537" cy="5113384"/>
          </a:xfrm>
        </p:grpSpPr>
        <p:grpSp>
          <p:nvGrpSpPr>
            <p:cNvPr id="69" name="Gruppieren 68">
              <a:extLst>
                <a:ext uri="{FF2B5EF4-FFF2-40B4-BE49-F238E27FC236}">
                  <a16:creationId xmlns:a16="http://schemas.microsoft.com/office/drawing/2014/main" id="{44009903-A0FE-1610-A44A-7945B84624B2}"/>
                </a:ext>
              </a:extLst>
            </p:cNvPr>
            <p:cNvGrpSpPr/>
            <p:nvPr/>
          </p:nvGrpSpPr>
          <p:grpSpPr>
            <a:xfrm>
              <a:off x="675232" y="679404"/>
              <a:ext cx="10841537" cy="5113384"/>
              <a:chOff x="704029" y="582418"/>
              <a:chExt cx="10841537" cy="5113384"/>
            </a:xfrm>
          </p:grpSpPr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4E91C313-141B-C0EB-7458-C988F814755D}"/>
                  </a:ext>
                </a:extLst>
              </p:cNvPr>
              <p:cNvSpPr txBox="1"/>
              <p:nvPr/>
            </p:nvSpPr>
            <p:spPr>
              <a:xfrm>
                <a:off x="5569708" y="582418"/>
                <a:ext cx="5975858" cy="193899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                        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Tests of central tendencies</a:t>
                </a:r>
              </a:p>
              <a:p>
                <a:pPr algn="ctr"/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endPara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feld 5">
                    <a:extLst>
                      <a:ext uri="{FF2B5EF4-FFF2-40B4-BE49-F238E27FC236}">
                        <a16:creationId xmlns:a16="http://schemas.microsoft.com/office/drawing/2014/main" id="{850F5D96-EAD6-2EF1-FC49-CD5ADD5C2CF4}"/>
                      </a:ext>
                    </a:extLst>
                  </p:cNvPr>
                  <p:cNvSpPr txBox="1"/>
                  <p:nvPr/>
                </p:nvSpPr>
                <p:spPr>
                  <a:xfrm>
                    <a:off x="5614328" y="1002239"/>
                    <a:ext cx="5664357" cy="276999"/>
                  </a:xfrm>
                  <a:prstGeom prst="rect">
                    <a:avLst/>
                  </a:prstGeom>
                  <a:solidFill>
                    <a:schemeClr val="accent4">
                      <a:alpha val="2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>
                    <a:defPPr>
                      <a:defRPr lang="de-DE"/>
                    </a:defPPr>
                  </a:lstStyle>
                  <a:p>
                    <a:pPr algn="ctr"/>
                    <a:r>
                      <a:rPr lang="en-US" sz="1200" b="0" dirty="0">
                        <a:ea typeface="Cambria Math" panose="02040503050406030204" pitchFamily="18" charset="0"/>
                      </a:rPr>
                      <a:t> parametric tests: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a14:m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: </a:t>
                    </a:r>
                    <a:r>
                      <a:rPr lang="en-GB" sz="1200" dirty="0" err="1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t.test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(),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&gt;2</m:t>
                        </m:r>
                      </m:oMath>
                    </a14:m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: </a:t>
                    </a:r>
                    <a:r>
                      <a:rPr lang="en-GB" sz="1200" dirty="0" err="1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aov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(), </a:t>
                    </a:r>
                    <a:r>
                      <a:rPr lang="en-GB" sz="1200" dirty="0" err="1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oneway.test</a:t>
                    </a:r>
                    <a:endPara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endParaRPr>
                  </a:p>
                </p:txBody>
              </p:sp>
            </mc:Choice>
            <mc:Fallback xmlns="">
              <p:sp>
                <p:nvSpPr>
                  <p:cNvPr id="6" name="Textfeld 5">
                    <a:extLst>
                      <a:ext uri="{FF2B5EF4-FFF2-40B4-BE49-F238E27FC236}">
                        <a16:creationId xmlns:a16="http://schemas.microsoft.com/office/drawing/2014/main" id="{850F5D96-EAD6-2EF1-FC49-CD5ADD5C2C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14328" y="1002239"/>
                    <a:ext cx="5664357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6667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1259E59C-91A3-35E8-5F00-0D83BB6F2314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749759" y="2954852"/>
                <a:ext cx="4329205" cy="8309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Numeric 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b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</a:b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</a:p>
              <a:p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8994B425-65B2-49E4-F84C-57A25705E933}"/>
                  </a:ext>
                </a:extLst>
              </p:cNvPr>
              <p:cNvSpPr txBox="1"/>
              <p:nvPr/>
            </p:nvSpPr>
            <p:spPr>
              <a:xfrm>
                <a:off x="704029" y="3517825"/>
                <a:ext cx="4306342" cy="27699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19758"/>
                </a:schemeClr>
              </a:solidFill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+ flag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</a:t>
                </a:r>
                <a:r>
                  <a:rPr kumimoji="0" lang="en-GB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visstat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(…,</a:t>
                </a:r>
                <a:r>
                  <a:rPr kumimoji="0" lang="en-GB" sz="12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do_regression</a:t>
                </a:r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=FALSE</a:t>
                </a: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)</a:t>
                </a:r>
                <a:endParaRPr lang="de-DE" sz="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feld 8">
                    <a:extLst>
                      <a:ext uri="{FF2B5EF4-FFF2-40B4-BE49-F238E27FC236}">
                        <a16:creationId xmlns:a16="http://schemas.microsoft.com/office/drawing/2014/main" id="{2C733A43-BA90-EED8-6758-242898D59516}"/>
                      </a:ext>
                    </a:extLst>
                  </p:cNvPr>
                  <p:cNvSpPr txBox="1"/>
                  <p:nvPr/>
                </p:nvSpPr>
                <p:spPr>
                  <a:xfrm>
                    <a:off x="5614328" y="2075934"/>
                    <a:ext cx="5701592" cy="276999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>
                    <a:defPPr>
                      <a:defRPr lang="de-DE"/>
                    </a:defPPr>
                  </a:lstStyle>
                  <a:p>
                    <a:pPr algn="ctr"/>
                    <a:r>
                      <a:rPr lang="en-US" sz="1200" dirty="0">
                        <a:ea typeface="Cambria Math" panose="02040503050406030204" pitchFamily="18" charset="0"/>
                      </a:rPr>
                      <a:t>non-parametric tests: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a14:m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: </a:t>
                    </a:r>
                    <a:r>
                      <a:rPr lang="en-GB" sz="1200" dirty="0" err="1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wilcox.test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(),</a:t>
                    </a:r>
                    <a:r>
                      <a:rPr lang="en-GB" sz="1200" dirty="0"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&gt;2</m:t>
                        </m:r>
                      </m:oMath>
                    </a14:m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: </a:t>
                    </a:r>
                    <a:r>
                      <a:rPr lang="en-GB" sz="1200" dirty="0" err="1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kruskal.test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()</a:t>
                    </a:r>
                  </a:p>
                </p:txBody>
              </p:sp>
            </mc:Choice>
            <mc:Fallback xmlns="">
              <p:sp>
                <p:nvSpPr>
                  <p:cNvPr id="9" name="Textfeld 8">
                    <a:extLst>
                      <a:ext uri="{FF2B5EF4-FFF2-40B4-BE49-F238E27FC236}">
                        <a16:creationId xmlns:a16="http://schemas.microsoft.com/office/drawing/2014/main" id="{2C733A43-BA90-EED8-6758-242898D595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14328" y="2075934"/>
                    <a:ext cx="570159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2500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0F5D9D80-C8ED-1D5F-7CBA-0A72C71AD571}"/>
                  </a:ext>
                </a:extLst>
              </p:cNvPr>
              <p:cNvSpPr txBox="1"/>
              <p:nvPr/>
            </p:nvSpPr>
            <p:spPr>
              <a:xfrm>
                <a:off x="5614328" y="3021516"/>
                <a:ext cx="5719853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lvl="1"/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Simple linear regression:   </a:t>
                </a:r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lm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F15C4A27-3FC3-4E72-00C0-8FCD121A3D3F}"/>
                      </a:ext>
                    </a:extLst>
                  </p:cNvPr>
                  <p:cNvSpPr txBox="1"/>
                  <p:nvPr/>
                </p:nvSpPr>
                <p:spPr>
                  <a:xfrm>
                    <a:off x="772625" y="909906"/>
                    <a:ext cx="4320000" cy="461665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</a:t>
                    </a:r>
                    <a:r>
                      <a:rPr lang="en-GB" sz="1200" noProof="0" dirty="0" err="1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ategorical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predictor of 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with </a:t>
                    </a:r>
                    <a14:m>
                      <m:oMath xmlns:m="http://schemas.openxmlformats.org/officeDocument/2006/math"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levels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N</a:t>
                    </a:r>
                    <a:r>
                      <a:rPr lang="en-GB" sz="1200" noProof="0" dirty="0" err="1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umeric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response of 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numeric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”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 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or “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integer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”</a:t>
                    </a:r>
                  </a:p>
                </p:txBody>
              </p:sp>
            </mc:Choice>
            <mc:Fallback xmlns="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F15C4A27-3FC3-4E72-00C0-8FCD121A3D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2625" y="909906"/>
                    <a:ext cx="4320000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7692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E4B8EE02-0F90-3F09-7990-89B6B3DCBB2E}"/>
                  </a:ext>
                </a:extLst>
              </p:cNvPr>
              <p:cNvSpPr txBox="1"/>
              <p:nvPr/>
            </p:nvSpPr>
            <p:spPr>
              <a:xfrm>
                <a:off x="772625" y="5234137"/>
                <a:ext cx="4329204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Both variables  of  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“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37" name="Gerade Verbindung mit Pfeil 36">
                <a:extLst>
                  <a:ext uri="{FF2B5EF4-FFF2-40B4-BE49-F238E27FC236}">
                    <a16:creationId xmlns:a16="http://schemas.microsoft.com/office/drawing/2014/main" id="{D0C86A91-FDA7-431A-A97E-45AB5F8F86AC}"/>
                  </a:ext>
                </a:extLst>
              </p:cNvPr>
              <p:cNvCxnSpPr>
                <a:cxnSpLocks/>
                <a:stCxn id="36" idx="3"/>
                <a:endCxn id="40" idx="1"/>
              </p:cNvCxnSpPr>
              <p:nvPr/>
            </p:nvCxnSpPr>
            <p:spPr>
              <a:xfrm flipV="1">
                <a:off x="5101829" y="5460863"/>
                <a:ext cx="535366" cy="410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50FC18BF-DA43-100C-15F7-046360CBE26F}"/>
                  </a:ext>
                </a:extLst>
              </p:cNvPr>
              <p:cNvSpPr txBox="1"/>
              <p:nvPr/>
            </p:nvSpPr>
            <p:spPr>
              <a:xfrm>
                <a:off x="5637195" y="5230030"/>
                <a:ext cx="5719851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          Comparing proportions:</a:t>
                </a:r>
                <a:b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</a:br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chisq.test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(), </a:t>
                </a:r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fisher.test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feld 4">
                    <a:extLst>
                      <a:ext uri="{FF2B5EF4-FFF2-40B4-BE49-F238E27FC236}">
                        <a16:creationId xmlns:a16="http://schemas.microsoft.com/office/drawing/2014/main" id="{D88560B6-0A0F-0760-6149-6FF3B7B24210}"/>
                      </a:ext>
                    </a:extLst>
                  </p:cNvPr>
                  <p:cNvSpPr txBox="1"/>
                  <p:nvPr/>
                </p:nvSpPr>
                <p:spPr>
                  <a:xfrm>
                    <a:off x="749760" y="1913458"/>
                    <a:ext cx="4329205" cy="646331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Categorical predictor of 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with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levels</a:t>
                    </a:r>
                  </a:p>
                  <a:p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Categorical response of 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 and</a:t>
                    </a:r>
                    <a:b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</a:b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                                                        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ordered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with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𝑗</m:t>
                        </m:r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levels</a:t>
                    </a:r>
                  </a:p>
                </p:txBody>
              </p:sp>
            </mc:Choice>
            <mc:Fallback xmlns="">
              <p:sp>
                <p:nvSpPr>
                  <p:cNvPr id="5" name="Textfeld 4">
                    <a:extLst>
                      <a:ext uri="{FF2B5EF4-FFF2-40B4-BE49-F238E27FC236}">
                        <a16:creationId xmlns:a16="http://schemas.microsoft.com/office/drawing/2014/main" id="{D88560B6-0A0F-0760-6149-6FF3B7B242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9760" y="1913458"/>
                    <a:ext cx="4329205" cy="64633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547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" name="Gerade Verbindung mit Pfeil 9">
                <a:extLst>
                  <a:ext uri="{FF2B5EF4-FFF2-40B4-BE49-F238E27FC236}">
                    <a16:creationId xmlns:a16="http://schemas.microsoft.com/office/drawing/2014/main" id="{7FFB23BA-1A56-EA09-897C-EAA0A7C46798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>
                <a:off x="5092625" y="1140739"/>
                <a:ext cx="477082" cy="107724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 Verbindung mit Pfeil 15">
                <a:extLst>
                  <a:ext uri="{FF2B5EF4-FFF2-40B4-BE49-F238E27FC236}">
                    <a16:creationId xmlns:a16="http://schemas.microsoft.com/office/drawing/2014/main" id="{95EE3751-2F94-DC07-D76A-B01575DBC8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1829" y="2286234"/>
                <a:ext cx="512499" cy="505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 Verbindung mit Pfeil 48">
                <a:extLst>
                  <a:ext uri="{FF2B5EF4-FFF2-40B4-BE49-F238E27FC236}">
                    <a16:creationId xmlns:a16="http://schemas.microsoft.com/office/drawing/2014/main" id="{C057720C-4C0C-4DDC-5805-67C405AC57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73167" y="3198964"/>
                <a:ext cx="512499" cy="505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FB9B848B-7023-14FC-D384-3530FD90ECCA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749761" y="4157944"/>
                    <a:ext cx="4329205" cy="830997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Categorical predictor  of 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</a:t>
                    </a:r>
                    <a:r>
                      <a:rPr lang="en-GB" sz="1200" b="1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and</a:t>
                    </a:r>
                    <a:b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</a:b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                                                        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ordered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with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levels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Categorical response of 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</a:t>
                    </a:r>
                    <a:r>
                      <a:rPr lang="en-GB" sz="1200" b="1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and</a:t>
                    </a:r>
                    <a:b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</a:b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                                                        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ordered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with levels</a:t>
                    </a:r>
                  </a:p>
                </p:txBody>
              </p:sp>
            </mc:Choice>
            <mc:Fallback xmlns="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FB9B848B-7023-14FC-D384-3530FD90E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9761" y="4157944"/>
                    <a:ext cx="4329205" cy="83099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4478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93B1E64-77B3-996B-0C03-74605808B38D}"/>
                  </a:ext>
                </a:extLst>
              </p:cNvPr>
              <p:cNvSpPr txBox="1"/>
              <p:nvPr/>
            </p:nvSpPr>
            <p:spPr>
              <a:xfrm>
                <a:off x="5614328" y="3564125"/>
                <a:ext cx="5719853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lvl="1"/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Spearman rank correlation : </a:t>
                </a:r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cor.test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(…,method=“spearman”)</a:t>
                </a:r>
              </a:p>
            </p:txBody>
          </p:sp>
          <p:cxnSp>
            <p:nvCxnSpPr>
              <p:cNvPr id="15" name="Gerade Verbindung mit Pfeil 14">
                <a:extLst>
                  <a:ext uri="{FF2B5EF4-FFF2-40B4-BE49-F238E27FC236}">
                    <a16:creationId xmlns:a16="http://schemas.microsoft.com/office/drawing/2014/main" id="{A6B56266-E50F-E630-DFBD-3065C4177F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78966" y="4627524"/>
                <a:ext cx="512499" cy="505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Gerade Verbindung mit Pfeil 66">
                <a:extLst>
                  <a:ext uri="{FF2B5EF4-FFF2-40B4-BE49-F238E27FC236}">
                    <a16:creationId xmlns:a16="http://schemas.microsoft.com/office/drawing/2014/main" id="{90D9A013-B638-2CFA-D596-D590570520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76449" y="3688678"/>
                <a:ext cx="512499" cy="505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E005EFC1-18B1-0452-D704-9026052FF006}"/>
                  </a:ext>
                </a:extLst>
              </p:cNvPr>
              <p:cNvSpPr txBox="1"/>
              <p:nvPr/>
            </p:nvSpPr>
            <p:spPr>
              <a:xfrm>
                <a:off x="5637195" y="4504894"/>
                <a:ext cx="5719853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lvl="1"/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Kendall rank correlation : </a:t>
                </a:r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cor.test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(…,method=“</a:t>
                </a:r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kendall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”)</a:t>
                </a:r>
              </a:p>
            </p:txBody>
          </p:sp>
        </p:grp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277F9311-EB83-9B97-DA2A-A783B756E3C6}"/>
                </a:ext>
              </a:extLst>
            </p:cNvPr>
            <p:cNvCxnSpPr>
              <a:cxnSpLocks/>
            </p:cNvCxnSpPr>
            <p:nvPr/>
          </p:nvCxnSpPr>
          <p:spPr>
            <a:xfrm>
              <a:off x="5084085" y="1240615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7773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40CC-8A73-C021-D968-04CBBCB7F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D9C5F2F4-F1A3-6259-67A6-B6637B2F9F71}"/>
              </a:ext>
            </a:extLst>
          </p:cNvPr>
          <p:cNvGrpSpPr/>
          <p:nvPr/>
        </p:nvGrpSpPr>
        <p:grpSpPr>
          <a:xfrm>
            <a:off x="716606" y="679404"/>
            <a:ext cx="10237484" cy="5109277"/>
            <a:chOff x="716606" y="679404"/>
            <a:chExt cx="10237484" cy="5109277"/>
          </a:xfrm>
        </p:grpSpPr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8994B425-65B2-49E4-F84C-57A25705E933}"/>
                </a:ext>
              </a:extLst>
            </p:cNvPr>
            <p:cNvSpPr txBox="1"/>
            <p:nvPr/>
          </p:nvSpPr>
          <p:spPr>
            <a:xfrm>
              <a:off x="716606" y="4765816"/>
              <a:ext cx="4320000" cy="276999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19758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+ flag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: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visstat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correlation=TRUE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)</a:t>
              </a:r>
              <a:endPara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E91C313-141B-C0EB-7458-C988F814755D}"/>
                </a:ext>
              </a:extLst>
            </p:cNvPr>
            <p:cNvSpPr txBox="1"/>
            <p:nvPr/>
          </p:nvSpPr>
          <p:spPr>
            <a:xfrm>
              <a:off x="5540910" y="679404"/>
              <a:ext cx="5413180" cy="28623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              Tests of central tendencies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</a:t>
              </a: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850F5D96-EAD6-2EF1-FC49-CD5ADD5C2CF4}"/>
                    </a:ext>
                  </a:extLst>
                </p:cNvPr>
                <p:cNvSpPr txBox="1"/>
                <p:nvPr/>
              </p:nvSpPr>
              <p:spPr>
                <a:xfrm>
                  <a:off x="5554090" y="1099225"/>
                  <a:ext cx="5400000" cy="461665"/>
                </a:xfrm>
                <a:prstGeom prst="rect">
                  <a:avLst/>
                </a:prstGeom>
                <a:solidFill>
                  <a:schemeClr val="accent4">
                    <a:alpha val="2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parametric tests: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t.test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</a:t>
                  </a:r>
                  <a:b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</a:b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                   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&gt;2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aov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oneway.test</a:t>
                  </a:r>
                  <a:endPara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850F5D96-EAD6-2EF1-FC49-CD5ADD5C2C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4090" y="1099225"/>
                  <a:ext cx="5400000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7692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1259E59C-91A3-35E8-5F00-0D83BB6F2314}"/>
                </a:ext>
              </a:extLst>
            </p:cNvPr>
            <p:cNvSpPr txBox="1">
              <a:spLocks/>
            </p:cNvSpPr>
            <p:nvPr/>
          </p:nvSpPr>
          <p:spPr>
            <a:xfrm>
              <a:off x="732015" y="4040348"/>
              <a:ext cx="4320000" cy="72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Numeric  predictor of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numeric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or 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integer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</a:b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umeric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response of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numeric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or 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integer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2C733A43-BA90-EED8-6758-242898D59516}"/>
                    </a:ext>
                  </a:extLst>
                </p:cNvPr>
                <p:cNvSpPr txBox="1"/>
                <p:nvPr/>
              </p:nvSpPr>
              <p:spPr>
                <a:xfrm>
                  <a:off x="5554090" y="2172920"/>
                  <a:ext cx="5400000" cy="276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non-parametric tests: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wilcox.test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&gt;2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kruskal.test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</a:t>
                  </a: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2C733A43-BA90-EED8-6758-242898D59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4090" y="2172920"/>
                  <a:ext cx="5400000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12500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0F5D9D80-C8ED-1D5F-7CBA-0A72C71AD571}"/>
                </a:ext>
              </a:extLst>
            </p:cNvPr>
            <p:cNvSpPr txBox="1"/>
            <p:nvPr/>
          </p:nvSpPr>
          <p:spPr>
            <a:xfrm>
              <a:off x="5554090" y="4127088"/>
              <a:ext cx="540000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Simple linear regression:  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lm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F15C4A27-3FC3-4E72-00C0-8FCD121A3D3F}"/>
                    </a:ext>
                  </a:extLst>
                </p:cNvPr>
                <p:cNvSpPr txBox="1"/>
                <p:nvPr/>
              </p:nvSpPr>
              <p:spPr>
                <a:xfrm>
                  <a:off x="743828" y="1006892"/>
                  <a:ext cx="4320000" cy="461665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ategorical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predictor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N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umeric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response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numeric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or 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integer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F15C4A27-3FC3-4E72-00C0-8FCD121A3D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828" y="1006892"/>
                  <a:ext cx="4320000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7692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E4B8EE02-0F90-3F09-7990-89B6B3DCBB2E}"/>
                </a:ext>
              </a:extLst>
            </p:cNvPr>
            <p:cNvSpPr txBox="1"/>
            <p:nvPr/>
          </p:nvSpPr>
          <p:spPr>
            <a:xfrm>
              <a:off x="743828" y="5327016"/>
              <a:ext cx="4320000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Both variables  of 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factor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“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D0C86A91-FDA7-431A-A97E-45AB5F8F86AC}"/>
                </a:ext>
              </a:extLst>
            </p:cNvPr>
            <p:cNvCxnSpPr>
              <a:cxnSpLocks/>
              <a:stCxn id="36" idx="3"/>
              <a:endCxn id="40" idx="1"/>
            </p:cNvCxnSpPr>
            <p:nvPr/>
          </p:nvCxnSpPr>
          <p:spPr>
            <a:xfrm>
              <a:off x="5063828" y="5557849"/>
              <a:ext cx="49026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50FC18BF-DA43-100C-15F7-046360CBE26F}"/>
                </a:ext>
              </a:extLst>
            </p:cNvPr>
            <p:cNvSpPr txBox="1"/>
            <p:nvPr/>
          </p:nvSpPr>
          <p:spPr>
            <a:xfrm>
              <a:off x="5554090" y="5327016"/>
              <a:ext cx="5400000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           Comparing proportions: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chisq.test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(),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fisher.test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D88560B6-0A0F-0760-6149-6FF3B7B24210}"/>
                    </a:ext>
                  </a:extLst>
                </p:cNvPr>
                <p:cNvSpPr txBox="1"/>
                <p:nvPr/>
              </p:nvSpPr>
              <p:spPr>
                <a:xfrm>
                  <a:off x="720963" y="2010444"/>
                  <a:ext cx="4320000" cy="646331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response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 and</a:t>
                  </a:r>
                  <a:b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𝑗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</p:txBody>
            </p:sp>
          </mc:Choice>
          <mc:Fallback xmlns="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D88560B6-0A0F-0760-6149-6FF3B7B24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963" y="2010444"/>
                  <a:ext cx="4320000" cy="646331"/>
                </a:xfrm>
                <a:prstGeom prst="rect">
                  <a:avLst/>
                </a:prstGeom>
                <a:blipFill>
                  <a:blip r:embed="rId6"/>
                  <a:stretch>
                    <a:fillRect b="-7547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7FFB23BA-1A56-EA09-897C-EAA0A7C46798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5063828" y="1237725"/>
              <a:ext cx="477082" cy="10772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95EE3751-2F94-DC07-D76A-B01575DBC8AF}"/>
                </a:ext>
              </a:extLst>
            </p:cNvPr>
            <p:cNvCxnSpPr>
              <a:cxnSpLocks/>
            </p:cNvCxnSpPr>
            <p:nvPr/>
          </p:nvCxnSpPr>
          <p:spPr>
            <a:xfrm>
              <a:off x="5073032" y="2383220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C057720C-4C0C-4DDC-5805-67C405AC5729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23" y="4284460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FB9B848B-7023-14FC-D384-3530FD90ECCA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716606" y="2795230"/>
                  <a:ext cx="4320000" cy="820654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</a:t>
                  </a:r>
                  <a:r>
                    <a:rPr kumimoji="0" lang="en-GB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and</a:t>
                  </a:r>
                  <a:b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response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</a:t>
                  </a:r>
                  <a:r>
                    <a:rPr kumimoji="0" lang="en-GB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and</a:t>
                  </a:r>
                  <a:b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j levels</a:t>
                  </a:r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FB9B848B-7023-14FC-D384-3530FD90E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606" y="2795230"/>
                  <a:ext cx="4320000" cy="820654"/>
                </a:xfrm>
                <a:prstGeom prst="rect">
                  <a:avLst/>
                </a:prstGeom>
                <a:blipFill>
                  <a:blip r:embed="rId7"/>
                  <a:stretch>
                    <a:fillRect b="-4478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C93B1E64-77B3-996B-0C03-74605808B38D}"/>
                </a:ext>
              </a:extLst>
            </p:cNvPr>
            <p:cNvSpPr txBox="1"/>
            <p:nvPr/>
          </p:nvSpPr>
          <p:spPr>
            <a:xfrm>
              <a:off x="5554090" y="4765816"/>
              <a:ext cx="540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Spearman rank correlation :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cor.test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(…,method=“spearman”)</a:t>
              </a:r>
            </a:p>
          </p:txBody>
        </p: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A6B56266-E50F-E630-DFBD-3065C4177F4D}"/>
                </a:ext>
              </a:extLst>
            </p:cNvPr>
            <p:cNvCxnSpPr>
              <a:cxnSpLocks/>
            </p:cNvCxnSpPr>
            <p:nvPr/>
          </p:nvCxnSpPr>
          <p:spPr>
            <a:xfrm>
              <a:off x="5054061" y="3712358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90D9A013-B638-2CFA-D596-D590570520DD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23" y="4930815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E005EFC1-18B1-0452-D704-9026052FF006}"/>
                </a:ext>
              </a:extLst>
            </p:cNvPr>
            <p:cNvSpPr txBox="1"/>
            <p:nvPr/>
          </p:nvSpPr>
          <p:spPr>
            <a:xfrm>
              <a:off x="5554090" y="3605381"/>
              <a:ext cx="540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Kendall rank correlation :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cor.test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(…,method=“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kendall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”)</a:t>
              </a:r>
            </a:p>
          </p:txBody>
        </p: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277F9311-EB83-9B97-DA2A-A783B756E3C6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5084085" y="1240615"/>
              <a:ext cx="470005" cy="894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7A4D2BFC-D9DC-E3A8-A99F-C8E1E1FB67D8}"/>
                </a:ext>
              </a:extLst>
            </p:cNvPr>
            <p:cNvSpPr txBox="1"/>
            <p:nvPr/>
          </p:nvSpPr>
          <p:spPr>
            <a:xfrm>
              <a:off x="720803" y="3591556"/>
              <a:ext cx="432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+ flag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: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visstat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correlation=TRUE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)</a:t>
              </a:r>
              <a:endPara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5E3E9684-F568-DFE2-B115-681F2311D058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5036606" y="2499111"/>
              <a:ext cx="443285" cy="706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2569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4">
            <a:alpha val="19758"/>
          </a:schemeClr>
        </a:solidFill>
        <a:ln w="12700">
          <a:noFill/>
        </a:ln>
      </a:spPr>
      <a:bodyPr wrap="square">
        <a:spAutoFit/>
      </a:bodyPr>
      <a:lstStyle>
        <a:defPPr algn="ctr">
          <a:defRPr sz="800" noProof="0" dirty="0" smtClean="0">
            <a:latin typeface="Calibri" panose="020F0502020204030204" pitchFamily="34" charset="0"/>
            <a:ea typeface="Cambria Math" panose="02040503050406030204" pitchFamily="18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28DB25-49C7-9C48-9DEB-221973F78786}">
  <we:reference id="wa104381909" version="3.1.0.0" store="en-US" storeType="OMEX"/>
  <we:alternateReferences>
    <we:reference id="WA104381909" version="3.1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</Words>
  <Application>Microsoft Macintosh PowerPoint</Application>
  <PresentationFormat>Breitbild</PresentationFormat>
  <Paragraphs>85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Courier New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Schilling Sabine HSLU W</dc:creator>
  <cp:lastModifiedBy>Schilling Sabine HSLU W</cp:lastModifiedBy>
  <cp:revision>39</cp:revision>
  <dcterms:created xsi:type="dcterms:W3CDTF">2023-05-08T12:12:17Z</dcterms:created>
  <dcterms:modified xsi:type="dcterms:W3CDTF">2026-05-18T18:59:11Z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2025-05-10T09:29:47Z</vt:lpwstr>
  </property>
  <property fmtid="{D5CDD505-2E9C-101B-9397-08002B2CF9AE}" pid="4" name="MSIP_Label_e8b0afbd-3cf7-4707-aee4-8dc9d855de29_Method">
    <vt:lpwstr>Privileged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8647766f-e017-41ca-968f-3e61e90fbd83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50, 0, 1, 1</vt:lpwstr>
  </property>
</Properties>
</file>