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9" r:id="rId2"/>
    <p:sldId id="276" r:id="rId3"/>
    <p:sldId id="268" r:id="rId4"/>
    <p:sldId id="270" r:id="rId5"/>
    <p:sldId id="272" r:id="rId6"/>
    <p:sldId id="271" r:id="rId7"/>
    <p:sldId id="275" r:id="rId8"/>
    <p:sldId id="27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0A137B-1D76-E140-B528-34AC915B058D}" v="10" dt="2026-09-26T08:32:11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4"/>
    <p:restoredTop sz="79375"/>
  </p:normalViewPr>
  <p:slideViewPr>
    <p:cSldViewPr snapToGrid="0" snapToObjects="1" showGuides="1">
      <p:cViewPr>
        <p:scale>
          <a:sx n="88" d="100"/>
          <a:sy n="88" d="100"/>
        </p:scale>
        <p:origin x="1016" y="-264"/>
      </p:cViewPr>
      <p:guideLst>
        <p:guide orient="horz" pos="2273"/>
        <p:guide pos="3817"/>
      </p:guideLst>
    </p:cSldViewPr>
  </p:slideViewPr>
  <p:notesTextViewPr>
    <p:cViewPr>
      <p:scale>
        <a:sx n="45" d="100"/>
        <a:sy n="4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ling Sabine HSLU W" userId="b0e2af5c-9187-4900-883a-c96514cd8e15" providerId="ADAL" clId="{5E51067F-94D7-505D-9735-0698788361AC}"/>
    <pc:docChg chg="undo custSel addSld delSld modSld sldOrd">
      <pc:chgData name="Schilling Sabine HSLU W" userId="b0e2af5c-9187-4900-883a-c96514cd8e15" providerId="ADAL" clId="{5E51067F-94D7-505D-9735-0698788361AC}" dt="2026-09-26T08:32:11.825" v="2765" actId="20577"/>
      <pc:docMkLst>
        <pc:docMk/>
      </pc:docMkLst>
      <pc:sldChg chg="modSp add mod">
        <pc:chgData name="Schilling Sabine HSLU W" userId="b0e2af5c-9187-4900-883a-c96514cd8e15" providerId="ADAL" clId="{5E51067F-94D7-505D-9735-0698788361AC}" dt="2026-09-26T08:32:11.825" v="2765" actId="20577"/>
        <pc:sldMkLst>
          <pc:docMk/>
          <pc:sldMk cId="3004504650" sldId="276"/>
        </pc:sldMkLst>
        <pc:spChg chg="mod">
          <ac:chgData name="Schilling Sabine HSLU W" userId="b0e2af5c-9187-4900-883a-c96514cd8e15" providerId="ADAL" clId="{5E51067F-94D7-505D-9735-0698788361AC}" dt="2026-09-26T08:30:44.156" v="2752" actId="1076"/>
          <ac:spMkLst>
            <pc:docMk/>
            <pc:sldMk cId="3004504650" sldId="276"/>
            <ac:spMk id="10" creationId="{A4AF0122-CAF7-91B0-4C93-6BA6965E57EF}"/>
          </ac:spMkLst>
        </pc:spChg>
        <pc:spChg chg="mod">
          <ac:chgData name="Schilling Sabine HSLU W" userId="b0e2af5c-9187-4900-883a-c96514cd8e15" providerId="ADAL" clId="{5E51067F-94D7-505D-9735-0698788361AC}" dt="2026-09-26T08:30:48.890" v="2753" actId="1076"/>
          <ac:spMkLst>
            <pc:docMk/>
            <pc:sldMk cId="3004504650" sldId="276"/>
            <ac:spMk id="18" creationId="{76ECB997-322E-3DF5-701B-8889425A0492}"/>
          </ac:spMkLst>
        </pc:spChg>
        <pc:spChg chg="mod">
          <ac:chgData name="Schilling Sabine HSLU W" userId="b0e2af5c-9187-4900-883a-c96514cd8e15" providerId="ADAL" clId="{5E51067F-94D7-505D-9735-0698788361AC}" dt="2026-09-26T08:31:55.908" v="2760" actId="20577"/>
          <ac:spMkLst>
            <pc:docMk/>
            <pc:sldMk cId="3004504650" sldId="276"/>
            <ac:spMk id="82" creationId="{F7475914-D382-6494-980D-A3B982652630}"/>
          </ac:spMkLst>
        </pc:spChg>
        <pc:spChg chg="mod">
          <ac:chgData name="Schilling Sabine HSLU W" userId="b0e2af5c-9187-4900-883a-c96514cd8e15" providerId="ADAL" clId="{5E51067F-94D7-505D-9735-0698788361AC}" dt="2026-09-26T08:32:11.825" v="2765" actId="20577"/>
          <ac:spMkLst>
            <pc:docMk/>
            <pc:sldMk cId="3004504650" sldId="276"/>
            <ac:spMk id="88" creationId="{D07BBD28-7148-001B-3324-F486B4507DBB}"/>
          </ac:spMkLst>
        </pc:spChg>
        <pc:spChg chg="mod">
          <ac:chgData name="Schilling Sabine HSLU W" userId="b0e2af5c-9187-4900-883a-c96514cd8e15" providerId="ADAL" clId="{5E51067F-94D7-505D-9735-0698788361AC}" dt="2026-09-26T08:31:42.039" v="2754" actId="1076"/>
          <ac:spMkLst>
            <pc:docMk/>
            <pc:sldMk cId="3004504650" sldId="276"/>
            <ac:spMk id="159" creationId="{AA0A1C3C-4163-E16D-29EE-60474368D8B1}"/>
          </ac:spMkLst>
        </pc:spChg>
        <pc:spChg chg="mod">
          <ac:chgData name="Schilling Sabine HSLU W" userId="b0e2af5c-9187-4900-883a-c96514cd8e15" providerId="ADAL" clId="{5E51067F-94D7-505D-9735-0698788361AC}" dt="2026-09-26T08:30:38.105" v="2751" actId="1076"/>
          <ac:spMkLst>
            <pc:docMk/>
            <pc:sldMk cId="3004504650" sldId="276"/>
            <ac:spMk id="160" creationId="{3A214ACA-F729-3B66-9CB2-136F088EC50B}"/>
          </ac:spMkLst>
        </pc:spChg>
        <pc:grpChg chg="mod">
          <ac:chgData name="Schilling Sabine HSLU W" userId="b0e2af5c-9187-4900-883a-c96514cd8e15" providerId="ADAL" clId="{5E51067F-94D7-505D-9735-0698788361AC}" dt="2026-09-26T08:32:06.640" v="2762" actId="1076"/>
          <ac:grpSpMkLst>
            <pc:docMk/>
            <pc:sldMk cId="3004504650" sldId="276"/>
            <ac:grpSpMk id="5" creationId="{A0037538-D5F3-A17C-580E-0C836302DFF9}"/>
          </ac:grpSpMkLst>
        </pc:grpChg>
        <pc:cxnChg chg="mod">
          <ac:chgData name="Schilling Sabine HSLU W" userId="b0e2af5c-9187-4900-883a-c96514cd8e15" providerId="ADAL" clId="{5E51067F-94D7-505D-9735-0698788361AC}" dt="2026-09-26T08:30:48.890" v="2753" actId="1076"/>
          <ac:cxnSpMkLst>
            <pc:docMk/>
            <pc:sldMk cId="3004504650" sldId="276"/>
            <ac:cxnSpMk id="11" creationId="{3E3D73A8-70F2-3F30-8F8E-59464648DBD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CB0B-0FB7-4BF9-9BF7-C942A91E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D0570D-2AF5-0DC5-DE2C-1E482F605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45DB405-8C50-749A-C3CF-EE639F729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B510D6-E7AA-144E-0779-8A022B0CA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067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72522-CCFE-B282-4C03-F4F1FBAC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C6C7B2-6190-E9AA-B3E7-763EC2123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BDC8DA8-DA14-3AE7-BC44-DAFA28FAE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094936-CE1E-1912-45EB-E98CA25A4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238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184C-C4BD-BB61-D66B-24B916B3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B818C13-3D2D-35E3-FF9A-4C24E1DE1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DE5185-7996-6C26-5369-88D6B2B85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3F05A4-D8C9-67DF-332B-05E1207AD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372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7767-0E9F-0E29-1931-ED647086F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839A8D-5007-673E-B7F7-9BCDE46E7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C92A3C5-A18E-7A9F-49BD-C19AAC562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30C283-BD24-703B-1593-F654E2E3C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321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F1F7-25A3-25D4-E9E6-19FF485A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B806A77-C202-D4A2-0F04-24984151D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0F4A0AF-85E1-0D98-86F7-F0A10E3AB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5DBDAF-7E96-FAE6-9C6C-42F7D5B3B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71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4456-B749-5650-3A91-CE318196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D2338B8-9D02-40DC-7251-D3E29C248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DE21725-EA5A-2636-2AC4-27783DDBC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E37A7C-6CB5-604F-85AD-C8E1FAF5D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577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8E769-7BA4-51FE-6233-10EA1AA41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37061F-2F6B-D15C-0FB8-1D89EE059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F7C87D9-8FF0-1689-C392-EDC7403AA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288107-59B0-C91E-8FDD-CBF78CEDD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711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41A2F-5E70-1721-5C7C-3083A5B0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C0135A-3B06-B6F5-8755-401662B6A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0E5C619-27C3-124E-2CC7-0E4143177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390B2E-F857-BAA0-2DE5-907DD3180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099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26.09.26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0.png"/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90.png"/><Relationship Id="rId5" Type="http://schemas.openxmlformats.org/officeDocument/2006/relationships/image" Target="../media/image15.png"/><Relationship Id="rId15" Type="http://schemas.openxmlformats.org/officeDocument/2006/relationships/image" Target="../media/image130.png"/><Relationship Id="rId10" Type="http://schemas.openxmlformats.org/officeDocument/2006/relationships/image" Target="../media/image80.png"/><Relationship Id="rId14" Type="http://schemas.openxmlformats.org/officeDocument/2006/relationships/image" Target="../media/image1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10.png"/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90.png"/><Relationship Id="rId5" Type="http://schemas.openxmlformats.org/officeDocument/2006/relationships/image" Target="../media/image15.png"/><Relationship Id="rId15" Type="http://schemas.openxmlformats.org/officeDocument/2006/relationships/image" Target="../media/image130.png"/><Relationship Id="rId10" Type="http://schemas.openxmlformats.org/officeDocument/2006/relationships/image" Target="../media/image80.png"/><Relationship Id="rId14" Type="http://schemas.openxmlformats.org/officeDocument/2006/relationships/image" Target="../media/image1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110.png"/><Relationship Id="rId3" Type="http://schemas.openxmlformats.org/officeDocument/2006/relationships/image" Target="../media/image18.png"/><Relationship Id="rId7" Type="http://schemas.openxmlformats.org/officeDocument/2006/relationships/image" Target="../media/image111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90.png"/><Relationship Id="rId5" Type="http://schemas.openxmlformats.org/officeDocument/2006/relationships/image" Target="../media/image15.png"/><Relationship Id="rId15" Type="http://schemas.openxmlformats.org/officeDocument/2006/relationships/image" Target="../media/image130.png"/><Relationship Id="rId10" Type="http://schemas.openxmlformats.org/officeDocument/2006/relationships/image" Target="../media/image80.png"/><Relationship Id="rId4" Type="http://schemas.openxmlformats.org/officeDocument/2006/relationships/image" Target="../media/image20.png"/><Relationship Id="rId9" Type="http://schemas.openxmlformats.org/officeDocument/2006/relationships/image" Target="../media/image70.png"/><Relationship Id="rId14" Type="http://schemas.openxmlformats.org/officeDocument/2006/relationships/image" Target="../media/image1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23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23.png"/><Relationship Id="rId10" Type="http://schemas.openxmlformats.org/officeDocument/2006/relationships/image" Target="../media/image13.png"/><Relationship Id="rId4" Type="http://schemas.openxmlformats.org/officeDocument/2006/relationships/image" Target="../media/image25.png"/><Relationship Id="rId9" Type="http://schemas.openxmlformats.org/officeDocument/2006/relationships/image" Target="../media/image12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23.png"/><Relationship Id="rId10" Type="http://schemas.openxmlformats.org/officeDocument/2006/relationships/image" Target="../media/image13.png"/><Relationship Id="rId4" Type="http://schemas.openxmlformats.org/officeDocument/2006/relationships/image" Target="../media/image250.png"/><Relationship Id="rId9" Type="http://schemas.openxmlformats.org/officeDocument/2006/relationships/image" Target="../media/image26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110.png"/><Relationship Id="rId3" Type="http://schemas.openxmlformats.org/officeDocument/2006/relationships/image" Target="../media/image18.png"/><Relationship Id="rId7" Type="http://schemas.openxmlformats.org/officeDocument/2006/relationships/image" Target="../media/image111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90.png"/><Relationship Id="rId5" Type="http://schemas.openxmlformats.org/officeDocument/2006/relationships/image" Target="../media/image15.png"/><Relationship Id="rId15" Type="http://schemas.openxmlformats.org/officeDocument/2006/relationships/image" Target="../media/image130.png"/><Relationship Id="rId10" Type="http://schemas.openxmlformats.org/officeDocument/2006/relationships/image" Target="../media/image80.png"/><Relationship Id="rId4" Type="http://schemas.openxmlformats.org/officeDocument/2006/relationships/image" Target="../media/image20.png"/><Relationship Id="rId9" Type="http://schemas.openxmlformats.org/officeDocument/2006/relationships/image" Target="../media/image70.png"/><Relationship Id="rId1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110.png"/><Relationship Id="rId3" Type="http://schemas.openxmlformats.org/officeDocument/2006/relationships/image" Target="../media/image18.png"/><Relationship Id="rId7" Type="http://schemas.openxmlformats.org/officeDocument/2006/relationships/image" Target="../media/image111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90.png"/><Relationship Id="rId5" Type="http://schemas.openxmlformats.org/officeDocument/2006/relationships/image" Target="../media/image15.png"/><Relationship Id="rId15" Type="http://schemas.openxmlformats.org/officeDocument/2006/relationships/image" Target="../media/image130.png"/><Relationship Id="rId10" Type="http://schemas.openxmlformats.org/officeDocument/2006/relationships/image" Target="../media/image80.png"/><Relationship Id="rId4" Type="http://schemas.openxmlformats.org/officeDocument/2006/relationships/image" Target="../media/image28.png"/><Relationship Id="rId9" Type="http://schemas.openxmlformats.org/officeDocument/2006/relationships/image" Target="../media/image29.png"/><Relationship Id="rId1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00EC0-CAB7-0213-2C5D-C0D92A4B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A19C7CC-0E74-4E1A-32D7-CF034398AEC0}"/>
              </a:ext>
            </a:extLst>
          </p:cNvPr>
          <p:cNvGrpSpPr/>
          <p:nvPr/>
        </p:nvGrpSpPr>
        <p:grpSpPr>
          <a:xfrm>
            <a:off x="0" y="1673934"/>
            <a:ext cx="12251028" cy="4946413"/>
            <a:chOff x="168318" y="1153689"/>
            <a:chExt cx="12251028" cy="4871133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74382665-B195-C16C-247E-B03779CF5476}"/>
                </a:ext>
              </a:extLst>
            </p:cNvPr>
            <p:cNvGrpSpPr/>
            <p:nvPr/>
          </p:nvGrpSpPr>
          <p:grpSpPr>
            <a:xfrm>
              <a:off x="168318" y="1153689"/>
              <a:ext cx="12251028" cy="4871133"/>
              <a:chOff x="176103" y="1290852"/>
              <a:chExt cx="12251028" cy="4871133"/>
            </a:xfrm>
          </p:grpSpPr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A379680-15DE-9B30-D7C1-743679B01E4F}"/>
                  </a:ext>
                </a:extLst>
              </p:cNvPr>
              <p:cNvSpPr txBox="1"/>
              <p:nvPr/>
            </p:nvSpPr>
            <p:spPr>
              <a:xfrm>
                <a:off x="4844240" y="2341659"/>
                <a:ext cx="2869601" cy="276999"/>
              </a:xfrm>
              <a:prstGeom prst="rect">
                <a:avLst/>
              </a:prstGeom>
              <a:solidFill>
                <a:schemeClr val="accent2">
                  <a:alpha val="19906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shapiro.test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 residuals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Textfeld 159">
                <a:extLst>
                  <a:ext uri="{FF2B5EF4-FFF2-40B4-BE49-F238E27FC236}">
                    <a16:creationId xmlns:a16="http://schemas.microsoft.com/office/drawing/2014/main" id="{024A88CF-A28C-573D-1726-865D08AAB953}"/>
                  </a:ext>
                </a:extLst>
              </p:cNvPr>
              <p:cNvSpPr txBox="1"/>
              <p:nvPr/>
            </p:nvSpPr>
            <p:spPr>
              <a:xfrm>
                <a:off x="10687409" y="2843425"/>
                <a:ext cx="1734970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Check normality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1DDAB994-3452-8483-B270-D28711166710}"/>
                      </a:ext>
                    </a:extLst>
                  </p:cNvPr>
                  <p:cNvSpPr txBox="1"/>
                  <p:nvPr/>
                </p:nvSpPr>
                <p:spPr>
                  <a:xfrm>
                    <a:off x="3476487" y="1290852"/>
                    <a:ext cx="5594111" cy="4616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 marL="174625" indent="-174625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</a:t>
                    </a:r>
                    <a:r>
                      <a:rPr lang="en-GB" sz="1200" noProof="0" dirty="0" err="1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ategorical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predictor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N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umeric response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numeric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or 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integer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1DDAB994-3452-8483-B270-D287111667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6487" y="1290852"/>
                    <a:ext cx="5594111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2703" b="-8108"/>
                    </a:stretch>
                  </a:blip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A04F549C-A396-D5FE-F865-2031B3EABF75}"/>
                  </a:ext>
                </a:extLst>
              </p:cNvPr>
              <p:cNvSpPr txBox="1"/>
              <p:nvPr/>
            </p:nvSpPr>
            <p:spPr>
              <a:xfrm>
                <a:off x="306876" y="5348377"/>
                <a:ext cx="1455624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wilcox.test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29371A3-9F78-53D2-DAD8-0217ABE7F6CC}"/>
                  </a:ext>
                </a:extLst>
              </p:cNvPr>
              <p:cNvSpPr txBox="1"/>
              <p:nvPr/>
            </p:nvSpPr>
            <p:spPr>
              <a:xfrm>
                <a:off x="1822802" y="5348377"/>
                <a:ext cx="2352360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kruskal.test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B2A6270A-65FB-91F0-9A15-A5A4E606550B}"/>
                      </a:ext>
                    </a:extLst>
                  </p:cNvPr>
                  <p:cNvSpPr txBox="1"/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38C66D2F-9E14-7C8B-5D2A-1F7912FEFB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126BA1AE-559C-7C26-D5AE-C0CD20F64548}"/>
                      </a:ext>
                    </a:extLst>
                  </p:cNvPr>
                  <p:cNvSpPr txBox="1"/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nor/>
                            </m:rPr>
                            <a:rPr lang="en-GB" sz="12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 b="0" i="0" dirty="0" smtClean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&lt;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  <a:p>
                    <a:pPr algn="ctr"/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CA4581C7-C3B0-54FA-EF00-228EC57A3E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811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65573D5-D5B0-664B-7597-8E8E00B6DA42}"/>
                  </a:ext>
                </a:extLst>
              </p:cNvPr>
              <p:cNvSpPr txBox="1"/>
              <p:nvPr/>
            </p:nvSpPr>
            <p:spPr>
              <a:xfrm>
                <a:off x="5270268" y="5367256"/>
                <a:ext cx="155528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oneway.test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AC789E8-94DF-F1FD-3434-52BDF25615B0}"/>
                  </a:ext>
                </a:extLst>
              </p:cNvPr>
              <p:cNvSpPr txBox="1"/>
              <p:nvPr/>
            </p:nvSpPr>
            <p:spPr>
              <a:xfrm>
                <a:off x="9492978" y="5376299"/>
                <a:ext cx="105365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aov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grpSp>
            <p:nvGrpSpPr>
              <p:cNvPr id="427" name="Gruppieren 426">
                <a:extLst>
                  <a:ext uri="{FF2B5EF4-FFF2-40B4-BE49-F238E27FC236}">
                    <a16:creationId xmlns:a16="http://schemas.microsoft.com/office/drawing/2014/main" id="{700C0E20-FA6C-6DD3-F876-6A17019CE20A}"/>
                  </a:ext>
                </a:extLst>
              </p:cNvPr>
              <p:cNvGrpSpPr/>
              <p:nvPr/>
            </p:nvGrpSpPr>
            <p:grpSpPr>
              <a:xfrm>
                <a:off x="5783635" y="4151670"/>
                <a:ext cx="2856320" cy="305400"/>
                <a:chOff x="8002301" y="4581613"/>
                <a:chExt cx="1289076" cy="305400"/>
              </a:xfrm>
            </p:grpSpPr>
            <p:cxnSp>
              <p:nvCxnSpPr>
                <p:cNvPr id="85" name="Gerade Verbindung mit Pfeil 84">
                  <a:extLst>
                    <a:ext uri="{FF2B5EF4-FFF2-40B4-BE49-F238E27FC236}">
                      <a16:creationId xmlns:a16="http://schemas.microsoft.com/office/drawing/2014/main" id="{EA944143-686B-F519-96A2-E39E7442B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02301" y="4581613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Gerade Verbindung mit Pfeil 85">
                  <a:extLst>
                    <a:ext uri="{FF2B5EF4-FFF2-40B4-BE49-F238E27FC236}">
                      <a16:creationId xmlns:a16="http://schemas.microsoft.com/office/drawing/2014/main" id="{5DCC617C-FB9A-B58A-8D0A-2ED1110F08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41787" y="4581613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764D4C1E-79FD-5C09-DEBD-110DC43DD19D}"/>
                  </a:ext>
                </a:extLst>
              </p:cNvPr>
              <p:cNvSpPr txBox="1"/>
              <p:nvPr/>
            </p:nvSpPr>
            <p:spPr>
              <a:xfrm>
                <a:off x="9492977" y="5884785"/>
                <a:ext cx="1124403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TukeyHSD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515D54C6-3B03-2E08-4597-56850FBD5013}"/>
                  </a:ext>
                </a:extLst>
              </p:cNvPr>
              <p:cNvSpPr txBox="1"/>
              <p:nvPr/>
            </p:nvSpPr>
            <p:spPr>
              <a:xfrm>
                <a:off x="1802317" y="5884785"/>
                <a:ext cx="235514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dunn</a:t>
                </a:r>
                <a:r>
                  <a:rPr lang="en-GB" sz="120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.</a:t>
                </a:r>
                <a:r>
                  <a:rPr lang="en-GB" sz="120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test</a:t>
                </a:r>
                <a:r>
                  <a:rPr lang="en-GB" sz="1200" noProof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  <a:endPara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0354C7B1-7B73-BC8C-4404-7511081D8459}"/>
                  </a:ext>
                </a:extLst>
              </p:cNvPr>
              <p:cNvSpPr txBox="1"/>
              <p:nvPr/>
            </p:nvSpPr>
            <p:spPr>
              <a:xfrm>
                <a:off x="6896818" y="5376365"/>
                <a:ext cx="2527130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var.equal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=TRUE)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8D6F2399-DF85-4CD4-9F2D-985C88A76A32}"/>
                      </a:ext>
                    </a:extLst>
                  </p:cNvPr>
                  <p:cNvSpPr txBox="1"/>
                  <p:nvPr/>
                </p:nvSpPr>
                <p:spPr>
                  <a:xfrm>
                    <a:off x="929604" y="3022468"/>
                    <a:ext cx="206234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𝑆𝑊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&lt;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8D6F2399-DF85-4CD4-9F2D-985C88A76A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9604" y="3022468"/>
                    <a:ext cx="206234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696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522DDEDF-F993-8D31-6D56-2CFD055A14BD}"/>
                      </a:ext>
                    </a:extLst>
                  </p:cNvPr>
                  <p:cNvSpPr txBox="1"/>
                  <p:nvPr/>
                </p:nvSpPr>
                <p:spPr>
                  <a:xfrm>
                    <a:off x="6543875" y="3055480"/>
                    <a:ext cx="1805631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𝑆𝑊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522DDEDF-F993-8D31-6D56-2CFD055A14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3875" y="3055480"/>
                    <a:ext cx="180563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8696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96ACE126-697D-0B41-1BA2-A1EA7855D28F}"/>
                  </a:ext>
                </a:extLst>
              </p:cNvPr>
              <p:cNvSpPr txBox="1"/>
              <p:nvPr/>
            </p:nvSpPr>
            <p:spPr>
              <a:xfrm>
                <a:off x="10687408" y="5884785"/>
                <a:ext cx="1739721" cy="277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Post-hoc test </a:t>
                </a:r>
              </a:p>
            </p:txBody>
          </p:sp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D9D54F0B-4993-B6D4-E6D3-7E1F33E4AE65}"/>
                  </a:ext>
                </a:extLst>
              </p:cNvPr>
              <p:cNvSpPr txBox="1"/>
              <p:nvPr/>
            </p:nvSpPr>
            <p:spPr>
              <a:xfrm>
                <a:off x="10687409" y="5413543"/>
                <a:ext cx="1739722" cy="276999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Final test selected </a:t>
                </a:r>
              </a:p>
            </p:txBody>
          </p:sp>
          <p:sp>
            <p:nvSpPr>
              <p:cNvPr id="159" name="Textfeld 158">
                <a:extLst>
                  <a:ext uri="{FF2B5EF4-FFF2-40B4-BE49-F238E27FC236}">
                    <a16:creationId xmlns:a16="http://schemas.microsoft.com/office/drawing/2014/main" id="{F1038796-4498-6897-113C-3272E4198AAE}"/>
                  </a:ext>
                </a:extLst>
              </p:cNvPr>
              <p:cNvSpPr txBox="1"/>
              <p:nvPr/>
            </p:nvSpPr>
            <p:spPr>
              <a:xfrm>
                <a:off x="10687409" y="3849123"/>
                <a:ext cx="1734970" cy="27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heck </a:t>
                </a:r>
                <a:r>
                  <a:rPr lang="de-CH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</a:t>
                </a:r>
                <a:r>
                  <a:rPr lang="de-CH" dirty="0" err="1"/>
                  <a:t>omoscedasticity</a:t>
                </a:r>
                <a:endPara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469" name="Gerade Verbindung mit Pfeil 468">
                <a:extLst>
                  <a:ext uri="{FF2B5EF4-FFF2-40B4-BE49-F238E27FC236}">
                    <a16:creationId xmlns:a16="http://schemas.microsoft.com/office/drawing/2014/main" id="{4818EEB0-C92B-3973-5350-9528FBB0C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72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Gerade Verbindung mit Pfeil 469">
                <a:extLst>
                  <a:ext uri="{FF2B5EF4-FFF2-40B4-BE49-F238E27FC236}">
                    <a16:creationId xmlns:a16="http://schemas.microsoft.com/office/drawing/2014/main" id="{5248D501-D621-B848-39AB-F07E26CDA6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943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36E288C-7E2D-6B5F-3237-7A5FC87C9BB3}"/>
                  </a:ext>
                </a:extLst>
              </p:cNvPr>
              <p:cNvSpPr txBox="1"/>
              <p:nvPr/>
            </p:nvSpPr>
            <p:spPr>
              <a:xfrm>
                <a:off x="5286613" y="5884785"/>
                <a:ext cx="155528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games.howell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584EB29-3E2B-2F14-53A1-5B7023B6BC50}"/>
                  </a:ext>
                </a:extLst>
              </p:cNvPr>
              <p:cNvSpPr txBox="1"/>
              <p:nvPr/>
            </p:nvSpPr>
            <p:spPr>
              <a:xfrm>
                <a:off x="4346747" y="3845460"/>
                <a:ext cx="6199886" cy="2808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levene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.test() </a:t>
                </a:r>
              </a:p>
            </p:txBody>
          </p:sp>
          <p:cxnSp>
            <p:nvCxnSpPr>
              <p:cNvPr id="12" name="Gerade Verbindung mit Pfeil 11">
                <a:extLst>
                  <a:ext uri="{FF2B5EF4-FFF2-40B4-BE49-F238E27FC236}">
                    <a16:creationId xmlns:a16="http://schemas.microsoft.com/office/drawing/2014/main" id="{4DBB9421-CD2B-E5A9-F56E-68A1564FE903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>
                <a:off x="6273543" y="1752517"/>
                <a:ext cx="0" cy="5804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15A6D376-F389-050A-CF41-5FE657B018A9}"/>
                      </a:ext>
                    </a:extLst>
                  </p:cNvPr>
                  <p:cNvSpPr txBox="1"/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9DDF4002-DC12-E055-D57B-9A420412E1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0081320F-5631-EBE6-01D3-10CF62FE0517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0EA1C71A-304F-C75E-AF4E-0A6C9B95F4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4167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8" name="Gruppieren 37">
                <a:extLst>
                  <a:ext uri="{FF2B5EF4-FFF2-40B4-BE49-F238E27FC236}">
                    <a16:creationId xmlns:a16="http://schemas.microsoft.com/office/drawing/2014/main" id="{117A74A3-630A-616A-7778-00F3E6040CA7}"/>
                  </a:ext>
                </a:extLst>
              </p:cNvPr>
              <p:cNvGrpSpPr/>
              <p:nvPr/>
            </p:nvGrpSpPr>
            <p:grpSpPr>
              <a:xfrm>
                <a:off x="4591203" y="4716325"/>
                <a:ext cx="1687838" cy="346131"/>
                <a:chOff x="2697748" y="1511731"/>
                <a:chExt cx="1289074" cy="305403"/>
              </a:xfrm>
            </p:grpSpPr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C1A8505A-F8C1-DC9F-5AA1-7D0C38372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7748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Gerade Verbindung mit Pfeil 41">
                  <a:extLst>
                    <a:ext uri="{FF2B5EF4-FFF2-40B4-BE49-F238E27FC236}">
                      <a16:creationId xmlns:a16="http://schemas.microsoft.com/office/drawing/2014/main" id="{5C5EA20D-9F45-6B9F-1A3E-3F3BD39B3C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7232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853AC6A4-06F3-8D30-99B8-2FF5C39B4023}"/>
                      </a:ext>
                    </a:extLst>
                  </p:cNvPr>
                  <p:cNvSpPr txBox="1"/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32F34D86-DE31-25CE-057E-D851B9BC0D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DA7EB805-3DC6-ABAC-59BE-76EF7A04A3F8}"/>
                      </a:ext>
                    </a:extLst>
                  </p:cNvPr>
                  <p:cNvSpPr txBox="1"/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3E0D5529-B228-DD80-E287-2980B0241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A2287986-0014-4EFE-106C-351A570025F4}"/>
                  </a:ext>
                </a:extLst>
              </p:cNvPr>
              <p:cNvGrpSpPr/>
              <p:nvPr/>
            </p:nvGrpSpPr>
            <p:grpSpPr>
              <a:xfrm>
                <a:off x="7894225" y="4716325"/>
                <a:ext cx="1687838" cy="346131"/>
                <a:chOff x="2785044" y="1511731"/>
                <a:chExt cx="1289074" cy="305403"/>
              </a:xfrm>
            </p:grpSpPr>
            <p:cxnSp>
              <p:nvCxnSpPr>
                <p:cNvPr id="58" name="Gerade Verbindung mit Pfeil 57">
                  <a:extLst>
                    <a:ext uri="{FF2B5EF4-FFF2-40B4-BE49-F238E27FC236}">
                      <a16:creationId xmlns:a16="http://schemas.microsoft.com/office/drawing/2014/main" id="{C133328B-01B7-255D-2665-213B17976C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5044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Gerade Verbindung mit Pfeil 58">
                  <a:extLst>
                    <a:ext uri="{FF2B5EF4-FFF2-40B4-BE49-F238E27FC236}">
                      <a16:creationId xmlns:a16="http://schemas.microsoft.com/office/drawing/2014/main" id="{AA41B8A7-89D5-A429-5F32-9CB3C41C58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24528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2E1E0CF2-A153-3438-85C1-45BF2699B401}"/>
                      </a:ext>
                    </a:extLst>
                  </p:cNvPr>
                  <p:cNvSpPr txBox="1"/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77C6E6CC-42F5-BE06-70A0-D9AD390338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27C1A27A-F44A-188F-52F6-9A1BEB91BF87}"/>
                      </a:ext>
                    </a:extLst>
                  </p:cNvPr>
                  <p:cNvSpPr txBox="1"/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98C4BAEE-E59A-9693-1E67-65291EDBDE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A3F49D3D-7071-DA59-BB46-725FDE094266}"/>
                  </a:ext>
                </a:extLst>
              </p:cNvPr>
              <p:cNvSpPr txBox="1"/>
              <p:nvPr/>
            </p:nvSpPr>
            <p:spPr>
              <a:xfrm>
                <a:off x="4237616" y="5367256"/>
                <a:ext cx="991434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cxnSp>
            <p:nvCxnSpPr>
              <p:cNvPr id="448" name="Gerade Verbindung mit Pfeil 447">
                <a:extLst>
                  <a:ext uri="{FF2B5EF4-FFF2-40B4-BE49-F238E27FC236}">
                    <a16:creationId xmlns:a16="http://schemas.microsoft.com/office/drawing/2014/main" id="{8ACD481C-2E24-026F-715D-051C65D4B3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63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3" name="Textfeld 452">
                <a:extLst>
                  <a:ext uri="{FF2B5EF4-FFF2-40B4-BE49-F238E27FC236}">
                    <a16:creationId xmlns:a16="http://schemas.microsoft.com/office/drawing/2014/main" id="{8787C151-1864-F9A9-0099-91280E23FBE8}"/>
                  </a:ext>
                </a:extLst>
              </p:cNvPr>
              <p:cNvSpPr txBox="1"/>
              <p:nvPr/>
            </p:nvSpPr>
            <p:spPr>
              <a:xfrm>
                <a:off x="371932" y="1518116"/>
                <a:ext cx="1579377" cy="281831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parametric tests</a:t>
                </a:r>
              </a:p>
            </p:txBody>
          </p:sp>
          <p:sp>
            <p:nvSpPr>
              <p:cNvPr id="454" name="Textfeld 453">
                <a:extLst>
                  <a:ext uri="{FF2B5EF4-FFF2-40B4-BE49-F238E27FC236}">
                    <a16:creationId xmlns:a16="http://schemas.microsoft.com/office/drawing/2014/main" id="{6710FC12-8826-3A8A-AA24-1024359314B8}"/>
                  </a:ext>
                </a:extLst>
              </p:cNvPr>
              <p:cNvSpPr txBox="1"/>
              <p:nvPr/>
            </p:nvSpPr>
            <p:spPr>
              <a:xfrm>
                <a:off x="306876" y="1315788"/>
                <a:ext cx="1097743" cy="2818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pPr algn="l"/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Colour code: </a:t>
                </a:r>
              </a:p>
            </p:txBody>
          </p:sp>
          <p:sp>
            <p:nvSpPr>
              <p:cNvPr id="455" name="Rechteck 454">
                <a:extLst>
                  <a:ext uri="{FF2B5EF4-FFF2-40B4-BE49-F238E27FC236}">
                    <a16:creationId xmlns:a16="http://schemas.microsoft.com/office/drawing/2014/main" id="{49CC2BB4-0C05-0EA8-72A9-E56FC455D346}"/>
                  </a:ext>
                </a:extLst>
              </p:cNvPr>
              <p:cNvSpPr/>
              <p:nvPr/>
            </p:nvSpPr>
            <p:spPr>
              <a:xfrm>
                <a:off x="264845" y="1290852"/>
                <a:ext cx="2562767" cy="1410048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AE241776-F0C5-523F-4D7D-472302D0E677}"/>
                      </a:ext>
                    </a:extLst>
                  </p:cNvPr>
                  <p:cNvSpPr txBox="1"/>
                  <p:nvPr/>
                </p:nvSpPr>
                <p:spPr>
                  <a:xfrm>
                    <a:off x="331795" y="2194101"/>
                    <a:ext cx="2326236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:r>
                      <a:rPr lang="en-GB" sz="1200" noProof="0" dirty="0" err="1">
                        <a:latin typeface="Courier New" panose="02070309020205020404" pitchFamily="49" charset="0"/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a:t>conf.level</a:t>
                    </a:r>
                    <a:endParaRPr lang="en-GB" sz="1200" noProof="0" dirty="0">
                      <a:latin typeface="Courier New" panose="02070309020205020404" pitchFamily="49" charset="0"/>
                      <a:ea typeface="CMU Bright Roman" panose="02000603000000000000" pitchFamily="2" charset="0"/>
                      <a:cs typeface="Courier New" panose="02070309020205020404" pitchFamily="49" charset="0"/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 noProof="0" dirty="0" smtClean="0">
                                <a:latin typeface="Cambria Math" panose="02040503050406030204" pitchFamily="18" charset="0"/>
                                <a:ea typeface="CMU Bright Roman" panose="02000603000000000000" pitchFamily="2" charset="0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GB" sz="1200" i="1" noProof="0" dirty="0" smtClean="0">
                                <a:latin typeface="Cambria Math" panose="02040503050406030204" pitchFamily="18" charset="0"/>
                                <a:ea typeface="CMU Bright Roman" panose="02000603000000000000" pitchFamily="2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1200" i="1" noProof="0" dirty="0" smtClean="0">
                                <a:latin typeface="Cambria Math" panose="02040503050406030204" pitchFamily="18" charset="0"/>
                                <a:ea typeface="CMU Bright Roman" panose="02000603000000000000" pitchFamily="2" charset="0"/>
                                <a:cs typeface="Courier New" panose="02070309020205020404" pitchFamily="49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: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 </m:t>
                        </m:r>
                      </m:oMath>
                    </a14:m>
                    <a:r>
                      <a:rPr lang="en-GB" sz="1200" dirty="0"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a:t>sample size of group/level</a:t>
                    </a:r>
                    <a14:m>
                      <m:oMath xmlns:m="http://schemas.openxmlformats.org/officeDocument/2006/math">
                        <m:r>
                          <a:rPr lang="en-US" sz="1200" b="0" i="0" dirty="0" smtClean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 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𝑖</m:t>
                        </m:r>
                      </m:oMath>
                    </a14:m>
                    <a:endParaRPr lang="en-GB" sz="800" noProof="0" dirty="0">
                      <a:ea typeface="CMU Bright Roman" panose="02000603000000000000" pitchFamily="2" charset="0"/>
                      <a:cs typeface="CMU Bright Roman" panose="02000603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AE241776-F0C5-523F-4D7D-472302D0E6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795" y="2194101"/>
                    <a:ext cx="2326236" cy="46166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810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8" name="Gerade Verbindung mit Pfeil 457">
                <a:extLst>
                  <a:ext uri="{FF2B5EF4-FFF2-40B4-BE49-F238E27FC236}">
                    <a16:creationId xmlns:a16="http://schemas.microsoft.com/office/drawing/2014/main" id="{24DA0A73-0CBF-A371-9E15-F1B206E91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3975" y="3310805"/>
                <a:ext cx="0" cy="49356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8" name="Textfeld 507">
                <a:extLst>
                  <a:ext uri="{FF2B5EF4-FFF2-40B4-BE49-F238E27FC236}">
                    <a16:creationId xmlns:a16="http://schemas.microsoft.com/office/drawing/2014/main" id="{F2EEC853-B5F4-AE82-D557-70FF733A6474}"/>
                  </a:ext>
                </a:extLst>
              </p:cNvPr>
              <p:cNvSpPr txBox="1"/>
              <p:nvPr/>
            </p:nvSpPr>
            <p:spPr>
              <a:xfrm>
                <a:off x="306876" y="3784066"/>
                <a:ext cx="3307799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85922C18-7522-3DBA-8402-02ACD6049518}"/>
                  </a:ext>
                </a:extLst>
              </p:cNvPr>
              <p:cNvSpPr txBox="1"/>
              <p:nvPr/>
            </p:nvSpPr>
            <p:spPr>
              <a:xfrm>
                <a:off x="393079" y="1855690"/>
                <a:ext cx="1579378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EE8327E2-56CB-2525-8B04-FBEE5361211B}"/>
                  </a:ext>
                </a:extLst>
              </p:cNvPr>
              <p:cNvGrpSpPr/>
              <p:nvPr/>
            </p:nvGrpSpPr>
            <p:grpSpPr>
              <a:xfrm>
                <a:off x="1022643" y="4084526"/>
                <a:ext cx="1795871" cy="944792"/>
                <a:chOff x="3378041" y="2876116"/>
                <a:chExt cx="1795871" cy="542165"/>
              </a:xfrm>
            </p:grpSpPr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ABD10961-0BA3-F1C9-B7E4-50571C2C96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78041" y="2876116"/>
                  <a:ext cx="890897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7BC90F6C-398E-0CB2-8F49-450CE01E00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8938" y="2876116"/>
                  <a:ext cx="904974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C83D07BD-DBB7-BF05-743E-1A33C187F2CD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>
              <a:off x="2275224" y="2481495"/>
              <a:ext cx="3996032" cy="524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E6E1B742-1A65-889F-8AA9-69419B78C611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>
              <a:off x="6271256" y="2486905"/>
              <a:ext cx="1167650" cy="4314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9" name="Gerade Verbindung mit Pfeil 498">
            <a:extLst>
              <a:ext uri="{FF2B5EF4-FFF2-40B4-BE49-F238E27FC236}">
                <a16:creationId xmlns:a16="http://schemas.microsoft.com/office/drawing/2014/main" id="{99CC29CC-80D9-57F3-374B-CF312A9FE5D2}"/>
              </a:ext>
            </a:extLst>
          </p:cNvPr>
          <p:cNvCxnSpPr>
            <a:cxnSpLocks/>
          </p:cNvCxnSpPr>
          <p:nvPr/>
        </p:nvCxnSpPr>
        <p:spPr>
          <a:xfrm>
            <a:off x="1672857" y="3698487"/>
            <a:ext cx="0" cy="49356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045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A58F-A39D-BC3E-84FD-F2C68E43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0037538-D5F3-A17C-580E-0C836302DFF9}"/>
              </a:ext>
            </a:extLst>
          </p:cNvPr>
          <p:cNvGrpSpPr/>
          <p:nvPr/>
        </p:nvGrpSpPr>
        <p:grpSpPr>
          <a:xfrm>
            <a:off x="377372" y="1472063"/>
            <a:ext cx="12251028" cy="4946413"/>
            <a:chOff x="168318" y="1153689"/>
            <a:chExt cx="12251028" cy="4871133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C6BE41B2-E779-D5F1-E165-0FF3E8163AC8}"/>
                </a:ext>
              </a:extLst>
            </p:cNvPr>
            <p:cNvGrpSpPr/>
            <p:nvPr/>
          </p:nvGrpSpPr>
          <p:grpSpPr>
            <a:xfrm>
              <a:off x="168318" y="1153689"/>
              <a:ext cx="12251028" cy="4871133"/>
              <a:chOff x="176103" y="1290852"/>
              <a:chExt cx="12251028" cy="4871133"/>
            </a:xfrm>
          </p:grpSpPr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76ECB997-322E-3DF5-701B-8889425A0492}"/>
                  </a:ext>
                </a:extLst>
              </p:cNvPr>
              <p:cNvSpPr txBox="1"/>
              <p:nvPr/>
            </p:nvSpPr>
            <p:spPr>
              <a:xfrm>
                <a:off x="6011890" y="3470175"/>
                <a:ext cx="2869601" cy="276999"/>
              </a:xfrm>
              <a:prstGeom prst="rect">
                <a:avLst/>
              </a:prstGeom>
              <a:solidFill>
                <a:schemeClr val="accent2">
                  <a:alpha val="19906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shapiro.test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 residuals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Textfeld 159">
                <a:extLst>
                  <a:ext uri="{FF2B5EF4-FFF2-40B4-BE49-F238E27FC236}">
                    <a16:creationId xmlns:a16="http://schemas.microsoft.com/office/drawing/2014/main" id="{3A214ACA-F729-3B66-9CB2-136F088EC50B}"/>
                  </a:ext>
                </a:extLst>
              </p:cNvPr>
              <p:cNvSpPr txBox="1"/>
              <p:nvPr/>
            </p:nvSpPr>
            <p:spPr>
              <a:xfrm>
                <a:off x="10692159" y="3843171"/>
                <a:ext cx="1734970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Check normality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BEB68CDB-9F71-E1D5-3E30-8C249752B64F}"/>
                      </a:ext>
                    </a:extLst>
                  </p:cNvPr>
                  <p:cNvSpPr txBox="1"/>
                  <p:nvPr/>
                </p:nvSpPr>
                <p:spPr>
                  <a:xfrm>
                    <a:off x="3476487" y="1290852"/>
                    <a:ext cx="5594111" cy="4616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 marL="174625" indent="-174625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</a:t>
                    </a:r>
                    <a:r>
                      <a:rPr lang="en-GB" sz="1200" noProof="0" dirty="0" err="1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ategorical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predictor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N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umeric response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numeric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or 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integer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1DDAB994-3452-8483-B270-D287111667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6487" y="1290852"/>
                    <a:ext cx="5594111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2703" b="-8108"/>
                    </a:stretch>
                  </a:blip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46D9F945-C527-3E04-B6C0-A139015C6D51}"/>
                  </a:ext>
                </a:extLst>
              </p:cNvPr>
              <p:cNvSpPr txBox="1"/>
              <p:nvPr/>
            </p:nvSpPr>
            <p:spPr>
              <a:xfrm>
                <a:off x="306876" y="5348377"/>
                <a:ext cx="1455624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wilcox.test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58DD2482-92EA-84D2-8C27-3EE24782B4DB}"/>
                  </a:ext>
                </a:extLst>
              </p:cNvPr>
              <p:cNvSpPr txBox="1"/>
              <p:nvPr/>
            </p:nvSpPr>
            <p:spPr>
              <a:xfrm>
                <a:off x="1822802" y="5348377"/>
                <a:ext cx="2352360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kruskal.test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73CDF756-EB46-7364-6230-5D95224216D2}"/>
                      </a:ext>
                    </a:extLst>
                  </p:cNvPr>
                  <p:cNvSpPr txBox="1"/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38C66D2F-9E14-7C8B-5D2A-1F7912FEFB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78BBD69E-9B30-6847-5A3F-E523CB71199C}"/>
                      </a:ext>
                    </a:extLst>
                  </p:cNvPr>
                  <p:cNvSpPr txBox="1"/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nor/>
                            </m:rPr>
                            <a:rPr lang="en-GB" sz="12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 b="0" i="0" dirty="0" smtClean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&lt;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  <a:p>
                    <a:pPr algn="ctr"/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CA4581C7-C3B0-54FA-EF00-228EC57A3E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811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8F307937-1410-AAF2-1889-6D2AAE7FF568}"/>
                  </a:ext>
                </a:extLst>
              </p:cNvPr>
              <p:cNvSpPr txBox="1"/>
              <p:nvPr/>
            </p:nvSpPr>
            <p:spPr>
              <a:xfrm>
                <a:off x="5270268" y="5367256"/>
                <a:ext cx="155528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oneway.test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03740E4E-D243-93E1-4DC1-8516183A2C9E}"/>
                  </a:ext>
                </a:extLst>
              </p:cNvPr>
              <p:cNvSpPr txBox="1"/>
              <p:nvPr/>
            </p:nvSpPr>
            <p:spPr>
              <a:xfrm>
                <a:off x="9492978" y="5376299"/>
                <a:ext cx="105365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aov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grpSp>
            <p:nvGrpSpPr>
              <p:cNvPr id="427" name="Gruppieren 426">
                <a:extLst>
                  <a:ext uri="{FF2B5EF4-FFF2-40B4-BE49-F238E27FC236}">
                    <a16:creationId xmlns:a16="http://schemas.microsoft.com/office/drawing/2014/main" id="{781CA729-4D65-24D9-F4CD-703F9EFDF2AA}"/>
                  </a:ext>
                </a:extLst>
              </p:cNvPr>
              <p:cNvGrpSpPr/>
              <p:nvPr/>
            </p:nvGrpSpPr>
            <p:grpSpPr>
              <a:xfrm>
                <a:off x="5783635" y="4151670"/>
                <a:ext cx="2856320" cy="305400"/>
                <a:chOff x="8002301" y="4581613"/>
                <a:chExt cx="1289076" cy="305400"/>
              </a:xfrm>
            </p:grpSpPr>
            <p:cxnSp>
              <p:nvCxnSpPr>
                <p:cNvPr id="85" name="Gerade Verbindung mit Pfeil 84">
                  <a:extLst>
                    <a:ext uri="{FF2B5EF4-FFF2-40B4-BE49-F238E27FC236}">
                      <a16:creationId xmlns:a16="http://schemas.microsoft.com/office/drawing/2014/main" id="{89839F7B-2490-6C8D-6F80-F68F14CEEC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02301" y="4581613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Gerade Verbindung mit Pfeil 85">
                  <a:extLst>
                    <a:ext uri="{FF2B5EF4-FFF2-40B4-BE49-F238E27FC236}">
                      <a16:creationId xmlns:a16="http://schemas.microsoft.com/office/drawing/2014/main" id="{BDA52DBB-13B8-E867-E5C5-41894CCE3B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41787" y="4581613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9B965BEC-F5D2-8608-51F1-E1D18607D2A8}"/>
                  </a:ext>
                </a:extLst>
              </p:cNvPr>
              <p:cNvSpPr txBox="1"/>
              <p:nvPr/>
            </p:nvSpPr>
            <p:spPr>
              <a:xfrm>
                <a:off x="9492977" y="5884785"/>
                <a:ext cx="1124403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TukeyHSD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87158079-A2B8-E8EB-B278-CC21E38DEA1F}"/>
                  </a:ext>
                </a:extLst>
              </p:cNvPr>
              <p:cNvSpPr txBox="1"/>
              <p:nvPr/>
            </p:nvSpPr>
            <p:spPr>
              <a:xfrm>
                <a:off x="1802317" y="5884785"/>
                <a:ext cx="235514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dunn</a:t>
                </a:r>
                <a:r>
                  <a:rPr lang="en-GB" sz="120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.</a:t>
                </a:r>
                <a:r>
                  <a:rPr lang="en-GB" sz="120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test</a:t>
                </a:r>
                <a:r>
                  <a:rPr lang="en-GB" sz="1200" noProof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  <a:endPara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8FA089FA-66C3-FDEA-DA02-66B4A4849D2C}"/>
                  </a:ext>
                </a:extLst>
              </p:cNvPr>
              <p:cNvSpPr txBox="1"/>
              <p:nvPr/>
            </p:nvSpPr>
            <p:spPr>
              <a:xfrm>
                <a:off x="6896818" y="5376365"/>
                <a:ext cx="2527130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var.equal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=TRUE)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F7475914-D382-6494-980D-A3B982652630}"/>
                      </a:ext>
                    </a:extLst>
                  </p:cNvPr>
                  <p:cNvSpPr txBox="1"/>
                  <p:nvPr/>
                </p:nvSpPr>
                <p:spPr>
                  <a:xfrm>
                    <a:off x="929604" y="3022468"/>
                    <a:ext cx="206234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F7475914-D382-6494-980D-A3B9826526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9604" y="3022468"/>
                    <a:ext cx="206234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D07BBD28-7148-001B-3324-F486B4507DBB}"/>
                      </a:ext>
                    </a:extLst>
                  </p:cNvPr>
                  <p:cNvSpPr txBox="1"/>
                  <p:nvPr/>
                </p:nvSpPr>
                <p:spPr>
                  <a:xfrm>
                    <a:off x="6543875" y="3055480"/>
                    <a:ext cx="1805631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D07BBD28-7148-001B-3324-F486B4507D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3875" y="3055480"/>
                    <a:ext cx="180563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8333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8344E6A-FDB3-B4B2-F0A9-9569FF10C64F}"/>
                  </a:ext>
                </a:extLst>
              </p:cNvPr>
              <p:cNvSpPr txBox="1"/>
              <p:nvPr/>
            </p:nvSpPr>
            <p:spPr>
              <a:xfrm>
                <a:off x="10687408" y="5884785"/>
                <a:ext cx="1739721" cy="277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Post-hoc test </a:t>
                </a:r>
              </a:p>
            </p:txBody>
          </p:sp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77EF0683-1D41-733E-FD17-EC5A580822FC}"/>
                  </a:ext>
                </a:extLst>
              </p:cNvPr>
              <p:cNvSpPr txBox="1"/>
              <p:nvPr/>
            </p:nvSpPr>
            <p:spPr>
              <a:xfrm>
                <a:off x="10687409" y="5413543"/>
                <a:ext cx="1739722" cy="276999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Final test selected </a:t>
                </a:r>
              </a:p>
            </p:txBody>
          </p:sp>
          <p:sp>
            <p:nvSpPr>
              <p:cNvPr id="159" name="Textfeld 158">
                <a:extLst>
                  <a:ext uri="{FF2B5EF4-FFF2-40B4-BE49-F238E27FC236}">
                    <a16:creationId xmlns:a16="http://schemas.microsoft.com/office/drawing/2014/main" id="{AA0A1C3C-4163-E16D-29EE-60474368D8B1}"/>
                  </a:ext>
                </a:extLst>
              </p:cNvPr>
              <p:cNvSpPr txBox="1"/>
              <p:nvPr/>
            </p:nvSpPr>
            <p:spPr>
              <a:xfrm>
                <a:off x="10633133" y="2222764"/>
                <a:ext cx="1734970" cy="27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heck </a:t>
                </a:r>
                <a:r>
                  <a:rPr lang="de-CH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</a:t>
                </a:r>
                <a:r>
                  <a:rPr lang="de-CH" dirty="0" err="1"/>
                  <a:t>omoscedasticity</a:t>
                </a:r>
                <a:endPara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469" name="Gerade Verbindung mit Pfeil 468">
                <a:extLst>
                  <a:ext uri="{FF2B5EF4-FFF2-40B4-BE49-F238E27FC236}">
                    <a16:creationId xmlns:a16="http://schemas.microsoft.com/office/drawing/2014/main" id="{7A8AE287-5639-E40F-C5AB-F93CD5DBB2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72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Gerade Verbindung mit Pfeil 469">
                <a:extLst>
                  <a:ext uri="{FF2B5EF4-FFF2-40B4-BE49-F238E27FC236}">
                    <a16:creationId xmlns:a16="http://schemas.microsoft.com/office/drawing/2014/main" id="{CD0303DF-1DCC-BC06-8D22-CEEFEB1679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943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A54FDF3-A012-00E6-70B5-DE8984AE613B}"/>
                  </a:ext>
                </a:extLst>
              </p:cNvPr>
              <p:cNvSpPr txBox="1"/>
              <p:nvPr/>
            </p:nvSpPr>
            <p:spPr>
              <a:xfrm>
                <a:off x="5286613" y="5884785"/>
                <a:ext cx="155528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games.howell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4AF0122-CAF7-91B0-4C93-6BA6965E57EF}"/>
                  </a:ext>
                </a:extLst>
              </p:cNvPr>
              <p:cNvSpPr txBox="1"/>
              <p:nvPr/>
            </p:nvSpPr>
            <p:spPr>
              <a:xfrm>
                <a:off x="3917677" y="2201353"/>
                <a:ext cx="6199886" cy="2808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levene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.test() </a:t>
                </a:r>
              </a:p>
            </p:txBody>
          </p:sp>
          <p:cxnSp>
            <p:nvCxnSpPr>
              <p:cNvPr id="12" name="Gerade Verbindung mit Pfeil 11">
                <a:extLst>
                  <a:ext uri="{FF2B5EF4-FFF2-40B4-BE49-F238E27FC236}">
                    <a16:creationId xmlns:a16="http://schemas.microsoft.com/office/drawing/2014/main" id="{C982492E-9004-3525-59EB-AC688E5FF045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>
                <a:off x="6273543" y="1752517"/>
                <a:ext cx="0" cy="5804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AC91F27F-B36D-75A0-4A2F-E146CDF71017}"/>
                      </a:ext>
                    </a:extLst>
                  </p:cNvPr>
                  <p:cNvSpPr txBox="1"/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9DDF4002-DC12-E055-D57B-9A420412E1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272FB962-8D3C-D738-E57D-0EBF3136CD21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0EA1C71A-304F-C75E-AF4E-0A6C9B95F4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4167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8" name="Gruppieren 37">
                <a:extLst>
                  <a:ext uri="{FF2B5EF4-FFF2-40B4-BE49-F238E27FC236}">
                    <a16:creationId xmlns:a16="http://schemas.microsoft.com/office/drawing/2014/main" id="{592218C2-53D5-DE90-AFB4-26C16008CEA5}"/>
                  </a:ext>
                </a:extLst>
              </p:cNvPr>
              <p:cNvGrpSpPr/>
              <p:nvPr/>
            </p:nvGrpSpPr>
            <p:grpSpPr>
              <a:xfrm>
                <a:off x="4591203" y="4716325"/>
                <a:ext cx="1687838" cy="346131"/>
                <a:chOff x="2697748" y="1511731"/>
                <a:chExt cx="1289074" cy="305403"/>
              </a:xfrm>
            </p:grpSpPr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58AB4AAA-6EAD-72BA-D8B2-A088DE924A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7748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Gerade Verbindung mit Pfeil 41">
                  <a:extLst>
                    <a:ext uri="{FF2B5EF4-FFF2-40B4-BE49-F238E27FC236}">
                      <a16:creationId xmlns:a16="http://schemas.microsoft.com/office/drawing/2014/main" id="{05335EE5-D5BD-7D18-1625-F5B7F427F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7232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947BE4D4-6EB5-4A04-CB5C-910422C885C6}"/>
                      </a:ext>
                    </a:extLst>
                  </p:cNvPr>
                  <p:cNvSpPr txBox="1"/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32F34D86-DE31-25CE-057E-D851B9BC0D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ADA3C46C-18A3-5962-93BB-665EF2E925E7}"/>
                      </a:ext>
                    </a:extLst>
                  </p:cNvPr>
                  <p:cNvSpPr txBox="1"/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3E0D5529-B228-DD80-E287-2980B0241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D0C449D1-27C8-EB85-BF13-93B7D90F8663}"/>
                  </a:ext>
                </a:extLst>
              </p:cNvPr>
              <p:cNvGrpSpPr/>
              <p:nvPr/>
            </p:nvGrpSpPr>
            <p:grpSpPr>
              <a:xfrm>
                <a:off x="7894225" y="4716325"/>
                <a:ext cx="1687838" cy="346131"/>
                <a:chOff x="2785044" y="1511731"/>
                <a:chExt cx="1289074" cy="305403"/>
              </a:xfrm>
            </p:grpSpPr>
            <p:cxnSp>
              <p:nvCxnSpPr>
                <p:cNvPr id="58" name="Gerade Verbindung mit Pfeil 57">
                  <a:extLst>
                    <a:ext uri="{FF2B5EF4-FFF2-40B4-BE49-F238E27FC236}">
                      <a16:creationId xmlns:a16="http://schemas.microsoft.com/office/drawing/2014/main" id="{AD74BBAF-E668-080C-2D00-CB913599C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5044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Gerade Verbindung mit Pfeil 58">
                  <a:extLst>
                    <a:ext uri="{FF2B5EF4-FFF2-40B4-BE49-F238E27FC236}">
                      <a16:creationId xmlns:a16="http://schemas.microsoft.com/office/drawing/2014/main" id="{CEBF20F7-BBEC-726E-58ED-AF22CE707E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24528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84DF7205-949F-23A3-AD8A-9501B2790ADE}"/>
                      </a:ext>
                    </a:extLst>
                  </p:cNvPr>
                  <p:cNvSpPr txBox="1"/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77C6E6CC-42F5-BE06-70A0-D9AD390338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71CCCB3A-8795-E509-CCA8-3B82AFBA71C6}"/>
                      </a:ext>
                    </a:extLst>
                  </p:cNvPr>
                  <p:cNvSpPr txBox="1"/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98C4BAEE-E59A-9693-1E67-65291EDBDE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5A7FCC7-AAA1-25DE-F5ED-DD8C82FBB3EA}"/>
                  </a:ext>
                </a:extLst>
              </p:cNvPr>
              <p:cNvSpPr txBox="1"/>
              <p:nvPr/>
            </p:nvSpPr>
            <p:spPr>
              <a:xfrm>
                <a:off x="4237616" y="5367256"/>
                <a:ext cx="991434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cxnSp>
            <p:nvCxnSpPr>
              <p:cNvPr id="448" name="Gerade Verbindung mit Pfeil 447">
                <a:extLst>
                  <a:ext uri="{FF2B5EF4-FFF2-40B4-BE49-F238E27FC236}">
                    <a16:creationId xmlns:a16="http://schemas.microsoft.com/office/drawing/2014/main" id="{D3C5FC0F-2527-7814-47E7-6E47A58C5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63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3" name="Textfeld 452">
                <a:extLst>
                  <a:ext uri="{FF2B5EF4-FFF2-40B4-BE49-F238E27FC236}">
                    <a16:creationId xmlns:a16="http://schemas.microsoft.com/office/drawing/2014/main" id="{0B0B7A0F-63E6-A192-B45E-34D5AD94AE63}"/>
                  </a:ext>
                </a:extLst>
              </p:cNvPr>
              <p:cNvSpPr txBox="1"/>
              <p:nvPr/>
            </p:nvSpPr>
            <p:spPr>
              <a:xfrm>
                <a:off x="371932" y="1518116"/>
                <a:ext cx="1579377" cy="281831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parametric tests</a:t>
                </a:r>
              </a:p>
            </p:txBody>
          </p:sp>
          <p:sp>
            <p:nvSpPr>
              <p:cNvPr id="454" name="Textfeld 453">
                <a:extLst>
                  <a:ext uri="{FF2B5EF4-FFF2-40B4-BE49-F238E27FC236}">
                    <a16:creationId xmlns:a16="http://schemas.microsoft.com/office/drawing/2014/main" id="{725DE9B5-C5E7-C073-D21F-4E06D90D6A8B}"/>
                  </a:ext>
                </a:extLst>
              </p:cNvPr>
              <p:cNvSpPr txBox="1"/>
              <p:nvPr/>
            </p:nvSpPr>
            <p:spPr>
              <a:xfrm>
                <a:off x="306876" y="1315788"/>
                <a:ext cx="1097743" cy="2818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pPr algn="l"/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Colour code: </a:t>
                </a:r>
              </a:p>
            </p:txBody>
          </p:sp>
          <p:sp>
            <p:nvSpPr>
              <p:cNvPr id="455" name="Rechteck 454">
                <a:extLst>
                  <a:ext uri="{FF2B5EF4-FFF2-40B4-BE49-F238E27FC236}">
                    <a16:creationId xmlns:a16="http://schemas.microsoft.com/office/drawing/2014/main" id="{39E1AB60-10D1-5CF6-890C-AC00B41C7513}"/>
                  </a:ext>
                </a:extLst>
              </p:cNvPr>
              <p:cNvSpPr/>
              <p:nvPr/>
            </p:nvSpPr>
            <p:spPr>
              <a:xfrm>
                <a:off x="264845" y="1290852"/>
                <a:ext cx="2562767" cy="1410048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9398502E-FD25-47E8-FD78-787ABF1693E4}"/>
                      </a:ext>
                    </a:extLst>
                  </p:cNvPr>
                  <p:cNvSpPr txBox="1"/>
                  <p:nvPr/>
                </p:nvSpPr>
                <p:spPr>
                  <a:xfrm>
                    <a:off x="331795" y="2194101"/>
                    <a:ext cx="2326236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:r>
                      <a:rPr lang="en-GB" sz="1200" noProof="0" dirty="0" err="1">
                        <a:latin typeface="Courier New" panose="02070309020205020404" pitchFamily="49" charset="0"/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a:t>conf.level</a:t>
                    </a:r>
                    <a:endParaRPr lang="en-GB" sz="1200" noProof="0" dirty="0">
                      <a:latin typeface="Courier New" panose="02070309020205020404" pitchFamily="49" charset="0"/>
                      <a:ea typeface="CMU Bright Roman" panose="02000603000000000000" pitchFamily="2" charset="0"/>
                      <a:cs typeface="Courier New" panose="02070309020205020404" pitchFamily="49" charset="0"/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 noProof="0" dirty="0" smtClean="0">
                                <a:latin typeface="Cambria Math" panose="02040503050406030204" pitchFamily="18" charset="0"/>
                                <a:ea typeface="CMU Bright Roman" panose="02000603000000000000" pitchFamily="2" charset="0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GB" sz="1200" i="1" noProof="0" dirty="0" smtClean="0">
                                <a:latin typeface="Cambria Math" panose="02040503050406030204" pitchFamily="18" charset="0"/>
                                <a:ea typeface="CMU Bright Roman" panose="02000603000000000000" pitchFamily="2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1200" i="1" noProof="0" dirty="0" smtClean="0">
                                <a:latin typeface="Cambria Math" panose="02040503050406030204" pitchFamily="18" charset="0"/>
                                <a:ea typeface="CMU Bright Roman" panose="02000603000000000000" pitchFamily="2" charset="0"/>
                                <a:cs typeface="Courier New" panose="02070309020205020404" pitchFamily="49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: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 </m:t>
                        </m:r>
                      </m:oMath>
                    </a14:m>
                    <a:r>
                      <a:rPr lang="en-GB" sz="1200" dirty="0"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a:t>sample size of group/level</a:t>
                    </a:r>
                    <a14:m>
                      <m:oMath xmlns:m="http://schemas.openxmlformats.org/officeDocument/2006/math">
                        <m:r>
                          <a:rPr lang="en-US" sz="1200" b="0" i="0" dirty="0" smtClean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 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𝑖</m:t>
                        </m:r>
                      </m:oMath>
                    </a14:m>
                    <a:endParaRPr lang="en-GB" sz="800" noProof="0" dirty="0">
                      <a:ea typeface="CMU Bright Roman" panose="02000603000000000000" pitchFamily="2" charset="0"/>
                      <a:cs typeface="CMU Bright Roman" panose="02000603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AE241776-F0C5-523F-4D7D-472302D0E6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795" y="2194101"/>
                    <a:ext cx="2326236" cy="46166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810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8" name="Gerade Verbindung mit Pfeil 457">
                <a:extLst>
                  <a:ext uri="{FF2B5EF4-FFF2-40B4-BE49-F238E27FC236}">
                    <a16:creationId xmlns:a16="http://schemas.microsoft.com/office/drawing/2014/main" id="{48DC8FF4-B38A-3AAA-9F2C-F5CBF1326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3975" y="3310805"/>
                <a:ext cx="0" cy="49356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8" name="Textfeld 507">
                <a:extLst>
                  <a:ext uri="{FF2B5EF4-FFF2-40B4-BE49-F238E27FC236}">
                    <a16:creationId xmlns:a16="http://schemas.microsoft.com/office/drawing/2014/main" id="{7739C404-B97A-4DF2-FF08-5CD1425219B0}"/>
                  </a:ext>
                </a:extLst>
              </p:cNvPr>
              <p:cNvSpPr txBox="1"/>
              <p:nvPr/>
            </p:nvSpPr>
            <p:spPr>
              <a:xfrm>
                <a:off x="306876" y="3784066"/>
                <a:ext cx="3307799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6285C5ED-B7D7-2B67-2F5E-385146328EA9}"/>
                  </a:ext>
                </a:extLst>
              </p:cNvPr>
              <p:cNvSpPr txBox="1"/>
              <p:nvPr/>
            </p:nvSpPr>
            <p:spPr>
              <a:xfrm>
                <a:off x="393079" y="1855690"/>
                <a:ext cx="1579378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49E3860B-75F4-C4C4-AE3F-0A16B448FAFA}"/>
                  </a:ext>
                </a:extLst>
              </p:cNvPr>
              <p:cNvGrpSpPr/>
              <p:nvPr/>
            </p:nvGrpSpPr>
            <p:grpSpPr>
              <a:xfrm>
                <a:off x="1022643" y="4084526"/>
                <a:ext cx="1795871" cy="944792"/>
                <a:chOff x="3378041" y="2876116"/>
                <a:chExt cx="1795871" cy="542165"/>
              </a:xfrm>
            </p:grpSpPr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60F08B0A-977D-7CB0-17A2-D4CD2DBF57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78041" y="2876116"/>
                  <a:ext cx="890897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F087514A-1F40-95F2-0C1F-FF7F386CA7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8938" y="2876116"/>
                  <a:ext cx="904974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3E3D73A8-70F2-3F30-8F8E-59464648DBD0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>
              <a:off x="3442874" y="3610011"/>
              <a:ext cx="3996032" cy="524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421B2C4E-E553-C4F1-DB70-85D57C5FAA01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>
              <a:off x="6271256" y="2486905"/>
              <a:ext cx="1167650" cy="4314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9" name="Gerade Verbindung mit Pfeil 498">
            <a:extLst>
              <a:ext uri="{FF2B5EF4-FFF2-40B4-BE49-F238E27FC236}">
                <a16:creationId xmlns:a16="http://schemas.microsoft.com/office/drawing/2014/main" id="{445627F6-EB0A-B9FB-1E9C-3533B733C304}"/>
              </a:ext>
            </a:extLst>
          </p:cNvPr>
          <p:cNvCxnSpPr>
            <a:cxnSpLocks/>
          </p:cNvCxnSpPr>
          <p:nvPr/>
        </p:nvCxnSpPr>
        <p:spPr>
          <a:xfrm>
            <a:off x="1672857" y="3698487"/>
            <a:ext cx="0" cy="49356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50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6C71-467C-2908-108E-4FFF1E66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F0DF8AF3-4E85-7DF0-2FA6-A0B5C6F5D206}"/>
              </a:ext>
            </a:extLst>
          </p:cNvPr>
          <p:cNvGrpSpPr/>
          <p:nvPr/>
        </p:nvGrpSpPr>
        <p:grpSpPr>
          <a:xfrm>
            <a:off x="-59028" y="696015"/>
            <a:ext cx="12251028" cy="5465970"/>
            <a:chOff x="168318" y="558852"/>
            <a:chExt cx="12251028" cy="5465970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187C39A3-A174-52AC-CD73-6D828A52F04A}"/>
                </a:ext>
              </a:extLst>
            </p:cNvPr>
            <p:cNvGrpSpPr/>
            <p:nvPr/>
          </p:nvGrpSpPr>
          <p:grpSpPr>
            <a:xfrm>
              <a:off x="168318" y="558852"/>
              <a:ext cx="12251028" cy="5465970"/>
              <a:chOff x="176103" y="696015"/>
              <a:chExt cx="12251028" cy="5465970"/>
            </a:xfrm>
          </p:grpSpPr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068FF5E1-F079-DF9D-FD7C-E268420CF978}"/>
                  </a:ext>
                </a:extLst>
              </p:cNvPr>
              <p:cNvSpPr txBox="1"/>
              <p:nvPr/>
            </p:nvSpPr>
            <p:spPr>
              <a:xfrm>
                <a:off x="2935775" y="2530608"/>
                <a:ext cx="2869601" cy="276999"/>
              </a:xfrm>
              <a:prstGeom prst="rect">
                <a:avLst/>
              </a:prstGeom>
              <a:solidFill>
                <a:schemeClr val="accent2">
                  <a:alpha val="19906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shapiro.test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of residuals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Textfeld 159">
                <a:extLst>
                  <a:ext uri="{FF2B5EF4-FFF2-40B4-BE49-F238E27FC236}">
                    <a16:creationId xmlns:a16="http://schemas.microsoft.com/office/drawing/2014/main" id="{69771035-549E-AC26-2C17-18F5675C2C77}"/>
                  </a:ext>
                </a:extLst>
              </p:cNvPr>
              <p:cNvSpPr txBox="1"/>
              <p:nvPr/>
            </p:nvSpPr>
            <p:spPr>
              <a:xfrm>
                <a:off x="10687409" y="2843425"/>
                <a:ext cx="1734970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Check normality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1CFA9C82-560E-0334-1BB1-9FD4E0F70506}"/>
                      </a:ext>
                    </a:extLst>
                  </p:cNvPr>
                  <p:cNvSpPr txBox="1"/>
                  <p:nvPr/>
                </p:nvSpPr>
                <p:spPr>
                  <a:xfrm>
                    <a:off x="3829837" y="714371"/>
                    <a:ext cx="5594111" cy="4616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</a:t>
                    </a:r>
                    <a:r>
                      <a:rPr lang="en-GB" sz="1200" noProof="0" dirty="0" err="1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ategorical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predictor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N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umeric response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numeric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or 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integer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1CFA9C82-560E-0334-1BB1-9FD4E0F705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9837" y="714371"/>
                    <a:ext cx="5594111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895"/>
                    </a:stretch>
                  </a:blip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F6AAEE37-561B-2614-4B82-BA3E31A1445D}"/>
                      </a:ext>
                    </a:extLst>
                  </p:cNvPr>
                  <p:cNvSpPr txBox="1"/>
                  <p:nvPr/>
                </p:nvSpPr>
                <p:spPr>
                  <a:xfrm>
                    <a:off x="2935776" y="1958303"/>
                    <a:ext cx="2865165" cy="27699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</a:t>
                    </a:r>
                    <a14:m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50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for all  </a:t>
                    </a:r>
                    <a14:m>
                      <m:oMath xmlns:m="http://schemas.openxmlformats.org/officeDocument/2006/math"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=1,…,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F6AAEE37-561B-2614-4B82-BA3E31A144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5776" y="1958303"/>
                    <a:ext cx="2865165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69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EAA44F0D-CC8D-6089-131A-2E1FE6EFFBE2}"/>
                  </a:ext>
                </a:extLst>
              </p:cNvPr>
              <p:cNvSpPr txBox="1"/>
              <p:nvPr/>
            </p:nvSpPr>
            <p:spPr>
              <a:xfrm>
                <a:off x="306876" y="5348377"/>
                <a:ext cx="1455624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wilcox.test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0BBD0A08-95D2-F972-F4D4-79B7324DC9BB}"/>
                  </a:ext>
                </a:extLst>
              </p:cNvPr>
              <p:cNvSpPr txBox="1"/>
              <p:nvPr/>
            </p:nvSpPr>
            <p:spPr>
              <a:xfrm>
                <a:off x="1822802" y="5348377"/>
                <a:ext cx="2352360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kruskal.test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38C66D2F-9E14-7C8B-5D2A-1F7912FEFB00}"/>
                      </a:ext>
                    </a:extLst>
                  </p:cNvPr>
                  <p:cNvSpPr txBox="1"/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38C66D2F-9E14-7C8B-5D2A-1F7912FEFB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CA4581C7-C3B0-54FA-EF00-228EC57A3E10}"/>
                      </a:ext>
                    </a:extLst>
                  </p:cNvPr>
                  <p:cNvSpPr txBox="1"/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nor/>
                            </m:rPr>
                            <a:rPr lang="en-GB" sz="12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 b="0" i="0" dirty="0" smtClean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&lt;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  <a:p>
                    <a:pPr algn="ctr"/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CA4581C7-C3B0-54FA-EF00-228EC57A3E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811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E9381FD-69C7-430A-E209-F66858BC4F1A}"/>
                  </a:ext>
                </a:extLst>
              </p:cNvPr>
              <p:cNvSpPr txBox="1"/>
              <p:nvPr/>
            </p:nvSpPr>
            <p:spPr>
              <a:xfrm>
                <a:off x="5270268" y="5367256"/>
                <a:ext cx="155528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oneway.test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274C6E35-BABE-7694-0978-CD95FB70192A}"/>
                  </a:ext>
                </a:extLst>
              </p:cNvPr>
              <p:cNvSpPr txBox="1"/>
              <p:nvPr/>
            </p:nvSpPr>
            <p:spPr>
              <a:xfrm>
                <a:off x="9492978" y="5376299"/>
                <a:ext cx="105365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aov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grpSp>
            <p:nvGrpSpPr>
              <p:cNvPr id="427" name="Gruppieren 426">
                <a:extLst>
                  <a:ext uri="{FF2B5EF4-FFF2-40B4-BE49-F238E27FC236}">
                    <a16:creationId xmlns:a16="http://schemas.microsoft.com/office/drawing/2014/main" id="{F60B4F5F-1A5A-6983-57F2-9A558C4A2A4B}"/>
                  </a:ext>
                </a:extLst>
              </p:cNvPr>
              <p:cNvGrpSpPr/>
              <p:nvPr/>
            </p:nvGrpSpPr>
            <p:grpSpPr>
              <a:xfrm>
                <a:off x="5783635" y="4151670"/>
                <a:ext cx="2856320" cy="305400"/>
                <a:chOff x="8002301" y="4581613"/>
                <a:chExt cx="1289076" cy="305400"/>
              </a:xfrm>
            </p:grpSpPr>
            <p:cxnSp>
              <p:nvCxnSpPr>
                <p:cNvPr id="85" name="Gerade Verbindung mit Pfeil 84">
                  <a:extLst>
                    <a:ext uri="{FF2B5EF4-FFF2-40B4-BE49-F238E27FC236}">
                      <a16:creationId xmlns:a16="http://schemas.microsoft.com/office/drawing/2014/main" id="{7DB92D34-6BE9-8F72-335D-782116FA9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02301" y="4581613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Gerade Verbindung mit Pfeil 85">
                  <a:extLst>
                    <a:ext uri="{FF2B5EF4-FFF2-40B4-BE49-F238E27FC236}">
                      <a16:creationId xmlns:a16="http://schemas.microsoft.com/office/drawing/2014/main" id="{DA797C15-DD84-EA62-E689-E0352D91B0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41787" y="4581613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74A3E3BE-C2F2-8A60-46BA-B43DEC661C89}"/>
                  </a:ext>
                </a:extLst>
              </p:cNvPr>
              <p:cNvSpPr txBox="1"/>
              <p:nvPr/>
            </p:nvSpPr>
            <p:spPr>
              <a:xfrm>
                <a:off x="9492977" y="5884785"/>
                <a:ext cx="1124403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TukeyHSD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9D6DD951-0BCF-B830-BA0E-BD736C52D67E}"/>
                  </a:ext>
                </a:extLst>
              </p:cNvPr>
              <p:cNvSpPr txBox="1"/>
              <p:nvPr/>
            </p:nvSpPr>
            <p:spPr>
              <a:xfrm>
                <a:off x="1802317" y="5884785"/>
                <a:ext cx="235514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pairwise.wilcox.test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1BB6760B-CE33-E359-98D8-3A80AB6E2061}"/>
                  </a:ext>
                </a:extLst>
              </p:cNvPr>
              <p:cNvSpPr txBox="1"/>
              <p:nvPr/>
            </p:nvSpPr>
            <p:spPr>
              <a:xfrm>
                <a:off x="6896818" y="5376365"/>
                <a:ext cx="2527130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var.equal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=TRUE)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DB1D11B9-7DA9-707E-F6E3-B35B8A7B85EA}"/>
                      </a:ext>
                    </a:extLst>
                  </p:cNvPr>
                  <p:cNvSpPr txBox="1"/>
                  <p:nvPr/>
                </p:nvSpPr>
                <p:spPr>
                  <a:xfrm>
                    <a:off x="1539813" y="3195594"/>
                    <a:ext cx="206234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𝑆𝑊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&lt;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DB1D11B9-7DA9-707E-F6E3-B35B8A7B85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9813" y="3195594"/>
                    <a:ext cx="206234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696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427A10DA-9FC5-57E8-5BBB-30CA10031A9C}"/>
                      </a:ext>
                    </a:extLst>
                  </p:cNvPr>
                  <p:cNvSpPr txBox="1"/>
                  <p:nvPr/>
                </p:nvSpPr>
                <p:spPr>
                  <a:xfrm>
                    <a:off x="5072567" y="3224082"/>
                    <a:ext cx="1805631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𝑆𝑊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427A10DA-9FC5-57E8-5BBB-30CA10031A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2567" y="3224082"/>
                    <a:ext cx="180563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3043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9B76B0ED-5429-C912-842E-CDB7822669E7}"/>
                  </a:ext>
                </a:extLst>
              </p:cNvPr>
              <p:cNvSpPr txBox="1"/>
              <p:nvPr/>
            </p:nvSpPr>
            <p:spPr>
              <a:xfrm>
                <a:off x="10687408" y="5884785"/>
                <a:ext cx="1739721" cy="277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Post-hoc test </a:t>
                </a:r>
              </a:p>
            </p:txBody>
          </p:sp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519BD8C5-7449-CD5B-D48B-19A9044FB288}"/>
                  </a:ext>
                </a:extLst>
              </p:cNvPr>
              <p:cNvSpPr txBox="1"/>
              <p:nvPr/>
            </p:nvSpPr>
            <p:spPr>
              <a:xfrm>
                <a:off x="10687409" y="5413543"/>
                <a:ext cx="1739722" cy="276999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Final test selected </a:t>
                </a:r>
              </a:p>
            </p:txBody>
          </p:sp>
          <p:sp>
            <p:nvSpPr>
              <p:cNvPr id="159" name="Textfeld 158">
                <a:extLst>
                  <a:ext uri="{FF2B5EF4-FFF2-40B4-BE49-F238E27FC236}">
                    <a16:creationId xmlns:a16="http://schemas.microsoft.com/office/drawing/2014/main" id="{E123BC7C-F283-90C7-9FF1-57E548148085}"/>
                  </a:ext>
                </a:extLst>
              </p:cNvPr>
              <p:cNvSpPr txBox="1"/>
              <p:nvPr/>
            </p:nvSpPr>
            <p:spPr>
              <a:xfrm>
                <a:off x="10687409" y="3849123"/>
                <a:ext cx="1734970" cy="27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heck </a:t>
                </a:r>
                <a:r>
                  <a:rPr lang="de-CH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</a:t>
                </a:r>
                <a:r>
                  <a:rPr lang="de-CH" dirty="0" err="1"/>
                  <a:t>omoscedasticity</a:t>
                </a:r>
                <a:endPara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91" name="Gruppieren 490">
                <a:extLst>
                  <a:ext uri="{FF2B5EF4-FFF2-40B4-BE49-F238E27FC236}">
                    <a16:creationId xmlns:a16="http://schemas.microsoft.com/office/drawing/2014/main" id="{C46745CE-C7B4-E504-43D7-3E24A8313AFE}"/>
                  </a:ext>
                </a:extLst>
              </p:cNvPr>
              <p:cNvGrpSpPr/>
              <p:nvPr/>
            </p:nvGrpSpPr>
            <p:grpSpPr>
              <a:xfrm>
                <a:off x="5127020" y="1332992"/>
                <a:ext cx="1795871" cy="542165"/>
                <a:chOff x="2719572" y="1536945"/>
                <a:chExt cx="1289076" cy="305400"/>
              </a:xfrm>
            </p:grpSpPr>
            <p:cxnSp>
              <p:nvCxnSpPr>
                <p:cNvPr id="492" name="Gerade Verbindung mit Pfeil 491">
                  <a:extLst>
                    <a:ext uri="{FF2B5EF4-FFF2-40B4-BE49-F238E27FC236}">
                      <a16:creationId xmlns:a16="http://schemas.microsoft.com/office/drawing/2014/main" id="{C9EA7BC2-E403-97C7-5BD2-9F31E6AA37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2151" y="1536945"/>
                  <a:ext cx="669170" cy="30540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Gerade Verbindung mit Pfeil 492">
                  <a:extLst>
                    <a:ext uri="{FF2B5EF4-FFF2-40B4-BE49-F238E27FC236}">
                      <a16:creationId xmlns:a16="http://schemas.microsoft.com/office/drawing/2014/main" id="{2581601F-B896-CD09-F0EE-654B1B1B42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1321" y="1536945"/>
                  <a:ext cx="676275" cy="30540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9" name="Gerade Verbindung mit Pfeil 468">
                <a:extLst>
                  <a:ext uri="{FF2B5EF4-FFF2-40B4-BE49-F238E27FC236}">
                    <a16:creationId xmlns:a16="http://schemas.microsoft.com/office/drawing/2014/main" id="{131015DD-CA84-ED99-C942-175FC34408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72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Gerade Verbindung mit Pfeil 469">
                <a:extLst>
                  <a:ext uri="{FF2B5EF4-FFF2-40B4-BE49-F238E27FC236}">
                    <a16:creationId xmlns:a16="http://schemas.microsoft.com/office/drawing/2014/main" id="{9444F9C2-945C-821C-AA18-6996A89459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943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176BE39-0DC3-4460-A1E3-B164CF21631E}"/>
                  </a:ext>
                </a:extLst>
              </p:cNvPr>
              <p:cNvSpPr txBox="1"/>
              <p:nvPr/>
            </p:nvSpPr>
            <p:spPr>
              <a:xfrm>
                <a:off x="5286613" y="5884785"/>
                <a:ext cx="155528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games.howell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96C0ED5-86FD-C69F-7040-AA1BEEA2F5DF}"/>
                  </a:ext>
                </a:extLst>
              </p:cNvPr>
              <p:cNvSpPr txBox="1"/>
              <p:nvPr/>
            </p:nvSpPr>
            <p:spPr>
              <a:xfrm>
                <a:off x="4346747" y="3845460"/>
                <a:ext cx="6199886" cy="2808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levene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.test()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25D3B015-9B60-7B1A-E90A-F3C27F59AD30}"/>
                      </a:ext>
                    </a:extLst>
                  </p:cNvPr>
                  <p:cNvSpPr txBox="1"/>
                  <p:nvPr/>
                </p:nvSpPr>
                <p:spPr>
                  <a:xfrm>
                    <a:off x="6092023" y="1958302"/>
                    <a:ext cx="2239544" cy="27699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50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for all </a:t>
                    </a:r>
                    <a14:m>
                      <m:oMath xmlns:m="http://schemas.openxmlformats.org/officeDocument/2006/math"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=1,..,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25D3B015-9B60-7B1A-E90A-F3C27F59AD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2023" y="1958302"/>
                    <a:ext cx="223954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869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Gerade Verbindung mit Pfeil 11">
                <a:extLst>
                  <a:ext uri="{FF2B5EF4-FFF2-40B4-BE49-F238E27FC236}">
                    <a16:creationId xmlns:a16="http://schemas.microsoft.com/office/drawing/2014/main" id="{3058B38B-2ED7-9E1F-F998-9BF78ADED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2155" y="2308452"/>
                <a:ext cx="0" cy="15100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9DDF4002-DC12-E055-D57B-9A420412E12D}"/>
                      </a:ext>
                    </a:extLst>
                  </p:cNvPr>
                  <p:cNvSpPr txBox="1"/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9DDF4002-DC12-E055-D57B-9A420412E1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0EA1C71A-304F-C75E-AF4E-0A6C9B95F4FB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0EA1C71A-304F-C75E-AF4E-0A6C9B95F4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4167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8" name="Gruppieren 37">
                <a:extLst>
                  <a:ext uri="{FF2B5EF4-FFF2-40B4-BE49-F238E27FC236}">
                    <a16:creationId xmlns:a16="http://schemas.microsoft.com/office/drawing/2014/main" id="{C6503C36-7FD5-F491-6D2E-6C39315C2187}"/>
                  </a:ext>
                </a:extLst>
              </p:cNvPr>
              <p:cNvGrpSpPr/>
              <p:nvPr/>
            </p:nvGrpSpPr>
            <p:grpSpPr>
              <a:xfrm>
                <a:off x="4591203" y="4716325"/>
                <a:ext cx="1687838" cy="346131"/>
                <a:chOff x="2697748" y="1511731"/>
                <a:chExt cx="1289074" cy="305403"/>
              </a:xfrm>
            </p:grpSpPr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07A7E073-1A96-35BA-9DCF-25FAEA9485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7748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Gerade Verbindung mit Pfeil 41">
                  <a:extLst>
                    <a:ext uri="{FF2B5EF4-FFF2-40B4-BE49-F238E27FC236}">
                      <a16:creationId xmlns:a16="http://schemas.microsoft.com/office/drawing/2014/main" id="{44FE817B-F0CA-DF20-CA68-5630D7BA9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7232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32F34D86-DE31-25CE-057E-D851B9BC0D4C}"/>
                      </a:ext>
                    </a:extLst>
                  </p:cNvPr>
                  <p:cNvSpPr txBox="1"/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32F34D86-DE31-25CE-057E-D851B9BC0D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3E0D5529-B228-DD80-E287-2980B02418B3}"/>
                      </a:ext>
                    </a:extLst>
                  </p:cNvPr>
                  <p:cNvSpPr txBox="1"/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3E0D5529-B228-DD80-E287-2980B0241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49649FEE-F4D0-3CC0-B563-DD56D0D28311}"/>
                  </a:ext>
                </a:extLst>
              </p:cNvPr>
              <p:cNvGrpSpPr/>
              <p:nvPr/>
            </p:nvGrpSpPr>
            <p:grpSpPr>
              <a:xfrm>
                <a:off x="7894225" y="4716325"/>
                <a:ext cx="1687838" cy="346131"/>
                <a:chOff x="2785044" y="1511731"/>
                <a:chExt cx="1289074" cy="305403"/>
              </a:xfrm>
            </p:grpSpPr>
            <p:cxnSp>
              <p:nvCxnSpPr>
                <p:cNvPr id="58" name="Gerade Verbindung mit Pfeil 57">
                  <a:extLst>
                    <a:ext uri="{FF2B5EF4-FFF2-40B4-BE49-F238E27FC236}">
                      <a16:creationId xmlns:a16="http://schemas.microsoft.com/office/drawing/2014/main" id="{4FFC3366-C9F6-DB2B-BE73-6C00D9BA03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5044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Gerade Verbindung mit Pfeil 58">
                  <a:extLst>
                    <a:ext uri="{FF2B5EF4-FFF2-40B4-BE49-F238E27FC236}">
                      <a16:creationId xmlns:a16="http://schemas.microsoft.com/office/drawing/2014/main" id="{5BF45602-2F67-4168-59E4-A3998969C4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24528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77C6E6CC-42F5-BE06-70A0-D9AD39033837}"/>
                      </a:ext>
                    </a:extLst>
                  </p:cNvPr>
                  <p:cNvSpPr txBox="1"/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77C6E6CC-42F5-BE06-70A0-D9AD390338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98C4BAEE-E59A-9693-1E67-65291EDBDE33}"/>
                      </a:ext>
                    </a:extLst>
                  </p:cNvPr>
                  <p:cNvSpPr txBox="1"/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98C4BAEE-E59A-9693-1E67-65291EDBDE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5CCF68E2-CE13-5735-609B-5C127D7431F9}"/>
                  </a:ext>
                </a:extLst>
              </p:cNvPr>
              <p:cNvSpPr txBox="1"/>
              <p:nvPr/>
            </p:nvSpPr>
            <p:spPr>
              <a:xfrm>
                <a:off x="4237616" y="5367256"/>
                <a:ext cx="991434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cxnSp>
            <p:nvCxnSpPr>
              <p:cNvPr id="448" name="Gerade Verbindung mit Pfeil 447">
                <a:extLst>
                  <a:ext uri="{FF2B5EF4-FFF2-40B4-BE49-F238E27FC236}">
                    <a16:creationId xmlns:a16="http://schemas.microsoft.com/office/drawing/2014/main" id="{AE475B88-AB1E-D266-5235-BF5F930BE9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63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Gerade Verbindung mit Pfeil 450">
                <a:extLst>
                  <a:ext uri="{FF2B5EF4-FFF2-40B4-BE49-F238E27FC236}">
                    <a16:creationId xmlns:a16="http://schemas.microsoft.com/office/drawing/2014/main" id="{9B9EE9F6-5702-287C-F8A2-654F20C07D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0576" y="2259772"/>
                <a:ext cx="0" cy="24052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3" name="Textfeld 452">
                <a:extLst>
                  <a:ext uri="{FF2B5EF4-FFF2-40B4-BE49-F238E27FC236}">
                    <a16:creationId xmlns:a16="http://schemas.microsoft.com/office/drawing/2014/main" id="{9D680ABF-B40E-64A8-8CA2-ADD967E39ABF}"/>
                  </a:ext>
                </a:extLst>
              </p:cNvPr>
              <p:cNvSpPr txBox="1"/>
              <p:nvPr/>
            </p:nvSpPr>
            <p:spPr>
              <a:xfrm>
                <a:off x="9777810" y="1021323"/>
                <a:ext cx="1579377" cy="281831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parametric tests</a:t>
                </a:r>
              </a:p>
            </p:txBody>
          </p:sp>
          <p:sp>
            <p:nvSpPr>
              <p:cNvPr id="454" name="Textfeld 453">
                <a:extLst>
                  <a:ext uri="{FF2B5EF4-FFF2-40B4-BE49-F238E27FC236}">
                    <a16:creationId xmlns:a16="http://schemas.microsoft.com/office/drawing/2014/main" id="{91CC0555-9927-4C62-300B-210270F9CD9D}"/>
                  </a:ext>
                </a:extLst>
              </p:cNvPr>
              <p:cNvSpPr txBox="1"/>
              <p:nvPr/>
            </p:nvSpPr>
            <p:spPr>
              <a:xfrm>
                <a:off x="9691066" y="743904"/>
                <a:ext cx="1097743" cy="2818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pPr algn="l"/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Colour code: </a:t>
                </a:r>
              </a:p>
            </p:txBody>
          </p:sp>
          <p:sp>
            <p:nvSpPr>
              <p:cNvPr id="455" name="Rechteck 454">
                <a:extLst>
                  <a:ext uri="{FF2B5EF4-FFF2-40B4-BE49-F238E27FC236}">
                    <a16:creationId xmlns:a16="http://schemas.microsoft.com/office/drawing/2014/main" id="{3E5F604F-EE46-86FF-7411-4BCCBA43E137}"/>
                  </a:ext>
                </a:extLst>
              </p:cNvPr>
              <p:cNvSpPr/>
              <p:nvPr/>
            </p:nvSpPr>
            <p:spPr>
              <a:xfrm>
                <a:off x="9581981" y="696015"/>
                <a:ext cx="2637621" cy="1524648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E47FDE1A-B498-6B59-C66D-9D00864C40C7}"/>
                      </a:ext>
                    </a:extLst>
                  </p:cNvPr>
                  <p:cNvSpPr txBox="1"/>
                  <p:nvPr/>
                </p:nvSpPr>
                <p:spPr>
                  <a:xfrm>
                    <a:off x="9737673" y="1697309"/>
                    <a:ext cx="2326236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:r>
                      <a:rPr lang="en-GB" sz="1200" noProof="0" dirty="0" err="1">
                        <a:latin typeface="Courier New" panose="02070309020205020404" pitchFamily="49" charset="0"/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a:t>conf.level</a:t>
                    </a:r>
                    <a:endParaRPr lang="en-GB" sz="1200" noProof="0" dirty="0">
                      <a:latin typeface="Courier New" panose="02070309020205020404" pitchFamily="49" charset="0"/>
                      <a:ea typeface="CMU Bright Roman" panose="02000603000000000000" pitchFamily="2" charset="0"/>
                      <a:cs typeface="Courier New" panose="02070309020205020404" pitchFamily="49" charset="0"/>
                    </a:endParaRPr>
                  </a:p>
                  <a:p>
                    <a:endParaRPr lang="en-GB" sz="800" noProof="0" dirty="0">
                      <a:ea typeface="CMU Bright Roman" panose="02000603000000000000" pitchFamily="2" charset="0"/>
                      <a:cs typeface="CMU Bright Roman" panose="02000603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E47FDE1A-B498-6B59-C66D-9D00864C40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7673" y="1697309"/>
                    <a:ext cx="2326236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8" name="Gerade Verbindung mit Pfeil 457">
                <a:extLst>
                  <a:ext uri="{FF2B5EF4-FFF2-40B4-BE49-F238E27FC236}">
                    <a16:creationId xmlns:a16="http://schemas.microsoft.com/office/drawing/2014/main" id="{FB594199-4842-336C-C6AB-F270575BA8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4511" y="3569617"/>
                <a:ext cx="0" cy="25570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8" name="Textfeld 507">
                <a:extLst>
                  <a:ext uri="{FF2B5EF4-FFF2-40B4-BE49-F238E27FC236}">
                    <a16:creationId xmlns:a16="http://schemas.microsoft.com/office/drawing/2014/main" id="{F6D84C37-699D-500C-F36D-ECD7231CD95A}"/>
                  </a:ext>
                </a:extLst>
              </p:cNvPr>
              <p:cNvSpPr txBox="1"/>
              <p:nvPr/>
            </p:nvSpPr>
            <p:spPr>
              <a:xfrm>
                <a:off x="306876" y="3784066"/>
                <a:ext cx="3307799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cxnSp>
            <p:nvCxnSpPr>
              <p:cNvPr id="511" name="Gerade Verbindung mit Pfeil 510">
                <a:extLst>
                  <a:ext uri="{FF2B5EF4-FFF2-40B4-BE49-F238E27FC236}">
                    <a16:creationId xmlns:a16="http://schemas.microsoft.com/office/drawing/2014/main" id="{9840289F-EBDC-80F4-2B45-B5F2274BB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6645" y="3577477"/>
                <a:ext cx="4417" cy="18048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450570A0-E57C-AAA8-B3DD-EEE2B1F40B40}"/>
                  </a:ext>
                </a:extLst>
              </p:cNvPr>
              <p:cNvSpPr txBox="1"/>
              <p:nvPr/>
            </p:nvSpPr>
            <p:spPr>
              <a:xfrm>
                <a:off x="9798957" y="1358897"/>
                <a:ext cx="1579378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DDFFE7DA-DB88-38E7-33BE-4F281C3F126B}"/>
                  </a:ext>
                </a:extLst>
              </p:cNvPr>
              <p:cNvGrpSpPr/>
              <p:nvPr/>
            </p:nvGrpSpPr>
            <p:grpSpPr>
              <a:xfrm>
                <a:off x="1022643" y="4084526"/>
                <a:ext cx="1795871" cy="944792"/>
                <a:chOff x="3378041" y="2876116"/>
                <a:chExt cx="1795871" cy="542165"/>
              </a:xfrm>
            </p:grpSpPr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545CD492-C1A1-75D3-BE75-B9663E5A19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78041" y="2876116"/>
                  <a:ext cx="890897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94EC5588-4A68-7DDB-8F44-7146146680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8938" y="2876116"/>
                  <a:ext cx="904974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49A3AE00-9BB2-C9E1-3306-F4DC55F07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242" y="2705486"/>
              <a:ext cx="141696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8C20A78F-E4FB-C38A-458D-C8E8F7B160D2}"/>
                </a:ext>
              </a:extLst>
            </p:cNvPr>
            <p:cNvCxnSpPr>
              <a:cxnSpLocks/>
            </p:cNvCxnSpPr>
            <p:nvPr/>
          </p:nvCxnSpPr>
          <p:spPr>
            <a:xfrm>
              <a:off x="4100208" y="2705486"/>
              <a:ext cx="1439354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326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B99F-5566-824D-D08A-8FF1BAB6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3FD8647F-E078-0605-44C4-35FB1D6A4C73}"/>
              </a:ext>
            </a:extLst>
          </p:cNvPr>
          <p:cNvSpPr txBox="1"/>
          <p:nvPr/>
        </p:nvSpPr>
        <p:spPr>
          <a:xfrm>
            <a:off x="42611" y="2674132"/>
            <a:ext cx="7585242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21B34C33-5978-9341-940E-98B260E2BD14}"/>
              </a:ext>
            </a:extLst>
          </p:cNvPr>
          <p:cNvSpPr txBox="1"/>
          <p:nvPr/>
        </p:nvSpPr>
        <p:spPr>
          <a:xfrm>
            <a:off x="10380804" y="2647254"/>
            <a:ext cx="173497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3BE9D48-0351-02DB-3684-C90E12A832A9}"/>
                  </a:ext>
                </a:extLst>
              </p:cNvPr>
              <p:cNvSpPr txBox="1"/>
              <p:nvPr/>
            </p:nvSpPr>
            <p:spPr>
              <a:xfrm>
                <a:off x="3523232" y="893759"/>
                <a:ext cx="5594111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3BE9D48-0351-02DB-3684-C90E12A83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232" y="893759"/>
                <a:ext cx="5594111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7A5E6B1D-53A9-DB86-8A70-C06275AD2F22}"/>
                  </a:ext>
                </a:extLst>
              </p:cNvPr>
              <p:cNvSpPr txBox="1"/>
              <p:nvPr/>
            </p:nvSpPr>
            <p:spPr>
              <a:xfrm>
                <a:off x="7691715" y="2131608"/>
                <a:ext cx="1583657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ba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50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7A5E6B1D-53A9-DB86-8A70-C06275AD2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715" y="2131608"/>
                <a:ext cx="1583657" cy="276999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6F8E7D27-FE3A-046B-09C5-8D3EFA0CA72E}"/>
              </a:ext>
            </a:extLst>
          </p:cNvPr>
          <p:cNvSpPr txBox="1"/>
          <p:nvPr/>
        </p:nvSpPr>
        <p:spPr>
          <a:xfrm>
            <a:off x="271" y="5527765"/>
            <a:ext cx="1455624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DBDEACD-23FB-70B7-5D61-3B1C3DD36FE8}"/>
              </a:ext>
            </a:extLst>
          </p:cNvPr>
          <p:cNvSpPr txBox="1"/>
          <p:nvPr/>
        </p:nvSpPr>
        <p:spPr>
          <a:xfrm>
            <a:off x="1516197" y="5527765"/>
            <a:ext cx="2352360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ABF24697-6F2B-8923-5E29-E5BE3749051C}"/>
                  </a:ext>
                </a:extLst>
              </p:cNvPr>
              <p:cNvSpPr txBox="1"/>
              <p:nvPr/>
            </p:nvSpPr>
            <p:spPr>
              <a:xfrm>
                <a:off x="4918068" y="4600686"/>
                <a:ext cx="1086431" cy="2772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200" b="0" i="1" baseline="-2500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ABF24697-6F2B-8923-5E29-E5BE37490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068" y="4600686"/>
                <a:ext cx="1086431" cy="277200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7DD7FA17-1492-D51A-2E9D-17F2CB2BC5CA}"/>
                  </a:ext>
                </a:extLst>
              </p:cNvPr>
              <p:cNvSpPr txBox="1"/>
              <p:nvPr/>
            </p:nvSpPr>
            <p:spPr>
              <a:xfrm>
                <a:off x="8100596" y="4618730"/>
                <a:ext cx="1086431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baseline="-2500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m:rPr>
                          <m:nor/>
                        </m:rPr>
                        <a:rPr lang="en-GB" sz="120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0" dirty="0" smtClean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&lt;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7DD7FA17-1492-D51A-2E9D-17F2CB2BC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596" y="4618730"/>
                <a:ext cx="1086431" cy="276999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9FBA164C-92A9-025B-C04C-2906A05F3AFA}"/>
              </a:ext>
            </a:extLst>
          </p:cNvPr>
          <p:cNvSpPr txBox="1"/>
          <p:nvPr/>
        </p:nvSpPr>
        <p:spPr>
          <a:xfrm>
            <a:off x="8784848" y="5527765"/>
            <a:ext cx="155528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7A7A75D-327B-714B-65F6-7B08DC35FCAF}"/>
              </a:ext>
            </a:extLst>
          </p:cNvPr>
          <p:cNvSpPr txBox="1"/>
          <p:nvPr/>
        </p:nvSpPr>
        <p:spPr>
          <a:xfrm>
            <a:off x="6574198" y="5527765"/>
            <a:ext cx="105365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49F582BE-6F59-84FA-B03D-A24E1F63E10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689588" y="4280426"/>
            <a:ext cx="2607786" cy="474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5F6B7871-E8CD-9E0B-606F-BCFCEEE3EDFC}"/>
              </a:ext>
            </a:extLst>
          </p:cNvPr>
          <p:cNvSpPr txBox="1"/>
          <p:nvPr/>
        </p:nvSpPr>
        <p:spPr>
          <a:xfrm>
            <a:off x="6558282" y="6064173"/>
            <a:ext cx="1124403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BA6E15FF-7341-AEEB-4A25-5F5833BB1977}"/>
              </a:ext>
            </a:extLst>
          </p:cNvPr>
          <p:cNvSpPr txBox="1"/>
          <p:nvPr/>
        </p:nvSpPr>
        <p:spPr>
          <a:xfrm>
            <a:off x="1495712" y="6064173"/>
            <a:ext cx="235514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2734C065-3366-54D7-1D7E-9DF7F0A0595F}"/>
              </a:ext>
            </a:extLst>
          </p:cNvPr>
          <p:cNvSpPr txBox="1"/>
          <p:nvPr/>
        </p:nvSpPr>
        <p:spPr>
          <a:xfrm>
            <a:off x="3978038" y="5527765"/>
            <a:ext cx="252713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var.equal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=TRUE)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C86D8F60-ECE1-964F-88E6-77C36F065824}"/>
                  </a:ext>
                </a:extLst>
              </p:cNvPr>
              <p:cNvSpPr txBox="1"/>
              <p:nvPr/>
            </p:nvSpPr>
            <p:spPr>
              <a:xfrm>
                <a:off x="1233208" y="3374982"/>
                <a:ext cx="206234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𝑆𝑊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C86D8F60-ECE1-964F-88E6-77C36F065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08" y="3374982"/>
                <a:ext cx="2062342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432E3DE-CA15-1E4E-E026-211320540E01}"/>
                  </a:ext>
                </a:extLst>
              </p:cNvPr>
              <p:cNvSpPr txBox="1"/>
              <p:nvPr/>
            </p:nvSpPr>
            <p:spPr>
              <a:xfrm>
                <a:off x="4716975" y="3403470"/>
                <a:ext cx="1805631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𝑆𝑊</m:t>
                      </m:r>
                      <m:r>
                        <a:rPr lang="en-US" sz="12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432E3DE-CA15-1E4E-E026-211320540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975" y="3403470"/>
                <a:ext cx="1805631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91E35F1A-E99B-6B7D-0141-7A3D5FE9141D}"/>
              </a:ext>
            </a:extLst>
          </p:cNvPr>
          <p:cNvSpPr txBox="1"/>
          <p:nvPr/>
        </p:nvSpPr>
        <p:spPr>
          <a:xfrm>
            <a:off x="10380803" y="6064173"/>
            <a:ext cx="1739721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B4F84E51-99DE-93CD-E32C-7A29DDACA7D9}"/>
              </a:ext>
            </a:extLst>
          </p:cNvPr>
          <p:cNvSpPr txBox="1"/>
          <p:nvPr/>
        </p:nvSpPr>
        <p:spPr>
          <a:xfrm>
            <a:off x="10380804" y="5527765"/>
            <a:ext cx="1739722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6D2EAA62-8498-DB8E-AE1D-D38E6742ABB2}"/>
              </a:ext>
            </a:extLst>
          </p:cNvPr>
          <p:cNvSpPr txBox="1"/>
          <p:nvPr/>
        </p:nvSpPr>
        <p:spPr>
          <a:xfrm>
            <a:off x="10380804" y="4028511"/>
            <a:ext cx="1734970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de-CH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</a:t>
            </a:r>
            <a:r>
              <a:rPr lang="de-CH" dirty="0" err="1"/>
              <a:t>omoscedasticity</a:t>
            </a:r>
            <a:endParaRPr lang="en-GB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7D675352-937C-7ED9-E4CD-77E61680A310}"/>
              </a:ext>
            </a:extLst>
          </p:cNvPr>
          <p:cNvGrpSpPr/>
          <p:nvPr/>
        </p:nvGrpSpPr>
        <p:grpSpPr>
          <a:xfrm>
            <a:off x="4820415" y="1512380"/>
            <a:ext cx="1795871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7193E94E-85D3-8AD2-48FD-7E585A0F06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2151" y="1536945"/>
              <a:ext cx="669170" cy="30540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F687D68F-264B-4DC2-E616-D990A29B56E2}"/>
                </a:ext>
              </a:extLst>
            </p:cNvPr>
            <p:cNvCxnSpPr>
              <a:cxnSpLocks/>
            </p:cNvCxnSpPr>
            <p:nvPr/>
          </p:nvCxnSpPr>
          <p:spPr>
            <a:xfrm>
              <a:off x="3351321" y="1536945"/>
              <a:ext cx="676275" cy="30540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CBE470CE-0371-B5AF-4E3F-EDB671859961}"/>
              </a:ext>
            </a:extLst>
          </p:cNvPr>
          <p:cNvCxnSpPr>
            <a:cxnSpLocks/>
          </p:cNvCxnSpPr>
          <p:nvPr/>
        </p:nvCxnSpPr>
        <p:spPr>
          <a:xfrm>
            <a:off x="9749121" y="5846824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BBEA87C1-D463-BA76-650A-6FB86B2CDB7A}"/>
              </a:ext>
            </a:extLst>
          </p:cNvPr>
          <p:cNvCxnSpPr>
            <a:cxnSpLocks/>
          </p:cNvCxnSpPr>
          <p:nvPr/>
        </p:nvCxnSpPr>
        <p:spPr>
          <a:xfrm>
            <a:off x="2682831" y="5846824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3167D4C-E303-0430-37F5-5C02DEB4A131}"/>
              </a:ext>
            </a:extLst>
          </p:cNvPr>
          <p:cNvSpPr txBox="1"/>
          <p:nvPr/>
        </p:nvSpPr>
        <p:spPr>
          <a:xfrm>
            <a:off x="8767370" y="6064173"/>
            <a:ext cx="155528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games.howell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ABE3D16-5491-92F2-9873-46BD09E4EFA1}"/>
              </a:ext>
            </a:extLst>
          </p:cNvPr>
          <p:cNvSpPr txBox="1"/>
          <p:nvPr/>
        </p:nvSpPr>
        <p:spPr>
          <a:xfrm>
            <a:off x="3751369" y="4003427"/>
            <a:ext cx="3876437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11097C08-2536-3064-96B1-60DB0E36F7EC}"/>
                  </a:ext>
                </a:extLst>
              </p:cNvPr>
              <p:cNvSpPr txBox="1"/>
              <p:nvPr/>
            </p:nvSpPr>
            <p:spPr>
              <a:xfrm>
                <a:off x="42610" y="2131608"/>
                <a:ext cx="7563941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ba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50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11097C08-2536-3064-96B1-60DB0E36F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0" y="2131608"/>
                <a:ext cx="7563941" cy="276999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AE16A95-53FB-572C-859E-35B1A8581FC0}"/>
              </a:ext>
            </a:extLst>
          </p:cNvPr>
          <p:cNvCxnSpPr>
            <a:cxnSpLocks/>
          </p:cNvCxnSpPr>
          <p:nvPr/>
        </p:nvCxnSpPr>
        <p:spPr>
          <a:xfrm>
            <a:off x="9019370" y="2408607"/>
            <a:ext cx="21302" cy="2400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73EC1577-D252-1FED-E572-2EC237A45AD4}"/>
                  </a:ext>
                </a:extLst>
              </p:cNvPr>
              <p:cNvSpPr txBox="1"/>
              <p:nvPr/>
            </p:nvSpPr>
            <p:spPr>
              <a:xfrm>
                <a:off x="-130502" y="5198086"/>
                <a:ext cx="1455623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73EC1577-D252-1FED-E572-2EC237A45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502" y="5198086"/>
                <a:ext cx="145562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93E32BCA-B9DE-A793-2F42-0628D092C390}"/>
                  </a:ext>
                </a:extLst>
              </p:cNvPr>
              <p:cNvSpPr txBox="1"/>
              <p:nvPr/>
            </p:nvSpPr>
            <p:spPr>
              <a:xfrm>
                <a:off x="1492216" y="5208706"/>
                <a:ext cx="233669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93E32BCA-B9DE-A793-2F42-0628D092C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216" y="5208706"/>
                <a:ext cx="2336699" cy="276999"/>
              </a:xfrm>
              <a:prstGeom prst="rect">
                <a:avLst/>
              </a:prstGeom>
              <a:blipFill>
                <a:blip r:embed="rId11"/>
                <a:stretch>
                  <a:fillRect b="-4167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F078C8FD-8C32-81A0-9361-20AD63286357}"/>
                  </a:ext>
                </a:extLst>
              </p:cNvPr>
              <p:cNvSpPr txBox="1"/>
              <p:nvPr/>
            </p:nvSpPr>
            <p:spPr>
              <a:xfrm>
                <a:off x="7908606" y="5241964"/>
                <a:ext cx="89037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F078C8FD-8C32-81A0-9361-20AD6328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606" y="5241964"/>
                <a:ext cx="890372" cy="276999"/>
              </a:xfrm>
              <a:prstGeom prst="rect">
                <a:avLst/>
              </a:prstGeom>
              <a:blipFill>
                <a:blip r:embed="rId12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F475F09D-C32A-CB80-E03C-C8D5FE44F924}"/>
                  </a:ext>
                </a:extLst>
              </p:cNvPr>
              <p:cNvSpPr txBox="1"/>
              <p:nvPr/>
            </p:nvSpPr>
            <p:spPr>
              <a:xfrm>
                <a:off x="9476795" y="5241964"/>
                <a:ext cx="84611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 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F475F09D-C32A-CB80-E03C-C8D5FE44F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795" y="5241964"/>
                <a:ext cx="846119" cy="276999"/>
              </a:xfrm>
              <a:prstGeom prst="rect">
                <a:avLst/>
              </a:prstGeom>
              <a:blipFill>
                <a:blip r:embed="rId13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A4C5E5E1-A03D-F8D7-AC15-C1EE79EFED19}"/>
                  </a:ext>
                </a:extLst>
              </p:cNvPr>
              <p:cNvSpPr txBox="1"/>
              <p:nvPr/>
            </p:nvSpPr>
            <p:spPr>
              <a:xfrm>
                <a:off x="4144156" y="5241964"/>
                <a:ext cx="89037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A4C5E5E1-A03D-F8D7-AC15-C1EE79EFE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56" y="5241964"/>
                <a:ext cx="890372" cy="276999"/>
              </a:xfrm>
              <a:prstGeom prst="rect">
                <a:avLst/>
              </a:prstGeom>
              <a:blipFill>
                <a:blip r:embed="rId14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B609D4CB-8011-913E-EC22-3573E7C7194B}"/>
                  </a:ext>
                </a:extLst>
              </p:cNvPr>
              <p:cNvSpPr txBox="1"/>
              <p:nvPr/>
            </p:nvSpPr>
            <p:spPr>
              <a:xfrm>
                <a:off x="6571593" y="5241964"/>
                <a:ext cx="84611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B609D4CB-8011-913E-EC22-3573E7C71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593" y="5241964"/>
                <a:ext cx="846119" cy="276999"/>
              </a:xfrm>
              <a:prstGeom prst="rect">
                <a:avLst/>
              </a:prstGeom>
              <a:blipFill>
                <a:blip r:embed="rId15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feld 61">
            <a:extLst>
              <a:ext uri="{FF2B5EF4-FFF2-40B4-BE49-F238E27FC236}">
                <a16:creationId xmlns:a16="http://schemas.microsoft.com/office/drawing/2014/main" id="{218492A2-D7AF-9EE6-2560-28DB25770D39}"/>
              </a:ext>
            </a:extLst>
          </p:cNvPr>
          <p:cNvSpPr txBox="1"/>
          <p:nvPr/>
        </p:nvSpPr>
        <p:spPr>
          <a:xfrm>
            <a:off x="7691715" y="5527765"/>
            <a:ext cx="1040386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448" name="Gerade Verbindung mit Pfeil 447">
            <a:extLst>
              <a:ext uri="{FF2B5EF4-FFF2-40B4-BE49-F238E27FC236}">
                <a16:creationId xmlns:a16="http://schemas.microsoft.com/office/drawing/2014/main" id="{B446B163-7719-AF16-2AFE-1A48FC793775}"/>
              </a:ext>
            </a:extLst>
          </p:cNvPr>
          <p:cNvCxnSpPr>
            <a:cxnSpLocks/>
          </p:cNvCxnSpPr>
          <p:nvPr/>
        </p:nvCxnSpPr>
        <p:spPr>
          <a:xfrm>
            <a:off x="7095144" y="5865147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Gerade Verbindung mit Pfeil 450">
            <a:extLst>
              <a:ext uri="{FF2B5EF4-FFF2-40B4-BE49-F238E27FC236}">
                <a16:creationId xmlns:a16="http://schemas.microsoft.com/office/drawing/2014/main" id="{D3641BD4-669E-61B9-FFE8-18737744D35F}"/>
              </a:ext>
            </a:extLst>
          </p:cNvPr>
          <p:cNvCxnSpPr>
            <a:cxnSpLocks/>
          </p:cNvCxnSpPr>
          <p:nvPr/>
        </p:nvCxnSpPr>
        <p:spPr>
          <a:xfrm>
            <a:off x="4063971" y="2439160"/>
            <a:ext cx="0" cy="24052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Textfeld 452">
            <a:extLst>
              <a:ext uri="{FF2B5EF4-FFF2-40B4-BE49-F238E27FC236}">
                <a16:creationId xmlns:a16="http://schemas.microsoft.com/office/drawing/2014/main" id="{1B5E716D-E7F6-106D-416B-7DC3E678CC5B}"/>
              </a:ext>
            </a:extLst>
          </p:cNvPr>
          <p:cNvSpPr txBox="1"/>
          <p:nvPr/>
        </p:nvSpPr>
        <p:spPr>
          <a:xfrm>
            <a:off x="9471205" y="1200711"/>
            <a:ext cx="1579377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p:sp>
        <p:nvSpPr>
          <p:cNvPr id="454" name="Textfeld 453">
            <a:extLst>
              <a:ext uri="{FF2B5EF4-FFF2-40B4-BE49-F238E27FC236}">
                <a16:creationId xmlns:a16="http://schemas.microsoft.com/office/drawing/2014/main" id="{69CE55FD-3DE4-C110-A81A-0DF8A0CF24AE}"/>
              </a:ext>
            </a:extLst>
          </p:cNvPr>
          <p:cNvSpPr txBox="1"/>
          <p:nvPr/>
        </p:nvSpPr>
        <p:spPr>
          <a:xfrm>
            <a:off x="9384461" y="923292"/>
            <a:ext cx="1097743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sp>
        <p:nvSpPr>
          <p:cNvPr id="455" name="Rechteck 454">
            <a:extLst>
              <a:ext uri="{FF2B5EF4-FFF2-40B4-BE49-F238E27FC236}">
                <a16:creationId xmlns:a16="http://schemas.microsoft.com/office/drawing/2014/main" id="{F9FA7FEA-61CB-0346-0B1A-5649CB0CA0AA}"/>
              </a:ext>
            </a:extLst>
          </p:cNvPr>
          <p:cNvSpPr/>
          <p:nvPr/>
        </p:nvSpPr>
        <p:spPr>
          <a:xfrm>
            <a:off x="9431068" y="875403"/>
            <a:ext cx="2481929" cy="14629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0B6D163A-F4BD-36A3-017D-68E5CFDE3C18}"/>
                  </a:ext>
                </a:extLst>
              </p:cNvPr>
              <p:cNvSpPr txBox="1"/>
              <p:nvPr/>
            </p:nvSpPr>
            <p:spPr>
              <a:xfrm>
                <a:off x="9431068" y="1876697"/>
                <a:ext cx="232623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br>
                  <a:rPr lang="en-US" sz="1200" i="1" dirty="0">
                    <a:latin typeface="Cambria Math" panose="02040503050406030204" pitchFamily="18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</a:b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US" sz="1200" dirty="0">
                    <a:ea typeface="CMU Bright Roman" panose="02000603000000000000" pitchFamily="2" charset="0"/>
                    <a:cs typeface="Courier New" panose="02070309020205020404" pitchFamily="49" charset="0"/>
                  </a:rPr>
                  <a:t>: </a:t>
                </a:r>
                <a:r>
                  <a:rPr lang="en-GB" sz="1200" dirty="0">
                    <a:latin typeface="Cambria Math" panose="02040503050406030204" pitchFamily="18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mean sample size </a:t>
                </a:r>
              </a:p>
            </p:txBody>
          </p:sp>
        </mc:Choice>
        <mc:Fallback xmlns=""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0B6D163A-F4BD-36A3-017D-68E5CFDE3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68" y="1876697"/>
                <a:ext cx="2326236" cy="461665"/>
              </a:xfrm>
              <a:prstGeom prst="rect">
                <a:avLst/>
              </a:prstGeom>
              <a:blipFill>
                <a:blip r:embed="rId16"/>
                <a:stretch>
                  <a:fillRect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8" name="Gerade Verbindung mit Pfeil 457">
            <a:extLst>
              <a:ext uri="{FF2B5EF4-FFF2-40B4-BE49-F238E27FC236}">
                <a16:creationId xmlns:a16="http://schemas.microsoft.com/office/drawing/2014/main" id="{858DDD91-45E3-A697-41CA-9C7A6289B6C7}"/>
              </a:ext>
            </a:extLst>
          </p:cNvPr>
          <p:cNvCxnSpPr>
            <a:cxnSpLocks/>
          </p:cNvCxnSpPr>
          <p:nvPr/>
        </p:nvCxnSpPr>
        <p:spPr>
          <a:xfrm>
            <a:off x="5672551" y="3717982"/>
            <a:ext cx="0" cy="2557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Textfeld 507">
            <a:extLst>
              <a:ext uri="{FF2B5EF4-FFF2-40B4-BE49-F238E27FC236}">
                <a16:creationId xmlns:a16="http://schemas.microsoft.com/office/drawing/2014/main" id="{B853FF1F-336E-A903-0DDA-56435FC626FF}"/>
              </a:ext>
            </a:extLst>
          </p:cNvPr>
          <p:cNvSpPr txBox="1"/>
          <p:nvPr/>
        </p:nvSpPr>
        <p:spPr>
          <a:xfrm>
            <a:off x="42610" y="3986915"/>
            <a:ext cx="3365851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cxnSp>
        <p:nvCxnSpPr>
          <p:cNvPr id="511" name="Gerade Verbindung mit Pfeil 510">
            <a:extLst>
              <a:ext uri="{FF2B5EF4-FFF2-40B4-BE49-F238E27FC236}">
                <a16:creationId xmlns:a16="http://schemas.microsoft.com/office/drawing/2014/main" id="{2D667B6B-278B-E273-A553-E89EE40B2208}"/>
              </a:ext>
            </a:extLst>
          </p:cNvPr>
          <p:cNvCxnSpPr>
            <a:cxnSpLocks/>
          </p:cNvCxnSpPr>
          <p:nvPr/>
        </p:nvCxnSpPr>
        <p:spPr>
          <a:xfrm flipH="1">
            <a:off x="2160040" y="3756865"/>
            <a:ext cx="4417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2E5E7A0A-00B6-38E3-EEE9-B10E3470B782}"/>
              </a:ext>
            </a:extLst>
          </p:cNvPr>
          <p:cNvSpPr txBox="1"/>
          <p:nvPr/>
        </p:nvSpPr>
        <p:spPr>
          <a:xfrm>
            <a:off x="9492352" y="1538285"/>
            <a:ext cx="157937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FE482950-5189-3631-BADE-A31E9AA47F71}"/>
              </a:ext>
            </a:extLst>
          </p:cNvPr>
          <p:cNvGrpSpPr/>
          <p:nvPr/>
        </p:nvGrpSpPr>
        <p:grpSpPr>
          <a:xfrm>
            <a:off x="716038" y="4263914"/>
            <a:ext cx="1795871" cy="944792"/>
            <a:chOff x="3378041" y="2876116"/>
            <a:chExt cx="1795871" cy="542165"/>
          </a:xfrm>
        </p:grpSpPr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AC0CB969-7747-1536-ADDA-BF22FA41E5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8041" y="2876116"/>
              <a:ext cx="890897" cy="54216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F5400308-0BDC-72E2-BDF3-94C7C0AEE5E4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38" y="2876116"/>
              <a:ext cx="904974" cy="54216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AA75A99-AD4B-552B-C702-0D64FE683A9A}"/>
              </a:ext>
            </a:extLst>
          </p:cNvPr>
          <p:cNvCxnSpPr>
            <a:cxnSpLocks/>
          </p:cNvCxnSpPr>
          <p:nvPr/>
        </p:nvCxnSpPr>
        <p:spPr>
          <a:xfrm flipH="1">
            <a:off x="2302779" y="3022037"/>
            <a:ext cx="1416966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6C812CB-A3F2-1FE5-DA36-89AD1D6EDC7C}"/>
              </a:ext>
            </a:extLst>
          </p:cNvPr>
          <p:cNvCxnSpPr>
            <a:cxnSpLocks/>
          </p:cNvCxnSpPr>
          <p:nvPr/>
        </p:nvCxnSpPr>
        <p:spPr>
          <a:xfrm>
            <a:off x="3719745" y="3022037"/>
            <a:ext cx="1439354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84323BD-1358-332E-B7C9-B1750FC96090}"/>
              </a:ext>
            </a:extLst>
          </p:cNvPr>
          <p:cNvCxnSpPr>
            <a:cxnSpLocks/>
          </p:cNvCxnSpPr>
          <p:nvPr/>
        </p:nvCxnSpPr>
        <p:spPr>
          <a:xfrm flipH="1">
            <a:off x="4650809" y="4877893"/>
            <a:ext cx="83730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29DFCCEA-AD68-8506-CE37-39DBEF880697}"/>
              </a:ext>
            </a:extLst>
          </p:cNvPr>
          <p:cNvCxnSpPr>
            <a:cxnSpLocks/>
          </p:cNvCxnSpPr>
          <p:nvPr/>
        </p:nvCxnSpPr>
        <p:spPr>
          <a:xfrm>
            <a:off x="5488101" y="4877900"/>
            <a:ext cx="85053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54381DE9-F0CA-40B6-3A3E-36694D10334E}"/>
              </a:ext>
            </a:extLst>
          </p:cNvPr>
          <p:cNvCxnSpPr>
            <a:cxnSpLocks/>
          </p:cNvCxnSpPr>
          <p:nvPr/>
        </p:nvCxnSpPr>
        <p:spPr>
          <a:xfrm flipH="1">
            <a:off x="8192780" y="4886750"/>
            <a:ext cx="83730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BB4A8597-A034-3616-379F-08FB518E4D27}"/>
              </a:ext>
            </a:extLst>
          </p:cNvPr>
          <p:cNvCxnSpPr>
            <a:cxnSpLocks/>
          </p:cNvCxnSpPr>
          <p:nvPr/>
        </p:nvCxnSpPr>
        <p:spPr>
          <a:xfrm>
            <a:off x="9030072" y="4886757"/>
            <a:ext cx="85053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09DC3472-BF92-EB8C-4005-009C952487EC}"/>
              </a:ext>
            </a:extLst>
          </p:cNvPr>
          <p:cNvCxnSpPr>
            <a:cxnSpLocks/>
          </p:cNvCxnSpPr>
          <p:nvPr/>
        </p:nvCxnSpPr>
        <p:spPr>
          <a:xfrm>
            <a:off x="5677994" y="4311255"/>
            <a:ext cx="0" cy="2557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97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D6AE-EA65-3E36-53BC-7D0B62D4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0DB448A3-7AA4-3D31-479D-C7CEE4A25E0C}"/>
              </a:ext>
            </a:extLst>
          </p:cNvPr>
          <p:cNvSpPr txBox="1"/>
          <p:nvPr/>
        </p:nvSpPr>
        <p:spPr>
          <a:xfrm>
            <a:off x="42611" y="2674132"/>
            <a:ext cx="7585242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F36A1D7F-E566-CA80-D303-80BC7FF465DA}"/>
              </a:ext>
            </a:extLst>
          </p:cNvPr>
          <p:cNvSpPr txBox="1"/>
          <p:nvPr/>
        </p:nvSpPr>
        <p:spPr>
          <a:xfrm>
            <a:off x="10380804" y="2647254"/>
            <a:ext cx="173497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3352BD9-04AA-1130-4F04-E41058EA0E45}"/>
                  </a:ext>
                </a:extLst>
              </p:cNvPr>
              <p:cNvSpPr txBox="1"/>
              <p:nvPr/>
            </p:nvSpPr>
            <p:spPr>
              <a:xfrm>
                <a:off x="3523232" y="893759"/>
                <a:ext cx="5594111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3BE9D48-0351-02DB-3684-C90E12A83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232" y="893759"/>
                <a:ext cx="5594111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DC387780-E244-9D6C-AFA4-2CE93658C461}"/>
                  </a:ext>
                </a:extLst>
              </p:cNvPr>
              <p:cNvSpPr txBox="1"/>
              <p:nvPr/>
            </p:nvSpPr>
            <p:spPr>
              <a:xfrm>
                <a:off x="7847413" y="2717301"/>
                <a:ext cx="2475243" cy="46166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ba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50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≤ 4, </m:t>
                    </m:r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ba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1200" i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for 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≥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DC387780-E244-9D6C-AFA4-2CE93658C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413" y="2717301"/>
                <a:ext cx="247524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10322047-170B-B3F7-5639-E89CF00E96D8}"/>
              </a:ext>
            </a:extLst>
          </p:cNvPr>
          <p:cNvSpPr txBox="1"/>
          <p:nvPr/>
        </p:nvSpPr>
        <p:spPr>
          <a:xfrm>
            <a:off x="271" y="5527765"/>
            <a:ext cx="1455624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9C379D1-C697-73B2-9114-6E159D1D96F7}"/>
              </a:ext>
            </a:extLst>
          </p:cNvPr>
          <p:cNvSpPr txBox="1"/>
          <p:nvPr/>
        </p:nvSpPr>
        <p:spPr>
          <a:xfrm>
            <a:off x="1516197" y="5527765"/>
            <a:ext cx="2352360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289C5377-6E8B-095F-C356-782D87F1556C}"/>
                  </a:ext>
                </a:extLst>
              </p:cNvPr>
              <p:cNvSpPr txBox="1"/>
              <p:nvPr/>
            </p:nvSpPr>
            <p:spPr>
              <a:xfrm>
                <a:off x="4918068" y="4600686"/>
                <a:ext cx="1086431" cy="2772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200" b="0" i="1" baseline="-2500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ABF24697-6F2B-8923-5E29-E5BE37490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068" y="4600686"/>
                <a:ext cx="1086431" cy="277200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88BFCD7A-11AD-6C9F-FCA2-C824F9F8D306}"/>
                  </a:ext>
                </a:extLst>
              </p:cNvPr>
              <p:cNvSpPr txBox="1"/>
              <p:nvPr/>
            </p:nvSpPr>
            <p:spPr>
              <a:xfrm>
                <a:off x="8100596" y="4618730"/>
                <a:ext cx="1086431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baseline="-2500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m:rPr>
                          <m:nor/>
                        </m:rPr>
                        <a:rPr lang="en-GB" sz="120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0" dirty="0" smtClean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&lt;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7DD7FA17-1492-D51A-2E9D-17F2CB2BC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596" y="4618730"/>
                <a:ext cx="1086431" cy="276999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B9641BE2-A70F-176E-56DC-69B70B23C556}"/>
              </a:ext>
            </a:extLst>
          </p:cNvPr>
          <p:cNvSpPr txBox="1"/>
          <p:nvPr/>
        </p:nvSpPr>
        <p:spPr>
          <a:xfrm>
            <a:off x="8784848" y="5527765"/>
            <a:ext cx="155528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851DC86-DEE6-B5B8-E70D-7B4E8ED6EEA3}"/>
              </a:ext>
            </a:extLst>
          </p:cNvPr>
          <p:cNvSpPr txBox="1"/>
          <p:nvPr/>
        </p:nvSpPr>
        <p:spPr>
          <a:xfrm>
            <a:off x="6574198" y="5527765"/>
            <a:ext cx="105365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9DA95773-088F-DFCC-6874-C502EEE8622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689588" y="4280426"/>
            <a:ext cx="2607786" cy="474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FBC6770D-F1FB-70FD-FF9B-423D9C85F1B6}"/>
              </a:ext>
            </a:extLst>
          </p:cNvPr>
          <p:cNvSpPr txBox="1"/>
          <p:nvPr/>
        </p:nvSpPr>
        <p:spPr>
          <a:xfrm>
            <a:off x="6558282" y="6064173"/>
            <a:ext cx="1124403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0979E81F-D050-8201-80CE-4D4773686ACC}"/>
              </a:ext>
            </a:extLst>
          </p:cNvPr>
          <p:cNvSpPr txBox="1"/>
          <p:nvPr/>
        </p:nvSpPr>
        <p:spPr>
          <a:xfrm>
            <a:off x="1495712" y="6064173"/>
            <a:ext cx="235514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0C41C367-BA52-A7A8-CD68-A0A08C5E9C0B}"/>
              </a:ext>
            </a:extLst>
          </p:cNvPr>
          <p:cNvSpPr txBox="1"/>
          <p:nvPr/>
        </p:nvSpPr>
        <p:spPr>
          <a:xfrm>
            <a:off x="3978038" y="5527765"/>
            <a:ext cx="252713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var.equal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=TRUE)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DD07BEAC-3139-DF33-F612-386EBCF01BBA}"/>
                  </a:ext>
                </a:extLst>
              </p:cNvPr>
              <p:cNvSpPr txBox="1"/>
              <p:nvPr/>
            </p:nvSpPr>
            <p:spPr>
              <a:xfrm>
                <a:off x="1233208" y="3374982"/>
                <a:ext cx="206234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𝑆𝑊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C86D8F60-ECE1-964F-88E6-77C36F065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08" y="3374982"/>
                <a:ext cx="2062342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E5239910-78EA-81CE-F1D6-52E117B4375D}"/>
                  </a:ext>
                </a:extLst>
              </p:cNvPr>
              <p:cNvSpPr txBox="1"/>
              <p:nvPr/>
            </p:nvSpPr>
            <p:spPr>
              <a:xfrm>
                <a:off x="4716975" y="3403470"/>
                <a:ext cx="1805631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𝑆𝑊</m:t>
                      </m:r>
                      <m:r>
                        <a:rPr lang="en-US" sz="12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432E3DE-CA15-1E4E-E026-211320540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975" y="3403470"/>
                <a:ext cx="1805631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5B6B2598-8B2C-8BD6-4907-BE4211AC8FE3}"/>
              </a:ext>
            </a:extLst>
          </p:cNvPr>
          <p:cNvSpPr txBox="1"/>
          <p:nvPr/>
        </p:nvSpPr>
        <p:spPr>
          <a:xfrm>
            <a:off x="10380803" y="6064173"/>
            <a:ext cx="1739721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B78AAC9A-EC56-DCFE-A793-5B979ECC8F75}"/>
              </a:ext>
            </a:extLst>
          </p:cNvPr>
          <p:cNvSpPr txBox="1"/>
          <p:nvPr/>
        </p:nvSpPr>
        <p:spPr>
          <a:xfrm>
            <a:off x="10380804" y="5527765"/>
            <a:ext cx="1739722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740CC818-543D-543D-2D51-E72E9B755203}"/>
              </a:ext>
            </a:extLst>
          </p:cNvPr>
          <p:cNvSpPr txBox="1"/>
          <p:nvPr/>
        </p:nvSpPr>
        <p:spPr>
          <a:xfrm>
            <a:off x="10380804" y="4028511"/>
            <a:ext cx="1734970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de-CH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</a:t>
            </a:r>
            <a:r>
              <a:rPr lang="de-CH" dirty="0" err="1"/>
              <a:t>omoscedasticity</a:t>
            </a:r>
            <a:endParaRPr lang="en-GB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01597CE4-568F-5C5C-662E-574785A02510}"/>
              </a:ext>
            </a:extLst>
          </p:cNvPr>
          <p:cNvGrpSpPr/>
          <p:nvPr/>
        </p:nvGrpSpPr>
        <p:grpSpPr>
          <a:xfrm>
            <a:off x="4820415" y="1512380"/>
            <a:ext cx="1795871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16AB2918-4D40-AAE4-21A3-BFE7A69C0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2151" y="1536945"/>
              <a:ext cx="669170" cy="30540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C610367B-6899-EF2E-44A7-CB62AB72D59C}"/>
                </a:ext>
              </a:extLst>
            </p:cNvPr>
            <p:cNvCxnSpPr>
              <a:cxnSpLocks/>
            </p:cNvCxnSpPr>
            <p:nvPr/>
          </p:nvCxnSpPr>
          <p:spPr>
            <a:xfrm>
              <a:off x="3351321" y="1536945"/>
              <a:ext cx="676275" cy="30540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7523C01D-FC3A-A35F-613B-269681F03343}"/>
              </a:ext>
            </a:extLst>
          </p:cNvPr>
          <p:cNvCxnSpPr>
            <a:cxnSpLocks/>
          </p:cNvCxnSpPr>
          <p:nvPr/>
        </p:nvCxnSpPr>
        <p:spPr>
          <a:xfrm>
            <a:off x="9749121" y="5846824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BE571708-72D0-5B8B-3E23-83617C0B865C}"/>
              </a:ext>
            </a:extLst>
          </p:cNvPr>
          <p:cNvCxnSpPr>
            <a:cxnSpLocks/>
          </p:cNvCxnSpPr>
          <p:nvPr/>
        </p:nvCxnSpPr>
        <p:spPr>
          <a:xfrm>
            <a:off x="2682831" y="5846824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A651250A-2508-A0BB-9F8B-081CA73BB0C2}"/>
              </a:ext>
            </a:extLst>
          </p:cNvPr>
          <p:cNvSpPr txBox="1"/>
          <p:nvPr/>
        </p:nvSpPr>
        <p:spPr>
          <a:xfrm>
            <a:off x="8767370" y="6064173"/>
            <a:ext cx="155528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games.howell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A648B85-A8D9-78F0-28FF-679668161002}"/>
              </a:ext>
            </a:extLst>
          </p:cNvPr>
          <p:cNvSpPr txBox="1"/>
          <p:nvPr/>
        </p:nvSpPr>
        <p:spPr>
          <a:xfrm>
            <a:off x="3751369" y="4003427"/>
            <a:ext cx="3876437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7B0AC1F3-B7A3-4D10-8AE3-166D487763D8}"/>
                  </a:ext>
                </a:extLst>
              </p:cNvPr>
              <p:cNvSpPr txBox="1"/>
              <p:nvPr/>
            </p:nvSpPr>
            <p:spPr>
              <a:xfrm>
                <a:off x="42610" y="2131608"/>
                <a:ext cx="7563941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ba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50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11097C08-2536-3064-96B1-60DB0E36F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0" y="2131608"/>
                <a:ext cx="7563941" cy="276999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19A7011-DCB8-F6DE-0930-46E791520C90}"/>
              </a:ext>
            </a:extLst>
          </p:cNvPr>
          <p:cNvCxnSpPr>
            <a:cxnSpLocks/>
          </p:cNvCxnSpPr>
          <p:nvPr/>
        </p:nvCxnSpPr>
        <p:spPr>
          <a:xfrm>
            <a:off x="9019370" y="2408607"/>
            <a:ext cx="21302" cy="2400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3F4510A1-97D5-64AE-9841-69848CC1F147}"/>
                  </a:ext>
                </a:extLst>
              </p:cNvPr>
              <p:cNvSpPr txBox="1"/>
              <p:nvPr/>
            </p:nvSpPr>
            <p:spPr>
              <a:xfrm>
                <a:off x="-130502" y="5198086"/>
                <a:ext cx="1455623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73EC1577-D252-1FED-E572-2EC237A45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502" y="5198086"/>
                <a:ext cx="145562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F03CCE5D-B477-E5F4-FD9B-3DA84B45E66B}"/>
                  </a:ext>
                </a:extLst>
              </p:cNvPr>
              <p:cNvSpPr txBox="1"/>
              <p:nvPr/>
            </p:nvSpPr>
            <p:spPr>
              <a:xfrm>
                <a:off x="1492216" y="5208706"/>
                <a:ext cx="233669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93E32BCA-B9DE-A793-2F42-0628D092C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216" y="5208706"/>
                <a:ext cx="2336699" cy="276999"/>
              </a:xfrm>
              <a:prstGeom prst="rect">
                <a:avLst/>
              </a:prstGeom>
              <a:blipFill>
                <a:blip r:embed="rId11"/>
                <a:stretch>
                  <a:fillRect b="-4167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D79FF747-363A-2433-41C7-04A67FF3BA61}"/>
                  </a:ext>
                </a:extLst>
              </p:cNvPr>
              <p:cNvSpPr txBox="1"/>
              <p:nvPr/>
            </p:nvSpPr>
            <p:spPr>
              <a:xfrm>
                <a:off x="7908606" y="5241964"/>
                <a:ext cx="89037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F078C8FD-8C32-81A0-9361-20AD6328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606" y="5241964"/>
                <a:ext cx="890372" cy="276999"/>
              </a:xfrm>
              <a:prstGeom prst="rect">
                <a:avLst/>
              </a:prstGeom>
              <a:blipFill>
                <a:blip r:embed="rId12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C4D51760-E127-3CFF-3D1C-2BE0D03E5EBD}"/>
                  </a:ext>
                </a:extLst>
              </p:cNvPr>
              <p:cNvSpPr txBox="1"/>
              <p:nvPr/>
            </p:nvSpPr>
            <p:spPr>
              <a:xfrm>
                <a:off x="9476795" y="5241964"/>
                <a:ext cx="84611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 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F475F09D-C32A-CB80-E03C-C8D5FE44F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795" y="5241964"/>
                <a:ext cx="846119" cy="276999"/>
              </a:xfrm>
              <a:prstGeom prst="rect">
                <a:avLst/>
              </a:prstGeom>
              <a:blipFill>
                <a:blip r:embed="rId13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EBA70272-E925-8E65-3579-CB4913994791}"/>
                  </a:ext>
                </a:extLst>
              </p:cNvPr>
              <p:cNvSpPr txBox="1"/>
              <p:nvPr/>
            </p:nvSpPr>
            <p:spPr>
              <a:xfrm>
                <a:off x="4144156" y="5241964"/>
                <a:ext cx="89037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A4C5E5E1-A03D-F8D7-AC15-C1EE79EFE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56" y="5241964"/>
                <a:ext cx="890372" cy="276999"/>
              </a:xfrm>
              <a:prstGeom prst="rect">
                <a:avLst/>
              </a:prstGeom>
              <a:blipFill>
                <a:blip r:embed="rId14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81B1728-436C-CC39-3203-5260262881DB}"/>
                  </a:ext>
                </a:extLst>
              </p:cNvPr>
              <p:cNvSpPr txBox="1"/>
              <p:nvPr/>
            </p:nvSpPr>
            <p:spPr>
              <a:xfrm>
                <a:off x="6571593" y="5241964"/>
                <a:ext cx="84611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B609D4CB-8011-913E-EC22-3573E7C71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593" y="5241964"/>
                <a:ext cx="846119" cy="276999"/>
              </a:xfrm>
              <a:prstGeom prst="rect">
                <a:avLst/>
              </a:prstGeom>
              <a:blipFill>
                <a:blip r:embed="rId15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feld 61">
            <a:extLst>
              <a:ext uri="{FF2B5EF4-FFF2-40B4-BE49-F238E27FC236}">
                <a16:creationId xmlns:a16="http://schemas.microsoft.com/office/drawing/2014/main" id="{0250ACD6-FFD0-AB95-0139-0FA94EA5E5AB}"/>
              </a:ext>
            </a:extLst>
          </p:cNvPr>
          <p:cNvSpPr txBox="1"/>
          <p:nvPr/>
        </p:nvSpPr>
        <p:spPr>
          <a:xfrm>
            <a:off x="7691715" y="5527765"/>
            <a:ext cx="1040386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448" name="Gerade Verbindung mit Pfeil 447">
            <a:extLst>
              <a:ext uri="{FF2B5EF4-FFF2-40B4-BE49-F238E27FC236}">
                <a16:creationId xmlns:a16="http://schemas.microsoft.com/office/drawing/2014/main" id="{A7BF4672-010F-8485-DB1C-3B486F3D268E}"/>
              </a:ext>
            </a:extLst>
          </p:cNvPr>
          <p:cNvCxnSpPr>
            <a:cxnSpLocks/>
          </p:cNvCxnSpPr>
          <p:nvPr/>
        </p:nvCxnSpPr>
        <p:spPr>
          <a:xfrm>
            <a:off x="7095144" y="5865147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Gerade Verbindung mit Pfeil 450">
            <a:extLst>
              <a:ext uri="{FF2B5EF4-FFF2-40B4-BE49-F238E27FC236}">
                <a16:creationId xmlns:a16="http://schemas.microsoft.com/office/drawing/2014/main" id="{0178493F-4B69-6FF3-D1BC-2AD4DCB6D306}"/>
              </a:ext>
            </a:extLst>
          </p:cNvPr>
          <p:cNvCxnSpPr>
            <a:cxnSpLocks/>
          </p:cNvCxnSpPr>
          <p:nvPr/>
        </p:nvCxnSpPr>
        <p:spPr>
          <a:xfrm>
            <a:off x="4063971" y="2439160"/>
            <a:ext cx="0" cy="24052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Textfeld 452">
            <a:extLst>
              <a:ext uri="{FF2B5EF4-FFF2-40B4-BE49-F238E27FC236}">
                <a16:creationId xmlns:a16="http://schemas.microsoft.com/office/drawing/2014/main" id="{08956C91-19EA-44E9-7D7B-75A883E7F266}"/>
              </a:ext>
            </a:extLst>
          </p:cNvPr>
          <p:cNvSpPr txBox="1"/>
          <p:nvPr/>
        </p:nvSpPr>
        <p:spPr>
          <a:xfrm>
            <a:off x="9471205" y="1200711"/>
            <a:ext cx="1579377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p:sp>
        <p:nvSpPr>
          <p:cNvPr id="454" name="Textfeld 453">
            <a:extLst>
              <a:ext uri="{FF2B5EF4-FFF2-40B4-BE49-F238E27FC236}">
                <a16:creationId xmlns:a16="http://schemas.microsoft.com/office/drawing/2014/main" id="{20EB0F9F-F49A-D418-3B74-4F560447F751}"/>
              </a:ext>
            </a:extLst>
          </p:cNvPr>
          <p:cNvSpPr txBox="1"/>
          <p:nvPr/>
        </p:nvSpPr>
        <p:spPr>
          <a:xfrm>
            <a:off x="9384461" y="923292"/>
            <a:ext cx="1097743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sp>
        <p:nvSpPr>
          <p:cNvPr id="455" name="Rechteck 454">
            <a:extLst>
              <a:ext uri="{FF2B5EF4-FFF2-40B4-BE49-F238E27FC236}">
                <a16:creationId xmlns:a16="http://schemas.microsoft.com/office/drawing/2014/main" id="{5BD8E70C-66BB-F691-0E51-301724099750}"/>
              </a:ext>
            </a:extLst>
          </p:cNvPr>
          <p:cNvSpPr/>
          <p:nvPr/>
        </p:nvSpPr>
        <p:spPr>
          <a:xfrm>
            <a:off x="9431068" y="875403"/>
            <a:ext cx="2481929" cy="14629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425E8BD7-7DF9-C1D6-99B3-52421AFBF068}"/>
                  </a:ext>
                </a:extLst>
              </p:cNvPr>
              <p:cNvSpPr txBox="1"/>
              <p:nvPr/>
            </p:nvSpPr>
            <p:spPr>
              <a:xfrm>
                <a:off x="9431068" y="1876697"/>
                <a:ext cx="232623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br>
                  <a:rPr lang="en-US" sz="1200" i="1" dirty="0">
                    <a:latin typeface="Cambria Math" panose="02040503050406030204" pitchFamily="18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</a:b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US" sz="1200" dirty="0">
                    <a:ea typeface="CMU Bright Roman" panose="02000603000000000000" pitchFamily="2" charset="0"/>
                    <a:cs typeface="Courier New" panose="02070309020205020404" pitchFamily="49" charset="0"/>
                  </a:rPr>
                  <a:t>: </a:t>
                </a:r>
                <a:r>
                  <a:rPr lang="en-GB" sz="1200" dirty="0">
                    <a:latin typeface="Cambria Math" panose="02040503050406030204" pitchFamily="18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mean sample size </a:t>
                </a:r>
              </a:p>
            </p:txBody>
          </p:sp>
        </mc:Choice>
        <mc:Fallback xmlns=""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0B6D163A-F4BD-36A3-017D-68E5CFDE3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068" y="1876697"/>
                <a:ext cx="2326236" cy="461665"/>
              </a:xfrm>
              <a:prstGeom prst="rect">
                <a:avLst/>
              </a:prstGeom>
              <a:blipFill>
                <a:blip r:embed="rId16"/>
                <a:stretch>
                  <a:fillRect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8" name="Gerade Verbindung mit Pfeil 457">
            <a:extLst>
              <a:ext uri="{FF2B5EF4-FFF2-40B4-BE49-F238E27FC236}">
                <a16:creationId xmlns:a16="http://schemas.microsoft.com/office/drawing/2014/main" id="{68955CEF-98A6-377A-830B-E7485A3C8B25}"/>
              </a:ext>
            </a:extLst>
          </p:cNvPr>
          <p:cNvCxnSpPr>
            <a:cxnSpLocks/>
          </p:cNvCxnSpPr>
          <p:nvPr/>
        </p:nvCxnSpPr>
        <p:spPr>
          <a:xfrm>
            <a:off x="5672551" y="3717982"/>
            <a:ext cx="0" cy="2557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Textfeld 507">
            <a:extLst>
              <a:ext uri="{FF2B5EF4-FFF2-40B4-BE49-F238E27FC236}">
                <a16:creationId xmlns:a16="http://schemas.microsoft.com/office/drawing/2014/main" id="{FDBDD551-D5F8-0ABE-121E-813AC1AB1796}"/>
              </a:ext>
            </a:extLst>
          </p:cNvPr>
          <p:cNvSpPr txBox="1"/>
          <p:nvPr/>
        </p:nvSpPr>
        <p:spPr>
          <a:xfrm>
            <a:off x="42610" y="3986915"/>
            <a:ext cx="3365851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cxnSp>
        <p:nvCxnSpPr>
          <p:cNvPr id="511" name="Gerade Verbindung mit Pfeil 510">
            <a:extLst>
              <a:ext uri="{FF2B5EF4-FFF2-40B4-BE49-F238E27FC236}">
                <a16:creationId xmlns:a16="http://schemas.microsoft.com/office/drawing/2014/main" id="{39A03C06-65B4-3E9E-D990-69EEA62260CC}"/>
              </a:ext>
            </a:extLst>
          </p:cNvPr>
          <p:cNvCxnSpPr>
            <a:cxnSpLocks/>
          </p:cNvCxnSpPr>
          <p:nvPr/>
        </p:nvCxnSpPr>
        <p:spPr>
          <a:xfrm flipH="1">
            <a:off x="2160040" y="3756865"/>
            <a:ext cx="4417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F463529-49AB-4ABF-6E11-BDDB5DE2BFF9}"/>
              </a:ext>
            </a:extLst>
          </p:cNvPr>
          <p:cNvSpPr txBox="1"/>
          <p:nvPr/>
        </p:nvSpPr>
        <p:spPr>
          <a:xfrm>
            <a:off x="9492352" y="1538285"/>
            <a:ext cx="157937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593DB64-E1A7-889E-3B79-A5107D5751FE}"/>
              </a:ext>
            </a:extLst>
          </p:cNvPr>
          <p:cNvGrpSpPr/>
          <p:nvPr/>
        </p:nvGrpSpPr>
        <p:grpSpPr>
          <a:xfrm>
            <a:off x="716038" y="4263914"/>
            <a:ext cx="1795871" cy="944792"/>
            <a:chOff x="3378041" y="2876116"/>
            <a:chExt cx="1795871" cy="542165"/>
          </a:xfrm>
        </p:grpSpPr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2F76A38D-2631-AEC3-0ADE-A5E7E5FC6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8041" y="2876116"/>
              <a:ext cx="890897" cy="54216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C4ADD97D-1D74-F479-514A-FDFA9303E58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38" y="2876116"/>
              <a:ext cx="904974" cy="54216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2B626E1-4083-5FF8-1C18-38C39B384923}"/>
              </a:ext>
            </a:extLst>
          </p:cNvPr>
          <p:cNvCxnSpPr>
            <a:cxnSpLocks/>
          </p:cNvCxnSpPr>
          <p:nvPr/>
        </p:nvCxnSpPr>
        <p:spPr>
          <a:xfrm flipH="1">
            <a:off x="2302779" y="3022037"/>
            <a:ext cx="1416966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7B2FA16-B73E-DFD4-DEF0-7DDD313F8F00}"/>
              </a:ext>
            </a:extLst>
          </p:cNvPr>
          <p:cNvCxnSpPr>
            <a:cxnSpLocks/>
          </p:cNvCxnSpPr>
          <p:nvPr/>
        </p:nvCxnSpPr>
        <p:spPr>
          <a:xfrm>
            <a:off x="3719745" y="3022037"/>
            <a:ext cx="1439354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085E9705-3D63-C7FD-ABEF-4E5A11802277}"/>
              </a:ext>
            </a:extLst>
          </p:cNvPr>
          <p:cNvCxnSpPr>
            <a:cxnSpLocks/>
          </p:cNvCxnSpPr>
          <p:nvPr/>
        </p:nvCxnSpPr>
        <p:spPr>
          <a:xfrm flipH="1">
            <a:off x="4650809" y="4877893"/>
            <a:ext cx="83730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DDEC1A80-F4BC-C32C-BC6C-2AA70376CBE1}"/>
              </a:ext>
            </a:extLst>
          </p:cNvPr>
          <p:cNvCxnSpPr>
            <a:cxnSpLocks/>
          </p:cNvCxnSpPr>
          <p:nvPr/>
        </p:nvCxnSpPr>
        <p:spPr>
          <a:xfrm>
            <a:off x="5488101" y="4877900"/>
            <a:ext cx="85053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849341F7-DE33-BB97-1707-92E73F8C6758}"/>
              </a:ext>
            </a:extLst>
          </p:cNvPr>
          <p:cNvCxnSpPr>
            <a:cxnSpLocks/>
          </p:cNvCxnSpPr>
          <p:nvPr/>
        </p:nvCxnSpPr>
        <p:spPr>
          <a:xfrm flipH="1">
            <a:off x="8192780" y="4886750"/>
            <a:ext cx="83730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A7AD0A16-E730-0007-0C85-8D9506ABD348}"/>
              </a:ext>
            </a:extLst>
          </p:cNvPr>
          <p:cNvCxnSpPr>
            <a:cxnSpLocks/>
          </p:cNvCxnSpPr>
          <p:nvPr/>
        </p:nvCxnSpPr>
        <p:spPr>
          <a:xfrm>
            <a:off x="9030072" y="4886757"/>
            <a:ext cx="85053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65221AC6-9EC6-B346-ACF8-46D0F09DC9C4}"/>
              </a:ext>
            </a:extLst>
          </p:cNvPr>
          <p:cNvCxnSpPr>
            <a:cxnSpLocks/>
          </p:cNvCxnSpPr>
          <p:nvPr/>
        </p:nvCxnSpPr>
        <p:spPr>
          <a:xfrm>
            <a:off x="5677994" y="4311255"/>
            <a:ext cx="0" cy="2557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80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C196-B989-66DA-B425-3005B7E7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8BA8225A-44C5-6DFA-C510-BD9450184671}"/>
              </a:ext>
            </a:extLst>
          </p:cNvPr>
          <p:cNvSpPr txBox="1"/>
          <p:nvPr/>
        </p:nvSpPr>
        <p:spPr>
          <a:xfrm>
            <a:off x="42611" y="2674132"/>
            <a:ext cx="7585242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F2C1AC74-D6EE-D8E8-D1E8-497E868873C3}"/>
              </a:ext>
            </a:extLst>
          </p:cNvPr>
          <p:cNvSpPr txBox="1"/>
          <p:nvPr/>
        </p:nvSpPr>
        <p:spPr>
          <a:xfrm>
            <a:off x="10380804" y="2647254"/>
            <a:ext cx="173497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1D60D80-3B4B-A83A-D0F5-5445219D50D9}"/>
                  </a:ext>
                </a:extLst>
              </p:cNvPr>
              <p:cNvSpPr txBox="1"/>
              <p:nvPr/>
            </p:nvSpPr>
            <p:spPr>
              <a:xfrm>
                <a:off x="3523232" y="893759"/>
                <a:ext cx="5594111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1D60D80-3B4B-A83A-D0F5-5445219D5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232" y="893759"/>
                <a:ext cx="5594111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F9A274A-4364-42EF-D7BB-FBE1C7E875D5}"/>
                  </a:ext>
                </a:extLst>
              </p:cNvPr>
              <p:cNvSpPr txBox="1"/>
              <p:nvPr/>
            </p:nvSpPr>
            <p:spPr>
              <a:xfrm>
                <a:off x="7691714" y="2131608"/>
                <a:ext cx="4424058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200" i="0" dirty="0" smtClean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if 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≤4,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50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or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&gt;5  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ffor all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=1,..,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F9A274A-4364-42EF-D7BB-FBE1C7E87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714" y="2131608"/>
                <a:ext cx="4424058" cy="27699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EBECA91F-4A2A-3A0A-2C15-2F23554F3D8C}"/>
              </a:ext>
            </a:extLst>
          </p:cNvPr>
          <p:cNvSpPr txBox="1"/>
          <p:nvPr/>
        </p:nvSpPr>
        <p:spPr>
          <a:xfrm>
            <a:off x="271" y="5527765"/>
            <a:ext cx="1455624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91D2D15-3480-31B0-672F-021CAD1107C8}"/>
              </a:ext>
            </a:extLst>
          </p:cNvPr>
          <p:cNvSpPr txBox="1"/>
          <p:nvPr/>
        </p:nvSpPr>
        <p:spPr>
          <a:xfrm>
            <a:off x="1516197" y="5527765"/>
            <a:ext cx="2352360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DE19D27-C0C2-4600-05E4-11A82BBADCD3}"/>
                  </a:ext>
                </a:extLst>
              </p:cNvPr>
              <p:cNvSpPr txBox="1"/>
              <p:nvPr/>
            </p:nvSpPr>
            <p:spPr>
              <a:xfrm>
                <a:off x="4918068" y="4600686"/>
                <a:ext cx="1086431" cy="2772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200" b="0" i="1" baseline="-2500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DE19D27-C0C2-4600-05E4-11A82BBAD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068" y="4600686"/>
                <a:ext cx="1086431" cy="277200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0188B4BF-F78D-ABBC-76F6-FD41C36E15EA}"/>
                  </a:ext>
                </a:extLst>
              </p:cNvPr>
              <p:cNvSpPr txBox="1"/>
              <p:nvPr/>
            </p:nvSpPr>
            <p:spPr>
              <a:xfrm>
                <a:off x="8100596" y="4618730"/>
                <a:ext cx="1086431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baseline="-2500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m:rPr>
                          <m:nor/>
                        </m:rPr>
                        <a:rPr lang="en-GB" sz="1200" i="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0" dirty="0" smtClean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&lt;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0188B4BF-F78D-ABBC-76F6-FD41C36E1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596" y="4618730"/>
                <a:ext cx="1086431" cy="276999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2F03D6A9-C95B-2927-B544-AAF1DD883FC1}"/>
              </a:ext>
            </a:extLst>
          </p:cNvPr>
          <p:cNvSpPr txBox="1"/>
          <p:nvPr/>
        </p:nvSpPr>
        <p:spPr>
          <a:xfrm>
            <a:off x="8784848" y="5527765"/>
            <a:ext cx="155528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223C496-E792-392B-F756-2D7D73965FB6}"/>
              </a:ext>
            </a:extLst>
          </p:cNvPr>
          <p:cNvSpPr txBox="1"/>
          <p:nvPr/>
        </p:nvSpPr>
        <p:spPr>
          <a:xfrm>
            <a:off x="6574198" y="5527765"/>
            <a:ext cx="105365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2D2B8C24-F2A1-D5E3-D8D2-B44DC8E8275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689588" y="4280426"/>
            <a:ext cx="2607786" cy="474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8120C59B-7516-B2C8-5CED-DE6E75B02E90}"/>
              </a:ext>
            </a:extLst>
          </p:cNvPr>
          <p:cNvSpPr txBox="1"/>
          <p:nvPr/>
        </p:nvSpPr>
        <p:spPr>
          <a:xfrm>
            <a:off x="6558282" y="6064173"/>
            <a:ext cx="1124403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01CD2A5F-937C-7AFC-E3A8-F2A0BE745F29}"/>
              </a:ext>
            </a:extLst>
          </p:cNvPr>
          <p:cNvSpPr txBox="1"/>
          <p:nvPr/>
        </p:nvSpPr>
        <p:spPr>
          <a:xfrm>
            <a:off x="1495712" y="6064173"/>
            <a:ext cx="235514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4647919-3EF5-BA54-9965-F22383221F53}"/>
              </a:ext>
            </a:extLst>
          </p:cNvPr>
          <p:cNvSpPr txBox="1"/>
          <p:nvPr/>
        </p:nvSpPr>
        <p:spPr>
          <a:xfrm>
            <a:off x="3978038" y="5527765"/>
            <a:ext cx="2527130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var.equal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=TRUE)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A416AE84-4246-5AA4-D744-7783A7565BB7}"/>
                  </a:ext>
                </a:extLst>
              </p:cNvPr>
              <p:cNvSpPr txBox="1"/>
              <p:nvPr/>
            </p:nvSpPr>
            <p:spPr>
              <a:xfrm>
                <a:off x="1233208" y="3374982"/>
                <a:ext cx="206234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𝑆𝑊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A416AE84-4246-5AA4-D744-7783A7565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08" y="3374982"/>
                <a:ext cx="2062342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1943838B-A535-D9E5-7809-8F133FE2BF1B}"/>
                  </a:ext>
                </a:extLst>
              </p:cNvPr>
              <p:cNvSpPr txBox="1"/>
              <p:nvPr/>
            </p:nvSpPr>
            <p:spPr>
              <a:xfrm>
                <a:off x="4716975" y="3403470"/>
                <a:ext cx="1805631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𝑆𝑊</m:t>
                      </m:r>
                      <m:r>
                        <a:rPr lang="en-US" sz="12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1943838B-A535-D9E5-7809-8F133FE2B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975" y="3403470"/>
                <a:ext cx="1805631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2FB97A05-24A8-76B1-026A-B6ED0F5E0D7A}"/>
              </a:ext>
            </a:extLst>
          </p:cNvPr>
          <p:cNvSpPr txBox="1"/>
          <p:nvPr/>
        </p:nvSpPr>
        <p:spPr>
          <a:xfrm>
            <a:off x="10380803" y="6064173"/>
            <a:ext cx="1739721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DC2CE438-1704-E64B-6260-1287278DF5BB}"/>
              </a:ext>
            </a:extLst>
          </p:cNvPr>
          <p:cNvSpPr txBox="1"/>
          <p:nvPr/>
        </p:nvSpPr>
        <p:spPr>
          <a:xfrm>
            <a:off x="10380804" y="5527765"/>
            <a:ext cx="1739722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3D2077E2-3B6C-C87F-507D-F584251DCB58}"/>
              </a:ext>
            </a:extLst>
          </p:cNvPr>
          <p:cNvSpPr txBox="1"/>
          <p:nvPr/>
        </p:nvSpPr>
        <p:spPr>
          <a:xfrm>
            <a:off x="10380804" y="4028511"/>
            <a:ext cx="1734970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de-CH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</a:t>
            </a:r>
            <a:r>
              <a:rPr lang="de-CH" dirty="0" err="1"/>
              <a:t>omoscedasticity</a:t>
            </a:r>
            <a:endParaRPr lang="en-GB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84D77F50-3AF0-545B-AFBA-8F27B56893EE}"/>
              </a:ext>
            </a:extLst>
          </p:cNvPr>
          <p:cNvGrpSpPr/>
          <p:nvPr/>
        </p:nvGrpSpPr>
        <p:grpSpPr>
          <a:xfrm>
            <a:off x="4820415" y="1512380"/>
            <a:ext cx="1795871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8B325057-8EA5-618F-36E9-B42F67F44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2151" y="1536945"/>
              <a:ext cx="669170" cy="30540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3EDD755C-0997-B92F-B2DA-FBEDCA2525CE}"/>
                </a:ext>
              </a:extLst>
            </p:cNvPr>
            <p:cNvCxnSpPr>
              <a:cxnSpLocks/>
            </p:cNvCxnSpPr>
            <p:nvPr/>
          </p:nvCxnSpPr>
          <p:spPr>
            <a:xfrm>
              <a:off x="3351321" y="1536945"/>
              <a:ext cx="676275" cy="30540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29A8AD93-9526-0C6C-4A5A-AAE42CE7C6B9}"/>
              </a:ext>
            </a:extLst>
          </p:cNvPr>
          <p:cNvCxnSpPr>
            <a:cxnSpLocks/>
          </p:cNvCxnSpPr>
          <p:nvPr/>
        </p:nvCxnSpPr>
        <p:spPr>
          <a:xfrm>
            <a:off x="9749121" y="5846824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D04FD685-92E3-FA90-132C-85FCAB66020D}"/>
              </a:ext>
            </a:extLst>
          </p:cNvPr>
          <p:cNvCxnSpPr>
            <a:cxnSpLocks/>
          </p:cNvCxnSpPr>
          <p:nvPr/>
        </p:nvCxnSpPr>
        <p:spPr>
          <a:xfrm>
            <a:off x="2682831" y="5846824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A0168CAB-10EF-CFA6-D58F-F16A264493F0}"/>
              </a:ext>
            </a:extLst>
          </p:cNvPr>
          <p:cNvSpPr txBox="1"/>
          <p:nvPr/>
        </p:nvSpPr>
        <p:spPr>
          <a:xfrm>
            <a:off x="8767370" y="6064173"/>
            <a:ext cx="155528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games.howell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47AF96E-0D4F-F14C-38AD-6527DD5E41DE}"/>
              </a:ext>
            </a:extLst>
          </p:cNvPr>
          <p:cNvSpPr txBox="1"/>
          <p:nvPr/>
        </p:nvSpPr>
        <p:spPr>
          <a:xfrm>
            <a:off x="3751369" y="4003427"/>
            <a:ext cx="3876437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7B03ABC8-29DA-FE4E-8948-84C63A26A3C6}"/>
                  </a:ext>
                </a:extLst>
              </p:cNvPr>
              <p:cNvSpPr txBox="1"/>
              <p:nvPr/>
            </p:nvSpPr>
            <p:spPr>
              <a:xfrm>
                <a:off x="42610" y="2131608"/>
                <a:ext cx="7563941" cy="46166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200" i="0" dirty="0" smtClean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if 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≤4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𝑎𝑛𝑑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50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or</m:t>
                    </m:r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=1,..,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</a:t>
                </a:r>
              </a:p>
              <a:p>
                <a:pPr algn="ctr"/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7B03ABC8-29DA-FE4E-8948-84C63A26A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0" y="2131608"/>
                <a:ext cx="756394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3CCB693-6CD8-F4F7-DABE-CAB72B38EA3C}"/>
              </a:ext>
            </a:extLst>
          </p:cNvPr>
          <p:cNvCxnSpPr>
            <a:cxnSpLocks/>
          </p:cNvCxnSpPr>
          <p:nvPr/>
        </p:nvCxnSpPr>
        <p:spPr>
          <a:xfrm>
            <a:off x="9019370" y="2408607"/>
            <a:ext cx="21302" cy="2400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7BD5269-4F12-F5B5-E4D6-F504A03B4D8D}"/>
                  </a:ext>
                </a:extLst>
              </p:cNvPr>
              <p:cNvSpPr txBox="1"/>
              <p:nvPr/>
            </p:nvSpPr>
            <p:spPr>
              <a:xfrm>
                <a:off x="-130502" y="5198086"/>
                <a:ext cx="1455623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7BD5269-4F12-F5B5-E4D6-F504A03B4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502" y="5198086"/>
                <a:ext cx="145562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7BD21562-780E-933C-B06A-4C3B065EE45F}"/>
                  </a:ext>
                </a:extLst>
              </p:cNvPr>
              <p:cNvSpPr txBox="1"/>
              <p:nvPr/>
            </p:nvSpPr>
            <p:spPr>
              <a:xfrm>
                <a:off x="1492216" y="5208706"/>
                <a:ext cx="233669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7BD21562-780E-933C-B06A-4C3B065EE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216" y="5208706"/>
                <a:ext cx="2336699" cy="276999"/>
              </a:xfrm>
              <a:prstGeom prst="rect">
                <a:avLst/>
              </a:prstGeom>
              <a:blipFill>
                <a:blip r:embed="rId11"/>
                <a:stretch>
                  <a:fillRect b="-4167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4F1B2E2C-D8AE-1042-F592-E11C8CA9AC04}"/>
                  </a:ext>
                </a:extLst>
              </p:cNvPr>
              <p:cNvSpPr txBox="1"/>
              <p:nvPr/>
            </p:nvSpPr>
            <p:spPr>
              <a:xfrm>
                <a:off x="7908606" y="5241964"/>
                <a:ext cx="89037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4F1B2E2C-D8AE-1042-F592-E11C8CA9A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606" y="5241964"/>
                <a:ext cx="890372" cy="276999"/>
              </a:xfrm>
              <a:prstGeom prst="rect">
                <a:avLst/>
              </a:prstGeom>
              <a:blipFill>
                <a:blip r:embed="rId12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93DCE889-66FC-6A29-E6C5-C09A27566BF9}"/>
                  </a:ext>
                </a:extLst>
              </p:cNvPr>
              <p:cNvSpPr txBox="1"/>
              <p:nvPr/>
            </p:nvSpPr>
            <p:spPr>
              <a:xfrm>
                <a:off x="9476795" y="5241964"/>
                <a:ext cx="84611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 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93DCE889-66FC-6A29-E6C5-C09A27566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795" y="5241964"/>
                <a:ext cx="846119" cy="276999"/>
              </a:xfrm>
              <a:prstGeom prst="rect">
                <a:avLst/>
              </a:prstGeom>
              <a:blipFill>
                <a:blip r:embed="rId13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CEE91FA0-009A-EA2D-C3A0-D61E7A72548B}"/>
                  </a:ext>
                </a:extLst>
              </p:cNvPr>
              <p:cNvSpPr txBox="1"/>
              <p:nvPr/>
            </p:nvSpPr>
            <p:spPr>
              <a:xfrm>
                <a:off x="4144156" y="5241964"/>
                <a:ext cx="890372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CEE91FA0-009A-EA2D-C3A0-D61E7A725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156" y="5241964"/>
                <a:ext cx="890372" cy="276999"/>
              </a:xfrm>
              <a:prstGeom prst="rect">
                <a:avLst/>
              </a:prstGeom>
              <a:blipFill>
                <a:blip r:embed="rId14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250FCA5-D3FB-1ED9-49CC-27AA50D9C68E}"/>
                  </a:ext>
                </a:extLst>
              </p:cNvPr>
              <p:cNvSpPr txBox="1"/>
              <p:nvPr/>
            </p:nvSpPr>
            <p:spPr>
              <a:xfrm>
                <a:off x="6571593" y="5241964"/>
                <a:ext cx="84611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250FCA5-D3FB-1ED9-49CC-27AA50D9C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593" y="5241964"/>
                <a:ext cx="846119" cy="276999"/>
              </a:xfrm>
              <a:prstGeom prst="rect">
                <a:avLst/>
              </a:prstGeom>
              <a:blipFill>
                <a:blip r:embed="rId15"/>
                <a:stretch>
                  <a:fillRect b="-869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feld 61">
            <a:extLst>
              <a:ext uri="{FF2B5EF4-FFF2-40B4-BE49-F238E27FC236}">
                <a16:creationId xmlns:a16="http://schemas.microsoft.com/office/drawing/2014/main" id="{E420DB4D-1256-2960-A896-07D08FE7BA51}"/>
              </a:ext>
            </a:extLst>
          </p:cNvPr>
          <p:cNvSpPr txBox="1"/>
          <p:nvPr/>
        </p:nvSpPr>
        <p:spPr>
          <a:xfrm>
            <a:off x="7691715" y="5527765"/>
            <a:ext cx="1040386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448" name="Gerade Verbindung mit Pfeil 447">
            <a:extLst>
              <a:ext uri="{FF2B5EF4-FFF2-40B4-BE49-F238E27FC236}">
                <a16:creationId xmlns:a16="http://schemas.microsoft.com/office/drawing/2014/main" id="{97C5619C-9A9E-C2D8-81F5-E1BA1BBDFFA3}"/>
              </a:ext>
            </a:extLst>
          </p:cNvPr>
          <p:cNvCxnSpPr>
            <a:cxnSpLocks/>
          </p:cNvCxnSpPr>
          <p:nvPr/>
        </p:nvCxnSpPr>
        <p:spPr>
          <a:xfrm>
            <a:off x="7095144" y="5865147"/>
            <a:ext cx="0" cy="1888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Gerade Verbindung mit Pfeil 450">
            <a:extLst>
              <a:ext uri="{FF2B5EF4-FFF2-40B4-BE49-F238E27FC236}">
                <a16:creationId xmlns:a16="http://schemas.microsoft.com/office/drawing/2014/main" id="{FAAD6681-A33B-7419-CB31-DBE254B2B399}"/>
              </a:ext>
            </a:extLst>
          </p:cNvPr>
          <p:cNvCxnSpPr>
            <a:cxnSpLocks/>
          </p:cNvCxnSpPr>
          <p:nvPr/>
        </p:nvCxnSpPr>
        <p:spPr>
          <a:xfrm>
            <a:off x="4063971" y="2439160"/>
            <a:ext cx="0" cy="24052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Textfeld 452">
            <a:extLst>
              <a:ext uri="{FF2B5EF4-FFF2-40B4-BE49-F238E27FC236}">
                <a16:creationId xmlns:a16="http://schemas.microsoft.com/office/drawing/2014/main" id="{C4F73EED-7AED-429F-A2E6-784D80E58848}"/>
              </a:ext>
            </a:extLst>
          </p:cNvPr>
          <p:cNvSpPr txBox="1"/>
          <p:nvPr/>
        </p:nvSpPr>
        <p:spPr>
          <a:xfrm>
            <a:off x="9732463" y="596552"/>
            <a:ext cx="1579377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p:sp>
        <p:nvSpPr>
          <p:cNvPr id="454" name="Textfeld 453">
            <a:extLst>
              <a:ext uri="{FF2B5EF4-FFF2-40B4-BE49-F238E27FC236}">
                <a16:creationId xmlns:a16="http://schemas.microsoft.com/office/drawing/2014/main" id="{49F0AD06-37C7-C4E5-FDEC-7465CEDDA89D}"/>
              </a:ext>
            </a:extLst>
          </p:cNvPr>
          <p:cNvSpPr txBox="1"/>
          <p:nvPr/>
        </p:nvSpPr>
        <p:spPr>
          <a:xfrm>
            <a:off x="9562721" y="254417"/>
            <a:ext cx="1097743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sp>
        <p:nvSpPr>
          <p:cNvPr id="455" name="Rechteck 454">
            <a:extLst>
              <a:ext uri="{FF2B5EF4-FFF2-40B4-BE49-F238E27FC236}">
                <a16:creationId xmlns:a16="http://schemas.microsoft.com/office/drawing/2014/main" id="{EA72781A-A596-8C6C-BD76-EC7C4FBB6D71}"/>
              </a:ext>
            </a:extLst>
          </p:cNvPr>
          <p:cNvSpPr/>
          <p:nvPr/>
        </p:nvSpPr>
        <p:spPr>
          <a:xfrm>
            <a:off x="9579782" y="235199"/>
            <a:ext cx="2481929" cy="14629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43D719B1-563F-AE92-2825-B97283B13437}"/>
                  </a:ext>
                </a:extLst>
              </p:cNvPr>
              <p:cNvSpPr txBox="1"/>
              <p:nvPr/>
            </p:nvSpPr>
            <p:spPr>
              <a:xfrm>
                <a:off x="9545013" y="1205201"/>
                <a:ext cx="232623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br>
                  <a:rPr lang="en-US" sz="1200" i="1" dirty="0">
                    <a:latin typeface="Cambria Math" panose="02040503050406030204" pitchFamily="18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𝑛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CMU Bright Roman" panose="02000603000000000000" pitchFamily="2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  <m:r>
                      <a:rPr lang="en-GB" sz="1200" i="1" dirty="0">
                        <a:latin typeface="Cambria Math" panose="02040503050406030204" pitchFamily="18" charset="0"/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m:t>: </m:t>
                    </m:r>
                  </m:oMath>
                </a14:m>
                <a:r>
                  <a:rPr lang="en-GB" sz="1200" dirty="0">
                    <a:ea typeface="CMU Bright Roman" panose="02000603000000000000" pitchFamily="2" charset="0"/>
                    <a:cs typeface="Courier New" panose="02070309020205020404" pitchFamily="49" charset="0"/>
                  </a:rPr>
                  <a:t>sample size of group/level</a:t>
                </a:r>
                <a14:m>
                  <m:oMath xmlns:m="http://schemas.openxmlformats.org/officeDocument/2006/math">
                    <m:r>
                      <a:rPr lang="en-US" sz="1200" dirty="0">
                        <a:latin typeface="Cambria Math" panose="02040503050406030204" pitchFamily="18" charset="0"/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m:t> 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m:t>𝑖</m:t>
                    </m:r>
                  </m:oMath>
                </a14:m>
                <a:r>
                  <a:rPr lang="en-GB" sz="1200" dirty="0">
                    <a:latin typeface="Cambria Math" panose="02040503050406030204" pitchFamily="18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43D719B1-563F-AE92-2825-B97283B13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013" y="1205201"/>
                <a:ext cx="2326236" cy="461665"/>
              </a:xfrm>
              <a:prstGeom prst="rect">
                <a:avLst/>
              </a:prstGeom>
              <a:blipFill>
                <a:blip r:embed="rId16"/>
                <a:stretch>
                  <a:fillRect t="-2703" b="-81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8" name="Gerade Verbindung mit Pfeil 457">
            <a:extLst>
              <a:ext uri="{FF2B5EF4-FFF2-40B4-BE49-F238E27FC236}">
                <a16:creationId xmlns:a16="http://schemas.microsoft.com/office/drawing/2014/main" id="{787D7FBB-E509-37A0-B60B-49227C6AD5F1}"/>
              </a:ext>
            </a:extLst>
          </p:cNvPr>
          <p:cNvCxnSpPr>
            <a:cxnSpLocks/>
          </p:cNvCxnSpPr>
          <p:nvPr/>
        </p:nvCxnSpPr>
        <p:spPr>
          <a:xfrm>
            <a:off x="5672551" y="3717982"/>
            <a:ext cx="0" cy="2557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Textfeld 507">
            <a:extLst>
              <a:ext uri="{FF2B5EF4-FFF2-40B4-BE49-F238E27FC236}">
                <a16:creationId xmlns:a16="http://schemas.microsoft.com/office/drawing/2014/main" id="{D41E17EA-23CE-431B-DFAC-AE51DBF76F19}"/>
              </a:ext>
            </a:extLst>
          </p:cNvPr>
          <p:cNvSpPr txBox="1"/>
          <p:nvPr/>
        </p:nvSpPr>
        <p:spPr>
          <a:xfrm>
            <a:off x="42610" y="3986915"/>
            <a:ext cx="3365851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cxnSp>
        <p:nvCxnSpPr>
          <p:cNvPr id="511" name="Gerade Verbindung mit Pfeil 510">
            <a:extLst>
              <a:ext uri="{FF2B5EF4-FFF2-40B4-BE49-F238E27FC236}">
                <a16:creationId xmlns:a16="http://schemas.microsoft.com/office/drawing/2014/main" id="{857B610F-35CF-05CA-6B4A-7CA3A07073E7}"/>
              </a:ext>
            </a:extLst>
          </p:cNvPr>
          <p:cNvCxnSpPr>
            <a:cxnSpLocks/>
          </p:cNvCxnSpPr>
          <p:nvPr/>
        </p:nvCxnSpPr>
        <p:spPr>
          <a:xfrm flipH="1">
            <a:off x="2160040" y="3756865"/>
            <a:ext cx="4417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8D98E067-3075-3870-B8DF-52D11FD2696E}"/>
              </a:ext>
            </a:extLst>
          </p:cNvPr>
          <p:cNvSpPr txBox="1"/>
          <p:nvPr/>
        </p:nvSpPr>
        <p:spPr>
          <a:xfrm>
            <a:off x="9753610" y="934126"/>
            <a:ext cx="157937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D3F906A-E147-A58A-D12C-69059E6ED7D6}"/>
              </a:ext>
            </a:extLst>
          </p:cNvPr>
          <p:cNvGrpSpPr/>
          <p:nvPr/>
        </p:nvGrpSpPr>
        <p:grpSpPr>
          <a:xfrm>
            <a:off x="716038" y="4263914"/>
            <a:ext cx="1795871" cy="944792"/>
            <a:chOff x="3378041" y="2876116"/>
            <a:chExt cx="1795871" cy="542165"/>
          </a:xfrm>
        </p:grpSpPr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8D873214-29C5-8C48-4A5D-3F193CF24F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8041" y="2876116"/>
              <a:ext cx="890897" cy="54216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F964B4E4-ACE5-B400-B05D-98BE4FFE6A27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38" y="2876116"/>
              <a:ext cx="904974" cy="54216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3654F6F-2533-28CB-EE67-4E851A82AF70}"/>
              </a:ext>
            </a:extLst>
          </p:cNvPr>
          <p:cNvCxnSpPr>
            <a:cxnSpLocks/>
          </p:cNvCxnSpPr>
          <p:nvPr/>
        </p:nvCxnSpPr>
        <p:spPr>
          <a:xfrm flipH="1">
            <a:off x="2302779" y="3022037"/>
            <a:ext cx="1416966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FC5B01B-4F21-4332-9914-F54272AB3673}"/>
              </a:ext>
            </a:extLst>
          </p:cNvPr>
          <p:cNvCxnSpPr>
            <a:cxnSpLocks/>
          </p:cNvCxnSpPr>
          <p:nvPr/>
        </p:nvCxnSpPr>
        <p:spPr>
          <a:xfrm>
            <a:off x="3719745" y="3022037"/>
            <a:ext cx="1439354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C3B5BB4-8FF0-BC8B-D1D6-96055A673C92}"/>
              </a:ext>
            </a:extLst>
          </p:cNvPr>
          <p:cNvCxnSpPr>
            <a:cxnSpLocks/>
          </p:cNvCxnSpPr>
          <p:nvPr/>
        </p:nvCxnSpPr>
        <p:spPr>
          <a:xfrm flipH="1">
            <a:off x="4650809" y="4877893"/>
            <a:ext cx="83730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7142267-FB48-CCD8-5BB0-B6BD6CCC6FF7}"/>
              </a:ext>
            </a:extLst>
          </p:cNvPr>
          <p:cNvCxnSpPr>
            <a:cxnSpLocks/>
          </p:cNvCxnSpPr>
          <p:nvPr/>
        </p:nvCxnSpPr>
        <p:spPr>
          <a:xfrm>
            <a:off x="5488101" y="4877900"/>
            <a:ext cx="85053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03AB8276-0D05-DD12-93D0-9B7009B903C3}"/>
              </a:ext>
            </a:extLst>
          </p:cNvPr>
          <p:cNvCxnSpPr>
            <a:cxnSpLocks/>
          </p:cNvCxnSpPr>
          <p:nvPr/>
        </p:nvCxnSpPr>
        <p:spPr>
          <a:xfrm flipH="1">
            <a:off x="8192780" y="4886750"/>
            <a:ext cx="83730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CC668A46-7B65-B8E6-160B-28C73DEC3DA3}"/>
              </a:ext>
            </a:extLst>
          </p:cNvPr>
          <p:cNvCxnSpPr>
            <a:cxnSpLocks/>
          </p:cNvCxnSpPr>
          <p:nvPr/>
        </p:nvCxnSpPr>
        <p:spPr>
          <a:xfrm>
            <a:off x="9030072" y="4886757"/>
            <a:ext cx="850537" cy="3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ED9FFABA-EBDA-6F94-DE37-2093C6F4F582}"/>
              </a:ext>
            </a:extLst>
          </p:cNvPr>
          <p:cNvCxnSpPr>
            <a:cxnSpLocks/>
          </p:cNvCxnSpPr>
          <p:nvPr/>
        </p:nvCxnSpPr>
        <p:spPr>
          <a:xfrm>
            <a:off x="5677994" y="4311255"/>
            <a:ext cx="0" cy="2557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87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0849-A612-A6F6-0343-3BB1A75D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FE5C28C-2E99-60BE-1DCB-6139CD9D4894}"/>
              </a:ext>
            </a:extLst>
          </p:cNvPr>
          <p:cNvGrpSpPr/>
          <p:nvPr/>
        </p:nvGrpSpPr>
        <p:grpSpPr>
          <a:xfrm>
            <a:off x="-59028" y="696015"/>
            <a:ext cx="12251028" cy="5465970"/>
            <a:chOff x="168318" y="558852"/>
            <a:chExt cx="12251028" cy="5465970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FE690A99-3BAA-356B-DF04-5F64BA190653}"/>
                </a:ext>
              </a:extLst>
            </p:cNvPr>
            <p:cNvGrpSpPr/>
            <p:nvPr/>
          </p:nvGrpSpPr>
          <p:grpSpPr>
            <a:xfrm>
              <a:off x="168318" y="558852"/>
              <a:ext cx="12251028" cy="5465970"/>
              <a:chOff x="176103" y="696015"/>
              <a:chExt cx="12251028" cy="5465970"/>
            </a:xfrm>
          </p:grpSpPr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32C54EA-0759-5A2F-6425-9BF64D54C85B}"/>
                  </a:ext>
                </a:extLst>
              </p:cNvPr>
              <p:cNvSpPr txBox="1"/>
              <p:nvPr/>
            </p:nvSpPr>
            <p:spPr>
              <a:xfrm>
                <a:off x="2935775" y="2530608"/>
                <a:ext cx="2869601" cy="276999"/>
              </a:xfrm>
              <a:prstGeom prst="rect">
                <a:avLst/>
              </a:prstGeom>
              <a:solidFill>
                <a:schemeClr val="accent2">
                  <a:alpha val="19906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shapiro.test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on residuals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Textfeld 159">
                <a:extLst>
                  <a:ext uri="{FF2B5EF4-FFF2-40B4-BE49-F238E27FC236}">
                    <a16:creationId xmlns:a16="http://schemas.microsoft.com/office/drawing/2014/main" id="{79BEEEF2-5283-8BBE-4EA6-D9E7E2A636AB}"/>
                  </a:ext>
                </a:extLst>
              </p:cNvPr>
              <p:cNvSpPr txBox="1"/>
              <p:nvPr/>
            </p:nvSpPr>
            <p:spPr>
              <a:xfrm>
                <a:off x="10687409" y="2843425"/>
                <a:ext cx="1734970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Check normality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5662132-5B45-787F-D4AB-8C0570E66740}"/>
                      </a:ext>
                    </a:extLst>
                  </p:cNvPr>
                  <p:cNvSpPr txBox="1"/>
                  <p:nvPr/>
                </p:nvSpPr>
                <p:spPr>
                  <a:xfrm>
                    <a:off x="3829837" y="714371"/>
                    <a:ext cx="5594111" cy="4616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</a:t>
                    </a:r>
                    <a:r>
                      <a:rPr lang="en-GB" sz="1200" noProof="0" dirty="0" err="1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ategorical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predictor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N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umeric response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numeric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or 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integer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1CFA9C82-560E-0334-1BB1-9FD4E0F705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9837" y="714371"/>
                    <a:ext cx="5594111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895"/>
                    </a:stretch>
                  </a:blip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5CA6759B-6AEF-C695-8AC5-51E6524BDD67}"/>
                      </a:ext>
                    </a:extLst>
                  </p:cNvPr>
                  <p:cNvSpPr txBox="1"/>
                  <p:nvPr/>
                </p:nvSpPr>
                <p:spPr>
                  <a:xfrm>
                    <a:off x="2935776" y="1958303"/>
                    <a:ext cx="2865165" cy="27699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</a:t>
                    </a:r>
                    <a14:m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50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for all  </a:t>
                    </a:r>
                    <a14:m>
                      <m:oMath xmlns:m="http://schemas.openxmlformats.org/officeDocument/2006/math"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=1,…,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F6AAEE37-561B-2614-4B82-BA3E31A144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5776" y="1958303"/>
                    <a:ext cx="2865165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69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9C5BECC5-6A6F-4E6A-29CB-5FE3746405E2}"/>
                  </a:ext>
                </a:extLst>
              </p:cNvPr>
              <p:cNvSpPr txBox="1"/>
              <p:nvPr/>
            </p:nvSpPr>
            <p:spPr>
              <a:xfrm>
                <a:off x="306876" y="5348377"/>
                <a:ext cx="1455624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wilcox.test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0CFBC2E1-AFE7-0CB4-2758-BD085A78E146}"/>
                  </a:ext>
                </a:extLst>
              </p:cNvPr>
              <p:cNvSpPr txBox="1"/>
              <p:nvPr/>
            </p:nvSpPr>
            <p:spPr>
              <a:xfrm>
                <a:off x="1822802" y="5348377"/>
                <a:ext cx="2352360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kruskal.test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373A2152-7A85-6031-2F51-873418F2F383}"/>
                      </a:ext>
                    </a:extLst>
                  </p:cNvPr>
                  <p:cNvSpPr txBox="1"/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38C66D2F-9E14-7C8B-5D2A-1F7912FEFB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63C218B2-71E9-F9F0-B567-CF2703110C7E}"/>
                      </a:ext>
                    </a:extLst>
                  </p:cNvPr>
                  <p:cNvSpPr txBox="1"/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nor/>
                            </m:rPr>
                            <a:rPr lang="en-GB" sz="12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 b="0" i="0" dirty="0" smtClean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&lt;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  <a:p>
                    <a:pPr algn="ctr"/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CA4581C7-C3B0-54FA-EF00-228EC57A3E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811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7BECF16-5783-0CDE-694D-D6E05CBC4D12}"/>
                  </a:ext>
                </a:extLst>
              </p:cNvPr>
              <p:cNvSpPr txBox="1"/>
              <p:nvPr/>
            </p:nvSpPr>
            <p:spPr>
              <a:xfrm>
                <a:off x="5270268" y="5367256"/>
                <a:ext cx="155528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oneway.test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F052EFF6-AF0D-95AE-2AB2-F75A4B3B6FAE}"/>
                  </a:ext>
                </a:extLst>
              </p:cNvPr>
              <p:cNvSpPr txBox="1"/>
              <p:nvPr/>
            </p:nvSpPr>
            <p:spPr>
              <a:xfrm>
                <a:off x="9492978" y="5376299"/>
                <a:ext cx="105365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aov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grpSp>
            <p:nvGrpSpPr>
              <p:cNvPr id="427" name="Gruppieren 426">
                <a:extLst>
                  <a:ext uri="{FF2B5EF4-FFF2-40B4-BE49-F238E27FC236}">
                    <a16:creationId xmlns:a16="http://schemas.microsoft.com/office/drawing/2014/main" id="{3A5AA5D5-88F3-2821-AADB-5C3AFB13F2B3}"/>
                  </a:ext>
                </a:extLst>
              </p:cNvPr>
              <p:cNvGrpSpPr/>
              <p:nvPr/>
            </p:nvGrpSpPr>
            <p:grpSpPr>
              <a:xfrm>
                <a:off x="5783635" y="4151670"/>
                <a:ext cx="2856320" cy="305400"/>
                <a:chOff x="8002301" y="4581613"/>
                <a:chExt cx="1289076" cy="305400"/>
              </a:xfrm>
            </p:grpSpPr>
            <p:cxnSp>
              <p:nvCxnSpPr>
                <p:cNvPr id="85" name="Gerade Verbindung mit Pfeil 84">
                  <a:extLst>
                    <a:ext uri="{FF2B5EF4-FFF2-40B4-BE49-F238E27FC236}">
                      <a16:creationId xmlns:a16="http://schemas.microsoft.com/office/drawing/2014/main" id="{71ED2514-41C6-C17B-4BAF-A94942492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02301" y="4581613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Gerade Verbindung mit Pfeil 85">
                  <a:extLst>
                    <a:ext uri="{FF2B5EF4-FFF2-40B4-BE49-F238E27FC236}">
                      <a16:creationId xmlns:a16="http://schemas.microsoft.com/office/drawing/2014/main" id="{62D03418-CE5A-B49D-6152-C298DEDE45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41787" y="4581613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CA483C05-5A89-0402-CDD0-0618C0B4670B}"/>
                  </a:ext>
                </a:extLst>
              </p:cNvPr>
              <p:cNvSpPr txBox="1"/>
              <p:nvPr/>
            </p:nvSpPr>
            <p:spPr>
              <a:xfrm>
                <a:off x="9492977" y="5884785"/>
                <a:ext cx="1124403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TukeyHSD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2DE62F51-55BB-C8B8-430A-AABDF3ECF842}"/>
                  </a:ext>
                </a:extLst>
              </p:cNvPr>
              <p:cNvSpPr txBox="1"/>
              <p:nvPr/>
            </p:nvSpPr>
            <p:spPr>
              <a:xfrm>
                <a:off x="1802317" y="5884785"/>
                <a:ext cx="235514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pairwise.wilcox.test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5C6F5953-DBD0-7772-3BCB-EF6084AFDC55}"/>
                  </a:ext>
                </a:extLst>
              </p:cNvPr>
              <p:cNvSpPr txBox="1"/>
              <p:nvPr/>
            </p:nvSpPr>
            <p:spPr>
              <a:xfrm>
                <a:off x="6896818" y="5376365"/>
                <a:ext cx="2527130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var.equal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=TRUE)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D1C0535C-7BE5-EB9C-E7D0-96F661C2CF05}"/>
                      </a:ext>
                    </a:extLst>
                  </p:cNvPr>
                  <p:cNvSpPr txBox="1"/>
                  <p:nvPr/>
                </p:nvSpPr>
                <p:spPr>
                  <a:xfrm>
                    <a:off x="1539813" y="3195594"/>
                    <a:ext cx="206234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𝑆𝑊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&lt;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DB1D11B9-7DA9-707E-F6E3-B35B8A7B85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9813" y="3195594"/>
                    <a:ext cx="206234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696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2E1D7137-D7A1-D6CB-1045-B359FFE3A9C1}"/>
                      </a:ext>
                    </a:extLst>
                  </p:cNvPr>
                  <p:cNvSpPr txBox="1"/>
                  <p:nvPr/>
                </p:nvSpPr>
                <p:spPr>
                  <a:xfrm>
                    <a:off x="5072567" y="3224082"/>
                    <a:ext cx="1805631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𝑆𝑊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427A10DA-9FC5-57E8-5BBB-30CA10031A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2567" y="3224082"/>
                    <a:ext cx="180563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3043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787E1FED-FB4E-8D95-1823-CA37500017A0}"/>
                  </a:ext>
                </a:extLst>
              </p:cNvPr>
              <p:cNvSpPr txBox="1"/>
              <p:nvPr/>
            </p:nvSpPr>
            <p:spPr>
              <a:xfrm>
                <a:off x="10687408" y="5884785"/>
                <a:ext cx="1739721" cy="277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Post-hoc test </a:t>
                </a:r>
              </a:p>
            </p:txBody>
          </p:sp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616CF461-5740-C4E5-9BFE-1985087BD48C}"/>
                  </a:ext>
                </a:extLst>
              </p:cNvPr>
              <p:cNvSpPr txBox="1"/>
              <p:nvPr/>
            </p:nvSpPr>
            <p:spPr>
              <a:xfrm>
                <a:off x="10687409" y="5413543"/>
                <a:ext cx="1739722" cy="276999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Final test selected </a:t>
                </a:r>
              </a:p>
            </p:txBody>
          </p:sp>
          <p:sp>
            <p:nvSpPr>
              <p:cNvPr id="159" name="Textfeld 158">
                <a:extLst>
                  <a:ext uri="{FF2B5EF4-FFF2-40B4-BE49-F238E27FC236}">
                    <a16:creationId xmlns:a16="http://schemas.microsoft.com/office/drawing/2014/main" id="{87A30F87-6AEB-8F10-66E9-A2C3CA4B0A84}"/>
                  </a:ext>
                </a:extLst>
              </p:cNvPr>
              <p:cNvSpPr txBox="1"/>
              <p:nvPr/>
            </p:nvSpPr>
            <p:spPr>
              <a:xfrm>
                <a:off x="10687409" y="3849123"/>
                <a:ext cx="1734970" cy="27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heck </a:t>
                </a:r>
                <a:r>
                  <a:rPr lang="de-CH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</a:t>
                </a:r>
                <a:r>
                  <a:rPr lang="de-CH" dirty="0" err="1"/>
                  <a:t>omoscedasticity</a:t>
                </a:r>
                <a:endPara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91" name="Gruppieren 490">
                <a:extLst>
                  <a:ext uri="{FF2B5EF4-FFF2-40B4-BE49-F238E27FC236}">
                    <a16:creationId xmlns:a16="http://schemas.microsoft.com/office/drawing/2014/main" id="{91B00BBE-FDEA-4A1A-14F4-CA69FE3455E4}"/>
                  </a:ext>
                </a:extLst>
              </p:cNvPr>
              <p:cNvGrpSpPr/>
              <p:nvPr/>
            </p:nvGrpSpPr>
            <p:grpSpPr>
              <a:xfrm>
                <a:off x="5127020" y="1332992"/>
                <a:ext cx="1795871" cy="542165"/>
                <a:chOff x="2719572" y="1536945"/>
                <a:chExt cx="1289076" cy="305400"/>
              </a:xfrm>
            </p:grpSpPr>
            <p:cxnSp>
              <p:nvCxnSpPr>
                <p:cNvPr id="492" name="Gerade Verbindung mit Pfeil 491">
                  <a:extLst>
                    <a:ext uri="{FF2B5EF4-FFF2-40B4-BE49-F238E27FC236}">
                      <a16:creationId xmlns:a16="http://schemas.microsoft.com/office/drawing/2014/main" id="{3AA3A2B7-0570-854A-E6E1-0A3B73C6D8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2151" y="1536945"/>
                  <a:ext cx="669170" cy="30540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Gerade Verbindung mit Pfeil 492">
                  <a:extLst>
                    <a:ext uri="{FF2B5EF4-FFF2-40B4-BE49-F238E27FC236}">
                      <a16:creationId xmlns:a16="http://schemas.microsoft.com/office/drawing/2014/main" id="{B5BA29FA-3B4F-6006-E874-8350CA6D94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1321" y="1536945"/>
                  <a:ext cx="676275" cy="30540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9" name="Gerade Verbindung mit Pfeil 468">
                <a:extLst>
                  <a:ext uri="{FF2B5EF4-FFF2-40B4-BE49-F238E27FC236}">
                    <a16:creationId xmlns:a16="http://schemas.microsoft.com/office/drawing/2014/main" id="{E9BCE6A3-DBC7-4D42-1379-21AF8EFD4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72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Gerade Verbindung mit Pfeil 469">
                <a:extLst>
                  <a:ext uri="{FF2B5EF4-FFF2-40B4-BE49-F238E27FC236}">
                    <a16:creationId xmlns:a16="http://schemas.microsoft.com/office/drawing/2014/main" id="{E790185F-CA1F-6424-93A1-712044C80D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943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7F28D8FF-BB58-A8D5-5D61-2B55C1971C69}"/>
                  </a:ext>
                </a:extLst>
              </p:cNvPr>
              <p:cNvSpPr txBox="1"/>
              <p:nvPr/>
            </p:nvSpPr>
            <p:spPr>
              <a:xfrm>
                <a:off x="5286613" y="5884785"/>
                <a:ext cx="155528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games.howell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03173ED-707C-1290-E65D-F23E87BC947C}"/>
                  </a:ext>
                </a:extLst>
              </p:cNvPr>
              <p:cNvSpPr txBox="1"/>
              <p:nvPr/>
            </p:nvSpPr>
            <p:spPr>
              <a:xfrm>
                <a:off x="4346747" y="3845460"/>
                <a:ext cx="6199886" cy="2808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levene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.test()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on residuals 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7DE71285-9022-0EA4-68CA-9596E922F0FF}"/>
                      </a:ext>
                    </a:extLst>
                  </p:cNvPr>
                  <p:cNvSpPr txBox="1"/>
                  <p:nvPr/>
                </p:nvSpPr>
                <p:spPr>
                  <a:xfrm>
                    <a:off x="6092023" y="1958302"/>
                    <a:ext cx="2239544" cy="27699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50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for all </a:t>
                    </a:r>
                    <a14:m>
                      <m:oMath xmlns:m="http://schemas.openxmlformats.org/officeDocument/2006/math"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=1,..,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25D3B015-9B60-7B1A-E90A-F3C27F59AD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2023" y="1958302"/>
                    <a:ext cx="223954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869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Gerade Verbindung mit Pfeil 11">
                <a:extLst>
                  <a:ext uri="{FF2B5EF4-FFF2-40B4-BE49-F238E27FC236}">
                    <a16:creationId xmlns:a16="http://schemas.microsoft.com/office/drawing/2014/main" id="{EE26B26C-45DD-0FD9-C68D-76ED64849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2155" y="2308452"/>
                <a:ext cx="0" cy="15100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36E98B60-0906-89F1-0721-B836421D8EAB}"/>
                      </a:ext>
                    </a:extLst>
                  </p:cNvPr>
                  <p:cNvSpPr txBox="1"/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9DDF4002-DC12-E055-D57B-9A420412E1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F9AB3EC5-6CCD-D9B4-8C3A-4E7B2695E184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0EA1C71A-304F-C75E-AF4E-0A6C9B95F4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4167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8" name="Gruppieren 37">
                <a:extLst>
                  <a:ext uri="{FF2B5EF4-FFF2-40B4-BE49-F238E27FC236}">
                    <a16:creationId xmlns:a16="http://schemas.microsoft.com/office/drawing/2014/main" id="{0340866A-670B-BCB4-E50F-EAC509422415}"/>
                  </a:ext>
                </a:extLst>
              </p:cNvPr>
              <p:cNvGrpSpPr/>
              <p:nvPr/>
            </p:nvGrpSpPr>
            <p:grpSpPr>
              <a:xfrm>
                <a:off x="4591203" y="4716325"/>
                <a:ext cx="1687838" cy="346131"/>
                <a:chOff x="2697748" y="1511731"/>
                <a:chExt cx="1289074" cy="305403"/>
              </a:xfrm>
            </p:grpSpPr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4AA2555C-27C0-BB15-4A01-55A43CA28D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7748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Gerade Verbindung mit Pfeil 41">
                  <a:extLst>
                    <a:ext uri="{FF2B5EF4-FFF2-40B4-BE49-F238E27FC236}">
                      <a16:creationId xmlns:a16="http://schemas.microsoft.com/office/drawing/2014/main" id="{FED1B366-9329-5FE4-F687-1BB9803F71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7232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E7C2F89B-4675-9FA2-38FC-0F7220FCE04B}"/>
                      </a:ext>
                    </a:extLst>
                  </p:cNvPr>
                  <p:cNvSpPr txBox="1"/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32F34D86-DE31-25CE-057E-D851B9BC0D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3AF1A683-7116-2100-5C6C-A07B148431BC}"/>
                      </a:ext>
                    </a:extLst>
                  </p:cNvPr>
                  <p:cNvSpPr txBox="1"/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3E0D5529-B228-DD80-E287-2980B0241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A8C6FD14-32A4-DB49-E87E-5EAEEB242365}"/>
                  </a:ext>
                </a:extLst>
              </p:cNvPr>
              <p:cNvGrpSpPr/>
              <p:nvPr/>
            </p:nvGrpSpPr>
            <p:grpSpPr>
              <a:xfrm>
                <a:off x="7894225" y="4716325"/>
                <a:ext cx="1687838" cy="346131"/>
                <a:chOff x="2785044" y="1511731"/>
                <a:chExt cx="1289074" cy="305403"/>
              </a:xfrm>
            </p:grpSpPr>
            <p:cxnSp>
              <p:nvCxnSpPr>
                <p:cNvPr id="58" name="Gerade Verbindung mit Pfeil 57">
                  <a:extLst>
                    <a:ext uri="{FF2B5EF4-FFF2-40B4-BE49-F238E27FC236}">
                      <a16:creationId xmlns:a16="http://schemas.microsoft.com/office/drawing/2014/main" id="{ADB34B23-3891-3C63-5119-6AD0CFD29F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5044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Gerade Verbindung mit Pfeil 58">
                  <a:extLst>
                    <a:ext uri="{FF2B5EF4-FFF2-40B4-BE49-F238E27FC236}">
                      <a16:creationId xmlns:a16="http://schemas.microsoft.com/office/drawing/2014/main" id="{917256FC-A141-DA0D-32EC-8DF6FC34E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24528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35AEECEE-1797-63E1-8B55-7070340774E0}"/>
                      </a:ext>
                    </a:extLst>
                  </p:cNvPr>
                  <p:cNvSpPr txBox="1"/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77C6E6CC-42F5-BE06-70A0-D9AD390338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69943B24-BFC2-B9DF-ABC0-05D7396C7E8A}"/>
                      </a:ext>
                    </a:extLst>
                  </p:cNvPr>
                  <p:cNvSpPr txBox="1"/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98C4BAEE-E59A-9693-1E67-65291EDBDE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E85D0B73-8438-45A0-3494-A67CD6F335D0}"/>
                  </a:ext>
                </a:extLst>
              </p:cNvPr>
              <p:cNvSpPr txBox="1"/>
              <p:nvPr/>
            </p:nvSpPr>
            <p:spPr>
              <a:xfrm>
                <a:off x="4237616" y="5367256"/>
                <a:ext cx="991434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cxnSp>
            <p:nvCxnSpPr>
              <p:cNvPr id="448" name="Gerade Verbindung mit Pfeil 447">
                <a:extLst>
                  <a:ext uri="{FF2B5EF4-FFF2-40B4-BE49-F238E27FC236}">
                    <a16:creationId xmlns:a16="http://schemas.microsoft.com/office/drawing/2014/main" id="{8BF72368-D0CA-AC19-18A7-B1CFB7EADA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63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Gerade Verbindung mit Pfeil 450">
                <a:extLst>
                  <a:ext uri="{FF2B5EF4-FFF2-40B4-BE49-F238E27FC236}">
                    <a16:creationId xmlns:a16="http://schemas.microsoft.com/office/drawing/2014/main" id="{09CBFA40-7FDC-9640-EBF4-A104F7AA68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0576" y="2259772"/>
                <a:ext cx="0" cy="24052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3" name="Textfeld 452">
                <a:extLst>
                  <a:ext uri="{FF2B5EF4-FFF2-40B4-BE49-F238E27FC236}">
                    <a16:creationId xmlns:a16="http://schemas.microsoft.com/office/drawing/2014/main" id="{1BA9773B-4946-1035-F968-9907FC700A5F}"/>
                  </a:ext>
                </a:extLst>
              </p:cNvPr>
              <p:cNvSpPr txBox="1"/>
              <p:nvPr/>
            </p:nvSpPr>
            <p:spPr>
              <a:xfrm>
                <a:off x="9777810" y="1021323"/>
                <a:ext cx="1579377" cy="281831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parametric tests</a:t>
                </a:r>
              </a:p>
            </p:txBody>
          </p:sp>
          <p:sp>
            <p:nvSpPr>
              <p:cNvPr id="454" name="Textfeld 453">
                <a:extLst>
                  <a:ext uri="{FF2B5EF4-FFF2-40B4-BE49-F238E27FC236}">
                    <a16:creationId xmlns:a16="http://schemas.microsoft.com/office/drawing/2014/main" id="{A07C2721-2F54-88D8-372B-D01F6E09DB92}"/>
                  </a:ext>
                </a:extLst>
              </p:cNvPr>
              <p:cNvSpPr txBox="1"/>
              <p:nvPr/>
            </p:nvSpPr>
            <p:spPr>
              <a:xfrm>
                <a:off x="9691066" y="743904"/>
                <a:ext cx="1097743" cy="2818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pPr algn="l"/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Colour code: </a:t>
                </a:r>
              </a:p>
            </p:txBody>
          </p:sp>
          <p:sp>
            <p:nvSpPr>
              <p:cNvPr id="455" name="Rechteck 454">
                <a:extLst>
                  <a:ext uri="{FF2B5EF4-FFF2-40B4-BE49-F238E27FC236}">
                    <a16:creationId xmlns:a16="http://schemas.microsoft.com/office/drawing/2014/main" id="{6FFD3EFC-718E-BC1E-624B-FA531B2EDD77}"/>
                  </a:ext>
                </a:extLst>
              </p:cNvPr>
              <p:cNvSpPr/>
              <p:nvPr/>
            </p:nvSpPr>
            <p:spPr>
              <a:xfrm>
                <a:off x="9581981" y="696015"/>
                <a:ext cx="2637621" cy="1524648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0AE2E71A-2BA4-2049-EA85-9735AD203940}"/>
                      </a:ext>
                    </a:extLst>
                  </p:cNvPr>
                  <p:cNvSpPr txBox="1"/>
                  <p:nvPr/>
                </p:nvSpPr>
                <p:spPr>
                  <a:xfrm>
                    <a:off x="9737673" y="1697309"/>
                    <a:ext cx="2326236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:r>
                      <a:rPr lang="en-GB" sz="1200" noProof="0" dirty="0" err="1">
                        <a:latin typeface="Courier New" panose="02070309020205020404" pitchFamily="49" charset="0"/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a:t>conf.level</a:t>
                    </a:r>
                    <a:endParaRPr lang="en-GB" sz="1200" noProof="0" dirty="0">
                      <a:latin typeface="Courier New" panose="02070309020205020404" pitchFamily="49" charset="0"/>
                      <a:ea typeface="CMU Bright Roman" panose="02000603000000000000" pitchFamily="2" charset="0"/>
                      <a:cs typeface="Courier New" panose="02070309020205020404" pitchFamily="49" charset="0"/>
                    </a:endParaRPr>
                  </a:p>
                  <a:p>
                    <a:endParaRPr lang="en-GB" sz="800" noProof="0" dirty="0">
                      <a:ea typeface="CMU Bright Roman" panose="02000603000000000000" pitchFamily="2" charset="0"/>
                      <a:cs typeface="CMU Bright Roman" panose="02000603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E47FDE1A-B498-6B59-C66D-9D00864C40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7673" y="1697309"/>
                    <a:ext cx="2326236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8" name="Gerade Verbindung mit Pfeil 457">
                <a:extLst>
                  <a:ext uri="{FF2B5EF4-FFF2-40B4-BE49-F238E27FC236}">
                    <a16:creationId xmlns:a16="http://schemas.microsoft.com/office/drawing/2014/main" id="{A3B53E7E-9868-EEF5-EA5B-62DF56A77A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4511" y="3569617"/>
                <a:ext cx="0" cy="25570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8" name="Textfeld 507">
                <a:extLst>
                  <a:ext uri="{FF2B5EF4-FFF2-40B4-BE49-F238E27FC236}">
                    <a16:creationId xmlns:a16="http://schemas.microsoft.com/office/drawing/2014/main" id="{84F05DA5-6C97-6BF7-2B9A-0B717B318959}"/>
                  </a:ext>
                </a:extLst>
              </p:cNvPr>
              <p:cNvSpPr txBox="1"/>
              <p:nvPr/>
            </p:nvSpPr>
            <p:spPr>
              <a:xfrm>
                <a:off x="306876" y="3784066"/>
                <a:ext cx="3307799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cxnSp>
            <p:nvCxnSpPr>
              <p:cNvPr id="511" name="Gerade Verbindung mit Pfeil 510">
                <a:extLst>
                  <a:ext uri="{FF2B5EF4-FFF2-40B4-BE49-F238E27FC236}">
                    <a16:creationId xmlns:a16="http://schemas.microsoft.com/office/drawing/2014/main" id="{5DE54D37-F7FF-2C42-286E-D9139AD0AB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6645" y="3577477"/>
                <a:ext cx="4417" cy="18048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2C6108F-DDAE-81BA-3A76-9AFD81DD1E6A}"/>
                  </a:ext>
                </a:extLst>
              </p:cNvPr>
              <p:cNvSpPr txBox="1"/>
              <p:nvPr/>
            </p:nvSpPr>
            <p:spPr>
              <a:xfrm>
                <a:off x="9798957" y="1358897"/>
                <a:ext cx="1579378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B92C6880-08DB-6355-CFC7-53F544902E1B}"/>
                  </a:ext>
                </a:extLst>
              </p:cNvPr>
              <p:cNvGrpSpPr/>
              <p:nvPr/>
            </p:nvGrpSpPr>
            <p:grpSpPr>
              <a:xfrm>
                <a:off x="1022643" y="4084526"/>
                <a:ext cx="1795871" cy="944792"/>
                <a:chOff x="3378041" y="2876116"/>
                <a:chExt cx="1795871" cy="542165"/>
              </a:xfrm>
            </p:grpSpPr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72EB60D7-2A33-BFCD-235E-0D7D622D8A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78041" y="2876116"/>
                  <a:ext cx="890897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B72D46E9-B8FB-3250-CB29-F04B3CC1C2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8938" y="2876116"/>
                  <a:ext cx="904974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6FE7FB90-2E1A-AFF2-8BC7-10BFEAD732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242" y="2705486"/>
              <a:ext cx="141696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8DDE71BD-331A-6456-5ECC-1A46FD48CAC9}"/>
                </a:ext>
              </a:extLst>
            </p:cNvPr>
            <p:cNvCxnSpPr>
              <a:cxnSpLocks/>
            </p:cNvCxnSpPr>
            <p:nvPr/>
          </p:nvCxnSpPr>
          <p:spPr>
            <a:xfrm>
              <a:off x="4100208" y="2705486"/>
              <a:ext cx="1439354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9169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61A0-C633-060C-1C56-D2F231A5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87A9333-92F3-777B-C937-45399B755F57}"/>
              </a:ext>
            </a:extLst>
          </p:cNvPr>
          <p:cNvGrpSpPr/>
          <p:nvPr/>
        </p:nvGrpSpPr>
        <p:grpSpPr>
          <a:xfrm>
            <a:off x="-59028" y="696015"/>
            <a:ext cx="12251028" cy="5465970"/>
            <a:chOff x="168318" y="558852"/>
            <a:chExt cx="12251028" cy="5465970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414ADD25-8E20-0E24-CB31-CACB6EB43522}"/>
                </a:ext>
              </a:extLst>
            </p:cNvPr>
            <p:cNvGrpSpPr/>
            <p:nvPr/>
          </p:nvGrpSpPr>
          <p:grpSpPr>
            <a:xfrm>
              <a:off x="168318" y="558852"/>
              <a:ext cx="12251028" cy="5465970"/>
              <a:chOff x="176103" y="696015"/>
              <a:chExt cx="12251028" cy="5465970"/>
            </a:xfrm>
          </p:grpSpPr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A15FD95C-AD4A-3122-99F9-2334BE4468F1}"/>
                  </a:ext>
                </a:extLst>
              </p:cNvPr>
              <p:cNvSpPr txBox="1"/>
              <p:nvPr/>
            </p:nvSpPr>
            <p:spPr>
              <a:xfrm>
                <a:off x="2935775" y="2530608"/>
                <a:ext cx="2869601" cy="276999"/>
              </a:xfrm>
              <a:prstGeom prst="rect">
                <a:avLst/>
              </a:prstGeom>
              <a:solidFill>
                <a:schemeClr val="accent2">
                  <a:alpha val="19906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shapiro.test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on residuals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Textfeld 159">
                <a:extLst>
                  <a:ext uri="{FF2B5EF4-FFF2-40B4-BE49-F238E27FC236}">
                    <a16:creationId xmlns:a16="http://schemas.microsoft.com/office/drawing/2014/main" id="{8254D93A-DCA5-6C72-47D6-22D0FB53A888}"/>
                  </a:ext>
                </a:extLst>
              </p:cNvPr>
              <p:cNvSpPr txBox="1"/>
              <p:nvPr/>
            </p:nvSpPr>
            <p:spPr>
              <a:xfrm>
                <a:off x="10617380" y="2530608"/>
                <a:ext cx="1734970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Check normality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026562B7-CEAB-28E1-995E-DF3C8F3CF2C9}"/>
                      </a:ext>
                    </a:extLst>
                  </p:cNvPr>
                  <p:cNvSpPr txBox="1"/>
                  <p:nvPr/>
                </p:nvSpPr>
                <p:spPr>
                  <a:xfrm>
                    <a:off x="3829837" y="714371"/>
                    <a:ext cx="5594111" cy="4616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C</a:t>
                    </a:r>
                    <a:r>
                      <a:rPr lang="en-GB" sz="1200" noProof="0" dirty="0" err="1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ategorical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predictor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factor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  with </a:t>
                    </a:r>
                    <a14:m>
                      <m:oMath xmlns:m="http://schemas.openxmlformats.org/officeDocument/2006/math"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levels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N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umeric response of 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class 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numeric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r>
                      <a:rPr lang="en-GB" sz="120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 </a:t>
                    </a:r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or “</a:t>
                    </a:r>
                    <a:r>
                      <a:rPr lang="en-GB" sz="1200" noProof="0" dirty="0">
                        <a:latin typeface="Courier New" panose="02070309020205020404" pitchFamily="49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a:t>integer</a:t>
                    </a:r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”</a:t>
                    </a:r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1CFA9C82-560E-0334-1BB1-9FD4E0F705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9837" y="714371"/>
                    <a:ext cx="5594111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895"/>
                    </a:stretch>
                  </a:blip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D09C337C-5BD6-7695-1124-3B21663DC49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5776" y="1760593"/>
                    <a:ext cx="2865165" cy="461665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 </a:t>
                    </a:r>
                    <a14:m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50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for all  </a:t>
                    </a:r>
                    <a14:m>
                      <m:oMath xmlns:m="http://schemas.openxmlformats.org/officeDocument/2006/math"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=1,…,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oMath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  <a:p>
                    <a:pPr algn="ctr"/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D09C337C-5BD6-7695-1124-3B21663DC4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5776" y="1760593"/>
                    <a:ext cx="2865165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F83A1108-E1BA-3D05-9334-D92E97DCAC27}"/>
                  </a:ext>
                </a:extLst>
              </p:cNvPr>
              <p:cNvSpPr txBox="1"/>
              <p:nvPr/>
            </p:nvSpPr>
            <p:spPr>
              <a:xfrm>
                <a:off x="306876" y="5348377"/>
                <a:ext cx="1455624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wilcox.test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985B5768-9B49-DF35-B676-BADCCC93F77A}"/>
                  </a:ext>
                </a:extLst>
              </p:cNvPr>
              <p:cNvSpPr txBox="1"/>
              <p:nvPr/>
            </p:nvSpPr>
            <p:spPr>
              <a:xfrm>
                <a:off x="1822802" y="5348377"/>
                <a:ext cx="2352360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kruskal.test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C1DA1C08-A654-3B00-2E0D-E049BE176289}"/>
                      </a:ext>
                    </a:extLst>
                  </p:cNvPr>
                  <p:cNvSpPr txBox="1"/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38C66D2F-9E14-7C8B-5D2A-1F7912FEFB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5541" y="4453323"/>
                    <a:ext cx="1086431" cy="2772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8557DF56-D3BC-67F1-B6B4-1C8E177DB97E}"/>
                      </a:ext>
                    </a:extLst>
                  </p:cNvPr>
                  <p:cNvSpPr txBox="1"/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m:rPr>
                              <m:nor/>
                            </m:rPr>
                            <a:rPr lang="en-GB" sz="1200" i="0" dirty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200" b="0" i="0" dirty="0" smtClean="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&lt;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  <a:p>
                    <a:pPr algn="ctr"/>
                    <a:endPara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feld 29">
                    <a:extLst>
                      <a:ext uri="{FF2B5EF4-FFF2-40B4-BE49-F238E27FC236}">
                        <a16:creationId xmlns:a16="http://schemas.microsoft.com/office/drawing/2014/main" id="{CA4581C7-C3B0-54FA-EF00-228EC57A3E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3821" y="4484616"/>
                    <a:ext cx="1086431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811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BEC7DF59-64CC-9F66-F226-241984164FCD}"/>
                  </a:ext>
                </a:extLst>
              </p:cNvPr>
              <p:cNvSpPr txBox="1"/>
              <p:nvPr/>
            </p:nvSpPr>
            <p:spPr>
              <a:xfrm>
                <a:off x="5270268" y="5367256"/>
                <a:ext cx="155528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oneway.test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8B02DC27-2AEE-33B8-2594-AC61927D4A00}"/>
                  </a:ext>
                </a:extLst>
              </p:cNvPr>
              <p:cNvSpPr txBox="1"/>
              <p:nvPr/>
            </p:nvSpPr>
            <p:spPr>
              <a:xfrm>
                <a:off x="9492978" y="5376299"/>
                <a:ext cx="1053655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aov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grpSp>
            <p:nvGrpSpPr>
              <p:cNvPr id="427" name="Gruppieren 426">
                <a:extLst>
                  <a:ext uri="{FF2B5EF4-FFF2-40B4-BE49-F238E27FC236}">
                    <a16:creationId xmlns:a16="http://schemas.microsoft.com/office/drawing/2014/main" id="{97CF733E-A8B7-D5B4-D5CB-D025454B1998}"/>
                  </a:ext>
                </a:extLst>
              </p:cNvPr>
              <p:cNvGrpSpPr/>
              <p:nvPr/>
            </p:nvGrpSpPr>
            <p:grpSpPr>
              <a:xfrm>
                <a:off x="5783635" y="4151670"/>
                <a:ext cx="2856320" cy="305400"/>
                <a:chOff x="8002301" y="4581613"/>
                <a:chExt cx="1289076" cy="305400"/>
              </a:xfrm>
            </p:grpSpPr>
            <p:cxnSp>
              <p:nvCxnSpPr>
                <p:cNvPr id="85" name="Gerade Verbindung mit Pfeil 84">
                  <a:extLst>
                    <a:ext uri="{FF2B5EF4-FFF2-40B4-BE49-F238E27FC236}">
                      <a16:creationId xmlns:a16="http://schemas.microsoft.com/office/drawing/2014/main" id="{55C1B0B7-6D1C-C4EB-E656-45707AD726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02301" y="4581613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Gerade Verbindung mit Pfeil 85">
                  <a:extLst>
                    <a:ext uri="{FF2B5EF4-FFF2-40B4-BE49-F238E27FC236}">
                      <a16:creationId xmlns:a16="http://schemas.microsoft.com/office/drawing/2014/main" id="{DF2E245B-173D-ADED-5EB3-19EBE8F99D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41787" y="4581613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551573E4-0F06-411F-FDE0-93795FB6E2ED}"/>
                  </a:ext>
                </a:extLst>
              </p:cNvPr>
              <p:cNvSpPr txBox="1"/>
              <p:nvPr/>
            </p:nvSpPr>
            <p:spPr>
              <a:xfrm>
                <a:off x="9492977" y="5884785"/>
                <a:ext cx="1124403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TukeyHSD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6632ACB2-9FBB-BEE0-2DCD-6F5DB9A3DA10}"/>
                  </a:ext>
                </a:extLst>
              </p:cNvPr>
              <p:cNvSpPr txBox="1"/>
              <p:nvPr/>
            </p:nvSpPr>
            <p:spPr>
              <a:xfrm>
                <a:off x="1802317" y="5884785"/>
                <a:ext cx="235514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pairwise.wilcox.test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5845F1B0-FB11-6F50-1444-B7FD9BF745CE}"/>
                  </a:ext>
                </a:extLst>
              </p:cNvPr>
              <p:cNvSpPr txBox="1"/>
              <p:nvPr/>
            </p:nvSpPr>
            <p:spPr>
              <a:xfrm>
                <a:off x="6896818" y="5376365"/>
                <a:ext cx="2527130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(…,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var.equal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=TRUE)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13011CEB-9AD4-A5A3-BB0C-577B7809EB31}"/>
                      </a:ext>
                    </a:extLst>
                  </p:cNvPr>
                  <p:cNvSpPr txBox="1"/>
                  <p:nvPr/>
                </p:nvSpPr>
                <p:spPr>
                  <a:xfrm>
                    <a:off x="1539813" y="3195594"/>
                    <a:ext cx="206234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𝑆𝑊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&lt;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DB1D11B9-7DA9-707E-F6E3-B35B8A7B85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9813" y="3195594"/>
                    <a:ext cx="206234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696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BB800D0D-A714-577C-D8EE-4FF5D816DE30}"/>
                      </a:ext>
                    </a:extLst>
                  </p:cNvPr>
                  <p:cNvSpPr txBox="1"/>
                  <p:nvPr/>
                </p:nvSpPr>
                <p:spPr>
                  <a:xfrm>
                    <a:off x="5072567" y="3224082"/>
                    <a:ext cx="1805631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𝑆𝑊</m:t>
                          </m:r>
                          <m:r>
                            <a:rPr lang="en-US" sz="12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feld 87">
                    <a:extLst>
                      <a:ext uri="{FF2B5EF4-FFF2-40B4-BE49-F238E27FC236}">
                        <a16:creationId xmlns:a16="http://schemas.microsoft.com/office/drawing/2014/main" id="{427A10DA-9FC5-57E8-5BBB-30CA10031A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2567" y="3224082"/>
                    <a:ext cx="180563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3043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07B5C3F1-43F5-1DF4-C62C-4BEED4B95A5F}"/>
                  </a:ext>
                </a:extLst>
              </p:cNvPr>
              <p:cNvSpPr txBox="1"/>
              <p:nvPr/>
            </p:nvSpPr>
            <p:spPr>
              <a:xfrm>
                <a:off x="10687408" y="5884785"/>
                <a:ext cx="1739721" cy="2772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Post-hoc test </a:t>
                </a:r>
              </a:p>
            </p:txBody>
          </p:sp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E83C5C9D-B2D4-D6DE-9EF0-EC4AB483000F}"/>
                  </a:ext>
                </a:extLst>
              </p:cNvPr>
              <p:cNvSpPr txBox="1"/>
              <p:nvPr/>
            </p:nvSpPr>
            <p:spPr>
              <a:xfrm>
                <a:off x="10687409" y="5413543"/>
                <a:ext cx="1739722" cy="276999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Final test selected </a:t>
                </a:r>
              </a:p>
            </p:txBody>
          </p:sp>
          <p:sp>
            <p:nvSpPr>
              <p:cNvPr id="159" name="Textfeld 158">
                <a:extLst>
                  <a:ext uri="{FF2B5EF4-FFF2-40B4-BE49-F238E27FC236}">
                    <a16:creationId xmlns:a16="http://schemas.microsoft.com/office/drawing/2014/main" id="{2B7F183B-1A00-439B-7A9F-31657A8190F9}"/>
                  </a:ext>
                </a:extLst>
              </p:cNvPr>
              <p:cNvSpPr txBox="1"/>
              <p:nvPr/>
            </p:nvSpPr>
            <p:spPr>
              <a:xfrm>
                <a:off x="10687409" y="3849123"/>
                <a:ext cx="1734970" cy="27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heck </a:t>
                </a:r>
                <a:r>
                  <a:rPr lang="de-CH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h</a:t>
                </a:r>
                <a:r>
                  <a:rPr lang="de-CH" dirty="0" err="1"/>
                  <a:t>omoscedasticity</a:t>
                </a:r>
                <a:endPara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91" name="Gruppieren 490">
                <a:extLst>
                  <a:ext uri="{FF2B5EF4-FFF2-40B4-BE49-F238E27FC236}">
                    <a16:creationId xmlns:a16="http://schemas.microsoft.com/office/drawing/2014/main" id="{27C5706D-31C6-5BB1-7679-5A56A2E9237A}"/>
                  </a:ext>
                </a:extLst>
              </p:cNvPr>
              <p:cNvGrpSpPr/>
              <p:nvPr/>
            </p:nvGrpSpPr>
            <p:grpSpPr>
              <a:xfrm>
                <a:off x="5074887" y="1197062"/>
                <a:ext cx="1874401" cy="542171"/>
                <a:chOff x="2682151" y="1460375"/>
                <a:chExt cx="1345445" cy="305403"/>
              </a:xfrm>
            </p:grpSpPr>
            <p:cxnSp>
              <p:nvCxnSpPr>
                <p:cNvPr id="492" name="Gerade Verbindung mit Pfeil 491">
                  <a:extLst>
                    <a:ext uri="{FF2B5EF4-FFF2-40B4-BE49-F238E27FC236}">
                      <a16:creationId xmlns:a16="http://schemas.microsoft.com/office/drawing/2014/main" id="{8F1AB3DB-EB4F-135A-D1D0-A13DBF952E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2151" y="1460378"/>
                  <a:ext cx="669170" cy="30540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Gerade Verbindung mit Pfeil 492">
                  <a:extLst>
                    <a:ext uri="{FF2B5EF4-FFF2-40B4-BE49-F238E27FC236}">
                      <a16:creationId xmlns:a16="http://schemas.microsoft.com/office/drawing/2014/main" id="{2AF0592A-8DCE-B774-86B0-827650A7C2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1321" y="1460375"/>
                  <a:ext cx="676275" cy="30540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9" name="Gerade Verbindung mit Pfeil 468">
                <a:extLst>
                  <a:ext uri="{FF2B5EF4-FFF2-40B4-BE49-F238E27FC236}">
                    <a16:creationId xmlns:a16="http://schemas.microsoft.com/office/drawing/2014/main" id="{FE9C4F96-999A-8C8F-8847-41745470E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72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Gerade Verbindung mit Pfeil 469">
                <a:extLst>
                  <a:ext uri="{FF2B5EF4-FFF2-40B4-BE49-F238E27FC236}">
                    <a16:creationId xmlns:a16="http://schemas.microsoft.com/office/drawing/2014/main" id="{5DCA3AAA-13B8-BCCD-CE84-045E5F9B2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9436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0502615D-1F04-8A2A-A5F3-AA01E9392C0A}"/>
                  </a:ext>
                </a:extLst>
              </p:cNvPr>
              <p:cNvSpPr txBox="1"/>
              <p:nvPr/>
            </p:nvSpPr>
            <p:spPr>
              <a:xfrm>
                <a:off x="5286613" y="5884785"/>
                <a:ext cx="1555286" cy="2769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games.howell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4F88A01-6781-5904-A652-B12091D21F3E}"/>
                  </a:ext>
                </a:extLst>
              </p:cNvPr>
              <p:cNvSpPr txBox="1"/>
              <p:nvPr/>
            </p:nvSpPr>
            <p:spPr>
              <a:xfrm>
                <a:off x="4346747" y="3845460"/>
                <a:ext cx="6199886" cy="2808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levene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.test()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on residuals 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4819F473-9D5A-BC07-B8A0-D41CA5863BCC}"/>
                      </a:ext>
                    </a:extLst>
                  </p:cNvPr>
                  <p:cNvSpPr txBox="1"/>
                  <p:nvPr/>
                </p:nvSpPr>
                <p:spPr>
                  <a:xfrm>
                    <a:off x="6092022" y="1760592"/>
                    <a:ext cx="3331923" cy="461665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>
                    <a:defPPr>
                      <a:defRPr lang="de-DE"/>
                    </a:defPPr>
                  </a:lstStyle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for all </a:t>
                    </a:r>
                    <a14:m>
                      <m:oMath xmlns:m="http://schemas.openxmlformats.org/officeDocument/2006/math"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=1,..,</m:t>
                        </m:r>
                        <m:r>
                          <a:rPr lang="en-GB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𝑎𝑛𝑑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≤4</m:t>
                        </m:r>
                      </m:oMath>
                    </a14:m>
                    <a:endParaRPr lang="en-US" sz="1200" b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oMath>
                    </a14:m>
                    <a:r>
                      <a:rPr lang="en-GB" sz="12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for all </a:t>
                    </a:r>
                    <a14:m>
                      <m:oMath xmlns:m="http://schemas.openxmlformats.org/officeDocument/2006/math"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=1,..,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𝑎𝑛𝑑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&gt;4</m:t>
                        </m:r>
                      </m:oMath>
                    </a14:m>
                    <a:endParaRPr lang="en-US" sz="1200" b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4819F473-9D5A-BC07-B8A0-D41CA5863B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2022" y="1760592"/>
                    <a:ext cx="3331923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895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Gerade Verbindung mit Pfeil 11">
                <a:extLst>
                  <a:ext uri="{FF2B5EF4-FFF2-40B4-BE49-F238E27FC236}">
                    <a16:creationId xmlns:a16="http://schemas.microsoft.com/office/drawing/2014/main" id="{C24D2140-54A2-5F39-0CD6-BD660F15E5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2155" y="2295825"/>
                <a:ext cx="8446" cy="15294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6F4F9118-AA5E-B911-DD5C-EAFAAD05F695}"/>
                      </a:ext>
                    </a:extLst>
                  </p:cNvPr>
                  <p:cNvSpPr txBox="1"/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9DDF4002-DC12-E055-D57B-9A420412E1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103" y="5018698"/>
                    <a:ext cx="1455623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5CDF2517-3347-9596-58AB-BAEE6A600961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0EA1C71A-304F-C75E-AF4E-0A6C9B95F4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821" y="5029318"/>
                    <a:ext cx="2336699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4167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8" name="Gruppieren 37">
                <a:extLst>
                  <a:ext uri="{FF2B5EF4-FFF2-40B4-BE49-F238E27FC236}">
                    <a16:creationId xmlns:a16="http://schemas.microsoft.com/office/drawing/2014/main" id="{C9218594-7FCC-4635-B1B1-27ABB2A2FE09}"/>
                  </a:ext>
                </a:extLst>
              </p:cNvPr>
              <p:cNvGrpSpPr/>
              <p:nvPr/>
            </p:nvGrpSpPr>
            <p:grpSpPr>
              <a:xfrm>
                <a:off x="4591203" y="4716325"/>
                <a:ext cx="1687838" cy="346131"/>
                <a:chOff x="2697748" y="1511731"/>
                <a:chExt cx="1289074" cy="305403"/>
              </a:xfrm>
            </p:grpSpPr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CDE9D7E7-F891-7245-9358-3732E6EC6C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7748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Gerade Verbindung mit Pfeil 41">
                  <a:extLst>
                    <a:ext uri="{FF2B5EF4-FFF2-40B4-BE49-F238E27FC236}">
                      <a16:creationId xmlns:a16="http://schemas.microsoft.com/office/drawing/2014/main" id="{24C8378A-3553-43F8-6634-25B302FDD7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7232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EA8BD500-3BEC-725E-273B-3B6C6F5AFAA0}"/>
                      </a:ext>
                    </a:extLst>
                  </p:cNvPr>
                  <p:cNvSpPr txBox="1"/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32F34D86-DE31-25CE-057E-D851B9BC0D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4821" y="5033603"/>
                    <a:ext cx="89037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A1ECBE63-BBF1-CC51-3CEC-73F27146DB68}"/>
                      </a:ext>
                    </a:extLst>
                  </p:cNvPr>
                  <p:cNvSpPr txBox="1"/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6" name="Textfeld 55">
                    <a:extLst>
                      <a:ext uri="{FF2B5EF4-FFF2-40B4-BE49-F238E27FC236}">
                        <a16:creationId xmlns:a16="http://schemas.microsoft.com/office/drawing/2014/main" id="{3E0D5529-B228-DD80-E287-2980B0241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5084" y="5018698"/>
                    <a:ext cx="846119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6AA37450-B15C-170C-B86C-E7554DEF5526}"/>
                  </a:ext>
                </a:extLst>
              </p:cNvPr>
              <p:cNvGrpSpPr/>
              <p:nvPr/>
            </p:nvGrpSpPr>
            <p:grpSpPr>
              <a:xfrm>
                <a:off x="7894225" y="4716325"/>
                <a:ext cx="1687838" cy="346131"/>
                <a:chOff x="2785044" y="1511731"/>
                <a:chExt cx="1289074" cy="305403"/>
              </a:xfrm>
            </p:grpSpPr>
            <p:cxnSp>
              <p:nvCxnSpPr>
                <p:cNvPr id="58" name="Gerade Verbindung mit Pfeil 57">
                  <a:extLst>
                    <a:ext uri="{FF2B5EF4-FFF2-40B4-BE49-F238E27FC236}">
                      <a16:creationId xmlns:a16="http://schemas.microsoft.com/office/drawing/2014/main" id="{20E23813-5862-6F3E-3A4E-5AEF08541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5044" y="1511731"/>
                  <a:ext cx="639486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Gerade Verbindung mit Pfeil 58">
                  <a:extLst>
                    <a:ext uri="{FF2B5EF4-FFF2-40B4-BE49-F238E27FC236}">
                      <a16:creationId xmlns:a16="http://schemas.microsoft.com/office/drawing/2014/main" id="{1B80D7D4-9B5B-414E-A410-74086C900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24528" y="1511734"/>
                  <a:ext cx="649590" cy="305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EEA42792-6688-F9AB-89D1-9B3D91865FFA}"/>
                      </a:ext>
                    </a:extLst>
                  </p:cNvPr>
                  <p:cNvSpPr txBox="1"/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=2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feld 59">
                    <a:extLst>
                      <a:ext uri="{FF2B5EF4-FFF2-40B4-BE49-F238E27FC236}">
                        <a16:creationId xmlns:a16="http://schemas.microsoft.com/office/drawing/2014/main" id="{77C6E6CC-42F5-BE06-70A0-D9AD390338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6370" y="5018698"/>
                    <a:ext cx="890372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D90DC612-0F7C-FC51-8B37-3C8FD03E6813}"/>
                      </a:ext>
                    </a:extLst>
                  </p:cNvPr>
                  <p:cNvSpPr txBox="1"/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 2</m:t>
                          </m:r>
                        </m:oMath>
                      </m:oMathPara>
                    </a14:m>
                    <a:endPara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feld 60">
                    <a:extLst>
                      <a:ext uri="{FF2B5EF4-FFF2-40B4-BE49-F238E27FC236}">
                        <a16:creationId xmlns:a16="http://schemas.microsoft.com/office/drawing/2014/main" id="{98C4BAEE-E59A-9693-1E67-65291EDBDE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8922" y="5018698"/>
                    <a:ext cx="846119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4348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12D47E50-B572-78DA-3CC2-916027405BD4}"/>
                  </a:ext>
                </a:extLst>
              </p:cNvPr>
              <p:cNvSpPr txBox="1"/>
              <p:nvPr/>
            </p:nvSpPr>
            <p:spPr>
              <a:xfrm>
                <a:off x="4237616" y="5367256"/>
                <a:ext cx="991434" cy="276999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 err="1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t.test</a:t>
                </a:r>
                <a:r>
                  <a:rPr lang="en-GB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cxnSp>
            <p:nvCxnSpPr>
              <p:cNvPr id="448" name="Gerade Verbindung mit Pfeil 447">
                <a:extLst>
                  <a:ext uri="{FF2B5EF4-FFF2-40B4-BE49-F238E27FC236}">
                    <a16:creationId xmlns:a16="http://schemas.microsoft.com/office/drawing/2014/main" id="{340CB3E9-5223-0903-17F9-75ED680F1C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863" y="5667436"/>
                <a:ext cx="0" cy="18888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Gerade Verbindung mit Pfeil 450">
                <a:extLst>
                  <a:ext uri="{FF2B5EF4-FFF2-40B4-BE49-F238E27FC236}">
                    <a16:creationId xmlns:a16="http://schemas.microsoft.com/office/drawing/2014/main" id="{15E8BA43-113F-3937-88A0-7E51A869FF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0576" y="2259772"/>
                <a:ext cx="0" cy="24052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3" name="Textfeld 452">
                <a:extLst>
                  <a:ext uri="{FF2B5EF4-FFF2-40B4-BE49-F238E27FC236}">
                    <a16:creationId xmlns:a16="http://schemas.microsoft.com/office/drawing/2014/main" id="{0386FD2C-0360-5A4A-28D3-FA6CEB0E84F9}"/>
                  </a:ext>
                </a:extLst>
              </p:cNvPr>
              <p:cNvSpPr txBox="1"/>
              <p:nvPr/>
            </p:nvSpPr>
            <p:spPr>
              <a:xfrm>
                <a:off x="9777810" y="1021323"/>
                <a:ext cx="1579377" cy="281831"/>
              </a:xfrm>
              <a:prstGeom prst="rect">
                <a:avLst/>
              </a:prstGeom>
              <a:solidFill>
                <a:schemeClr val="accent4">
                  <a:alpha val="19758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parametric tests</a:t>
                </a:r>
              </a:p>
            </p:txBody>
          </p:sp>
          <p:sp>
            <p:nvSpPr>
              <p:cNvPr id="454" name="Textfeld 453">
                <a:extLst>
                  <a:ext uri="{FF2B5EF4-FFF2-40B4-BE49-F238E27FC236}">
                    <a16:creationId xmlns:a16="http://schemas.microsoft.com/office/drawing/2014/main" id="{28B1F641-FF4D-ECB3-BEA2-39AA560EB3C2}"/>
                  </a:ext>
                </a:extLst>
              </p:cNvPr>
              <p:cNvSpPr txBox="1"/>
              <p:nvPr/>
            </p:nvSpPr>
            <p:spPr>
              <a:xfrm>
                <a:off x="9691066" y="743904"/>
                <a:ext cx="1097743" cy="2818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pPr algn="l"/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Colour code: </a:t>
                </a:r>
              </a:p>
            </p:txBody>
          </p:sp>
          <p:sp>
            <p:nvSpPr>
              <p:cNvPr id="455" name="Rechteck 454">
                <a:extLst>
                  <a:ext uri="{FF2B5EF4-FFF2-40B4-BE49-F238E27FC236}">
                    <a16:creationId xmlns:a16="http://schemas.microsoft.com/office/drawing/2014/main" id="{BD76992D-104F-814C-3DC9-38B609A4D6B8}"/>
                  </a:ext>
                </a:extLst>
              </p:cNvPr>
              <p:cNvSpPr/>
              <p:nvPr/>
            </p:nvSpPr>
            <p:spPr>
              <a:xfrm>
                <a:off x="9581981" y="696015"/>
                <a:ext cx="2637621" cy="1524648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693A4CD9-BFBE-A337-DC21-8A922DFA4D2B}"/>
                      </a:ext>
                    </a:extLst>
                  </p:cNvPr>
                  <p:cNvSpPr txBox="1"/>
                  <p:nvPr/>
                </p:nvSpPr>
                <p:spPr>
                  <a:xfrm>
                    <a:off x="9737673" y="1697309"/>
                    <a:ext cx="2326236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</m:oMath>
                    </a14:m>
                    <a:r>
                      <a:rPr lang="en-GB" sz="1200" noProof="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:r>
                      <a:rPr lang="en-GB" sz="1200" noProof="0" dirty="0" err="1">
                        <a:latin typeface="Courier New" panose="02070309020205020404" pitchFamily="49" charset="0"/>
                        <a:ea typeface="CMU Bright Roman" panose="02000603000000000000" pitchFamily="2" charset="0"/>
                        <a:cs typeface="Courier New" panose="02070309020205020404" pitchFamily="49" charset="0"/>
                      </a:rPr>
                      <a:t>conf.level</a:t>
                    </a:r>
                    <a:endParaRPr lang="en-GB" sz="1200" noProof="0" dirty="0">
                      <a:latin typeface="Courier New" panose="02070309020205020404" pitchFamily="49" charset="0"/>
                      <a:ea typeface="CMU Bright Roman" panose="02000603000000000000" pitchFamily="2" charset="0"/>
                      <a:cs typeface="Courier New" panose="02070309020205020404" pitchFamily="49" charset="0"/>
                    </a:endParaRPr>
                  </a:p>
                  <a:p>
                    <a:endParaRPr lang="en-GB" sz="800" noProof="0" dirty="0">
                      <a:ea typeface="CMU Bright Roman" panose="02000603000000000000" pitchFamily="2" charset="0"/>
                      <a:cs typeface="CMU Bright Roman" panose="02000603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57" name="Textfeld 456">
                    <a:extLst>
                      <a:ext uri="{FF2B5EF4-FFF2-40B4-BE49-F238E27FC236}">
                        <a16:creationId xmlns:a16="http://schemas.microsoft.com/office/drawing/2014/main" id="{E47FDE1A-B498-6B59-C66D-9D00864C40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7673" y="1697309"/>
                    <a:ext cx="2326236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8" name="Gerade Verbindung mit Pfeil 457">
                <a:extLst>
                  <a:ext uri="{FF2B5EF4-FFF2-40B4-BE49-F238E27FC236}">
                    <a16:creationId xmlns:a16="http://schemas.microsoft.com/office/drawing/2014/main" id="{ED2F49ED-CF05-17CE-F5AE-829F642F2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4511" y="3569617"/>
                <a:ext cx="0" cy="25570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8" name="Textfeld 507">
                <a:extLst>
                  <a:ext uri="{FF2B5EF4-FFF2-40B4-BE49-F238E27FC236}">
                    <a16:creationId xmlns:a16="http://schemas.microsoft.com/office/drawing/2014/main" id="{25CF7279-F6AA-C8C5-E4AD-A871CF5B76FA}"/>
                  </a:ext>
                </a:extLst>
              </p:cNvPr>
              <p:cNvSpPr txBox="1"/>
              <p:nvPr/>
            </p:nvSpPr>
            <p:spPr>
              <a:xfrm>
                <a:off x="306876" y="3784066"/>
                <a:ext cx="3307799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cxnSp>
            <p:nvCxnSpPr>
              <p:cNvPr id="511" name="Gerade Verbindung mit Pfeil 510">
                <a:extLst>
                  <a:ext uri="{FF2B5EF4-FFF2-40B4-BE49-F238E27FC236}">
                    <a16:creationId xmlns:a16="http://schemas.microsoft.com/office/drawing/2014/main" id="{E47715C9-A05E-7F9F-A536-7630D8DB64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6645" y="3577477"/>
                <a:ext cx="4417" cy="18048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D3C8A166-15BE-A91F-913E-ABB930E40C70}"/>
                  </a:ext>
                </a:extLst>
              </p:cNvPr>
              <p:cNvSpPr txBox="1"/>
              <p:nvPr/>
            </p:nvSpPr>
            <p:spPr>
              <a:xfrm>
                <a:off x="9798957" y="1358897"/>
                <a:ext cx="1579378" cy="27699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non-parametric tests </a:t>
                </a:r>
              </a:p>
            </p:txBody>
          </p: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78863165-3BF6-E0B8-5FCC-B5F16EFD33BE}"/>
                  </a:ext>
                </a:extLst>
              </p:cNvPr>
              <p:cNvGrpSpPr/>
              <p:nvPr/>
            </p:nvGrpSpPr>
            <p:grpSpPr>
              <a:xfrm>
                <a:off x="1022643" y="4084526"/>
                <a:ext cx="1795871" cy="944792"/>
                <a:chOff x="3378041" y="2876116"/>
                <a:chExt cx="1795871" cy="542165"/>
              </a:xfrm>
            </p:grpSpPr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59A78FA3-6CCD-607E-9DB4-E7A25ED043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78041" y="2876116"/>
                  <a:ext cx="890897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9C143764-852F-7E93-8B84-C14E17179B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8938" y="2876116"/>
                  <a:ext cx="904974" cy="542165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446CC04C-CF56-DD5D-92F2-98B4E1A61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242" y="2705486"/>
              <a:ext cx="141696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37AA8953-8185-DA5A-D8A0-15E1D256271B}"/>
                </a:ext>
              </a:extLst>
            </p:cNvPr>
            <p:cNvCxnSpPr>
              <a:cxnSpLocks/>
            </p:cNvCxnSpPr>
            <p:nvPr/>
          </p:nvCxnSpPr>
          <p:spPr>
            <a:xfrm>
              <a:off x="4100208" y="2705486"/>
              <a:ext cx="1439354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2816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1246</Words>
  <Application>Microsoft Macintosh PowerPoint</Application>
  <PresentationFormat>Breitbild</PresentationFormat>
  <Paragraphs>280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CMU Bright Roman</vt:lpstr>
      <vt:lpstr>Courier New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37</cp:revision>
  <dcterms:created xsi:type="dcterms:W3CDTF">2023-05-08T12:12:17Z</dcterms:created>
  <dcterms:modified xsi:type="dcterms:W3CDTF">2026-09-26T08:32:12Z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