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8" r:id="rId2"/>
    <p:sldId id="263" r:id="rId3"/>
    <p:sldId id="269" r:id="rId4"/>
    <p:sldId id="267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611EB4-57B7-0643-9E8D-DF825C1FD7CB}" v="32" dt="2025-12-28T14:26:58.2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55"/>
    <p:restoredTop sz="79372"/>
  </p:normalViewPr>
  <p:slideViewPr>
    <p:cSldViewPr snapToGrid="0" snapToObjects="1" showGuides="1">
      <p:cViewPr>
        <p:scale>
          <a:sx n="160" d="100"/>
          <a:sy n="160" d="100"/>
        </p:scale>
        <p:origin x="-2192" y="-2296"/>
      </p:cViewPr>
      <p:guideLst>
        <p:guide orient="horz" pos="2273"/>
        <p:guide pos="384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CA108-3915-9043-8428-B4BE4472B821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21A6D-3249-074E-BBD6-BCFA953678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366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F7F45-7EF1-D927-B425-FEBF8F216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6D8FE8E-1EF5-5D4E-B9E2-B787071D1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A3FDF7B-EF68-1A52-15E1-FC15EAB6D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81BC71-0385-B021-3311-56624E705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3819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2CBAC-80CA-C9E5-1A92-02ABE05A3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042F94E-FBA1-6FD3-2FDD-8FD64E13A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9313A6E-DF05-61B9-CCCC-E311E1AB0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6AFF59-FEAA-3522-91AB-6633E0E54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8869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288EE-91B3-6B33-D62F-87575B0EF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DCEA92B-4F3F-5C95-8231-B65F18C51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F496C98-BE58-6F55-9096-58689F26E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D30AC4E-9D24-2DA0-9E8B-FF011C947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683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1184C-C4BD-BB61-D66B-24B916B3F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B818C13-3D2D-35E3-FF9A-4C24E1DE1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4DE5185-7996-6C26-5369-88D6B2B85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3F05A4-D8C9-67DF-332B-05E1207AD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2372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ECEF21-0523-3245-A3FA-5D78C65A5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75FCB35-54D7-B745-9657-FF74691F5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FB4C31-A070-E749-B7E9-CAD5936A1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4BDDB1-76AF-F240-BE46-91A5D3ACF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ED5B39-7F00-5F46-862B-911988D34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34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554BE9-111B-6643-8D26-3DD596FEA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B77CD3-C0E5-484B-AA36-1FAB6E941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AE1DB2-DB10-BF4C-875B-98CAE475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A9CC44-0F69-3747-A15E-BACC7779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55398D-D950-0B47-9A96-AABF434F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1793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DCAD7-127F-4A49-A00E-1493C9F4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3E74A8-D7E8-5E47-9B26-F406CD93C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EC5F87-4EBC-EC46-BC69-2EA7086C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F350A8-A53D-4D41-A2F9-A9AFF938D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18D8E7-39AC-0B46-987D-0950F1CD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8266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2F7841-3B2B-604F-815C-62EC3AAF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4B11C0-B11E-F540-81AE-52BAEDA20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9245B3-41C8-C343-88E2-BE23F220E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9DD4A7-C44D-9E43-BF1E-F13205AEE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44D8E9D-4D59-1F45-8E08-61D1A8B6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2EFA05-29DD-0641-A620-7019B4A07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841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FB19D6-A6D2-AF40-A13C-FA7BE88B6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ACBB3E-E485-5F42-BEC1-669009E5F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E955C11-20E8-0348-A806-9CDE1284C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2D82558-8DBB-944E-BBE0-6A7C6E834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5F790C5-2F18-8E45-94AA-64F30C096B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BFF6501-64C2-C943-A8E9-C5E1B749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95BB371-362A-B645-9C58-F190A3C77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3A6B4C4-5B8D-2241-A404-A2768A84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720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CCD577-05C9-164F-939D-D883FFD2C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782072-9B65-E543-BC58-68B5955A0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A1934E-231F-354D-B826-E7AD8E44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3B6EAF-2961-3F47-B50E-4F501253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963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11E0EEA-87BD-7E4D-BDD1-E816BF78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FA06A65-624C-EA4B-936E-DBCEC9D5E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82C9F7-D6EF-DC40-B7B5-4E48A458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319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5B16D9-E2F7-324E-A99A-47378B28E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B2D12D-5159-294F-8EA7-5F484B348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C48EA53-C77F-FF44-992C-A85A3C70F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CC8764-0DBF-344B-912D-C3453B17B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20CBC3-1569-3744-9FB2-E12E54EAA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50A68D-38F0-CC4E-8DE1-604F3C84E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1960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F1231F-387B-1544-82E5-776081E5C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BE53984-9ED8-374C-9F9D-A49EB58D0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7C99D1-BB16-F749-B0AB-0A6B34283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531638-E076-814A-870C-37518A17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3AFDA6-425A-4C48-A64B-2FC02B245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CAA1C2-0368-3F42-B248-087F9171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9740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49C4A6-64B8-904B-959B-523D63313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FA91367-9EA8-B14F-A1E3-0D7488D17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95B52B-F627-0243-95BF-CAF30A424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7D948D-68F0-444F-A060-6F3ECCFE0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557819-4A50-7C44-911B-582581B3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3412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E74BDCF-A048-7341-8942-C4374B848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7FF7B22-2769-8144-A326-25919C1D0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5B7B6A-9CEB-6C42-9C7B-F9ED38263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8C4A24-0F26-0840-A896-381E0715D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341010-5E03-FB4F-AE26-6B22D37B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5877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18E2AF2-F7FF-0F4F-A4BE-509679AC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2B262F-55F8-F14A-9AC3-B59BB1C13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1F1D78-192B-D042-83F5-BB397139B2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94F689-F2F7-294B-8BF5-FD360E11C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D99928-F7B0-4B46-865C-13B1B95B4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065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6.png"/><Relationship Id="rId18" Type="http://schemas.openxmlformats.org/officeDocument/2006/relationships/image" Target="../media/image16.png"/><Relationship Id="rId3" Type="http://schemas.openxmlformats.org/officeDocument/2006/relationships/image" Target="../media/image110.png"/><Relationship Id="rId7" Type="http://schemas.openxmlformats.org/officeDocument/2006/relationships/image" Target="../media/image21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9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19" Type="http://schemas.openxmlformats.org/officeDocument/2006/relationships/image" Target="../media/image17.png"/><Relationship Id="rId4" Type="http://schemas.openxmlformats.org/officeDocument/2006/relationships/image" Target="../media/image210.png"/><Relationship Id="rId9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6.png"/><Relationship Id="rId26" Type="http://schemas.openxmlformats.org/officeDocument/2006/relationships/image" Target="../media/image28.png"/><Relationship Id="rId3" Type="http://schemas.openxmlformats.org/officeDocument/2006/relationships/image" Target="../media/image4.png"/><Relationship Id="rId21" Type="http://schemas.openxmlformats.org/officeDocument/2006/relationships/image" Target="../media/image12.png"/><Relationship Id="rId7" Type="http://schemas.openxmlformats.org/officeDocument/2006/relationships/image" Target="../media/image8.png"/><Relationship Id="rId25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24" Type="http://schemas.openxmlformats.org/officeDocument/2006/relationships/image" Target="../media/image15.png"/><Relationship Id="rId5" Type="http://schemas.openxmlformats.org/officeDocument/2006/relationships/image" Target="../media/image6.png"/><Relationship Id="rId23" Type="http://schemas.openxmlformats.org/officeDocument/2006/relationships/image" Target="../media/image14.png"/><Relationship Id="rId19" Type="http://schemas.openxmlformats.org/officeDocument/2006/relationships/image" Target="../media/image10.png"/><Relationship Id="rId4" Type="http://schemas.openxmlformats.org/officeDocument/2006/relationships/image" Target="../media/image5.png"/><Relationship Id="rId22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28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0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BFD06-8A0A-4DEE-60F2-162C33585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ACFB235F-7722-89CC-BC69-CD0A5B7BA5D5}"/>
                  </a:ext>
                </a:extLst>
              </p:cNvPr>
              <p:cNvSpPr txBox="1"/>
              <p:nvPr/>
            </p:nvSpPr>
            <p:spPr>
              <a:xfrm>
                <a:off x="2943726" y="268315"/>
                <a:ext cx="6737685" cy="461665"/>
              </a:xfrm>
              <a:prstGeom prst="rect">
                <a:avLst/>
              </a:prstGeom>
              <a:noFill/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ategorical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predictor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factor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 with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  <m:sub>
                        <m:r>
                          <a:rPr lang="en-GB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entries in each level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n-GB" sz="1200" i="1" dirty="0" err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=1,2,…,</m:t>
                    </m:r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umeric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response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numeric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integer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ACFB235F-7722-89CC-BC69-CD0A5B7BA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726" y="268315"/>
                <a:ext cx="6737685" cy="461665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feld 30">
            <a:extLst>
              <a:ext uri="{FF2B5EF4-FFF2-40B4-BE49-F238E27FC236}">
                <a16:creationId xmlns:a16="http://schemas.microsoft.com/office/drawing/2014/main" id="{A2EB4849-AF06-3316-B17C-D779EE7BBF10}"/>
              </a:ext>
            </a:extLst>
          </p:cNvPr>
          <p:cNvSpPr txBox="1"/>
          <p:nvPr/>
        </p:nvSpPr>
        <p:spPr>
          <a:xfrm>
            <a:off x="7906196" y="3574388"/>
            <a:ext cx="2325414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oneway.test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5213F1A6-0B69-E799-6D8D-96C7C8E417BC}"/>
              </a:ext>
            </a:extLst>
          </p:cNvPr>
          <p:cNvSpPr txBox="1"/>
          <p:nvPr/>
        </p:nvSpPr>
        <p:spPr>
          <a:xfrm>
            <a:off x="7873473" y="4273424"/>
            <a:ext cx="2341206" cy="28486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games_howell</a:t>
            </a:r>
            <a:r>
              <a:rPr lang="en-GB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  <a:endParaRPr lang="en-GB" noProof="0" dirty="0">
              <a:latin typeface="Courier New" panose="02070309020205020404" pitchFamily="49" charset="0"/>
              <a:ea typeface="Cambria Math" panose="02040503050406030204" pitchFamily="18" charset="0"/>
              <a:cs typeface="Courier New" panose="02070309020205020404" pitchFamily="49" charset="0"/>
            </a:endParaRP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C420AE77-3C19-E0F4-3825-134EC5351848}"/>
              </a:ext>
            </a:extLst>
          </p:cNvPr>
          <p:cNvSpPr txBox="1"/>
          <p:nvPr/>
        </p:nvSpPr>
        <p:spPr>
          <a:xfrm>
            <a:off x="6190820" y="3574388"/>
            <a:ext cx="1447005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099AA0E-B5D0-7A55-05F6-5CA950C3AC27}"/>
              </a:ext>
            </a:extLst>
          </p:cNvPr>
          <p:cNvSpPr txBox="1"/>
          <p:nvPr/>
        </p:nvSpPr>
        <p:spPr>
          <a:xfrm>
            <a:off x="10466743" y="4273424"/>
            <a:ext cx="1618426" cy="2772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Post-hoc test </a:t>
            </a:r>
          </a:p>
        </p:txBody>
      </p:sp>
      <p:sp>
        <p:nvSpPr>
          <p:cNvPr id="149" name="Textfeld 148">
            <a:extLst>
              <a:ext uri="{FF2B5EF4-FFF2-40B4-BE49-F238E27FC236}">
                <a16:creationId xmlns:a16="http://schemas.microsoft.com/office/drawing/2014/main" id="{17476DD7-AEA6-51D3-4258-08AD66F479E8}"/>
              </a:ext>
            </a:extLst>
          </p:cNvPr>
          <p:cNvSpPr txBox="1"/>
          <p:nvPr/>
        </p:nvSpPr>
        <p:spPr>
          <a:xfrm>
            <a:off x="10466742" y="3578911"/>
            <a:ext cx="1618427" cy="276999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Final test selected </a:t>
            </a:r>
          </a:p>
        </p:txBody>
      </p:sp>
      <p:cxnSp>
        <p:nvCxnSpPr>
          <p:cNvPr id="185" name="Gewinkelte Verbindung 184">
            <a:extLst>
              <a:ext uri="{FF2B5EF4-FFF2-40B4-BE49-F238E27FC236}">
                <a16:creationId xmlns:a16="http://schemas.microsoft.com/office/drawing/2014/main" id="{1C877231-9B7F-ED55-6FF8-31E149391AB3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9681411" y="499148"/>
            <a:ext cx="118826" cy="334194"/>
          </a:xfrm>
          <a:prstGeom prst="bentConnector2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1" name="Gruppieren 490">
            <a:extLst>
              <a:ext uri="{FF2B5EF4-FFF2-40B4-BE49-F238E27FC236}">
                <a16:creationId xmlns:a16="http://schemas.microsoft.com/office/drawing/2014/main" id="{BF60C32F-3D2F-6F1F-1A0C-C1C5CFD11BAC}"/>
              </a:ext>
            </a:extLst>
          </p:cNvPr>
          <p:cNvGrpSpPr/>
          <p:nvPr/>
        </p:nvGrpSpPr>
        <p:grpSpPr>
          <a:xfrm>
            <a:off x="2906791" y="729980"/>
            <a:ext cx="5142560" cy="528220"/>
            <a:chOff x="1278983" y="1339017"/>
            <a:chExt cx="2729665" cy="310727"/>
          </a:xfrm>
        </p:grpSpPr>
        <p:cxnSp>
          <p:nvCxnSpPr>
            <p:cNvPr id="492" name="Gerade Verbindung mit Pfeil 491">
              <a:extLst>
                <a:ext uri="{FF2B5EF4-FFF2-40B4-BE49-F238E27FC236}">
                  <a16:creationId xmlns:a16="http://schemas.microsoft.com/office/drawing/2014/main" id="{89544885-B7F3-EEF1-9D07-93D42A6D2A4E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 flipH="1">
              <a:off x="1278983" y="1339017"/>
              <a:ext cx="1807783" cy="262316"/>
            </a:xfrm>
            <a:prstGeom prst="straightConnector1">
              <a:avLst/>
            </a:prstGeom>
            <a:ln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Gerade Verbindung mit Pfeil 492">
              <a:extLst>
                <a:ext uri="{FF2B5EF4-FFF2-40B4-BE49-F238E27FC236}">
                  <a16:creationId xmlns:a16="http://schemas.microsoft.com/office/drawing/2014/main" id="{83B435C4-A00C-6A1D-0DC4-E12AB23B98E7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3086766" y="1339017"/>
              <a:ext cx="921882" cy="310727"/>
            </a:xfrm>
            <a:prstGeom prst="straightConnector1">
              <a:avLst/>
            </a:prstGeom>
            <a:ln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6" name="Gerade Verbindung mit Pfeil 465">
            <a:extLst>
              <a:ext uri="{FF2B5EF4-FFF2-40B4-BE49-F238E27FC236}">
                <a16:creationId xmlns:a16="http://schemas.microsoft.com/office/drawing/2014/main" id="{19238A7F-EB0F-8792-C033-8BBC9B455475}"/>
              </a:ext>
            </a:extLst>
          </p:cNvPr>
          <p:cNvCxnSpPr>
            <a:cxnSpLocks/>
          </p:cNvCxnSpPr>
          <p:nvPr/>
        </p:nvCxnSpPr>
        <p:spPr>
          <a:xfrm>
            <a:off x="7783227" y="729980"/>
            <a:ext cx="0" cy="205053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hteck 78">
            <a:extLst>
              <a:ext uri="{FF2B5EF4-FFF2-40B4-BE49-F238E27FC236}">
                <a16:creationId xmlns:a16="http://schemas.microsoft.com/office/drawing/2014/main" id="{AB19188B-BB69-6AB7-2BE6-4BBFACFDE0EE}"/>
              </a:ext>
            </a:extLst>
          </p:cNvPr>
          <p:cNvSpPr/>
          <p:nvPr/>
        </p:nvSpPr>
        <p:spPr>
          <a:xfrm>
            <a:off x="998506" y="4788842"/>
            <a:ext cx="6342452" cy="734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B355F30C-D377-1181-9A5A-F3BC4A3C6522}"/>
              </a:ext>
            </a:extLst>
          </p:cNvPr>
          <p:cNvGrpSpPr/>
          <p:nvPr/>
        </p:nvGrpSpPr>
        <p:grpSpPr>
          <a:xfrm>
            <a:off x="7013112" y="2782527"/>
            <a:ext cx="1552397" cy="469922"/>
            <a:chOff x="2719572" y="1536945"/>
            <a:chExt cx="1289076" cy="305400"/>
          </a:xfrm>
        </p:grpSpPr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FFAA17C4-9056-DD84-6DFD-86EF721A4A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DAB3EE71-2F80-9DD7-27A9-3C830DB987F4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E758FDF0-6B1B-B8EE-4100-2D3C8D78F30D}"/>
                  </a:ext>
                </a:extLst>
              </p:cNvPr>
              <p:cNvSpPr txBox="1"/>
              <p:nvPr/>
            </p:nvSpPr>
            <p:spPr>
              <a:xfrm>
                <a:off x="6190818" y="3274919"/>
                <a:ext cx="144700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E758FDF0-6B1B-B8EE-4100-2D3C8D78F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818" y="3274919"/>
                <a:ext cx="1447007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4AD4ACA6-7356-8A83-15E4-05AE158F2B60}"/>
                  </a:ext>
                </a:extLst>
              </p:cNvPr>
              <p:cNvSpPr txBox="1"/>
              <p:nvPr/>
            </p:nvSpPr>
            <p:spPr>
              <a:xfrm>
                <a:off x="7917053" y="3274919"/>
                <a:ext cx="232286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4AD4ACA6-7356-8A83-15E4-05AE158F2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7053" y="3274919"/>
                <a:ext cx="2322867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EE6D5759-8556-7C65-E79C-68924B2DDC5F}"/>
              </a:ext>
            </a:extLst>
          </p:cNvPr>
          <p:cNvCxnSpPr>
            <a:cxnSpLocks/>
          </p:cNvCxnSpPr>
          <p:nvPr/>
        </p:nvCxnSpPr>
        <p:spPr>
          <a:xfrm>
            <a:off x="9206473" y="4141878"/>
            <a:ext cx="0" cy="193052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F8DA8160-3E22-F72C-FC24-492A05B3C9E8}"/>
              </a:ext>
            </a:extLst>
          </p:cNvPr>
          <p:cNvCxnSpPr>
            <a:cxnSpLocks/>
          </p:cNvCxnSpPr>
          <p:nvPr/>
        </p:nvCxnSpPr>
        <p:spPr>
          <a:xfrm>
            <a:off x="9078486" y="3851387"/>
            <a:ext cx="0" cy="27699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899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E5473-8372-0CB0-FE4D-728CA1073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>
            <a:extLst>
              <a:ext uri="{FF2B5EF4-FFF2-40B4-BE49-F238E27FC236}">
                <a16:creationId xmlns:a16="http://schemas.microsoft.com/office/drawing/2014/main" id="{5E35EA9C-FEBE-F7AA-BDC9-ED635780E393}"/>
              </a:ext>
            </a:extLst>
          </p:cNvPr>
          <p:cNvSpPr txBox="1"/>
          <p:nvPr/>
        </p:nvSpPr>
        <p:spPr>
          <a:xfrm>
            <a:off x="262794" y="2202514"/>
            <a:ext cx="2959748" cy="276999"/>
          </a:xfrm>
          <a:prstGeom prst="rect">
            <a:avLst/>
          </a:prstGeom>
          <a:solidFill>
            <a:schemeClr val="accent2">
              <a:alpha val="19906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shapiro.test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for both levels</a:t>
            </a:r>
          </a:p>
        </p:txBody>
      </p:sp>
      <p:sp>
        <p:nvSpPr>
          <p:cNvPr id="160" name="Textfeld 159">
            <a:extLst>
              <a:ext uri="{FF2B5EF4-FFF2-40B4-BE49-F238E27FC236}">
                <a16:creationId xmlns:a16="http://schemas.microsoft.com/office/drawing/2014/main" id="{78C569E1-DB23-CB0C-A928-57D8BBA49D6A}"/>
              </a:ext>
            </a:extLst>
          </p:cNvPr>
          <p:cNvSpPr txBox="1"/>
          <p:nvPr/>
        </p:nvSpPr>
        <p:spPr>
          <a:xfrm>
            <a:off x="10508890" y="2202514"/>
            <a:ext cx="161842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Check normality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9E9B517-669A-A3E8-F15A-202DABAD7FF4}"/>
              </a:ext>
            </a:extLst>
          </p:cNvPr>
          <p:cNvSpPr txBox="1"/>
          <p:nvPr/>
        </p:nvSpPr>
        <p:spPr>
          <a:xfrm>
            <a:off x="5130837" y="2201318"/>
            <a:ext cx="5300726" cy="276999"/>
          </a:xfrm>
          <a:prstGeom prst="rect">
            <a:avLst/>
          </a:prstGeom>
          <a:solidFill>
            <a:schemeClr val="accent2">
              <a:alpha val="19906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shapiro.test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 residuals</a:t>
            </a:r>
            <a:endParaRPr lang="en-GB" sz="12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22EC0F17-6444-0146-79F6-B0A0994E06CF}"/>
                  </a:ext>
                </a:extLst>
              </p:cNvPr>
              <p:cNvSpPr txBox="1"/>
              <p:nvPr/>
            </p:nvSpPr>
            <p:spPr>
              <a:xfrm>
                <a:off x="3982498" y="268315"/>
                <a:ext cx="4305145" cy="461665"/>
              </a:xfrm>
              <a:prstGeom prst="rect">
                <a:avLst/>
              </a:prstGeom>
              <a:noFill/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ategorical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predictor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factor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 with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umeric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response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numeric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integer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D954AB4D-A237-C043-A913-633703A9C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498" y="268315"/>
                <a:ext cx="4305145" cy="461665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73D3A366-6D44-C26E-6E05-62A8E58EE9A0}"/>
                  </a:ext>
                </a:extLst>
              </p:cNvPr>
              <p:cNvSpPr txBox="1"/>
              <p:nvPr/>
            </p:nvSpPr>
            <p:spPr>
              <a:xfrm>
                <a:off x="262794" y="832787"/>
                <a:ext cx="4514400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predictor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 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levels 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resp.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entries in each level</a:t>
                </a:r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295FEA9A-D31C-504B-9808-C226C7EA0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94" y="832787"/>
                <a:ext cx="4514400" cy="276999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4B24B84B-57BA-D657-EE83-DC6EA07ECD63}"/>
                  </a:ext>
                </a:extLst>
              </p:cNvPr>
              <p:cNvSpPr txBox="1"/>
              <p:nvPr/>
            </p:nvSpPr>
            <p:spPr>
              <a:xfrm>
                <a:off x="5127496" y="832787"/>
                <a:ext cx="5304067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predictor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: 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</a:t>
                </a:r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8503CA89-315E-D465-88DB-CCE4B3127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7496" y="832787"/>
                <a:ext cx="5304067" cy="276999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989A3D29-1F28-5710-4322-8E0E843FD63E}"/>
                  </a:ext>
                </a:extLst>
              </p:cNvPr>
              <p:cNvSpPr txBox="1"/>
              <p:nvPr/>
            </p:nvSpPr>
            <p:spPr>
              <a:xfrm>
                <a:off x="3296687" y="1721123"/>
                <a:ext cx="1490532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&gt;30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E013A2E8-9419-9082-A924-2FDA53C06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687" y="1721123"/>
                <a:ext cx="1490532" cy="276999"/>
              </a:xfrm>
              <a:prstGeom prst="rect">
                <a:avLst/>
              </a:prstGeom>
              <a:blipFill>
                <a:blip r:embed="rId6"/>
                <a:stretch>
                  <a:fillRect b="-1250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27925C57-B83F-F4ED-E44E-2D5AFFE41E46}"/>
                  </a:ext>
                </a:extLst>
              </p:cNvPr>
              <p:cNvSpPr txBox="1"/>
              <p:nvPr/>
            </p:nvSpPr>
            <p:spPr>
              <a:xfrm>
                <a:off x="271610" y="1721123"/>
                <a:ext cx="2950932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≤30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2A7C589D-90CE-28E1-F515-49850CAAB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10" y="1721123"/>
                <a:ext cx="2950932" cy="276999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73093B7A-6007-2278-6E11-375A18299E1E}"/>
                  </a:ext>
                </a:extLst>
              </p:cNvPr>
              <p:cNvSpPr txBox="1"/>
              <p:nvPr/>
            </p:nvSpPr>
            <p:spPr>
              <a:xfrm>
                <a:off x="1782316" y="3003780"/>
                <a:ext cx="1440000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738B4D66-E2FD-3D06-F527-A82D7C3BD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316" y="3003780"/>
                <a:ext cx="1440000" cy="276999"/>
              </a:xfrm>
              <a:prstGeom prst="rect">
                <a:avLst/>
              </a:prstGeom>
              <a:blipFill>
                <a:blip r:embed="rId8"/>
                <a:stretch>
                  <a:fillRect b="-1304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52EA55DF-447D-32B6-2670-C126520193D4}"/>
                  </a:ext>
                </a:extLst>
              </p:cNvPr>
              <p:cNvSpPr txBox="1"/>
              <p:nvPr/>
            </p:nvSpPr>
            <p:spPr>
              <a:xfrm>
                <a:off x="271610" y="3003780"/>
                <a:ext cx="1440000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935D93BB-1C95-A787-6B51-42A0FF2A9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10" y="3003780"/>
                <a:ext cx="1440000" cy="276999"/>
              </a:xfrm>
              <a:prstGeom prst="rect">
                <a:avLst/>
              </a:prstGeom>
              <a:blipFill>
                <a:blip r:embed="rId9"/>
                <a:stretch>
                  <a:fillRect b="-1304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feld 22">
            <a:extLst>
              <a:ext uri="{FF2B5EF4-FFF2-40B4-BE49-F238E27FC236}">
                <a16:creationId xmlns:a16="http://schemas.microsoft.com/office/drawing/2014/main" id="{2B274C57-47A5-0ABA-DFF5-81AAB63B3B97}"/>
              </a:ext>
            </a:extLst>
          </p:cNvPr>
          <p:cNvSpPr txBox="1"/>
          <p:nvPr/>
        </p:nvSpPr>
        <p:spPr>
          <a:xfrm>
            <a:off x="219834" y="4971020"/>
            <a:ext cx="1447008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wilcox.test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A91E6A1-C0DD-A8BF-FDE5-EF1CAEFB82C9}"/>
              </a:ext>
            </a:extLst>
          </p:cNvPr>
          <p:cNvSpPr txBox="1"/>
          <p:nvPr/>
        </p:nvSpPr>
        <p:spPr>
          <a:xfrm>
            <a:off x="5130837" y="4971019"/>
            <a:ext cx="2338435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kruskal.test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5EA86F72-8DEC-9E26-7B92-C8A6805A32A3}"/>
              </a:ext>
            </a:extLst>
          </p:cNvPr>
          <p:cNvSpPr txBox="1"/>
          <p:nvPr/>
        </p:nvSpPr>
        <p:spPr>
          <a:xfrm>
            <a:off x="7636562" y="3878295"/>
            <a:ext cx="2795001" cy="2808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levene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.test()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B99A58F1-01F8-4DBA-2D1D-988946B9BD12}"/>
                  </a:ext>
                </a:extLst>
              </p:cNvPr>
              <p:cNvSpPr txBox="1"/>
              <p:nvPr/>
            </p:nvSpPr>
            <p:spPr>
              <a:xfrm>
                <a:off x="9351563" y="4482840"/>
                <a:ext cx="1080000" cy="277200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6A843E82-AE36-2049-F32E-7DB7C257B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1563" y="4482840"/>
                <a:ext cx="1080000" cy="277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41C1E7D8-E33E-CC3D-E8E0-DCB76ABCD3E1}"/>
                  </a:ext>
                </a:extLst>
              </p:cNvPr>
              <p:cNvSpPr txBox="1"/>
              <p:nvPr/>
            </p:nvSpPr>
            <p:spPr>
              <a:xfrm>
                <a:off x="7582544" y="4472251"/>
                <a:ext cx="1080000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5E44A5B4-1C65-9447-A4FA-813B5715A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544" y="4472251"/>
                <a:ext cx="1080000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feld 30">
            <a:extLst>
              <a:ext uri="{FF2B5EF4-FFF2-40B4-BE49-F238E27FC236}">
                <a16:creationId xmlns:a16="http://schemas.microsoft.com/office/drawing/2014/main" id="{E0379432-4374-6AE3-86A1-F42903CFF5C6}"/>
              </a:ext>
            </a:extLst>
          </p:cNvPr>
          <p:cNvSpPr txBox="1"/>
          <p:nvPr/>
        </p:nvSpPr>
        <p:spPr>
          <a:xfrm>
            <a:off x="7579542" y="4968485"/>
            <a:ext cx="1457998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oneway.test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F6F34D79-5CDD-0689-6F44-C61920B40278}"/>
              </a:ext>
            </a:extLst>
          </p:cNvPr>
          <p:cNvSpPr txBox="1"/>
          <p:nvPr/>
        </p:nvSpPr>
        <p:spPr>
          <a:xfrm>
            <a:off x="9262621" y="4968284"/>
            <a:ext cx="1168942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aov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grpSp>
        <p:nvGrpSpPr>
          <p:cNvPr id="427" name="Gruppieren 426">
            <a:extLst>
              <a:ext uri="{FF2B5EF4-FFF2-40B4-BE49-F238E27FC236}">
                <a16:creationId xmlns:a16="http://schemas.microsoft.com/office/drawing/2014/main" id="{2EA0EA9D-5FDD-E9DD-B4FD-BC8D1109708C}"/>
              </a:ext>
            </a:extLst>
          </p:cNvPr>
          <p:cNvGrpSpPr/>
          <p:nvPr/>
        </p:nvGrpSpPr>
        <p:grpSpPr>
          <a:xfrm>
            <a:off x="8296125" y="4173488"/>
            <a:ext cx="1289076" cy="305400"/>
            <a:chOff x="8002301" y="4581613"/>
            <a:chExt cx="1289076" cy="305400"/>
          </a:xfrm>
        </p:grpSpPr>
        <p:cxnSp>
          <p:nvCxnSpPr>
            <p:cNvPr id="85" name="Gerade Verbindung mit Pfeil 84">
              <a:extLst>
                <a:ext uri="{FF2B5EF4-FFF2-40B4-BE49-F238E27FC236}">
                  <a16:creationId xmlns:a16="http://schemas.microsoft.com/office/drawing/2014/main" id="{C5E55242-8FEE-C716-197D-84242C8979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2301" y="4581613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 Verbindung mit Pfeil 85">
              <a:extLst>
                <a:ext uri="{FF2B5EF4-FFF2-40B4-BE49-F238E27FC236}">
                  <a16:creationId xmlns:a16="http://schemas.microsoft.com/office/drawing/2014/main" id="{27FA3C4D-2D8F-FA43-4753-4E4263927BD2}"/>
                </a:ext>
              </a:extLst>
            </p:cNvPr>
            <p:cNvCxnSpPr>
              <a:cxnSpLocks/>
            </p:cNvCxnSpPr>
            <p:nvPr/>
          </p:nvCxnSpPr>
          <p:spPr>
            <a:xfrm>
              <a:off x="8641787" y="4581613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Textfeld 92">
            <a:extLst>
              <a:ext uri="{FF2B5EF4-FFF2-40B4-BE49-F238E27FC236}">
                <a16:creationId xmlns:a16="http://schemas.microsoft.com/office/drawing/2014/main" id="{EBFAA465-492F-79DA-DAEC-99C7CFF168FB}"/>
              </a:ext>
            </a:extLst>
          </p:cNvPr>
          <p:cNvSpPr txBox="1"/>
          <p:nvPr/>
        </p:nvSpPr>
        <p:spPr>
          <a:xfrm>
            <a:off x="9258228" y="5449810"/>
            <a:ext cx="1168942" cy="28486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TukeyHSD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843673E2-5838-CB1B-F1EC-DA40D4442EBB}"/>
              </a:ext>
            </a:extLst>
          </p:cNvPr>
          <p:cNvSpPr txBox="1"/>
          <p:nvPr/>
        </p:nvSpPr>
        <p:spPr>
          <a:xfrm>
            <a:off x="5130837" y="5449811"/>
            <a:ext cx="2341205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pairwise.wilcox.test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7A395117-29A5-67C2-D655-F21F5248D8DA}"/>
              </a:ext>
            </a:extLst>
          </p:cNvPr>
          <p:cNvCxnSpPr>
            <a:cxnSpLocks/>
          </p:cNvCxnSpPr>
          <p:nvPr/>
        </p:nvCxnSpPr>
        <p:spPr>
          <a:xfrm flipH="1">
            <a:off x="4041194" y="1992541"/>
            <a:ext cx="15604" cy="29201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feld 49">
            <a:extLst>
              <a:ext uri="{FF2B5EF4-FFF2-40B4-BE49-F238E27FC236}">
                <a16:creationId xmlns:a16="http://schemas.microsoft.com/office/drawing/2014/main" id="{1107BE33-5F0E-0B16-46BA-9A49241DD8D8}"/>
              </a:ext>
            </a:extLst>
          </p:cNvPr>
          <p:cNvSpPr txBox="1"/>
          <p:nvPr/>
        </p:nvSpPr>
        <p:spPr>
          <a:xfrm>
            <a:off x="1792997" y="4971020"/>
            <a:ext cx="3053668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15DFC6D8-0DD5-6B4B-5B93-49719EF391A3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flipH="1">
            <a:off x="943338" y="3280779"/>
            <a:ext cx="48272" cy="16902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DA53DAE-E716-E427-B882-40E7846D7FBB}"/>
              </a:ext>
            </a:extLst>
          </p:cNvPr>
          <p:cNvGrpSpPr/>
          <p:nvPr/>
        </p:nvGrpSpPr>
        <p:grpSpPr>
          <a:xfrm>
            <a:off x="824372" y="2492447"/>
            <a:ext cx="1552397" cy="469922"/>
            <a:chOff x="2719572" y="1536945"/>
            <a:chExt cx="1289076" cy="305400"/>
          </a:xfrm>
        </p:grpSpPr>
        <p:cxnSp>
          <p:nvCxnSpPr>
            <p:cNvPr id="70" name="Gerade Verbindung mit Pfeil 69">
              <a:extLst>
                <a:ext uri="{FF2B5EF4-FFF2-40B4-BE49-F238E27FC236}">
                  <a16:creationId xmlns:a16="http://schemas.microsoft.com/office/drawing/2014/main" id="{A4BEFDE1-F611-30A7-9CD5-DA3B588D9F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 Verbindung mit Pfeil 70">
              <a:extLst>
                <a:ext uri="{FF2B5EF4-FFF2-40B4-BE49-F238E27FC236}">
                  <a16:creationId xmlns:a16="http://schemas.microsoft.com/office/drawing/2014/main" id="{7B772305-1CE9-CCF4-F9F3-1FFD1173E9E2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AD6D20C0-C256-5115-7C27-86F3B7ED4CE6}"/>
                  </a:ext>
                </a:extLst>
              </p:cNvPr>
              <p:cNvSpPr txBox="1"/>
              <p:nvPr/>
            </p:nvSpPr>
            <p:spPr>
              <a:xfrm>
                <a:off x="5130837" y="3111855"/>
                <a:ext cx="2338425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74CB43FD-F472-800C-0BC9-D288FF873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837" y="3111855"/>
                <a:ext cx="2338425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544F275D-B8E4-7AF3-D04D-F6AEE1A74FC2}"/>
                  </a:ext>
                </a:extLst>
              </p:cNvPr>
              <p:cNvSpPr txBox="1"/>
              <p:nvPr/>
            </p:nvSpPr>
            <p:spPr>
              <a:xfrm>
                <a:off x="7625917" y="3100255"/>
                <a:ext cx="2805646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436DE9B5-559B-6581-9440-FF83D251A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5917" y="3100255"/>
                <a:ext cx="2805646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05FBAA0A-4C91-C249-6337-082A6C113E9D}"/>
              </a:ext>
            </a:extLst>
          </p:cNvPr>
          <p:cNvSpPr txBox="1"/>
          <p:nvPr/>
        </p:nvSpPr>
        <p:spPr>
          <a:xfrm>
            <a:off x="10508557" y="5453366"/>
            <a:ext cx="1618426" cy="2772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Post-hoc test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D19C72BB-9E44-2D20-AF7C-1861A2F5A8AD}"/>
                  </a:ext>
                </a:extLst>
              </p:cNvPr>
              <p:cNvSpPr txBox="1"/>
              <p:nvPr/>
            </p:nvSpPr>
            <p:spPr>
              <a:xfrm>
                <a:off x="9967683" y="5959220"/>
                <a:ext cx="208238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GB" sz="1200" noProof="0" dirty="0" err="1">
                    <a:latin typeface="Courier New" panose="02070309020205020404" pitchFamily="49" charset="0"/>
                    <a:ea typeface="CMU Bright Roman" panose="02000603000000000000" pitchFamily="2" charset="0"/>
                    <a:cs typeface="Courier New" panose="02070309020205020404" pitchFamily="49" charset="0"/>
                  </a:rPr>
                  <a:t>conf.level</a:t>
                </a:r>
                <a:r>
                  <a:rPr lang="en-GB" sz="800" noProof="0" dirty="0">
                    <a:latin typeface="CMU Bright Roman" panose="02000603000000000000" pitchFamily="2" charset="0"/>
                    <a:ea typeface="CMU Bright Roman" panose="02000603000000000000" pitchFamily="2" charset="0"/>
                    <a:cs typeface="CMU Bright Roman" panose="02000603000000000000" pitchFamily="2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-value of level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</m:t>
                    </m:r>
                  </m:oMath>
                </a14:m>
                <a:endParaRPr lang="en-GB" sz="1200" noProof="0" dirty="0">
                  <a:latin typeface="CMU Bright Roman" panose="02000603000000000000" pitchFamily="2" charset="0"/>
                  <a:ea typeface="CMU Bright Roman" panose="02000603000000000000" pitchFamily="2" charset="0"/>
                  <a:cs typeface="CMU Bright Roman" panose="02000603000000000000" pitchFamily="2" charset="0"/>
                </a:endParaRPr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BEADCB87-2FE2-B735-89A2-59CFEE3B9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7683" y="5959220"/>
                <a:ext cx="2082384" cy="461665"/>
              </a:xfrm>
              <a:prstGeom prst="rect">
                <a:avLst/>
              </a:prstGeom>
              <a:blipFill>
                <a:blip r:embed="rId18"/>
                <a:stretch>
                  <a:fillRect t="-2703" b="-108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Textfeld 148">
            <a:extLst>
              <a:ext uri="{FF2B5EF4-FFF2-40B4-BE49-F238E27FC236}">
                <a16:creationId xmlns:a16="http://schemas.microsoft.com/office/drawing/2014/main" id="{4273F74C-1571-139D-1F0B-19208F3E1D81}"/>
              </a:ext>
            </a:extLst>
          </p:cNvPr>
          <p:cNvSpPr txBox="1"/>
          <p:nvPr/>
        </p:nvSpPr>
        <p:spPr>
          <a:xfrm>
            <a:off x="10508891" y="4951684"/>
            <a:ext cx="1618427" cy="276999"/>
          </a:xfrm>
          <a:prstGeom prst="rect">
            <a:avLst/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Final test selected </a:t>
            </a:r>
          </a:p>
        </p:txBody>
      </p:sp>
      <p:sp>
        <p:nvSpPr>
          <p:cNvPr id="159" name="Textfeld 158">
            <a:extLst>
              <a:ext uri="{FF2B5EF4-FFF2-40B4-BE49-F238E27FC236}">
                <a16:creationId xmlns:a16="http://schemas.microsoft.com/office/drawing/2014/main" id="{19AA40CE-7A40-924F-336E-94C4F2CAB151}"/>
              </a:ext>
            </a:extLst>
          </p:cNvPr>
          <p:cNvSpPr txBox="1"/>
          <p:nvPr/>
        </p:nvSpPr>
        <p:spPr>
          <a:xfrm>
            <a:off x="10508557" y="3876296"/>
            <a:ext cx="1618761" cy="27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</a:t>
            </a:r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heck </a:t>
            </a:r>
            <a:r>
              <a:rPr lang="en-GB" noProof="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homoscedacity</a:t>
            </a:r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</a:p>
        </p:txBody>
      </p:sp>
      <p:cxnSp>
        <p:nvCxnSpPr>
          <p:cNvPr id="182" name="Gewinkelte Verbindung 181">
            <a:extLst>
              <a:ext uri="{FF2B5EF4-FFF2-40B4-BE49-F238E27FC236}">
                <a16:creationId xmlns:a16="http://schemas.microsoft.com/office/drawing/2014/main" id="{FE3309F6-0EE8-5E2C-AD82-03DFBC40BA1F}"/>
              </a:ext>
            </a:extLst>
          </p:cNvPr>
          <p:cNvCxnSpPr>
            <a:cxnSpLocks/>
            <a:stCxn id="7" idx="1"/>
            <a:endCxn id="8" idx="0"/>
          </p:cNvCxnSpPr>
          <p:nvPr/>
        </p:nvCxnSpPr>
        <p:spPr>
          <a:xfrm rot="10800000" flipV="1">
            <a:off x="2519994" y="499147"/>
            <a:ext cx="1462504" cy="33363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Gewinkelte Verbindung 184">
            <a:extLst>
              <a:ext uri="{FF2B5EF4-FFF2-40B4-BE49-F238E27FC236}">
                <a16:creationId xmlns:a16="http://schemas.microsoft.com/office/drawing/2014/main" id="{6B29723A-91FD-720B-C456-74289C7ECE37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87643" y="499148"/>
            <a:ext cx="1512594" cy="334194"/>
          </a:xfrm>
          <a:prstGeom prst="bentConnector3">
            <a:avLst>
              <a:gd name="adj1" fmla="val 1014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Gerade Verbindung mit Pfeil 319">
            <a:extLst>
              <a:ext uri="{FF2B5EF4-FFF2-40B4-BE49-F238E27FC236}">
                <a16:creationId xmlns:a16="http://schemas.microsoft.com/office/drawing/2014/main" id="{01CE49E9-A60B-4E73-FB07-684539534307}"/>
              </a:ext>
            </a:extLst>
          </p:cNvPr>
          <p:cNvCxnSpPr>
            <a:cxnSpLocks/>
          </p:cNvCxnSpPr>
          <p:nvPr/>
        </p:nvCxnSpPr>
        <p:spPr>
          <a:xfrm>
            <a:off x="6189491" y="3402561"/>
            <a:ext cx="0" cy="1510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Gerade Verbindung mit Pfeil 362">
            <a:extLst>
              <a:ext uri="{FF2B5EF4-FFF2-40B4-BE49-F238E27FC236}">
                <a16:creationId xmlns:a16="http://schemas.microsoft.com/office/drawing/2014/main" id="{3EB721E9-D597-9613-FA0A-FB6AD278B9E1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2502316" y="3280779"/>
            <a:ext cx="0" cy="16709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4AC7D614-E1DB-4BC0-616B-DC2A395F7239}"/>
              </a:ext>
            </a:extLst>
          </p:cNvPr>
          <p:cNvSpPr txBox="1"/>
          <p:nvPr/>
        </p:nvSpPr>
        <p:spPr>
          <a:xfrm>
            <a:off x="305981" y="6396835"/>
            <a:ext cx="1868481" cy="281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non-parametric tests </a:t>
            </a:r>
          </a:p>
        </p:txBody>
      </p:sp>
      <p:sp>
        <p:nvSpPr>
          <p:cNvPr id="148" name="Textfeld 147">
            <a:extLst>
              <a:ext uri="{FF2B5EF4-FFF2-40B4-BE49-F238E27FC236}">
                <a16:creationId xmlns:a16="http://schemas.microsoft.com/office/drawing/2014/main" id="{9BAC8A48-0ACF-3143-9D20-B737A9C1918E}"/>
              </a:ext>
            </a:extLst>
          </p:cNvPr>
          <p:cNvSpPr txBox="1"/>
          <p:nvPr/>
        </p:nvSpPr>
        <p:spPr>
          <a:xfrm>
            <a:off x="305981" y="5974839"/>
            <a:ext cx="1859022" cy="281831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parametric tests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7" name="Textfeld 466">
                <a:extLst>
                  <a:ext uri="{FF2B5EF4-FFF2-40B4-BE49-F238E27FC236}">
                    <a16:creationId xmlns:a16="http://schemas.microsoft.com/office/drawing/2014/main" id="{F4E3AFD6-CA5A-EEED-1733-9FF6C0B3FD10}"/>
                  </a:ext>
                </a:extLst>
              </p:cNvPr>
              <p:cNvSpPr txBox="1"/>
              <p:nvPr/>
            </p:nvSpPr>
            <p:spPr>
              <a:xfrm>
                <a:off x="2248265" y="5954905"/>
                <a:ext cx="2538462" cy="28183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predictor</a:t>
                </a:r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=2</m:t>
                    </m:r>
                  </m:oMath>
                </a14:m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 </a:t>
                </a:r>
              </a:p>
            </p:txBody>
          </p:sp>
        </mc:Choice>
        <mc:Fallback xmlns="">
          <p:sp>
            <p:nvSpPr>
              <p:cNvPr id="467" name="Textfeld 466">
                <a:extLst>
                  <a:ext uri="{FF2B5EF4-FFF2-40B4-BE49-F238E27FC236}">
                    <a16:creationId xmlns:a16="http://schemas.microsoft.com/office/drawing/2014/main" id="{9F3DB9C3-A6B3-DC3B-D937-ACB248DD1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265" y="5954905"/>
                <a:ext cx="2538462" cy="281831"/>
              </a:xfrm>
              <a:prstGeom prst="rect">
                <a:avLst/>
              </a:prstGeom>
              <a:blipFill>
                <a:blip r:embed="rId19"/>
                <a:stretch>
                  <a:fillRect b="-833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8" name="Textfeld 467">
                <a:extLst>
                  <a:ext uri="{FF2B5EF4-FFF2-40B4-BE49-F238E27FC236}">
                    <a16:creationId xmlns:a16="http://schemas.microsoft.com/office/drawing/2014/main" id="{381CB54D-CA19-996C-B3BE-8DF8B63153F3}"/>
                  </a:ext>
                </a:extLst>
              </p:cNvPr>
              <p:cNvSpPr txBox="1"/>
              <p:nvPr/>
            </p:nvSpPr>
            <p:spPr>
              <a:xfrm>
                <a:off x="2238790" y="6376901"/>
                <a:ext cx="2543546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predictor</a:t>
                </a:r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&gt; 2 </m:t>
                    </m:r>
                  </m:oMath>
                </a14:m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levels </a:t>
                </a:r>
              </a:p>
            </p:txBody>
          </p:sp>
        </mc:Choice>
        <mc:Fallback xmlns="">
          <p:sp>
            <p:nvSpPr>
              <p:cNvPr id="468" name="Textfeld 467">
                <a:extLst>
                  <a:ext uri="{FF2B5EF4-FFF2-40B4-BE49-F238E27FC236}">
                    <a16:creationId xmlns:a16="http://schemas.microsoft.com/office/drawing/2014/main" id="{706DE281-AE3D-2689-6BA1-030155DAF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790" y="6376901"/>
                <a:ext cx="2543546" cy="276999"/>
              </a:xfrm>
              <a:prstGeom prst="rect">
                <a:avLst/>
              </a:prstGeom>
              <a:blipFill>
                <a:blip r:embed="rId20"/>
                <a:stretch>
                  <a:fillRect b="-12500"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7" name="Textfeld 476">
            <a:extLst>
              <a:ext uri="{FF2B5EF4-FFF2-40B4-BE49-F238E27FC236}">
                <a16:creationId xmlns:a16="http://schemas.microsoft.com/office/drawing/2014/main" id="{0B777EA6-19F2-E874-204F-646EC1A02411}"/>
              </a:ext>
            </a:extLst>
          </p:cNvPr>
          <p:cNvSpPr txBox="1"/>
          <p:nvPr/>
        </p:nvSpPr>
        <p:spPr>
          <a:xfrm>
            <a:off x="305981" y="5743382"/>
            <a:ext cx="1091245" cy="28183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pPr algn="l"/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Colour code: </a:t>
            </a:r>
          </a:p>
        </p:txBody>
      </p:sp>
      <p:grpSp>
        <p:nvGrpSpPr>
          <p:cNvPr id="491" name="Gruppieren 490">
            <a:extLst>
              <a:ext uri="{FF2B5EF4-FFF2-40B4-BE49-F238E27FC236}">
                <a16:creationId xmlns:a16="http://schemas.microsoft.com/office/drawing/2014/main" id="{B93FC86A-558E-D7EC-B464-F59F6AFA4123}"/>
              </a:ext>
            </a:extLst>
          </p:cNvPr>
          <p:cNvGrpSpPr/>
          <p:nvPr/>
        </p:nvGrpSpPr>
        <p:grpSpPr>
          <a:xfrm>
            <a:off x="1666842" y="1127125"/>
            <a:ext cx="1785240" cy="542165"/>
            <a:chOff x="2719572" y="1536945"/>
            <a:chExt cx="1289076" cy="305400"/>
          </a:xfrm>
        </p:grpSpPr>
        <p:cxnSp>
          <p:nvCxnSpPr>
            <p:cNvPr id="492" name="Gerade Verbindung mit Pfeil 491">
              <a:extLst>
                <a:ext uri="{FF2B5EF4-FFF2-40B4-BE49-F238E27FC236}">
                  <a16:creationId xmlns:a16="http://schemas.microsoft.com/office/drawing/2014/main" id="{402B47C1-CE38-711E-9CB3-A6884AE486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Gerade Verbindung mit Pfeil 492">
              <a:extLst>
                <a:ext uri="{FF2B5EF4-FFF2-40B4-BE49-F238E27FC236}">
                  <a16:creationId xmlns:a16="http://schemas.microsoft.com/office/drawing/2014/main" id="{9F6A4626-37AD-E831-FC98-2DD7A9779D7B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1" name="Gerade Verbindung mit Pfeil 460">
            <a:extLst>
              <a:ext uri="{FF2B5EF4-FFF2-40B4-BE49-F238E27FC236}">
                <a16:creationId xmlns:a16="http://schemas.microsoft.com/office/drawing/2014/main" id="{1FEA84E7-3312-B918-AA56-41FEC8BF6477}"/>
              </a:ext>
            </a:extLst>
          </p:cNvPr>
          <p:cNvCxnSpPr>
            <a:cxnSpLocks/>
          </p:cNvCxnSpPr>
          <p:nvPr/>
        </p:nvCxnSpPr>
        <p:spPr>
          <a:xfrm flipH="1">
            <a:off x="8287643" y="4758610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Gerade Verbindung mit Pfeil 464">
            <a:extLst>
              <a:ext uri="{FF2B5EF4-FFF2-40B4-BE49-F238E27FC236}">
                <a16:creationId xmlns:a16="http://schemas.microsoft.com/office/drawing/2014/main" id="{ECE5EB49-AD5A-BEB2-5D0B-54321CE4865F}"/>
              </a:ext>
            </a:extLst>
          </p:cNvPr>
          <p:cNvCxnSpPr>
            <a:cxnSpLocks/>
          </p:cNvCxnSpPr>
          <p:nvPr/>
        </p:nvCxnSpPr>
        <p:spPr>
          <a:xfrm flipH="1">
            <a:off x="9767473" y="4763372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Gerade Verbindung mit Pfeil 465">
            <a:extLst>
              <a:ext uri="{FF2B5EF4-FFF2-40B4-BE49-F238E27FC236}">
                <a16:creationId xmlns:a16="http://schemas.microsoft.com/office/drawing/2014/main" id="{A92DDC36-A79D-8A9E-2E72-D086E5D5B063}"/>
              </a:ext>
            </a:extLst>
          </p:cNvPr>
          <p:cNvCxnSpPr>
            <a:cxnSpLocks/>
          </p:cNvCxnSpPr>
          <p:nvPr/>
        </p:nvCxnSpPr>
        <p:spPr>
          <a:xfrm flipH="1">
            <a:off x="8287643" y="5246480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Gerade Verbindung mit Pfeil 468">
            <a:extLst>
              <a:ext uri="{FF2B5EF4-FFF2-40B4-BE49-F238E27FC236}">
                <a16:creationId xmlns:a16="http://schemas.microsoft.com/office/drawing/2014/main" id="{07A7613D-DE2D-0E14-3906-D084E6AFB2E3}"/>
              </a:ext>
            </a:extLst>
          </p:cNvPr>
          <p:cNvCxnSpPr>
            <a:cxnSpLocks/>
          </p:cNvCxnSpPr>
          <p:nvPr/>
        </p:nvCxnSpPr>
        <p:spPr>
          <a:xfrm flipH="1">
            <a:off x="9767473" y="5251947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Gerade Verbindung mit Pfeil 469">
            <a:extLst>
              <a:ext uri="{FF2B5EF4-FFF2-40B4-BE49-F238E27FC236}">
                <a16:creationId xmlns:a16="http://schemas.microsoft.com/office/drawing/2014/main" id="{6FDDA7AC-5983-20E7-25C7-95261A18365D}"/>
              </a:ext>
            </a:extLst>
          </p:cNvPr>
          <p:cNvCxnSpPr>
            <a:cxnSpLocks/>
          </p:cNvCxnSpPr>
          <p:nvPr/>
        </p:nvCxnSpPr>
        <p:spPr>
          <a:xfrm flipH="1">
            <a:off x="6182061" y="5264410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Gerade Verbindung mit Pfeil 495">
            <a:extLst>
              <a:ext uri="{FF2B5EF4-FFF2-40B4-BE49-F238E27FC236}">
                <a16:creationId xmlns:a16="http://schemas.microsoft.com/office/drawing/2014/main" id="{4CE60F72-BD69-479D-537D-5139143210F5}"/>
              </a:ext>
            </a:extLst>
          </p:cNvPr>
          <p:cNvCxnSpPr>
            <a:cxnSpLocks/>
          </p:cNvCxnSpPr>
          <p:nvPr/>
        </p:nvCxnSpPr>
        <p:spPr>
          <a:xfrm flipH="1">
            <a:off x="8946555" y="3270049"/>
            <a:ext cx="7967" cy="59751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Gerade Verbindung mit Pfeil 76">
            <a:extLst>
              <a:ext uri="{FF2B5EF4-FFF2-40B4-BE49-F238E27FC236}">
                <a16:creationId xmlns:a16="http://schemas.microsoft.com/office/drawing/2014/main" id="{8365221F-68D1-CF4F-1F64-3E730F1492F4}"/>
              </a:ext>
            </a:extLst>
          </p:cNvPr>
          <p:cNvCxnSpPr>
            <a:cxnSpLocks/>
            <a:stCxn id="9" idx="2"/>
            <a:endCxn id="6" idx="0"/>
          </p:cNvCxnSpPr>
          <p:nvPr/>
        </p:nvCxnSpPr>
        <p:spPr>
          <a:xfrm>
            <a:off x="7779530" y="1109786"/>
            <a:ext cx="1670" cy="109153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E259B30F-FD48-CC56-E299-9C67857DBBA5}"/>
              </a:ext>
            </a:extLst>
          </p:cNvPr>
          <p:cNvCxnSpPr>
            <a:cxnSpLocks/>
          </p:cNvCxnSpPr>
          <p:nvPr/>
        </p:nvCxnSpPr>
        <p:spPr>
          <a:xfrm flipH="1">
            <a:off x="1572292" y="1996567"/>
            <a:ext cx="4391" cy="1804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hteck 78">
            <a:extLst>
              <a:ext uri="{FF2B5EF4-FFF2-40B4-BE49-F238E27FC236}">
                <a16:creationId xmlns:a16="http://schemas.microsoft.com/office/drawing/2014/main" id="{0CC0A9A9-2F6E-C5DA-3CA7-43172D8E36EC}"/>
              </a:ext>
            </a:extLst>
          </p:cNvPr>
          <p:cNvSpPr/>
          <p:nvPr/>
        </p:nvSpPr>
        <p:spPr>
          <a:xfrm>
            <a:off x="243603" y="5730875"/>
            <a:ext cx="4603061" cy="99926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4BD88BE5-F3C3-7F3B-4D2E-DD503DC300B8}"/>
              </a:ext>
            </a:extLst>
          </p:cNvPr>
          <p:cNvGrpSpPr/>
          <p:nvPr/>
        </p:nvGrpSpPr>
        <p:grpSpPr>
          <a:xfrm>
            <a:off x="6911252" y="2511762"/>
            <a:ext cx="1552397" cy="469922"/>
            <a:chOff x="2719572" y="1536945"/>
            <a:chExt cx="1289076" cy="305400"/>
          </a:xfrm>
        </p:grpSpPr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6354D577-C14C-4B2E-AC54-4E5E8655DC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4DBC2560-38BF-85A3-1E53-70453BB01498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feld 2">
            <a:extLst>
              <a:ext uri="{FF2B5EF4-FFF2-40B4-BE49-F238E27FC236}">
                <a16:creationId xmlns:a16="http://schemas.microsoft.com/office/drawing/2014/main" id="{48965A4D-327F-C44F-6C0A-C72A605F4EAA}"/>
              </a:ext>
            </a:extLst>
          </p:cNvPr>
          <p:cNvSpPr txBox="1"/>
          <p:nvPr/>
        </p:nvSpPr>
        <p:spPr>
          <a:xfrm>
            <a:off x="7579541" y="5464719"/>
            <a:ext cx="1592907" cy="28486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games_howell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466277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AF924-EC5E-B42A-CFE9-848A428C4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>
            <a:extLst>
              <a:ext uri="{FF2B5EF4-FFF2-40B4-BE49-F238E27FC236}">
                <a16:creationId xmlns:a16="http://schemas.microsoft.com/office/drawing/2014/main" id="{36A2B31F-DD18-2981-316C-B7B98A2B79F3}"/>
              </a:ext>
            </a:extLst>
          </p:cNvPr>
          <p:cNvSpPr txBox="1"/>
          <p:nvPr/>
        </p:nvSpPr>
        <p:spPr>
          <a:xfrm>
            <a:off x="4050962" y="816249"/>
            <a:ext cx="4305145" cy="276999"/>
          </a:xfrm>
          <a:prstGeom prst="rect">
            <a:avLst/>
          </a:prstGeom>
          <a:solidFill>
            <a:schemeClr val="accent2">
              <a:alpha val="19906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shapiro.test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 residuals</a:t>
            </a:r>
            <a:endParaRPr lang="en-GB" sz="12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60" name="Textfeld 159">
            <a:extLst>
              <a:ext uri="{FF2B5EF4-FFF2-40B4-BE49-F238E27FC236}">
                <a16:creationId xmlns:a16="http://schemas.microsoft.com/office/drawing/2014/main" id="{DEF1F9EA-2FF4-A973-AF23-01C0482E284B}"/>
              </a:ext>
            </a:extLst>
          </p:cNvPr>
          <p:cNvSpPr txBox="1"/>
          <p:nvPr/>
        </p:nvSpPr>
        <p:spPr>
          <a:xfrm>
            <a:off x="10431639" y="1009864"/>
            <a:ext cx="161842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Check normality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E9E2AFC5-F733-76C8-E295-55EA46B06499}"/>
                  </a:ext>
                </a:extLst>
              </p:cNvPr>
              <p:cNvSpPr txBox="1"/>
              <p:nvPr/>
            </p:nvSpPr>
            <p:spPr>
              <a:xfrm>
                <a:off x="4050962" y="239844"/>
                <a:ext cx="4305145" cy="461665"/>
              </a:xfrm>
              <a:prstGeom prst="rect">
                <a:avLst/>
              </a:prstGeom>
              <a:noFill/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ategorical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predictor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factor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 with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umeric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response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numeric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integer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E9E2AFC5-F733-76C8-E295-55EA46B06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962" y="239844"/>
                <a:ext cx="4305145" cy="461665"/>
              </a:xfrm>
              <a:prstGeom prst="rect">
                <a:avLst/>
              </a:prstGeom>
              <a:blipFill>
                <a:blip r:embed="rId3"/>
                <a:stretch>
                  <a:fillRect b="-7895"/>
                </a:stretch>
              </a:blipFill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feld 22">
            <a:extLst>
              <a:ext uri="{FF2B5EF4-FFF2-40B4-BE49-F238E27FC236}">
                <a16:creationId xmlns:a16="http://schemas.microsoft.com/office/drawing/2014/main" id="{045735A8-306A-F3D6-87A1-A5C66061B352}"/>
              </a:ext>
            </a:extLst>
          </p:cNvPr>
          <p:cNvSpPr txBox="1"/>
          <p:nvPr/>
        </p:nvSpPr>
        <p:spPr>
          <a:xfrm>
            <a:off x="84001" y="3916517"/>
            <a:ext cx="1447008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wilcox.test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D898B700-C99B-37B0-0BBC-0C1835BF3420}"/>
              </a:ext>
            </a:extLst>
          </p:cNvPr>
          <p:cNvSpPr txBox="1"/>
          <p:nvPr/>
        </p:nvSpPr>
        <p:spPr>
          <a:xfrm>
            <a:off x="1650443" y="3916517"/>
            <a:ext cx="2338435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kruskal.test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5E07AF64-F20E-AAEA-E8D5-D9DD7D8D3DDC}"/>
                  </a:ext>
                </a:extLst>
              </p:cNvPr>
              <p:cNvSpPr txBox="1"/>
              <p:nvPr/>
            </p:nvSpPr>
            <p:spPr>
              <a:xfrm>
                <a:off x="7955636" y="2786684"/>
                <a:ext cx="1080000" cy="2772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5E07AF64-F20E-AAEA-E8D5-D9DD7D8D3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5636" y="2786684"/>
                <a:ext cx="1080000" cy="27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F175975F-04DD-93C8-8370-95752BFAD976}"/>
                  </a:ext>
                </a:extLst>
              </p:cNvPr>
              <p:cNvSpPr txBox="1"/>
              <p:nvPr/>
            </p:nvSpPr>
            <p:spPr>
              <a:xfrm>
                <a:off x="4925375" y="2803477"/>
                <a:ext cx="1080000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F175975F-04DD-93C8-8370-95752BFAD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5375" y="2803477"/>
                <a:ext cx="108000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feld 30">
            <a:extLst>
              <a:ext uri="{FF2B5EF4-FFF2-40B4-BE49-F238E27FC236}">
                <a16:creationId xmlns:a16="http://schemas.microsoft.com/office/drawing/2014/main" id="{6D54355F-BC59-F92D-5BE1-EC0AAB6D7F9E}"/>
              </a:ext>
            </a:extLst>
          </p:cNvPr>
          <p:cNvSpPr txBox="1"/>
          <p:nvPr/>
        </p:nvSpPr>
        <p:spPr>
          <a:xfrm>
            <a:off x="5165392" y="3916517"/>
            <a:ext cx="1524639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oneway.test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D29F7794-94E9-FAA8-58BA-EF91D604632A}"/>
              </a:ext>
            </a:extLst>
          </p:cNvPr>
          <p:cNvSpPr txBox="1"/>
          <p:nvPr/>
        </p:nvSpPr>
        <p:spPr>
          <a:xfrm>
            <a:off x="9327065" y="3909046"/>
            <a:ext cx="1168941" cy="283595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aov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grpSp>
        <p:nvGrpSpPr>
          <p:cNvPr id="427" name="Gruppieren 426">
            <a:extLst>
              <a:ext uri="{FF2B5EF4-FFF2-40B4-BE49-F238E27FC236}">
                <a16:creationId xmlns:a16="http://schemas.microsoft.com/office/drawing/2014/main" id="{C9559D6A-A743-32E8-576B-33ECF1572E13}"/>
              </a:ext>
            </a:extLst>
          </p:cNvPr>
          <p:cNvGrpSpPr/>
          <p:nvPr/>
        </p:nvGrpSpPr>
        <p:grpSpPr>
          <a:xfrm>
            <a:off x="5663777" y="2473615"/>
            <a:ext cx="2839412" cy="305400"/>
            <a:chOff x="8002301" y="4581613"/>
            <a:chExt cx="1289076" cy="305400"/>
          </a:xfrm>
        </p:grpSpPr>
        <p:cxnSp>
          <p:nvCxnSpPr>
            <p:cNvPr id="85" name="Gerade Verbindung mit Pfeil 84">
              <a:extLst>
                <a:ext uri="{FF2B5EF4-FFF2-40B4-BE49-F238E27FC236}">
                  <a16:creationId xmlns:a16="http://schemas.microsoft.com/office/drawing/2014/main" id="{34EED037-BBB8-B651-5770-6B0B6E9176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2301" y="4581613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 Verbindung mit Pfeil 85">
              <a:extLst>
                <a:ext uri="{FF2B5EF4-FFF2-40B4-BE49-F238E27FC236}">
                  <a16:creationId xmlns:a16="http://schemas.microsoft.com/office/drawing/2014/main" id="{E0BB3F38-B8C7-0BCB-A598-646D33EAADC7}"/>
                </a:ext>
              </a:extLst>
            </p:cNvPr>
            <p:cNvCxnSpPr>
              <a:cxnSpLocks/>
            </p:cNvCxnSpPr>
            <p:nvPr/>
          </p:nvCxnSpPr>
          <p:spPr>
            <a:xfrm>
              <a:off x="8641787" y="4581613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Textfeld 92">
            <a:extLst>
              <a:ext uri="{FF2B5EF4-FFF2-40B4-BE49-F238E27FC236}">
                <a16:creationId xmlns:a16="http://schemas.microsoft.com/office/drawing/2014/main" id="{13A4439C-EDC6-1694-7996-632323FB6E4E}"/>
              </a:ext>
            </a:extLst>
          </p:cNvPr>
          <p:cNvSpPr txBox="1"/>
          <p:nvPr/>
        </p:nvSpPr>
        <p:spPr>
          <a:xfrm>
            <a:off x="9262697" y="4531095"/>
            <a:ext cx="1168942" cy="283595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TukeyHSD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67619068-ECA2-3D69-4C63-B11DFC658009}"/>
              </a:ext>
            </a:extLst>
          </p:cNvPr>
          <p:cNvSpPr txBox="1"/>
          <p:nvPr/>
        </p:nvSpPr>
        <p:spPr>
          <a:xfrm>
            <a:off x="1630609" y="4481918"/>
            <a:ext cx="2341205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pairwise.wilcox.test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6EBBB330-F69C-71CB-420E-DAE699571CD9}"/>
              </a:ext>
            </a:extLst>
          </p:cNvPr>
          <p:cNvSpPr txBox="1"/>
          <p:nvPr/>
        </p:nvSpPr>
        <p:spPr>
          <a:xfrm>
            <a:off x="6723783" y="3916517"/>
            <a:ext cx="2525560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(…,</a:t>
            </a:r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var.equal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=TRUE)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9DDD960E-B442-2EFA-3288-44B089AF4990}"/>
                  </a:ext>
                </a:extLst>
              </p:cNvPr>
              <p:cNvSpPr txBox="1"/>
              <p:nvPr/>
            </p:nvSpPr>
            <p:spPr>
              <a:xfrm>
                <a:off x="1445448" y="1723958"/>
                <a:ext cx="1206334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9DDD960E-B442-2EFA-3288-44B089AF4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448" y="1723958"/>
                <a:ext cx="120633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566D86C6-59B8-BF52-FFD7-0F34225FF3F6}"/>
                  </a:ext>
                </a:extLst>
              </p:cNvPr>
              <p:cNvSpPr txBox="1"/>
              <p:nvPr/>
            </p:nvSpPr>
            <p:spPr>
              <a:xfrm>
                <a:off x="4676700" y="1723958"/>
                <a:ext cx="2823760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566D86C6-59B8-BF52-FFD7-0F34225FF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700" y="1723958"/>
                <a:ext cx="2823760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B6DD8288-BFEA-877D-1645-AF537E4F55FA}"/>
              </a:ext>
            </a:extLst>
          </p:cNvPr>
          <p:cNvSpPr txBox="1"/>
          <p:nvPr/>
        </p:nvSpPr>
        <p:spPr>
          <a:xfrm>
            <a:off x="10573574" y="4508665"/>
            <a:ext cx="1618426" cy="2772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Post-hoc test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0B0C6CDA-4384-945B-A264-00640D76B3B1}"/>
                  </a:ext>
                </a:extLst>
              </p:cNvPr>
              <p:cNvSpPr txBox="1"/>
              <p:nvPr/>
            </p:nvSpPr>
            <p:spPr>
              <a:xfrm>
                <a:off x="9967683" y="5959220"/>
                <a:ext cx="208238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GB" sz="1200" noProof="0" dirty="0" err="1">
                    <a:latin typeface="Courier New" panose="02070309020205020404" pitchFamily="49" charset="0"/>
                    <a:ea typeface="CMU Bright Roman" panose="02000603000000000000" pitchFamily="2" charset="0"/>
                    <a:cs typeface="Courier New" panose="02070309020205020404" pitchFamily="49" charset="0"/>
                  </a:rPr>
                  <a:t>conf.level</a:t>
                </a:r>
                <a:r>
                  <a:rPr lang="en-GB" sz="800" noProof="0" dirty="0">
                    <a:latin typeface="CMU Bright Roman" panose="02000603000000000000" pitchFamily="2" charset="0"/>
                    <a:ea typeface="CMU Bright Roman" panose="02000603000000000000" pitchFamily="2" charset="0"/>
                    <a:cs typeface="CMU Bright Roman" panose="02000603000000000000" pitchFamily="2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-value of level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</m:t>
                    </m:r>
                  </m:oMath>
                </a14:m>
                <a:endParaRPr lang="en-GB" sz="1200" noProof="0" dirty="0">
                  <a:latin typeface="CMU Bright Roman" panose="02000603000000000000" pitchFamily="2" charset="0"/>
                  <a:ea typeface="CMU Bright Roman" panose="02000603000000000000" pitchFamily="2" charset="0"/>
                  <a:cs typeface="CMU Bright Roman" panose="02000603000000000000" pitchFamily="2" charset="0"/>
                </a:endParaRPr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BEADCB87-2FE2-B735-89A2-59CFEE3B9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7683" y="5959220"/>
                <a:ext cx="2082384" cy="461665"/>
              </a:xfrm>
              <a:prstGeom prst="rect">
                <a:avLst/>
              </a:prstGeom>
              <a:blipFill>
                <a:blip r:embed="rId18"/>
                <a:stretch>
                  <a:fillRect t="-2703" b="-108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Textfeld 148">
            <a:extLst>
              <a:ext uri="{FF2B5EF4-FFF2-40B4-BE49-F238E27FC236}">
                <a16:creationId xmlns:a16="http://schemas.microsoft.com/office/drawing/2014/main" id="{D2849832-7583-5C88-CB48-85BBDDF8C394}"/>
              </a:ext>
            </a:extLst>
          </p:cNvPr>
          <p:cNvSpPr txBox="1"/>
          <p:nvPr/>
        </p:nvSpPr>
        <p:spPr>
          <a:xfrm>
            <a:off x="10673600" y="3886130"/>
            <a:ext cx="1518400" cy="276999"/>
          </a:xfrm>
          <a:prstGeom prst="rect">
            <a:avLst/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Final test selected </a:t>
            </a:r>
          </a:p>
        </p:txBody>
      </p:sp>
      <p:sp>
        <p:nvSpPr>
          <p:cNvPr id="159" name="Textfeld 158">
            <a:extLst>
              <a:ext uri="{FF2B5EF4-FFF2-40B4-BE49-F238E27FC236}">
                <a16:creationId xmlns:a16="http://schemas.microsoft.com/office/drawing/2014/main" id="{8C130F98-4700-F781-8757-3BD691AD4A39}"/>
              </a:ext>
            </a:extLst>
          </p:cNvPr>
          <p:cNvSpPr txBox="1"/>
          <p:nvPr/>
        </p:nvSpPr>
        <p:spPr>
          <a:xfrm>
            <a:off x="10508222" y="2183018"/>
            <a:ext cx="1618761" cy="27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</a:t>
            </a:r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heck </a:t>
            </a:r>
            <a:r>
              <a:rPr lang="en-GB" noProof="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homoscedacity</a:t>
            </a:r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816F1AE-7D89-569E-C993-EFFD1BF686BE}"/>
              </a:ext>
            </a:extLst>
          </p:cNvPr>
          <p:cNvSpPr txBox="1"/>
          <p:nvPr/>
        </p:nvSpPr>
        <p:spPr>
          <a:xfrm>
            <a:off x="-27314" y="6338219"/>
            <a:ext cx="1868481" cy="281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non-parametric tests </a:t>
            </a:r>
          </a:p>
        </p:txBody>
      </p:sp>
      <p:sp>
        <p:nvSpPr>
          <p:cNvPr id="148" name="Textfeld 147">
            <a:extLst>
              <a:ext uri="{FF2B5EF4-FFF2-40B4-BE49-F238E27FC236}">
                <a16:creationId xmlns:a16="http://schemas.microsoft.com/office/drawing/2014/main" id="{B74FBCF3-CDA8-0C7D-ADD1-C3C716471691}"/>
              </a:ext>
            </a:extLst>
          </p:cNvPr>
          <p:cNvSpPr txBox="1"/>
          <p:nvPr/>
        </p:nvSpPr>
        <p:spPr>
          <a:xfrm>
            <a:off x="-27314" y="5916223"/>
            <a:ext cx="1859022" cy="281831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parametric tests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7" name="Textfeld 466">
                <a:extLst>
                  <a:ext uri="{FF2B5EF4-FFF2-40B4-BE49-F238E27FC236}">
                    <a16:creationId xmlns:a16="http://schemas.microsoft.com/office/drawing/2014/main" id="{5EBC110F-6272-1F69-49B4-14DF4BFAFF26}"/>
                  </a:ext>
                </a:extLst>
              </p:cNvPr>
              <p:cNvSpPr txBox="1"/>
              <p:nvPr/>
            </p:nvSpPr>
            <p:spPr>
              <a:xfrm>
                <a:off x="1914970" y="5896289"/>
                <a:ext cx="2538462" cy="28183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predictor</a:t>
                </a:r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=2</m:t>
                    </m:r>
                  </m:oMath>
                </a14:m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 </a:t>
                </a:r>
              </a:p>
            </p:txBody>
          </p:sp>
        </mc:Choice>
        <mc:Fallback>
          <p:sp>
            <p:nvSpPr>
              <p:cNvPr id="467" name="Textfeld 466">
                <a:extLst>
                  <a:ext uri="{FF2B5EF4-FFF2-40B4-BE49-F238E27FC236}">
                    <a16:creationId xmlns:a16="http://schemas.microsoft.com/office/drawing/2014/main" id="{5EBC110F-6272-1F69-49B4-14DF4BFAF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970" y="5896289"/>
                <a:ext cx="2538462" cy="281831"/>
              </a:xfrm>
              <a:prstGeom prst="rect">
                <a:avLst/>
              </a:prstGeom>
              <a:blipFill>
                <a:blip r:embed="rId19"/>
                <a:stretch>
                  <a:fillRect b="-1250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8" name="Textfeld 467">
                <a:extLst>
                  <a:ext uri="{FF2B5EF4-FFF2-40B4-BE49-F238E27FC236}">
                    <a16:creationId xmlns:a16="http://schemas.microsoft.com/office/drawing/2014/main" id="{B3C8E372-5134-BA8B-C395-4CC08FBE0DD2}"/>
                  </a:ext>
                </a:extLst>
              </p:cNvPr>
              <p:cNvSpPr txBox="1"/>
              <p:nvPr/>
            </p:nvSpPr>
            <p:spPr>
              <a:xfrm>
                <a:off x="1905495" y="6318285"/>
                <a:ext cx="2543546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predictor</a:t>
                </a:r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&gt; 2 </m:t>
                    </m:r>
                  </m:oMath>
                </a14:m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levels </a:t>
                </a:r>
              </a:p>
            </p:txBody>
          </p:sp>
        </mc:Choice>
        <mc:Fallback>
          <p:sp>
            <p:nvSpPr>
              <p:cNvPr id="468" name="Textfeld 467">
                <a:extLst>
                  <a:ext uri="{FF2B5EF4-FFF2-40B4-BE49-F238E27FC236}">
                    <a16:creationId xmlns:a16="http://schemas.microsoft.com/office/drawing/2014/main" id="{B3C8E372-5134-BA8B-C395-4CC08FBE0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495" y="6318285"/>
                <a:ext cx="2543546" cy="276999"/>
              </a:xfrm>
              <a:prstGeom prst="rect">
                <a:avLst/>
              </a:prstGeom>
              <a:blipFill>
                <a:blip r:embed="rId20"/>
                <a:stretch>
                  <a:fillRect b="-12500"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7" name="Textfeld 476">
            <a:extLst>
              <a:ext uri="{FF2B5EF4-FFF2-40B4-BE49-F238E27FC236}">
                <a16:creationId xmlns:a16="http://schemas.microsoft.com/office/drawing/2014/main" id="{2D4917DC-7113-AB2E-2423-2B99C0302D6A}"/>
              </a:ext>
            </a:extLst>
          </p:cNvPr>
          <p:cNvSpPr txBox="1"/>
          <p:nvPr/>
        </p:nvSpPr>
        <p:spPr>
          <a:xfrm>
            <a:off x="-27314" y="5684766"/>
            <a:ext cx="1091245" cy="28183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pPr algn="l"/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Colour code: </a:t>
            </a:r>
          </a:p>
        </p:txBody>
      </p:sp>
      <p:cxnSp>
        <p:nvCxnSpPr>
          <p:cNvPr id="461" name="Gerade Verbindung mit Pfeil 460">
            <a:extLst>
              <a:ext uri="{FF2B5EF4-FFF2-40B4-BE49-F238E27FC236}">
                <a16:creationId xmlns:a16="http://schemas.microsoft.com/office/drawing/2014/main" id="{8FB21695-11BD-8ABD-9F97-6991D5C8B3B6}"/>
              </a:ext>
            </a:extLst>
          </p:cNvPr>
          <p:cNvCxnSpPr>
            <a:cxnSpLocks/>
          </p:cNvCxnSpPr>
          <p:nvPr/>
        </p:nvCxnSpPr>
        <p:spPr>
          <a:xfrm flipH="1">
            <a:off x="8019364" y="3909046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Gerade Verbindung mit Pfeil 469">
            <a:extLst>
              <a:ext uri="{FF2B5EF4-FFF2-40B4-BE49-F238E27FC236}">
                <a16:creationId xmlns:a16="http://schemas.microsoft.com/office/drawing/2014/main" id="{FC3CBC77-6650-FABB-BBDB-000AC7FA6A5B}"/>
              </a:ext>
            </a:extLst>
          </p:cNvPr>
          <p:cNvCxnSpPr>
            <a:cxnSpLocks/>
          </p:cNvCxnSpPr>
          <p:nvPr/>
        </p:nvCxnSpPr>
        <p:spPr>
          <a:xfrm flipH="1">
            <a:off x="6088580" y="4300445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hteck 78">
            <a:extLst>
              <a:ext uri="{FF2B5EF4-FFF2-40B4-BE49-F238E27FC236}">
                <a16:creationId xmlns:a16="http://schemas.microsoft.com/office/drawing/2014/main" id="{6668F63E-6012-C018-9DF8-14B614C7029F}"/>
              </a:ext>
            </a:extLst>
          </p:cNvPr>
          <p:cNvSpPr/>
          <p:nvPr/>
        </p:nvSpPr>
        <p:spPr>
          <a:xfrm>
            <a:off x="-89692" y="5672259"/>
            <a:ext cx="4603061" cy="99926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FD30662-2245-B479-68B5-35D4A6451540}"/>
              </a:ext>
            </a:extLst>
          </p:cNvPr>
          <p:cNvSpPr txBox="1"/>
          <p:nvPr/>
        </p:nvSpPr>
        <p:spPr>
          <a:xfrm>
            <a:off x="5165392" y="4497730"/>
            <a:ext cx="1524639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games_howell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E7B6ACC-0932-519A-9977-B612AB01FCD3}"/>
              </a:ext>
            </a:extLst>
          </p:cNvPr>
          <p:cNvSpPr txBox="1"/>
          <p:nvPr/>
        </p:nvSpPr>
        <p:spPr>
          <a:xfrm>
            <a:off x="4050962" y="2166983"/>
            <a:ext cx="4382093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levene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.test() 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B7A0283F-1FB1-8A39-283D-6773A86E9DDD}"/>
              </a:ext>
            </a:extLst>
          </p:cNvPr>
          <p:cNvGrpSpPr/>
          <p:nvPr/>
        </p:nvGrpSpPr>
        <p:grpSpPr>
          <a:xfrm>
            <a:off x="974503" y="1934264"/>
            <a:ext cx="2106848" cy="1391174"/>
            <a:chOff x="2719572" y="1536945"/>
            <a:chExt cx="1289076" cy="305400"/>
          </a:xfrm>
        </p:grpSpPr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92A4840B-1FF1-F5DD-932B-19206E5986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9058D4F4-7E03-2858-6EB1-5234A7FEAA96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B56076F3-9150-C367-5306-8365748B4922}"/>
                  </a:ext>
                </a:extLst>
              </p:cNvPr>
              <p:cNvSpPr txBox="1"/>
              <p:nvPr/>
            </p:nvSpPr>
            <p:spPr>
              <a:xfrm>
                <a:off x="320784" y="3352059"/>
                <a:ext cx="144700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B56076F3-9150-C367-5306-8365748B4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84" y="3352059"/>
                <a:ext cx="1447007" cy="2769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52E72FFA-4697-7EA7-EA5D-4A6F48F346AF}"/>
                  </a:ext>
                </a:extLst>
              </p:cNvPr>
              <p:cNvSpPr txBox="1"/>
              <p:nvPr/>
            </p:nvSpPr>
            <p:spPr>
              <a:xfrm>
                <a:off x="1713057" y="3352058"/>
                <a:ext cx="232286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52E72FFA-4697-7EA7-EA5D-4A6F48F34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057" y="3352058"/>
                <a:ext cx="2322867" cy="27699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3C2AEA79-0B92-2460-ABFC-E23C88D7A3FB}"/>
                  </a:ext>
                </a:extLst>
              </p:cNvPr>
              <p:cNvSpPr txBox="1"/>
              <p:nvPr/>
            </p:nvSpPr>
            <p:spPr>
              <a:xfrm>
                <a:off x="3960490" y="3389677"/>
                <a:ext cx="885102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3C2AEA79-0B92-2460-ABFC-E23C88D7A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490" y="3389677"/>
                <a:ext cx="885102" cy="2769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EE66430A-8B82-83A4-8134-BC50AFEAA904}"/>
                  </a:ext>
                </a:extLst>
              </p:cNvPr>
              <p:cNvSpPr txBox="1"/>
              <p:nvPr/>
            </p:nvSpPr>
            <p:spPr>
              <a:xfrm>
                <a:off x="5559709" y="3444571"/>
                <a:ext cx="841110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EE66430A-8B82-83A4-8134-BC50AFEAA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9709" y="3444571"/>
                <a:ext cx="841110" cy="2769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431FAADD-AB85-591E-45CA-5780C7E6E637}"/>
              </a:ext>
            </a:extLst>
          </p:cNvPr>
          <p:cNvGrpSpPr/>
          <p:nvPr/>
        </p:nvGrpSpPr>
        <p:grpSpPr>
          <a:xfrm>
            <a:off x="7415137" y="3000906"/>
            <a:ext cx="2091190" cy="454753"/>
            <a:chOff x="2719572" y="1536945"/>
            <a:chExt cx="1289076" cy="305400"/>
          </a:xfrm>
        </p:grpSpPr>
        <p:cxnSp>
          <p:nvCxnSpPr>
            <p:cNvPr id="58" name="Gerade Verbindung mit Pfeil 57">
              <a:extLst>
                <a:ext uri="{FF2B5EF4-FFF2-40B4-BE49-F238E27FC236}">
                  <a16:creationId xmlns:a16="http://schemas.microsoft.com/office/drawing/2014/main" id="{3CB62A47-90E1-D6C8-9FE5-6D6698DBAD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 Verbindung mit Pfeil 58">
              <a:extLst>
                <a:ext uri="{FF2B5EF4-FFF2-40B4-BE49-F238E27FC236}">
                  <a16:creationId xmlns:a16="http://schemas.microsoft.com/office/drawing/2014/main" id="{734B8A55-9D45-6347-E799-447AD68B46D5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FB1D4EC7-3FE3-1D18-51D5-E063881F0CC7}"/>
                  </a:ext>
                </a:extLst>
              </p:cNvPr>
              <p:cNvSpPr txBox="1"/>
              <p:nvPr/>
            </p:nvSpPr>
            <p:spPr>
              <a:xfrm>
                <a:off x="7083483" y="3416221"/>
                <a:ext cx="730996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FB1D4EC7-3FE3-1D18-51D5-E063881F0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483" y="3416221"/>
                <a:ext cx="730996" cy="2769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A938FCE8-4214-C511-EC3C-002B2C0D0079}"/>
                  </a:ext>
                </a:extLst>
              </p:cNvPr>
              <p:cNvSpPr txBox="1"/>
              <p:nvPr/>
            </p:nvSpPr>
            <p:spPr>
              <a:xfrm>
                <a:off x="9386880" y="3415787"/>
                <a:ext cx="841110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A938FCE8-4214-C511-EC3C-002B2C0D0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6880" y="3415787"/>
                <a:ext cx="841110" cy="27699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feld 61">
            <a:extLst>
              <a:ext uri="{FF2B5EF4-FFF2-40B4-BE49-F238E27FC236}">
                <a16:creationId xmlns:a16="http://schemas.microsoft.com/office/drawing/2014/main" id="{9F3AB01C-5061-307C-D91C-59C7AD41BC60}"/>
              </a:ext>
            </a:extLst>
          </p:cNvPr>
          <p:cNvSpPr txBox="1"/>
          <p:nvPr/>
        </p:nvSpPr>
        <p:spPr>
          <a:xfrm>
            <a:off x="4071497" y="3911962"/>
            <a:ext cx="1077019" cy="286108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3D97E19C-D7DC-DF39-C282-B5371B1C3FD5}"/>
              </a:ext>
            </a:extLst>
          </p:cNvPr>
          <p:cNvCxnSpPr>
            <a:cxnSpLocks/>
          </p:cNvCxnSpPr>
          <p:nvPr/>
        </p:nvCxnSpPr>
        <p:spPr>
          <a:xfrm flipH="1">
            <a:off x="2801211" y="4244832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421C4643-1146-FDB7-02F2-1E1DB9E402E2}"/>
              </a:ext>
            </a:extLst>
          </p:cNvPr>
          <p:cNvCxnSpPr>
            <a:cxnSpLocks/>
          </p:cNvCxnSpPr>
          <p:nvPr/>
        </p:nvCxnSpPr>
        <p:spPr>
          <a:xfrm flipH="1">
            <a:off x="9842944" y="4278163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Gerade Verbindung mit Pfeil 451">
            <a:extLst>
              <a:ext uri="{FF2B5EF4-FFF2-40B4-BE49-F238E27FC236}">
                <a16:creationId xmlns:a16="http://schemas.microsoft.com/office/drawing/2014/main" id="{DE64E809-ECD0-3D17-571D-1093C6AF5A8F}"/>
              </a:ext>
            </a:extLst>
          </p:cNvPr>
          <p:cNvCxnSpPr>
            <a:cxnSpLocks/>
          </p:cNvCxnSpPr>
          <p:nvPr/>
        </p:nvCxnSpPr>
        <p:spPr>
          <a:xfrm>
            <a:off x="6088580" y="1156502"/>
            <a:ext cx="27986" cy="58416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Gerade Verbindung mit Pfeil 453">
            <a:extLst>
              <a:ext uri="{FF2B5EF4-FFF2-40B4-BE49-F238E27FC236}">
                <a16:creationId xmlns:a16="http://schemas.microsoft.com/office/drawing/2014/main" id="{4A7D4ECE-6376-E430-392B-D762977E6A57}"/>
              </a:ext>
            </a:extLst>
          </p:cNvPr>
          <p:cNvCxnSpPr>
            <a:cxnSpLocks/>
          </p:cNvCxnSpPr>
          <p:nvPr/>
        </p:nvCxnSpPr>
        <p:spPr>
          <a:xfrm flipH="1">
            <a:off x="6105209" y="1934263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Gerade Verbindung mit Pfeil 456">
            <a:extLst>
              <a:ext uri="{FF2B5EF4-FFF2-40B4-BE49-F238E27FC236}">
                <a16:creationId xmlns:a16="http://schemas.microsoft.com/office/drawing/2014/main" id="{C9A0DAA1-096D-32DD-0C63-FE8D749DBEBD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2048615" y="1156502"/>
            <a:ext cx="4053958" cy="56745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Gerade Verbindung mit Pfeil 459">
            <a:extLst>
              <a:ext uri="{FF2B5EF4-FFF2-40B4-BE49-F238E27FC236}">
                <a16:creationId xmlns:a16="http://schemas.microsoft.com/office/drawing/2014/main" id="{621EE3CF-79D3-8C3F-09BA-F7F20D5A3D00}"/>
              </a:ext>
            </a:extLst>
          </p:cNvPr>
          <p:cNvCxnSpPr>
            <a:cxnSpLocks/>
          </p:cNvCxnSpPr>
          <p:nvPr/>
        </p:nvCxnSpPr>
        <p:spPr>
          <a:xfrm flipH="1">
            <a:off x="976527" y="3680537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Gerade Verbindung mit Pfeil 461">
            <a:extLst>
              <a:ext uri="{FF2B5EF4-FFF2-40B4-BE49-F238E27FC236}">
                <a16:creationId xmlns:a16="http://schemas.microsoft.com/office/drawing/2014/main" id="{32AC68F1-9277-CEDF-B6D2-4E562DB55E46}"/>
              </a:ext>
            </a:extLst>
          </p:cNvPr>
          <p:cNvCxnSpPr>
            <a:cxnSpLocks/>
          </p:cNvCxnSpPr>
          <p:nvPr/>
        </p:nvCxnSpPr>
        <p:spPr>
          <a:xfrm flipH="1">
            <a:off x="2792972" y="3692895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Gerade Verbindung mit Pfeil 462">
            <a:extLst>
              <a:ext uri="{FF2B5EF4-FFF2-40B4-BE49-F238E27FC236}">
                <a16:creationId xmlns:a16="http://schemas.microsoft.com/office/drawing/2014/main" id="{1CBA1986-A3C7-D416-4029-FC8118C2CC65}"/>
              </a:ext>
            </a:extLst>
          </p:cNvPr>
          <p:cNvCxnSpPr>
            <a:cxnSpLocks/>
          </p:cNvCxnSpPr>
          <p:nvPr/>
        </p:nvCxnSpPr>
        <p:spPr>
          <a:xfrm flipH="1">
            <a:off x="4403472" y="3610512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Gerade Verbindung mit Pfeil 463">
            <a:extLst>
              <a:ext uri="{FF2B5EF4-FFF2-40B4-BE49-F238E27FC236}">
                <a16:creationId xmlns:a16="http://schemas.microsoft.com/office/drawing/2014/main" id="{DCB263FD-7E95-AD4A-9930-692C38D41337}"/>
              </a:ext>
            </a:extLst>
          </p:cNvPr>
          <p:cNvCxnSpPr>
            <a:cxnSpLocks/>
          </p:cNvCxnSpPr>
          <p:nvPr/>
        </p:nvCxnSpPr>
        <p:spPr>
          <a:xfrm flipH="1">
            <a:off x="5853333" y="3701127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5" name="Gruppieren 464">
            <a:extLst>
              <a:ext uri="{FF2B5EF4-FFF2-40B4-BE49-F238E27FC236}">
                <a16:creationId xmlns:a16="http://schemas.microsoft.com/office/drawing/2014/main" id="{1D012D6E-16DA-BB26-7F64-AEB9B3A10173}"/>
              </a:ext>
            </a:extLst>
          </p:cNvPr>
          <p:cNvGrpSpPr/>
          <p:nvPr/>
        </p:nvGrpSpPr>
        <p:grpSpPr>
          <a:xfrm>
            <a:off x="4291068" y="3018728"/>
            <a:ext cx="2091190" cy="454753"/>
            <a:chOff x="2719572" y="1536945"/>
            <a:chExt cx="1289076" cy="305400"/>
          </a:xfrm>
        </p:grpSpPr>
        <p:cxnSp>
          <p:nvCxnSpPr>
            <p:cNvPr id="466" name="Gerade Verbindung mit Pfeil 465">
              <a:extLst>
                <a:ext uri="{FF2B5EF4-FFF2-40B4-BE49-F238E27FC236}">
                  <a16:creationId xmlns:a16="http://schemas.microsoft.com/office/drawing/2014/main" id="{E07202F5-05D2-E8A3-A3B2-EC7BA32CF5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Gerade Verbindung mit Pfeil 470">
              <a:extLst>
                <a:ext uri="{FF2B5EF4-FFF2-40B4-BE49-F238E27FC236}">
                  <a16:creationId xmlns:a16="http://schemas.microsoft.com/office/drawing/2014/main" id="{736D7057-108E-D9BA-7678-E44DEF9929EA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2" name="Gerade Verbindung mit Pfeil 471">
            <a:extLst>
              <a:ext uri="{FF2B5EF4-FFF2-40B4-BE49-F238E27FC236}">
                <a16:creationId xmlns:a16="http://schemas.microsoft.com/office/drawing/2014/main" id="{7F358B13-A97F-DC4D-CB49-0422EBD79EF1}"/>
              </a:ext>
            </a:extLst>
          </p:cNvPr>
          <p:cNvCxnSpPr>
            <a:cxnSpLocks/>
          </p:cNvCxnSpPr>
          <p:nvPr/>
        </p:nvCxnSpPr>
        <p:spPr>
          <a:xfrm flipH="1">
            <a:off x="7426762" y="3680529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Gerade Verbindung mit Pfeil 472">
            <a:extLst>
              <a:ext uri="{FF2B5EF4-FFF2-40B4-BE49-F238E27FC236}">
                <a16:creationId xmlns:a16="http://schemas.microsoft.com/office/drawing/2014/main" id="{345972CC-09E4-AA18-E4AE-DAEFD9543F1E}"/>
              </a:ext>
            </a:extLst>
          </p:cNvPr>
          <p:cNvCxnSpPr>
            <a:cxnSpLocks/>
          </p:cNvCxnSpPr>
          <p:nvPr/>
        </p:nvCxnSpPr>
        <p:spPr>
          <a:xfrm flipH="1">
            <a:off x="9797634" y="3639727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863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A6C71-467C-2908-108E-4FFF1E661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>
            <a:extLst>
              <a:ext uri="{FF2B5EF4-FFF2-40B4-BE49-F238E27FC236}">
                <a16:creationId xmlns:a16="http://schemas.microsoft.com/office/drawing/2014/main" id="{068FF5E1-F079-DF9D-FD7C-E268420CF978}"/>
              </a:ext>
            </a:extLst>
          </p:cNvPr>
          <p:cNvSpPr txBox="1"/>
          <p:nvPr/>
        </p:nvSpPr>
        <p:spPr>
          <a:xfrm>
            <a:off x="1536948" y="1889696"/>
            <a:ext cx="4007479" cy="276999"/>
          </a:xfrm>
          <a:prstGeom prst="rect">
            <a:avLst/>
          </a:prstGeom>
          <a:solidFill>
            <a:schemeClr val="accent2">
              <a:alpha val="19906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shapiro.test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 residuals</a:t>
            </a:r>
            <a:endParaRPr lang="en-GB" sz="12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60" name="Textfeld 159">
            <a:extLst>
              <a:ext uri="{FF2B5EF4-FFF2-40B4-BE49-F238E27FC236}">
                <a16:creationId xmlns:a16="http://schemas.microsoft.com/office/drawing/2014/main" id="{69771035-549E-AC26-2C17-18F5675C2C77}"/>
              </a:ext>
            </a:extLst>
          </p:cNvPr>
          <p:cNvSpPr txBox="1"/>
          <p:nvPr/>
        </p:nvSpPr>
        <p:spPr>
          <a:xfrm>
            <a:off x="10397560" y="2202514"/>
            <a:ext cx="172470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Check normality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CFA9C82-560E-0334-1BB1-9FD4E0F70506}"/>
                  </a:ext>
                </a:extLst>
              </p:cNvPr>
              <p:cNvSpPr txBox="1"/>
              <p:nvPr/>
            </p:nvSpPr>
            <p:spPr>
              <a:xfrm>
                <a:off x="3649203" y="209699"/>
                <a:ext cx="4305145" cy="461665"/>
              </a:xfrm>
              <a:prstGeom prst="rect">
                <a:avLst/>
              </a:prstGeom>
              <a:noFill/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ategorical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predictor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factor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 with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umeric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response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numeric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integer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CFA9C82-560E-0334-1BB1-9FD4E0F70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9203" y="209699"/>
                <a:ext cx="4305145" cy="461665"/>
              </a:xfrm>
              <a:prstGeom prst="rect">
                <a:avLst/>
              </a:prstGeom>
              <a:blipFill>
                <a:blip r:embed="rId3"/>
                <a:stretch>
                  <a:fillRect b="-7895"/>
                </a:stretch>
              </a:blipFill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F6AAEE37-561B-2614-4B82-BA3E31A1445D}"/>
                  </a:ext>
                </a:extLst>
              </p:cNvPr>
              <p:cNvSpPr txBox="1"/>
              <p:nvPr/>
            </p:nvSpPr>
            <p:spPr>
              <a:xfrm>
                <a:off x="1529332" y="1317391"/>
                <a:ext cx="4010687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for all </a:t>
                </a:r>
                <a:r>
                  <a:rPr lang="en-GB" sz="12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F6AAEE37-561B-2614-4B82-BA3E31A14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332" y="1317391"/>
                <a:ext cx="4010687" cy="276999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feld 22">
            <a:extLst>
              <a:ext uri="{FF2B5EF4-FFF2-40B4-BE49-F238E27FC236}">
                <a16:creationId xmlns:a16="http://schemas.microsoft.com/office/drawing/2014/main" id="{EAA44F0D-CC8D-6089-131A-2E1FE6EFFBE2}"/>
              </a:ext>
            </a:extLst>
          </p:cNvPr>
          <p:cNvSpPr txBox="1"/>
          <p:nvPr/>
        </p:nvSpPr>
        <p:spPr>
          <a:xfrm>
            <a:off x="78474" y="4707466"/>
            <a:ext cx="1447008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wilcox.test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BBD0A08-95D2-F972-F4D4-79B7324DC9BB}"/>
              </a:ext>
            </a:extLst>
          </p:cNvPr>
          <p:cNvSpPr txBox="1"/>
          <p:nvPr/>
        </p:nvSpPr>
        <p:spPr>
          <a:xfrm>
            <a:off x="1585427" y="4707466"/>
            <a:ext cx="2338435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kruskal.test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38C66D2F-9E14-7C8B-5D2A-1F7912FEFB00}"/>
                  </a:ext>
                </a:extLst>
              </p:cNvPr>
              <p:cNvSpPr txBox="1"/>
              <p:nvPr/>
            </p:nvSpPr>
            <p:spPr>
              <a:xfrm>
                <a:off x="7890620" y="3812412"/>
                <a:ext cx="1080000" cy="2772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38C66D2F-9E14-7C8B-5D2A-1F7912FEF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0620" y="3812412"/>
                <a:ext cx="1080000" cy="27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CA4581C7-C3B0-54FA-EF00-228EC57A3E10}"/>
                  </a:ext>
                </a:extLst>
              </p:cNvPr>
              <p:cNvSpPr txBox="1"/>
              <p:nvPr/>
            </p:nvSpPr>
            <p:spPr>
              <a:xfrm>
                <a:off x="4588563" y="3843705"/>
                <a:ext cx="1080000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CA4581C7-C3B0-54FA-EF00-228EC57A3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8563" y="3843705"/>
                <a:ext cx="1080000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feld 30">
            <a:extLst>
              <a:ext uri="{FF2B5EF4-FFF2-40B4-BE49-F238E27FC236}">
                <a16:creationId xmlns:a16="http://schemas.microsoft.com/office/drawing/2014/main" id="{4E9381FD-69C7-430A-E209-F66858BC4F1A}"/>
              </a:ext>
            </a:extLst>
          </p:cNvPr>
          <p:cNvSpPr txBox="1"/>
          <p:nvPr/>
        </p:nvSpPr>
        <p:spPr>
          <a:xfrm>
            <a:off x="5012486" y="4726345"/>
            <a:ext cx="1546079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oneway.test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274C6E35-BABE-7694-0978-CD95FB70192A}"/>
              </a:ext>
            </a:extLst>
          </p:cNvPr>
          <p:cNvSpPr txBox="1"/>
          <p:nvPr/>
        </p:nvSpPr>
        <p:spPr>
          <a:xfrm>
            <a:off x="9210200" y="4735388"/>
            <a:ext cx="1047418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aov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grpSp>
        <p:nvGrpSpPr>
          <p:cNvPr id="427" name="Gruppieren 426">
            <a:extLst>
              <a:ext uri="{FF2B5EF4-FFF2-40B4-BE49-F238E27FC236}">
                <a16:creationId xmlns:a16="http://schemas.microsoft.com/office/drawing/2014/main" id="{F60B4F5F-1A5A-6983-57F2-9A558C4A2A4B}"/>
              </a:ext>
            </a:extLst>
          </p:cNvPr>
          <p:cNvGrpSpPr/>
          <p:nvPr/>
        </p:nvGrpSpPr>
        <p:grpSpPr>
          <a:xfrm>
            <a:off x="5276413" y="3561409"/>
            <a:ext cx="2839412" cy="305400"/>
            <a:chOff x="8002301" y="4581613"/>
            <a:chExt cx="1289076" cy="305400"/>
          </a:xfrm>
        </p:grpSpPr>
        <p:cxnSp>
          <p:nvCxnSpPr>
            <p:cNvPr id="85" name="Gerade Verbindung mit Pfeil 84">
              <a:extLst>
                <a:ext uri="{FF2B5EF4-FFF2-40B4-BE49-F238E27FC236}">
                  <a16:creationId xmlns:a16="http://schemas.microsoft.com/office/drawing/2014/main" id="{7DB92D34-6BE9-8F72-335D-782116FA9D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2301" y="4581613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 Verbindung mit Pfeil 85">
              <a:extLst>
                <a:ext uri="{FF2B5EF4-FFF2-40B4-BE49-F238E27FC236}">
                  <a16:creationId xmlns:a16="http://schemas.microsoft.com/office/drawing/2014/main" id="{DA797C15-DD84-EA62-E689-E0352D91B0F6}"/>
                </a:ext>
              </a:extLst>
            </p:cNvPr>
            <p:cNvCxnSpPr>
              <a:cxnSpLocks/>
            </p:cNvCxnSpPr>
            <p:nvPr/>
          </p:nvCxnSpPr>
          <p:spPr>
            <a:xfrm>
              <a:off x="8641787" y="4581613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Textfeld 92">
            <a:extLst>
              <a:ext uri="{FF2B5EF4-FFF2-40B4-BE49-F238E27FC236}">
                <a16:creationId xmlns:a16="http://schemas.microsoft.com/office/drawing/2014/main" id="{74A3E3BE-C2F2-8A60-46BA-B43DEC661C89}"/>
              </a:ext>
            </a:extLst>
          </p:cNvPr>
          <p:cNvSpPr txBox="1"/>
          <p:nvPr/>
        </p:nvSpPr>
        <p:spPr>
          <a:xfrm>
            <a:off x="9210200" y="5243874"/>
            <a:ext cx="1165404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TukeyHSD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9D6DD951-0BCF-B830-BA0E-BD736C52D67E}"/>
              </a:ext>
            </a:extLst>
          </p:cNvPr>
          <p:cNvSpPr txBox="1"/>
          <p:nvPr/>
        </p:nvSpPr>
        <p:spPr>
          <a:xfrm>
            <a:off x="1565063" y="5243874"/>
            <a:ext cx="2341205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pairwise.wilcox.test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1BB6760B-CE33-E359-98D8-3A80AB6E2061}"/>
              </a:ext>
            </a:extLst>
          </p:cNvPr>
          <p:cNvSpPr txBox="1"/>
          <p:nvPr/>
        </p:nvSpPr>
        <p:spPr>
          <a:xfrm>
            <a:off x="6629407" y="4735454"/>
            <a:ext cx="2525560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(…,</a:t>
            </a:r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var.equal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=TRUE)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DB1D11B9-7DA9-707E-F6E3-B35B8A7B85EA}"/>
                  </a:ext>
                </a:extLst>
              </p:cNvPr>
              <p:cNvSpPr txBox="1"/>
              <p:nvPr/>
            </p:nvSpPr>
            <p:spPr>
              <a:xfrm>
                <a:off x="1529332" y="2565626"/>
                <a:ext cx="1206334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DB1D11B9-7DA9-707E-F6E3-B35B8A7B8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332" y="2565626"/>
                <a:ext cx="1206334" cy="276999"/>
              </a:xfrm>
              <a:prstGeom prst="rect">
                <a:avLst/>
              </a:prstGeom>
              <a:blipFill>
                <a:blip r:embed="rId7"/>
                <a:stretch>
                  <a:fillRect b="-454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427A10DA-9FC5-57E8-5BBB-30CA10031A9C}"/>
                  </a:ext>
                </a:extLst>
              </p:cNvPr>
              <p:cNvSpPr txBox="1"/>
              <p:nvPr/>
            </p:nvSpPr>
            <p:spPr>
              <a:xfrm>
                <a:off x="4278822" y="2583171"/>
                <a:ext cx="1794943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427A10DA-9FC5-57E8-5BBB-30CA10031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822" y="2583171"/>
                <a:ext cx="1794943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9B76B0ED-5429-C912-842E-CDB7822669E7}"/>
              </a:ext>
            </a:extLst>
          </p:cNvPr>
          <p:cNvSpPr txBox="1"/>
          <p:nvPr/>
        </p:nvSpPr>
        <p:spPr>
          <a:xfrm>
            <a:off x="10397559" y="5243874"/>
            <a:ext cx="1729424" cy="2772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Post-hoc test </a:t>
            </a:r>
          </a:p>
        </p:txBody>
      </p:sp>
      <p:sp>
        <p:nvSpPr>
          <p:cNvPr id="149" name="Textfeld 148">
            <a:extLst>
              <a:ext uri="{FF2B5EF4-FFF2-40B4-BE49-F238E27FC236}">
                <a16:creationId xmlns:a16="http://schemas.microsoft.com/office/drawing/2014/main" id="{519BD8C5-7449-CD5B-D48B-19A9044FB288}"/>
              </a:ext>
            </a:extLst>
          </p:cNvPr>
          <p:cNvSpPr txBox="1"/>
          <p:nvPr/>
        </p:nvSpPr>
        <p:spPr>
          <a:xfrm>
            <a:off x="10397560" y="4772632"/>
            <a:ext cx="1729424" cy="276999"/>
          </a:xfrm>
          <a:prstGeom prst="rect">
            <a:avLst/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Final test selected </a:t>
            </a:r>
          </a:p>
        </p:txBody>
      </p:sp>
      <p:sp>
        <p:nvSpPr>
          <p:cNvPr id="159" name="Textfeld 158">
            <a:extLst>
              <a:ext uri="{FF2B5EF4-FFF2-40B4-BE49-F238E27FC236}">
                <a16:creationId xmlns:a16="http://schemas.microsoft.com/office/drawing/2014/main" id="{E123BC7C-F283-90C7-9FF1-57E548148085}"/>
              </a:ext>
            </a:extLst>
          </p:cNvPr>
          <p:cNvSpPr txBox="1"/>
          <p:nvPr/>
        </p:nvSpPr>
        <p:spPr>
          <a:xfrm>
            <a:off x="10397560" y="3208212"/>
            <a:ext cx="1724700" cy="27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</a:t>
            </a:r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heck </a:t>
            </a:r>
            <a:r>
              <a:rPr lang="de-CH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</a:t>
            </a:r>
            <a:r>
              <a:rPr lang="de-CH" dirty="0" err="1"/>
              <a:t>omoscedasticity</a:t>
            </a:r>
            <a:endParaRPr lang="en-GB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grpSp>
        <p:nvGrpSpPr>
          <p:cNvPr id="491" name="Gruppieren 490">
            <a:extLst>
              <a:ext uri="{FF2B5EF4-FFF2-40B4-BE49-F238E27FC236}">
                <a16:creationId xmlns:a16="http://schemas.microsoft.com/office/drawing/2014/main" id="{C46745CE-C7B4-E504-43D7-3E24A8313AFE}"/>
              </a:ext>
            </a:extLst>
          </p:cNvPr>
          <p:cNvGrpSpPr/>
          <p:nvPr/>
        </p:nvGrpSpPr>
        <p:grpSpPr>
          <a:xfrm>
            <a:off x="4870085" y="692081"/>
            <a:ext cx="1785240" cy="542165"/>
            <a:chOff x="2719572" y="1536945"/>
            <a:chExt cx="1289076" cy="305400"/>
          </a:xfrm>
        </p:grpSpPr>
        <p:cxnSp>
          <p:nvCxnSpPr>
            <p:cNvPr id="492" name="Gerade Verbindung mit Pfeil 491">
              <a:extLst>
                <a:ext uri="{FF2B5EF4-FFF2-40B4-BE49-F238E27FC236}">
                  <a16:creationId xmlns:a16="http://schemas.microsoft.com/office/drawing/2014/main" id="{C9EA7BC2-E403-97C7-5BD2-9F31E6AA37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Gerade Verbindung mit Pfeil 492">
              <a:extLst>
                <a:ext uri="{FF2B5EF4-FFF2-40B4-BE49-F238E27FC236}">
                  <a16:creationId xmlns:a16="http://schemas.microsoft.com/office/drawing/2014/main" id="{2581601F-B896-CD09-F0EE-654B1B1B425D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9" name="Gerade Verbindung mit Pfeil 468">
            <a:extLst>
              <a:ext uri="{FF2B5EF4-FFF2-40B4-BE49-F238E27FC236}">
                <a16:creationId xmlns:a16="http://schemas.microsoft.com/office/drawing/2014/main" id="{131015DD-CA84-ED99-C942-175FC344083F}"/>
              </a:ext>
            </a:extLst>
          </p:cNvPr>
          <p:cNvCxnSpPr>
            <a:cxnSpLocks/>
          </p:cNvCxnSpPr>
          <p:nvPr/>
        </p:nvCxnSpPr>
        <p:spPr>
          <a:xfrm flipH="1">
            <a:off x="9606467" y="5026525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Gerade Verbindung mit Pfeil 469">
            <a:extLst>
              <a:ext uri="{FF2B5EF4-FFF2-40B4-BE49-F238E27FC236}">
                <a16:creationId xmlns:a16="http://schemas.microsoft.com/office/drawing/2014/main" id="{9444F9C2-945C-821C-AA18-6996A8945959}"/>
              </a:ext>
            </a:extLst>
          </p:cNvPr>
          <p:cNvCxnSpPr>
            <a:cxnSpLocks/>
          </p:cNvCxnSpPr>
          <p:nvPr/>
        </p:nvCxnSpPr>
        <p:spPr>
          <a:xfrm flipH="1">
            <a:off x="2932997" y="5026525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4176BE39-0DC3-4460-A1E3-B164CF21631E}"/>
              </a:ext>
            </a:extLst>
          </p:cNvPr>
          <p:cNvSpPr txBox="1"/>
          <p:nvPr/>
        </p:nvSpPr>
        <p:spPr>
          <a:xfrm>
            <a:off x="5028734" y="5243874"/>
            <a:ext cx="154608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games_howell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96C0ED5-86FD-C69F-7040-AA1BEEA2F5DF}"/>
              </a:ext>
            </a:extLst>
          </p:cNvPr>
          <p:cNvSpPr txBox="1"/>
          <p:nvPr/>
        </p:nvSpPr>
        <p:spPr>
          <a:xfrm>
            <a:off x="4094431" y="3204549"/>
            <a:ext cx="6163186" cy="2808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levene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.test()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25D3B015-9B60-7B1A-E90A-F3C27F59AD30}"/>
                  </a:ext>
                </a:extLst>
              </p:cNvPr>
              <p:cNvSpPr txBox="1"/>
              <p:nvPr/>
            </p:nvSpPr>
            <p:spPr>
              <a:xfrm>
                <a:off x="5829376" y="1317391"/>
                <a:ext cx="1429210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for all </a:t>
                </a:r>
                <a:r>
                  <a:rPr lang="en-GB" sz="12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25D3B015-9B60-7B1A-E90A-F3C27F59A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376" y="1317391"/>
                <a:ext cx="1429210" cy="276999"/>
              </a:xfrm>
              <a:prstGeom prst="rect">
                <a:avLst/>
              </a:prstGeom>
              <a:blipFill>
                <a:blip r:embed="rId9"/>
                <a:stretch>
                  <a:fillRect b="-833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3058B38B-2ED7-9E1F-F998-9BF78ADEDC6C}"/>
              </a:ext>
            </a:extLst>
          </p:cNvPr>
          <p:cNvCxnSpPr>
            <a:cxnSpLocks/>
          </p:cNvCxnSpPr>
          <p:nvPr/>
        </p:nvCxnSpPr>
        <p:spPr>
          <a:xfrm>
            <a:off x="6922996" y="1667541"/>
            <a:ext cx="0" cy="1510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6024B759-0245-584A-95CA-1FBE99A22327}"/>
              </a:ext>
            </a:extLst>
          </p:cNvPr>
          <p:cNvGrpSpPr/>
          <p:nvPr/>
        </p:nvGrpSpPr>
        <p:grpSpPr>
          <a:xfrm>
            <a:off x="1128384" y="2866502"/>
            <a:ext cx="1843637" cy="1527648"/>
            <a:chOff x="2719572" y="1536945"/>
            <a:chExt cx="1289076" cy="305400"/>
          </a:xfrm>
        </p:grpSpPr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6A0AAFB1-BCFE-A391-85B9-BBDFA8B446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A41F5E83-01E3-5654-1D13-95429FF3DC55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9DDF4002-DC12-E055-D57B-9A420412E12D}"/>
                  </a:ext>
                </a:extLst>
              </p:cNvPr>
              <p:cNvSpPr txBox="1"/>
              <p:nvPr/>
            </p:nvSpPr>
            <p:spPr>
              <a:xfrm>
                <a:off x="255768" y="4377787"/>
                <a:ext cx="144700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9DDF4002-DC12-E055-D57B-9A420412E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68" y="4377787"/>
                <a:ext cx="1447007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0EA1C71A-304F-C75E-AF4E-0A6C9B95F4FB}"/>
                  </a:ext>
                </a:extLst>
              </p:cNvPr>
              <p:cNvSpPr txBox="1"/>
              <p:nvPr/>
            </p:nvSpPr>
            <p:spPr>
              <a:xfrm>
                <a:off x="1771564" y="4427405"/>
                <a:ext cx="232286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0EA1C71A-304F-C75E-AF4E-0A6C9B95F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564" y="4427405"/>
                <a:ext cx="2322867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C6503C36-7FD5-F491-6D2E-6C39315C2187}"/>
              </a:ext>
            </a:extLst>
          </p:cNvPr>
          <p:cNvGrpSpPr/>
          <p:nvPr/>
        </p:nvGrpSpPr>
        <p:grpSpPr>
          <a:xfrm>
            <a:off x="4365844" y="4103992"/>
            <a:ext cx="1677849" cy="346128"/>
            <a:chOff x="2719572" y="1536945"/>
            <a:chExt cx="1289076" cy="305400"/>
          </a:xfrm>
        </p:grpSpPr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07A7E073-1A96-35BA-9DCF-25FAEA9485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44FE817B-F0CA-DF20-CA68-5630D7BA936C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4025D023-24D7-911C-EA69-98E4B428EAE1}"/>
              </a:ext>
            </a:extLst>
          </p:cNvPr>
          <p:cNvGrpSpPr/>
          <p:nvPr/>
        </p:nvGrpSpPr>
        <p:grpSpPr>
          <a:xfrm>
            <a:off x="2209078" y="2136635"/>
            <a:ext cx="2762433" cy="481745"/>
            <a:chOff x="8002301" y="4581613"/>
            <a:chExt cx="1289076" cy="305400"/>
          </a:xfrm>
        </p:grpSpPr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EFAFECE9-D100-016E-14EB-B087B2C0E4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2301" y="4581613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mit Pfeil 52">
              <a:extLst>
                <a:ext uri="{FF2B5EF4-FFF2-40B4-BE49-F238E27FC236}">
                  <a16:creationId xmlns:a16="http://schemas.microsoft.com/office/drawing/2014/main" id="{3B6585EE-42F8-DA29-B03F-1E9D9B021A87}"/>
                </a:ext>
              </a:extLst>
            </p:cNvPr>
            <p:cNvCxnSpPr>
              <a:cxnSpLocks/>
            </p:cNvCxnSpPr>
            <p:nvPr/>
          </p:nvCxnSpPr>
          <p:spPr>
            <a:xfrm>
              <a:off x="8641787" y="4581613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32F34D86-DE31-25CE-057E-D851B9BC0D4C}"/>
                  </a:ext>
                </a:extLst>
              </p:cNvPr>
              <p:cNvSpPr txBox="1"/>
              <p:nvPr/>
            </p:nvSpPr>
            <p:spPr>
              <a:xfrm>
                <a:off x="4109999" y="4452235"/>
                <a:ext cx="885102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32F34D86-DE31-25CE-057E-D851B9BC0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999" y="4452235"/>
                <a:ext cx="885102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3E0D5529-B228-DD80-E287-2980B02418B3}"/>
                  </a:ext>
                </a:extLst>
              </p:cNvPr>
              <p:cNvSpPr txBox="1"/>
              <p:nvPr/>
            </p:nvSpPr>
            <p:spPr>
              <a:xfrm>
                <a:off x="5564017" y="4443214"/>
                <a:ext cx="841110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3E0D5529-B228-DD80-E287-2980B0241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4017" y="4443214"/>
                <a:ext cx="841110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49649FEE-F4D0-3CC0-B563-DD56D0D28311}"/>
              </a:ext>
            </a:extLst>
          </p:cNvPr>
          <p:cNvGrpSpPr/>
          <p:nvPr/>
        </p:nvGrpSpPr>
        <p:grpSpPr>
          <a:xfrm>
            <a:off x="7535690" y="4103992"/>
            <a:ext cx="1677849" cy="346128"/>
            <a:chOff x="2719572" y="1536945"/>
            <a:chExt cx="1289076" cy="305400"/>
          </a:xfrm>
        </p:grpSpPr>
        <p:cxnSp>
          <p:nvCxnSpPr>
            <p:cNvPr id="58" name="Gerade Verbindung mit Pfeil 57">
              <a:extLst>
                <a:ext uri="{FF2B5EF4-FFF2-40B4-BE49-F238E27FC236}">
                  <a16:creationId xmlns:a16="http://schemas.microsoft.com/office/drawing/2014/main" id="{4FFC3366-C9F6-DB2B-BE73-6C00D9BA03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 Verbindung mit Pfeil 58">
              <a:extLst>
                <a:ext uri="{FF2B5EF4-FFF2-40B4-BE49-F238E27FC236}">
                  <a16:creationId xmlns:a16="http://schemas.microsoft.com/office/drawing/2014/main" id="{5BF45602-2F67-4168-59E4-A3998969C4C6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77C6E6CC-42F5-BE06-70A0-D9AD39033837}"/>
                  </a:ext>
                </a:extLst>
              </p:cNvPr>
              <p:cNvSpPr txBox="1"/>
              <p:nvPr/>
            </p:nvSpPr>
            <p:spPr>
              <a:xfrm>
                <a:off x="7126002" y="4510970"/>
                <a:ext cx="885102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77C6E6CC-42F5-BE06-70A0-D9AD39033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002" y="4510970"/>
                <a:ext cx="885102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98C4BAEE-E59A-9693-1E67-65291EDBDE33}"/>
                  </a:ext>
                </a:extLst>
              </p:cNvPr>
              <p:cNvSpPr txBox="1"/>
              <p:nvPr/>
            </p:nvSpPr>
            <p:spPr>
              <a:xfrm>
                <a:off x="8878121" y="4495632"/>
                <a:ext cx="841110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98C4BAEE-E59A-9693-1E67-65291EDBD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8121" y="4495632"/>
                <a:ext cx="841110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feld 61">
            <a:extLst>
              <a:ext uri="{FF2B5EF4-FFF2-40B4-BE49-F238E27FC236}">
                <a16:creationId xmlns:a16="http://schemas.microsoft.com/office/drawing/2014/main" id="{5CCF68E2-CE13-5735-609B-5C127D7431F9}"/>
              </a:ext>
            </a:extLst>
          </p:cNvPr>
          <p:cNvSpPr txBox="1"/>
          <p:nvPr/>
        </p:nvSpPr>
        <p:spPr>
          <a:xfrm>
            <a:off x="3985946" y="4726345"/>
            <a:ext cx="985565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448" name="Gerade Verbindung mit Pfeil 447">
            <a:extLst>
              <a:ext uri="{FF2B5EF4-FFF2-40B4-BE49-F238E27FC236}">
                <a16:creationId xmlns:a16="http://schemas.microsoft.com/office/drawing/2014/main" id="{AE475B88-AB1E-D266-5235-BF5F930BE90D}"/>
              </a:ext>
            </a:extLst>
          </p:cNvPr>
          <p:cNvCxnSpPr>
            <a:cxnSpLocks/>
          </p:cNvCxnSpPr>
          <p:nvPr/>
        </p:nvCxnSpPr>
        <p:spPr>
          <a:xfrm>
            <a:off x="5985093" y="5026525"/>
            <a:ext cx="0" cy="18834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Gerade Verbindung mit Pfeil 450">
            <a:extLst>
              <a:ext uri="{FF2B5EF4-FFF2-40B4-BE49-F238E27FC236}">
                <a16:creationId xmlns:a16="http://schemas.microsoft.com/office/drawing/2014/main" id="{9B9EE9F6-5702-287C-F8A2-654F20C07D1A}"/>
              </a:ext>
            </a:extLst>
          </p:cNvPr>
          <p:cNvCxnSpPr>
            <a:cxnSpLocks/>
          </p:cNvCxnSpPr>
          <p:nvPr/>
        </p:nvCxnSpPr>
        <p:spPr>
          <a:xfrm>
            <a:off x="3711285" y="1618861"/>
            <a:ext cx="0" cy="18834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2" name="Textfeld 451">
            <a:extLst>
              <a:ext uri="{FF2B5EF4-FFF2-40B4-BE49-F238E27FC236}">
                <a16:creationId xmlns:a16="http://schemas.microsoft.com/office/drawing/2014/main" id="{5D421AAA-9B99-3AB1-4154-51F42D98E6B2}"/>
              </a:ext>
            </a:extLst>
          </p:cNvPr>
          <p:cNvSpPr txBox="1"/>
          <p:nvPr/>
        </p:nvSpPr>
        <p:spPr>
          <a:xfrm>
            <a:off x="10397560" y="755128"/>
            <a:ext cx="1570028" cy="281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non-parametric tests </a:t>
            </a:r>
          </a:p>
        </p:txBody>
      </p:sp>
      <p:sp>
        <p:nvSpPr>
          <p:cNvPr id="453" name="Textfeld 452">
            <a:extLst>
              <a:ext uri="{FF2B5EF4-FFF2-40B4-BE49-F238E27FC236}">
                <a16:creationId xmlns:a16="http://schemas.microsoft.com/office/drawing/2014/main" id="{9D680ABF-B40E-64A8-8CA2-ADD967E39ABF}"/>
              </a:ext>
            </a:extLst>
          </p:cNvPr>
          <p:cNvSpPr txBox="1"/>
          <p:nvPr/>
        </p:nvSpPr>
        <p:spPr>
          <a:xfrm>
            <a:off x="10397560" y="363097"/>
            <a:ext cx="1570028" cy="281831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parametric tests</a:t>
            </a:r>
          </a:p>
        </p:txBody>
      </p:sp>
      <p:sp>
        <p:nvSpPr>
          <p:cNvPr id="454" name="Textfeld 453">
            <a:extLst>
              <a:ext uri="{FF2B5EF4-FFF2-40B4-BE49-F238E27FC236}">
                <a16:creationId xmlns:a16="http://schemas.microsoft.com/office/drawing/2014/main" id="{91CC0555-9927-4C62-300B-210270F9CD9D}"/>
              </a:ext>
            </a:extLst>
          </p:cNvPr>
          <p:cNvSpPr txBox="1"/>
          <p:nvPr/>
        </p:nvSpPr>
        <p:spPr>
          <a:xfrm>
            <a:off x="9895982" y="95451"/>
            <a:ext cx="1091245" cy="28183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pPr algn="l"/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Colour code: </a:t>
            </a:r>
          </a:p>
        </p:txBody>
      </p:sp>
      <p:sp>
        <p:nvSpPr>
          <p:cNvPr id="455" name="Rechteck 454">
            <a:extLst>
              <a:ext uri="{FF2B5EF4-FFF2-40B4-BE49-F238E27FC236}">
                <a16:creationId xmlns:a16="http://schemas.microsoft.com/office/drawing/2014/main" id="{3E5F604F-EE46-86FF-7411-4BCCBA43E137}"/>
              </a:ext>
            </a:extLst>
          </p:cNvPr>
          <p:cNvSpPr/>
          <p:nvPr/>
        </p:nvSpPr>
        <p:spPr>
          <a:xfrm>
            <a:off x="9895982" y="69742"/>
            <a:ext cx="2226287" cy="176559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7" name="Textfeld 456">
                <a:extLst>
                  <a:ext uri="{FF2B5EF4-FFF2-40B4-BE49-F238E27FC236}">
                    <a16:creationId xmlns:a16="http://schemas.microsoft.com/office/drawing/2014/main" id="{E47FDE1A-B498-6B59-C66D-9D00864C40C7}"/>
                  </a:ext>
                </a:extLst>
              </p:cNvPr>
              <p:cNvSpPr txBox="1"/>
              <p:nvPr/>
            </p:nvSpPr>
            <p:spPr>
              <a:xfrm>
                <a:off x="9967933" y="1268868"/>
                <a:ext cx="208238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GB" sz="1200" noProof="0" dirty="0" err="1">
                    <a:latin typeface="Courier New" panose="02070309020205020404" pitchFamily="49" charset="0"/>
                    <a:ea typeface="CMU Bright Roman" panose="02000603000000000000" pitchFamily="2" charset="0"/>
                    <a:cs typeface="Courier New" panose="02070309020205020404" pitchFamily="49" charset="0"/>
                  </a:rPr>
                  <a:t>conf.level</a:t>
                </a:r>
                <a:r>
                  <a:rPr lang="en-GB" sz="800" noProof="0" dirty="0">
                    <a:latin typeface="CMU Bright Roman" panose="02000603000000000000" pitchFamily="2" charset="0"/>
                    <a:ea typeface="CMU Bright Roman" panose="02000603000000000000" pitchFamily="2" charset="0"/>
                    <a:cs typeface="CMU Bright Roman" panose="02000603000000000000" pitchFamily="2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-value of level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</m:t>
                    </m:r>
                  </m:oMath>
                </a14:m>
                <a:endParaRPr lang="en-GB" sz="1200" noProof="0" dirty="0">
                  <a:latin typeface="CMU Bright Roman" panose="02000603000000000000" pitchFamily="2" charset="0"/>
                  <a:ea typeface="CMU Bright Roman" panose="02000603000000000000" pitchFamily="2" charset="0"/>
                  <a:cs typeface="CMU Bright Roman" panose="02000603000000000000" pitchFamily="2" charset="0"/>
                </a:endParaRPr>
              </a:p>
            </p:txBody>
          </p:sp>
        </mc:Choice>
        <mc:Fallback>
          <p:sp>
            <p:nvSpPr>
              <p:cNvPr id="457" name="Textfeld 456">
                <a:extLst>
                  <a:ext uri="{FF2B5EF4-FFF2-40B4-BE49-F238E27FC236}">
                    <a16:creationId xmlns:a16="http://schemas.microsoft.com/office/drawing/2014/main" id="{E47FDE1A-B498-6B59-C66D-9D00864C4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7933" y="1268868"/>
                <a:ext cx="2082384" cy="461665"/>
              </a:xfrm>
              <a:prstGeom prst="rect">
                <a:avLst/>
              </a:prstGeom>
              <a:blipFill>
                <a:blip r:embed="rId16"/>
                <a:stretch>
                  <a:fillRect b="-78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8" name="Gerade Verbindung mit Pfeil 457">
            <a:extLst>
              <a:ext uri="{FF2B5EF4-FFF2-40B4-BE49-F238E27FC236}">
                <a16:creationId xmlns:a16="http://schemas.microsoft.com/office/drawing/2014/main" id="{FB594199-4842-336C-C6AB-F270575BA874}"/>
              </a:ext>
            </a:extLst>
          </p:cNvPr>
          <p:cNvCxnSpPr>
            <a:cxnSpLocks/>
          </p:cNvCxnSpPr>
          <p:nvPr/>
        </p:nvCxnSpPr>
        <p:spPr>
          <a:xfrm>
            <a:off x="5167429" y="2928706"/>
            <a:ext cx="0" cy="18834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820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accent4">
            <a:alpha val="19758"/>
          </a:schemeClr>
        </a:solidFill>
        <a:ln w="12700">
          <a:noFill/>
        </a:ln>
      </a:spPr>
      <a:bodyPr wrap="square">
        <a:spAutoFit/>
      </a:bodyPr>
      <a:lstStyle>
        <a:defPPr algn="ctr">
          <a:defRPr sz="800" noProof="0" dirty="0" smtClean="0">
            <a:latin typeface="Calibri" panose="020F0502020204030204" pitchFamily="34" charset="0"/>
            <a:ea typeface="Cambria Math" panose="02040503050406030204" pitchFamily="18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28DB25-49C7-9C48-9DEB-221973F78786}">
  <we:reference id="wa104381909" version="3.1.0.0" store="en-US" storeType="OMEX"/>
  <we:alternateReferences>
    <we:reference id="WA104381909" version="3.1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</Words>
  <Application>Microsoft Macintosh PowerPoint</Application>
  <PresentationFormat>Breitbild</PresentationFormat>
  <Paragraphs>115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CMU Bright Roman</vt:lpstr>
      <vt:lpstr>Courier New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trees</dc:title>
  <dc:creator>Schilling Sabine HSLU W</dc:creator>
  <cp:lastModifiedBy>Schilling Sabine HSLU W</cp:lastModifiedBy>
  <cp:revision>36</cp:revision>
  <dcterms:created xsi:type="dcterms:W3CDTF">2023-05-08T12:12:17Z</dcterms:created>
  <dcterms:modified xsi:type="dcterms:W3CDTF">2025-12-28T14:27:18Z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b0afbd-3cf7-4707-aee4-8dc9d855de29_Enabled">
    <vt:lpwstr>true</vt:lpwstr>
  </property>
  <property fmtid="{D5CDD505-2E9C-101B-9397-08002B2CF9AE}" pid="3" name="MSIP_Label_e8b0afbd-3cf7-4707-aee4-8dc9d855de29_SetDate">
    <vt:lpwstr>2025-05-10T09:29:47Z</vt:lpwstr>
  </property>
  <property fmtid="{D5CDD505-2E9C-101B-9397-08002B2CF9AE}" pid="4" name="MSIP_Label_e8b0afbd-3cf7-4707-aee4-8dc9d855de29_Method">
    <vt:lpwstr>Privileged</vt:lpwstr>
  </property>
  <property fmtid="{D5CDD505-2E9C-101B-9397-08002B2CF9AE}" pid="5" name="MSIP_Label_e8b0afbd-3cf7-4707-aee4-8dc9d855de29_Name">
    <vt:lpwstr>intern</vt:lpwstr>
  </property>
  <property fmtid="{D5CDD505-2E9C-101B-9397-08002B2CF9AE}" pid="6" name="MSIP_Label_e8b0afbd-3cf7-4707-aee4-8dc9d855de29_SiteId">
    <vt:lpwstr>75a34008-d7d1-4924-8e78-31fea86f6e68</vt:lpwstr>
  </property>
  <property fmtid="{D5CDD505-2E9C-101B-9397-08002B2CF9AE}" pid="7" name="MSIP_Label_e8b0afbd-3cf7-4707-aee4-8dc9d855de29_ActionId">
    <vt:lpwstr>8647766f-e017-41ca-968f-3e61e90fbd83</vt:lpwstr>
  </property>
  <property fmtid="{D5CDD505-2E9C-101B-9397-08002B2CF9AE}" pid="8" name="MSIP_Label_e8b0afbd-3cf7-4707-aee4-8dc9d855de29_ContentBits">
    <vt:lpwstr>0</vt:lpwstr>
  </property>
  <property fmtid="{D5CDD505-2E9C-101B-9397-08002B2CF9AE}" pid="9" name="MSIP_Label_e8b0afbd-3cf7-4707-aee4-8dc9d855de29_Tag">
    <vt:lpwstr>50, 0, 1, 1</vt:lpwstr>
  </property>
</Properties>
</file>