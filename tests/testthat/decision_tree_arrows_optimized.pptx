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0EEB4-9FF9-9B45-8469-A124DB115A73}" v="39" dt="2026-05-13T22:03:30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9412"/>
  </p:normalViewPr>
  <p:slideViewPr>
    <p:cSldViewPr snapToGrid="0" snapToObjects="1" showGuides="1">
      <p:cViewPr>
        <p:scale>
          <a:sx n="178" d="100"/>
          <a:sy n="178" d="100"/>
        </p:scale>
        <p:origin x="-4512" y="-2728"/>
      </p:cViewPr>
      <p:guideLst>
        <p:guide orient="horz" pos="2273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undo custSel delSld modSld">
      <pc:chgData name="Schilling Sabine HSLU W" userId="b0e2af5c-9187-4900-883a-c96514cd8e15" providerId="ADAL" clId="{5E51067F-94D7-505D-9735-0698788361AC}" dt="2026-05-13T22:03:30.799" v="1182" actId="20577"/>
      <pc:docMkLst>
        <pc:docMk/>
      </pc:docMkLst>
      <pc:sldChg chg="addSp delSp modSp mod">
        <pc:chgData name="Schilling Sabine HSLU W" userId="b0e2af5c-9187-4900-883a-c96514cd8e15" providerId="ADAL" clId="{5E51067F-94D7-505D-9735-0698788361AC}" dt="2026-05-13T22:03:30.799" v="1182" actId="20577"/>
        <pc:sldMkLst>
          <pc:docMk/>
          <pc:sldMk cId="592820548" sldId="267"/>
        </pc:sldMkLst>
        <pc:spChg chg="mod">
          <ac:chgData name="Schilling Sabine HSLU W" userId="b0e2af5c-9187-4900-883a-c96514cd8e15" providerId="ADAL" clId="{5E51067F-94D7-505D-9735-0698788361AC}" dt="2026-05-04T13:43:20.837" v="829" actId="1076"/>
          <ac:spMkLst>
            <pc:docMk/>
            <pc:sldMk cId="592820548" sldId="267"/>
            <ac:spMk id="2" creationId="{450570A0-E57C-AAA8-B3DD-EEE2B1F40B40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3" creationId="{4176BE39-0DC3-4460-A1E3-B164CF21631E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4" creationId="{9B76B0ED-5429-C912-842E-CDB7822669E7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7" creationId="{1CFA9C82-560E-0334-1BB1-9FD4E0F70506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10" creationId="{A96C0ED5-86FD-C69F-7040-AA1BEEA2F5DF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15" creationId="{F6AAEE37-561B-2614-4B82-BA3E31A1445D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23" creationId="{EAA44F0D-CC8D-6089-131A-2E1FE6EFFBE2}"/>
          </ac:spMkLst>
        </pc:spChg>
        <pc:spChg chg="mod topLvl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24" creationId="{9DDF4002-DC12-E055-D57B-9A420412E12D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25" creationId="{0EA1C71A-304F-C75E-AF4E-0A6C9B95F4FB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27" creationId="{0BBD0A08-95D2-F972-F4D4-79B7324DC9BB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29" creationId="{38C66D2F-9E14-7C8B-5D2A-1F7912FEFB00}"/>
          </ac:spMkLst>
        </pc:spChg>
        <pc:spChg chg="mod">
          <ac:chgData name="Schilling Sabine HSLU W" userId="b0e2af5c-9187-4900-883a-c96514cd8e15" providerId="ADAL" clId="{5E51067F-94D7-505D-9735-0698788361AC}" dt="2026-05-13T22:03:30.799" v="1182" actId="20577"/>
          <ac:spMkLst>
            <pc:docMk/>
            <pc:sldMk cId="592820548" sldId="267"/>
            <ac:spMk id="30" creationId="{CA4581C7-C3B0-54FA-EF00-228EC57A3E10}"/>
          </ac:spMkLst>
        </pc:spChg>
        <pc:spChg chg="mod topLvl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32" creationId="{274C6E35-BABE-7694-0978-CD95FB70192A}"/>
          </ac:spMkLst>
        </pc:spChg>
        <pc:spChg chg="mod">
          <ac:chgData name="Schilling Sabine HSLU W" userId="b0e2af5c-9187-4900-883a-c96514cd8e15" providerId="ADAL" clId="{5E51067F-94D7-505D-9735-0698788361AC}" dt="2026-05-04T13:40:41.158" v="810" actId="20577"/>
          <ac:spMkLst>
            <pc:docMk/>
            <pc:sldMk cId="592820548" sldId="267"/>
            <ac:spMk id="39" creationId="{25D3B015-9B60-7B1A-E90A-F3C27F59AD30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55" creationId="{32F34D86-DE31-25CE-057E-D851B9BC0D4C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56" creationId="{3E0D5529-B228-DD80-E287-2980B02418B3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60" creationId="{77C6E6CC-42F5-BE06-70A0-D9AD39033837}"/>
          </ac:spMkLst>
        </pc:spChg>
        <pc:spChg chg="mod">
          <ac:chgData name="Schilling Sabine HSLU W" userId="b0e2af5c-9187-4900-883a-c96514cd8e15" providerId="ADAL" clId="{5E51067F-94D7-505D-9735-0698788361AC}" dt="2026-05-04T13:38:24.028" v="793" actId="20577"/>
          <ac:spMkLst>
            <pc:docMk/>
            <pc:sldMk cId="592820548" sldId="267"/>
            <ac:spMk id="61" creationId="{98C4BAEE-E59A-9693-1E67-65291EDBDE33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62" creationId="{5CCF68E2-CE13-5735-609B-5C127D7431F9}"/>
          </ac:spMkLst>
        </pc:spChg>
        <pc:spChg chg="mod">
          <ac:chgData name="Schilling Sabine HSLU W" userId="b0e2af5c-9187-4900-883a-c96514cd8e15" providerId="ADAL" clId="{5E51067F-94D7-505D-9735-0698788361AC}" dt="2026-05-13T22:01:58.658" v="1161" actId="20577"/>
          <ac:spMkLst>
            <pc:docMk/>
            <pc:sldMk cId="592820548" sldId="267"/>
            <ac:spMk id="82" creationId="{DB1D11B9-7DA9-707E-F6E3-B35B8A7B85EA}"/>
          </ac:spMkLst>
        </pc:spChg>
        <pc:spChg chg="mod topLvl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88" creationId="{427A10DA-9FC5-57E8-5BBB-30CA10031A9C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93" creationId="{74A3E3BE-C2F2-8A60-46BA-B43DEC661C89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94" creationId="{9D6DD951-0BCF-B830-BA0E-BD736C52D67E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160" creationId="{69771035-549E-AC26-2C17-18F5675C2C77}"/>
          </ac:spMkLst>
        </pc:spChg>
        <pc:spChg chg="mod">
          <ac:chgData name="Schilling Sabine HSLU W" userId="b0e2af5c-9187-4900-883a-c96514cd8e15" providerId="ADAL" clId="{5E51067F-94D7-505D-9735-0698788361AC}" dt="2026-05-04T13:43:17.412" v="828" actId="1076"/>
          <ac:spMkLst>
            <pc:docMk/>
            <pc:sldMk cId="592820548" sldId="267"/>
            <ac:spMk id="453" creationId="{9D680ABF-B40E-64A8-8CA2-ADD967E39ABF}"/>
          </ac:spMkLst>
        </pc:spChg>
        <pc:spChg chg="mod">
          <ac:chgData name="Schilling Sabine HSLU W" userId="b0e2af5c-9187-4900-883a-c96514cd8e15" providerId="ADAL" clId="{5E51067F-94D7-505D-9735-0698788361AC}" dt="2026-05-04T13:43:13.720" v="827" actId="1076"/>
          <ac:spMkLst>
            <pc:docMk/>
            <pc:sldMk cId="592820548" sldId="267"/>
            <ac:spMk id="454" creationId="{91CC0555-9927-4C62-300B-210270F9CD9D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455" creationId="{3E5F604F-EE46-86FF-7411-4BCCBA43E137}"/>
          </ac:spMkLst>
        </pc:spChg>
        <pc:spChg chg="mod">
          <ac:chgData name="Schilling Sabine HSLU W" userId="b0e2af5c-9187-4900-883a-c96514cd8e15" providerId="ADAL" clId="{5E51067F-94D7-505D-9735-0698788361AC}" dt="2026-05-13T22:03:05.464" v="1171"/>
          <ac:spMkLst>
            <pc:docMk/>
            <pc:sldMk cId="592820548" sldId="267"/>
            <ac:spMk id="457" creationId="{E47FDE1A-B498-6B59-C66D-9D00864C40C7}"/>
          </ac:spMkLst>
        </pc:spChg>
        <pc:grpChg chg="mod">
          <ac:chgData name="Schilling Sabine HSLU W" userId="b0e2af5c-9187-4900-883a-c96514cd8e15" providerId="ADAL" clId="{5E51067F-94D7-505D-9735-0698788361AC}" dt="2026-05-11T14:13:30.970" v="850" actId="1038"/>
          <ac:grpSpMkLst>
            <pc:docMk/>
            <pc:sldMk cId="592820548" sldId="267"/>
            <ac:grpSpMk id="9" creationId="{187C39A3-A174-52AC-CD73-6D828A52F04A}"/>
          </ac:grpSpMkLst>
        </pc:grpChg>
        <pc:cxnChg chg="add mod">
          <ac:chgData name="Schilling Sabine HSLU W" userId="b0e2af5c-9187-4900-883a-c96514cd8e15" providerId="ADAL" clId="{5E51067F-94D7-505D-9735-0698788361AC}" dt="2026-05-11T14:26:38.487" v="1144" actId="1035"/>
          <ac:cxnSpMkLst>
            <pc:docMk/>
            <pc:sldMk cId="592820548" sldId="267"/>
            <ac:cxnSpMk id="11" creationId="{49A3AE00-9BB2-C9E1-3306-F4DC55F07649}"/>
          </ac:cxnSpMkLst>
        </pc:cxnChg>
        <pc:cxnChg chg="add mod">
          <ac:chgData name="Schilling Sabine HSLU W" userId="b0e2af5c-9187-4900-883a-c96514cd8e15" providerId="ADAL" clId="{5E51067F-94D7-505D-9735-0698788361AC}" dt="2026-05-11T14:26:38.487" v="1144" actId="1035"/>
          <ac:cxnSpMkLst>
            <pc:docMk/>
            <pc:sldMk cId="592820548" sldId="267"/>
            <ac:cxnSpMk id="13" creationId="{8C20A78F-E4FB-C38A-458D-C8E8F7B160D2}"/>
          </ac:cxnSpMkLst>
        </pc:cxnChg>
        <pc:cxnChg chg="mod">
          <ac:chgData name="Schilling Sabine HSLU W" userId="b0e2af5c-9187-4900-883a-c96514cd8e15" providerId="ADAL" clId="{5E51067F-94D7-505D-9735-0698788361AC}" dt="2026-05-11T14:25:12.005" v="1028" actId="1038"/>
          <ac:cxnSpMkLst>
            <pc:docMk/>
            <pc:sldMk cId="592820548" sldId="267"/>
            <ac:cxnSpMk id="458" creationId="{FB594199-4842-336C-C6AB-F270575BA874}"/>
          </ac:cxnSpMkLst>
        </pc:cxnChg>
        <pc:cxnChg chg="mod">
          <ac:chgData name="Schilling Sabine HSLU W" userId="b0e2af5c-9187-4900-883a-c96514cd8e15" providerId="ADAL" clId="{5E51067F-94D7-505D-9735-0698788361AC}" dt="2026-05-11T14:22:01.503" v="886" actId="555"/>
          <ac:cxnSpMkLst>
            <pc:docMk/>
            <pc:sldMk cId="592820548" sldId="267"/>
            <ac:cxnSpMk id="511" creationId="{9840289F-EBDC-80F4-2B45-B5F2274BB56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184C-C4BD-BB61-D66B-24B916B3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818C13-3D2D-35E3-FF9A-4C24E1DE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DE5185-7996-6C26-5369-88D6B2B8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F05A4-D8C9-67DF-332B-05E1207AD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37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6C71-467C-2908-108E-4FFF1E66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7C39A3-A174-52AC-CD73-6D828A52F04A}"/>
              </a:ext>
            </a:extLst>
          </p:cNvPr>
          <p:cNvGrpSpPr/>
          <p:nvPr/>
        </p:nvGrpSpPr>
        <p:grpSpPr>
          <a:xfrm>
            <a:off x="-103998" y="288697"/>
            <a:ext cx="12251028" cy="5465970"/>
            <a:chOff x="176103" y="696015"/>
            <a:chExt cx="12251028" cy="5465970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68FF5E1-F079-DF9D-FD7C-E268420CF978}"/>
                </a:ext>
              </a:extLst>
            </p:cNvPr>
            <p:cNvSpPr txBox="1"/>
            <p:nvPr/>
          </p:nvSpPr>
          <p:spPr>
            <a:xfrm>
              <a:off x="2935775" y="2530608"/>
              <a:ext cx="2869601" cy="276999"/>
            </a:xfrm>
            <a:prstGeom prst="rect">
              <a:avLst/>
            </a:prstGeom>
            <a:solidFill>
              <a:schemeClr val="accent2">
                <a:alpha val="19906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shapiro.test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of residuals</a:t>
              </a:r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60" name="Textfeld 159">
              <a:extLst>
                <a:ext uri="{FF2B5EF4-FFF2-40B4-BE49-F238E27FC236}">
                  <a16:creationId xmlns:a16="http://schemas.microsoft.com/office/drawing/2014/main" id="{69771035-549E-AC26-2C17-18F5675C2C77}"/>
                </a:ext>
              </a:extLst>
            </p:cNvPr>
            <p:cNvSpPr txBox="1"/>
            <p:nvPr/>
          </p:nvSpPr>
          <p:spPr>
            <a:xfrm>
              <a:off x="10687409" y="2843425"/>
              <a:ext cx="17349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Check normality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CFA9C82-560E-0334-1BB1-9FD4E0F70506}"/>
                    </a:ext>
                  </a:extLst>
                </p:cNvPr>
                <p:cNvSpPr txBox="1"/>
                <p:nvPr/>
              </p:nvSpPr>
              <p:spPr>
                <a:xfrm>
                  <a:off x="3829837" y="714371"/>
                  <a:ext cx="5594111" cy="46166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</a:t>
                  </a:r>
                  <a:r>
                    <a:rPr lang="en-GB" sz="1200" noProof="0" dirty="0" err="1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ategorical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predictor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levels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umeric response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CFA9C82-560E-0334-1BB1-9FD4E0F70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9837" y="714371"/>
                  <a:ext cx="559411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7895"/>
                  </a:stretch>
                </a:blip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6AAEE37-561B-2614-4B82-BA3E31A1445D}"/>
                    </a:ext>
                  </a:extLst>
                </p:cNvPr>
                <p:cNvSpPr txBox="1"/>
                <p:nvPr/>
              </p:nvSpPr>
              <p:spPr>
                <a:xfrm>
                  <a:off x="2935776" y="1958303"/>
                  <a:ext cx="2865165" cy="27699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</a:t>
                  </a:r>
                  <a14:m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for all  </a:t>
                  </a:r>
                  <a14:m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𝑖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=1,…,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6AAEE37-561B-2614-4B82-BA3E31A14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5776" y="1958303"/>
                  <a:ext cx="2865165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869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EAA44F0D-CC8D-6089-131A-2E1FE6EFFBE2}"/>
                </a:ext>
              </a:extLst>
            </p:cNvPr>
            <p:cNvSpPr txBox="1"/>
            <p:nvPr/>
          </p:nvSpPr>
          <p:spPr>
            <a:xfrm>
              <a:off x="306876" y="5348377"/>
              <a:ext cx="1455624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wilcox.test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BBD0A08-95D2-F972-F4D4-79B7324DC9BB}"/>
                </a:ext>
              </a:extLst>
            </p:cNvPr>
            <p:cNvSpPr txBox="1"/>
            <p:nvPr/>
          </p:nvSpPr>
          <p:spPr>
            <a:xfrm>
              <a:off x="1822802" y="5348377"/>
              <a:ext cx="2352360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kruskal.test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38C66D2F-9E14-7C8B-5D2A-1F7912FEFB00}"/>
                    </a:ext>
                  </a:extLst>
                </p:cNvPr>
                <p:cNvSpPr txBox="1"/>
                <p:nvPr/>
              </p:nvSpPr>
              <p:spPr>
                <a:xfrm>
                  <a:off x="8165541" y="4453323"/>
                  <a:ext cx="1086431" cy="2772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200" b="0" i="1" baseline="-250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38C66D2F-9E14-7C8B-5D2A-1F7912FEFB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541" y="4453323"/>
                  <a:ext cx="1086431" cy="2772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CA4581C7-C3B0-54FA-EF00-228EC57A3E10}"/>
                    </a:ext>
                  </a:extLst>
                </p:cNvPr>
                <p:cNvSpPr txBox="1"/>
                <p:nvPr/>
              </p:nvSpPr>
              <p:spPr>
                <a:xfrm>
                  <a:off x="4843821" y="4484616"/>
                  <a:ext cx="1086431" cy="461665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nor/>
                          </m:rPr>
                          <a:rPr lang="en-GB" sz="1200" dirty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 b="0" i="0" dirty="0" smtClean="0">
                            <a:latin typeface="Calibri" panose="020F0502020204030204" pitchFamily="34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&lt;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  <a:p>
                  <a:pPr algn="ctr"/>
                  <a14:m/>
                </a:p>
              </p:txBody>
            </p:sp>
          </mc:Choice>
          <mc:Fallback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CA4581C7-C3B0-54FA-EF00-228EC57A3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821" y="4484616"/>
                  <a:ext cx="1086431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810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4E9381FD-69C7-430A-E209-F66858BC4F1A}"/>
                </a:ext>
              </a:extLst>
            </p:cNvPr>
            <p:cNvSpPr txBox="1"/>
            <p:nvPr/>
          </p:nvSpPr>
          <p:spPr>
            <a:xfrm>
              <a:off x="5270268" y="5367256"/>
              <a:ext cx="1555285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oneway.test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274C6E35-BABE-7694-0978-CD95FB70192A}"/>
                </a:ext>
              </a:extLst>
            </p:cNvPr>
            <p:cNvSpPr txBox="1"/>
            <p:nvPr/>
          </p:nvSpPr>
          <p:spPr>
            <a:xfrm>
              <a:off x="9492978" y="5376299"/>
              <a:ext cx="1053655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aov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grpSp>
          <p:nvGrpSpPr>
            <p:cNvPr id="427" name="Gruppieren 426">
              <a:extLst>
                <a:ext uri="{FF2B5EF4-FFF2-40B4-BE49-F238E27FC236}">
                  <a16:creationId xmlns:a16="http://schemas.microsoft.com/office/drawing/2014/main" id="{F60B4F5F-1A5A-6983-57F2-9A558C4A2A4B}"/>
                </a:ext>
              </a:extLst>
            </p:cNvPr>
            <p:cNvGrpSpPr/>
            <p:nvPr/>
          </p:nvGrpSpPr>
          <p:grpSpPr>
            <a:xfrm>
              <a:off x="5783635" y="4151670"/>
              <a:ext cx="2856320" cy="305400"/>
              <a:chOff x="8002301" y="4581613"/>
              <a:chExt cx="1289076" cy="305400"/>
            </a:xfrm>
          </p:grpSpPr>
          <p:cxnSp>
            <p:nvCxnSpPr>
              <p:cNvPr id="85" name="Gerade Verbindung mit Pfeil 84">
                <a:extLst>
                  <a:ext uri="{FF2B5EF4-FFF2-40B4-BE49-F238E27FC236}">
                    <a16:creationId xmlns:a16="http://schemas.microsoft.com/office/drawing/2014/main" id="{7DB92D34-6BE9-8F72-335D-782116FA9D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02301" y="4581613"/>
                <a:ext cx="639486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DA797C15-DD84-EA62-E689-E0352D91B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1787" y="4581613"/>
                <a:ext cx="649590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74A3E3BE-C2F2-8A60-46BA-B43DEC661C89}"/>
                </a:ext>
              </a:extLst>
            </p:cNvPr>
            <p:cNvSpPr txBox="1"/>
            <p:nvPr/>
          </p:nvSpPr>
          <p:spPr>
            <a:xfrm>
              <a:off x="9492977" y="5884785"/>
              <a:ext cx="1124403" cy="2769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TukeyHSD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9D6DD951-0BCF-B830-BA0E-BD736C52D67E}"/>
                </a:ext>
              </a:extLst>
            </p:cNvPr>
            <p:cNvSpPr txBox="1"/>
            <p:nvPr/>
          </p:nvSpPr>
          <p:spPr>
            <a:xfrm>
              <a:off x="1802317" y="5884785"/>
              <a:ext cx="2355146" cy="2769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pairwise.wilcox.test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1BB6760B-CE33-E359-98D8-3A80AB6E2061}"/>
                </a:ext>
              </a:extLst>
            </p:cNvPr>
            <p:cNvSpPr txBox="1"/>
            <p:nvPr/>
          </p:nvSpPr>
          <p:spPr>
            <a:xfrm>
              <a:off x="6896818" y="5376365"/>
              <a:ext cx="2527130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t.test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</a:t>
              </a:r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var.equal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=TRUE)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DB1D11B9-7DA9-707E-F6E3-B35B8A7B85EA}"/>
                    </a:ext>
                  </a:extLst>
                </p:cNvPr>
                <p:cNvSpPr txBox="1"/>
                <p:nvPr/>
              </p:nvSpPr>
              <p:spPr>
                <a:xfrm>
                  <a:off x="1539813" y="3195594"/>
                  <a:ext cx="2062342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&lt; 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DB1D11B9-7DA9-707E-F6E3-B35B8A7B8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9813" y="3195594"/>
                  <a:ext cx="20623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427A10DA-9FC5-57E8-5BBB-30CA10031A9C}"/>
                    </a:ext>
                  </a:extLst>
                </p:cNvPr>
                <p:cNvSpPr txBox="1"/>
                <p:nvPr/>
              </p:nvSpPr>
              <p:spPr>
                <a:xfrm>
                  <a:off x="5072567" y="3224082"/>
                  <a:ext cx="180563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𝑆𝑊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427A10DA-9FC5-57E8-5BBB-30CA10031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2567" y="3224082"/>
                  <a:ext cx="1805631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9B76B0ED-5429-C912-842E-CDB7822669E7}"/>
                </a:ext>
              </a:extLst>
            </p:cNvPr>
            <p:cNvSpPr txBox="1"/>
            <p:nvPr/>
          </p:nvSpPr>
          <p:spPr>
            <a:xfrm>
              <a:off x="10687408" y="5884785"/>
              <a:ext cx="1739721" cy="277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Post-hoc test </a:t>
              </a:r>
            </a:p>
          </p:txBody>
        </p:sp>
        <p:sp>
          <p:nvSpPr>
            <p:cNvPr id="149" name="Textfeld 148">
              <a:extLst>
                <a:ext uri="{FF2B5EF4-FFF2-40B4-BE49-F238E27FC236}">
                  <a16:creationId xmlns:a16="http://schemas.microsoft.com/office/drawing/2014/main" id="{519BD8C5-7449-CD5B-D48B-19A9044FB288}"/>
                </a:ext>
              </a:extLst>
            </p:cNvPr>
            <p:cNvSpPr txBox="1"/>
            <p:nvPr/>
          </p:nvSpPr>
          <p:spPr>
            <a:xfrm>
              <a:off x="10687409" y="5413543"/>
              <a:ext cx="1739722" cy="276999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Final test selected </a:t>
              </a:r>
            </a:p>
          </p:txBody>
        </p:sp>
        <p:sp>
          <p:nvSpPr>
            <p:cNvPr id="159" name="Textfeld 158">
              <a:extLst>
                <a:ext uri="{FF2B5EF4-FFF2-40B4-BE49-F238E27FC236}">
                  <a16:creationId xmlns:a16="http://schemas.microsoft.com/office/drawing/2014/main" id="{E123BC7C-F283-90C7-9FF1-57E548148085}"/>
                </a:ext>
              </a:extLst>
            </p:cNvPr>
            <p:cNvSpPr txBox="1"/>
            <p:nvPr/>
          </p:nvSpPr>
          <p:spPr>
            <a:xfrm>
              <a:off x="10687409" y="3849123"/>
              <a:ext cx="1734970" cy="27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</a:t>
              </a:r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heck </a:t>
              </a:r>
              <a:r>
                <a:rPr lang="de-CH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h</a:t>
              </a:r>
              <a:r>
                <a:rPr lang="de-CH" dirty="0" err="1"/>
                <a:t>omoscedasticity</a:t>
              </a:r>
              <a:endPara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grpSp>
          <p:nvGrpSpPr>
            <p:cNvPr id="491" name="Gruppieren 490">
              <a:extLst>
                <a:ext uri="{FF2B5EF4-FFF2-40B4-BE49-F238E27FC236}">
                  <a16:creationId xmlns:a16="http://schemas.microsoft.com/office/drawing/2014/main" id="{C46745CE-C7B4-E504-43D7-3E24A8313AFE}"/>
                </a:ext>
              </a:extLst>
            </p:cNvPr>
            <p:cNvGrpSpPr/>
            <p:nvPr/>
          </p:nvGrpSpPr>
          <p:grpSpPr>
            <a:xfrm>
              <a:off x="5127020" y="1332992"/>
              <a:ext cx="1795871" cy="542165"/>
              <a:chOff x="2719572" y="1536945"/>
              <a:chExt cx="1289076" cy="305400"/>
            </a:xfrm>
          </p:grpSpPr>
          <p:cxnSp>
            <p:nvCxnSpPr>
              <p:cNvPr id="492" name="Gerade Verbindung mit Pfeil 491">
                <a:extLst>
                  <a:ext uri="{FF2B5EF4-FFF2-40B4-BE49-F238E27FC236}">
                    <a16:creationId xmlns:a16="http://schemas.microsoft.com/office/drawing/2014/main" id="{C9EA7BC2-E403-97C7-5BD2-9F31E6AA3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82151" y="1536945"/>
                <a:ext cx="669170" cy="30540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Gerade Verbindung mit Pfeil 492">
                <a:extLst>
                  <a:ext uri="{FF2B5EF4-FFF2-40B4-BE49-F238E27FC236}">
                    <a16:creationId xmlns:a16="http://schemas.microsoft.com/office/drawing/2014/main" id="{2581601F-B896-CD09-F0EE-654B1B1B42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1321" y="1536945"/>
                <a:ext cx="676275" cy="30540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9" name="Gerade Verbindung mit Pfeil 468">
              <a:extLst>
                <a:ext uri="{FF2B5EF4-FFF2-40B4-BE49-F238E27FC236}">
                  <a16:creationId xmlns:a16="http://schemas.microsoft.com/office/drawing/2014/main" id="{131015DD-CA84-ED99-C942-175FC344083F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726" y="5667436"/>
              <a:ext cx="0" cy="1888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Gerade Verbindung mit Pfeil 469">
              <a:extLst>
                <a:ext uri="{FF2B5EF4-FFF2-40B4-BE49-F238E27FC236}">
                  <a16:creationId xmlns:a16="http://schemas.microsoft.com/office/drawing/2014/main" id="{9444F9C2-945C-821C-AA18-6996A8945959}"/>
                </a:ext>
              </a:extLst>
            </p:cNvPr>
            <p:cNvCxnSpPr>
              <a:cxnSpLocks/>
            </p:cNvCxnSpPr>
            <p:nvPr/>
          </p:nvCxnSpPr>
          <p:spPr>
            <a:xfrm>
              <a:off x="2989436" y="5667436"/>
              <a:ext cx="0" cy="1888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176BE39-0DC3-4460-A1E3-B164CF21631E}"/>
                </a:ext>
              </a:extLst>
            </p:cNvPr>
            <p:cNvSpPr txBox="1"/>
            <p:nvPr/>
          </p:nvSpPr>
          <p:spPr>
            <a:xfrm>
              <a:off x="5286613" y="5884785"/>
              <a:ext cx="1555286" cy="2769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games.howell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96C0ED5-86FD-C69F-7040-AA1BEEA2F5DF}"/>
                </a:ext>
              </a:extLst>
            </p:cNvPr>
            <p:cNvSpPr txBox="1"/>
            <p:nvPr/>
          </p:nvSpPr>
          <p:spPr>
            <a:xfrm>
              <a:off x="4346747" y="3845460"/>
              <a:ext cx="6199886" cy="2808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levene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.test()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25D3B015-9B60-7B1A-E90A-F3C27F59AD30}"/>
                    </a:ext>
                  </a:extLst>
                </p:cNvPr>
                <p:cNvSpPr txBox="1"/>
                <p:nvPr/>
              </p:nvSpPr>
              <p:spPr>
                <a:xfrm>
                  <a:off x="6092023" y="1958302"/>
                  <a:ext cx="2239544" cy="27699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for all </a:t>
                  </a:r>
                  <a14:m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𝑖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=1,..,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25D3B015-9B60-7B1A-E90A-F3C27F59A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2023" y="1958302"/>
                  <a:ext cx="2239544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869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3058B38B-2ED7-9E1F-F998-9BF78ADEDC6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155" y="2308452"/>
              <a:ext cx="0" cy="15100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9DDF4002-DC12-E055-D57B-9A420412E12D}"/>
                    </a:ext>
                  </a:extLst>
                </p:cNvPr>
                <p:cNvSpPr txBox="1"/>
                <p:nvPr/>
              </p:nvSpPr>
              <p:spPr>
                <a:xfrm>
                  <a:off x="176103" y="5018698"/>
                  <a:ext cx="1455623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9DDF4002-DC12-E055-D57B-9A420412E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03" y="5018698"/>
                  <a:ext cx="145562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0EA1C71A-304F-C75E-AF4E-0A6C9B95F4FB}"/>
                    </a:ext>
                  </a:extLst>
                </p:cNvPr>
                <p:cNvSpPr txBox="1"/>
                <p:nvPr/>
              </p:nvSpPr>
              <p:spPr>
                <a:xfrm>
                  <a:off x="1798821" y="5029318"/>
                  <a:ext cx="2336699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&gt;2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0EA1C71A-304F-C75E-AF4E-0A6C9B95F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821" y="5029318"/>
                  <a:ext cx="233669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4167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C6503C36-7FD5-F491-6D2E-6C39315C2187}"/>
                </a:ext>
              </a:extLst>
            </p:cNvPr>
            <p:cNvGrpSpPr/>
            <p:nvPr/>
          </p:nvGrpSpPr>
          <p:grpSpPr>
            <a:xfrm>
              <a:off x="4591203" y="4716325"/>
              <a:ext cx="1687838" cy="346131"/>
              <a:chOff x="2697748" y="1511731"/>
              <a:chExt cx="1289074" cy="305403"/>
            </a:xfrm>
          </p:grpSpPr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07A7E073-1A96-35BA-9DCF-25FAEA948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97748" y="1511731"/>
                <a:ext cx="639486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 Verbindung mit Pfeil 41">
                <a:extLst>
                  <a:ext uri="{FF2B5EF4-FFF2-40B4-BE49-F238E27FC236}">
                    <a16:creationId xmlns:a16="http://schemas.microsoft.com/office/drawing/2014/main" id="{44FE817B-F0CA-DF20-CA68-5630D7BA9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7232" y="1511734"/>
                <a:ext cx="649590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feld 54">
                  <a:extLst>
                    <a:ext uri="{FF2B5EF4-FFF2-40B4-BE49-F238E27FC236}">
                      <a16:creationId xmlns:a16="http://schemas.microsoft.com/office/drawing/2014/main" id="{32F34D86-DE31-25CE-057E-D851B9BC0D4C}"/>
                    </a:ext>
                  </a:extLst>
                </p:cNvPr>
                <p:cNvSpPr txBox="1"/>
                <p:nvPr/>
              </p:nvSpPr>
              <p:spPr>
                <a:xfrm>
                  <a:off x="4194821" y="5033603"/>
                  <a:ext cx="890372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=2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feld 54">
                  <a:extLst>
                    <a:ext uri="{FF2B5EF4-FFF2-40B4-BE49-F238E27FC236}">
                      <a16:creationId xmlns:a16="http://schemas.microsoft.com/office/drawing/2014/main" id="{32F34D86-DE31-25CE-057E-D851B9BC0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4821" y="5033603"/>
                  <a:ext cx="890372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3E0D5529-B228-DD80-E287-2980B02418B3}"/>
                    </a:ext>
                  </a:extLst>
                </p:cNvPr>
                <p:cNvSpPr txBox="1"/>
                <p:nvPr/>
              </p:nvSpPr>
              <p:spPr>
                <a:xfrm>
                  <a:off x="5825084" y="5018698"/>
                  <a:ext cx="846119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&gt; 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3E0D5529-B228-DD80-E287-2980B0241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084" y="5018698"/>
                  <a:ext cx="846119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49649FEE-F4D0-3CC0-B563-DD56D0D28311}"/>
                </a:ext>
              </a:extLst>
            </p:cNvPr>
            <p:cNvGrpSpPr/>
            <p:nvPr/>
          </p:nvGrpSpPr>
          <p:grpSpPr>
            <a:xfrm>
              <a:off x="7894225" y="4716325"/>
              <a:ext cx="1687838" cy="346131"/>
              <a:chOff x="2785044" y="1511731"/>
              <a:chExt cx="1289074" cy="305403"/>
            </a:xfrm>
          </p:grpSpPr>
          <p:cxnSp>
            <p:nvCxnSpPr>
              <p:cNvPr id="58" name="Gerade Verbindung mit Pfeil 57">
                <a:extLst>
                  <a:ext uri="{FF2B5EF4-FFF2-40B4-BE49-F238E27FC236}">
                    <a16:creationId xmlns:a16="http://schemas.microsoft.com/office/drawing/2014/main" id="{4FFC3366-C9F6-DB2B-BE73-6C00D9BA03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5044" y="1511731"/>
                <a:ext cx="639486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 Verbindung mit Pfeil 58">
                <a:extLst>
                  <a:ext uri="{FF2B5EF4-FFF2-40B4-BE49-F238E27FC236}">
                    <a16:creationId xmlns:a16="http://schemas.microsoft.com/office/drawing/2014/main" id="{5BF45602-2F67-4168-59E4-A3998969C4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4528" y="1511734"/>
                <a:ext cx="649590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77C6E6CC-42F5-BE06-70A0-D9AD39033837}"/>
                    </a:ext>
                  </a:extLst>
                </p:cNvPr>
                <p:cNvSpPr txBox="1"/>
                <p:nvPr/>
              </p:nvSpPr>
              <p:spPr>
                <a:xfrm>
                  <a:off x="7396370" y="5018698"/>
                  <a:ext cx="890372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=2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77C6E6CC-42F5-BE06-70A0-D9AD39033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6370" y="5018698"/>
                  <a:ext cx="890372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98C4BAEE-E59A-9693-1E67-65291EDBDE33}"/>
                    </a:ext>
                  </a:extLst>
                </p:cNvPr>
                <p:cNvSpPr txBox="1"/>
                <p:nvPr/>
              </p:nvSpPr>
              <p:spPr>
                <a:xfrm>
                  <a:off x="9158922" y="5018698"/>
                  <a:ext cx="846119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 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98C4BAEE-E59A-9693-1E67-65291EDBD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8922" y="5018698"/>
                  <a:ext cx="846119" cy="276999"/>
                </a:xfrm>
                <a:prstGeom prst="rect">
                  <a:avLst/>
                </a:prstGeom>
                <a:blipFill>
                  <a:blip r:embed="rId15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CCF68E2-CE13-5735-609B-5C127D7431F9}"/>
                </a:ext>
              </a:extLst>
            </p:cNvPr>
            <p:cNvSpPr txBox="1"/>
            <p:nvPr/>
          </p:nvSpPr>
          <p:spPr>
            <a:xfrm>
              <a:off x="4237616" y="5367256"/>
              <a:ext cx="991434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t.test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448" name="Gerade Verbindung mit Pfeil 447">
              <a:extLst>
                <a:ext uri="{FF2B5EF4-FFF2-40B4-BE49-F238E27FC236}">
                  <a16:creationId xmlns:a16="http://schemas.microsoft.com/office/drawing/2014/main" id="{AE475B88-AB1E-D266-5235-BF5F930BE90D}"/>
                </a:ext>
              </a:extLst>
            </p:cNvPr>
            <p:cNvCxnSpPr>
              <a:cxnSpLocks/>
            </p:cNvCxnSpPr>
            <p:nvPr/>
          </p:nvCxnSpPr>
          <p:spPr>
            <a:xfrm>
              <a:off x="6054863" y="5667436"/>
              <a:ext cx="0" cy="1888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Gerade Verbindung mit Pfeil 450">
              <a:extLst>
                <a:ext uri="{FF2B5EF4-FFF2-40B4-BE49-F238E27FC236}">
                  <a16:creationId xmlns:a16="http://schemas.microsoft.com/office/drawing/2014/main" id="{9B9EE9F6-5702-287C-F8A2-654F20C07D1A}"/>
                </a:ext>
              </a:extLst>
            </p:cNvPr>
            <p:cNvCxnSpPr>
              <a:cxnSpLocks/>
            </p:cNvCxnSpPr>
            <p:nvPr/>
          </p:nvCxnSpPr>
          <p:spPr>
            <a:xfrm>
              <a:off x="4370576" y="2259772"/>
              <a:ext cx="0" cy="24052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Textfeld 452">
              <a:extLst>
                <a:ext uri="{FF2B5EF4-FFF2-40B4-BE49-F238E27FC236}">
                  <a16:creationId xmlns:a16="http://schemas.microsoft.com/office/drawing/2014/main" id="{9D680ABF-B40E-64A8-8CA2-ADD967E39ABF}"/>
                </a:ext>
              </a:extLst>
            </p:cNvPr>
            <p:cNvSpPr txBox="1"/>
            <p:nvPr/>
          </p:nvSpPr>
          <p:spPr>
            <a:xfrm>
              <a:off x="9777810" y="1021323"/>
              <a:ext cx="1579377" cy="281831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parametric tests</a:t>
              </a:r>
            </a:p>
          </p:txBody>
        </p:sp>
        <p:sp>
          <p:nvSpPr>
            <p:cNvPr id="454" name="Textfeld 453">
              <a:extLst>
                <a:ext uri="{FF2B5EF4-FFF2-40B4-BE49-F238E27FC236}">
                  <a16:creationId xmlns:a16="http://schemas.microsoft.com/office/drawing/2014/main" id="{91CC0555-9927-4C62-300B-210270F9CD9D}"/>
                </a:ext>
              </a:extLst>
            </p:cNvPr>
            <p:cNvSpPr txBox="1"/>
            <p:nvPr/>
          </p:nvSpPr>
          <p:spPr>
            <a:xfrm>
              <a:off x="9691066" y="743904"/>
              <a:ext cx="1097743" cy="2818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pPr algn="l"/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Colour code: </a:t>
              </a:r>
            </a:p>
          </p:txBody>
        </p:sp>
        <p:sp>
          <p:nvSpPr>
            <p:cNvPr id="455" name="Rechteck 454">
              <a:extLst>
                <a:ext uri="{FF2B5EF4-FFF2-40B4-BE49-F238E27FC236}">
                  <a16:creationId xmlns:a16="http://schemas.microsoft.com/office/drawing/2014/main" id="{3E5F604F-EE46-86FF-7411-4BCCBA43E137}"/>
                </a:ext>
              </a:extLst>
            </p:cNvPr>
            <p:cNvSpPr/>
            <p:nvPr/>
          </p:nvSpPr>
          <p:spPr>
            <a:xfrm>
              <a:off x="9581981" y="696015"/>
              <a:ext cx="2637621" cy="152464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Textfeld 456">
                  <a:extLst>
                    <a:ext uri="{FF2B5EF4-FFF2-40B4-BE49-F238E27FC236}">
                      <a16:creationId xmlns:a16="http://schemas.microsoft.com/office/drawing/2014/main" id="{E47FDE1A-B498-6B59-C66D-9D00864C40C7}"/>
                    </a:ext>
                  </a:extLst>
                </p:cNvPr>
                <p:cNvSpPr txBox="1"/>
                <p:nvPr/>
              </p:nvSpPr>
              <p:spPr>
                <a:xfrm>
                  <a:off x="9737673" y="1697309"/>
                  <a:ext cx="2326236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</a:t>
                  </a:r>
                  <a:r>
                    <a:rPr lang="en-GB" sz="1200" noProof="0" dirty="0" err="1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rPr>
                    <a:t>conf.level</a:t>
                  </a:r>
                  <a:endParaRPr lang="en-GB" sz="1200" noProof="0" dirty="0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dirty="0" smtClean="0">
                              <a:latin typeface="Cambria Math" panose="02040503050406030204" pitchFamily="18" charset="0"/>
                              <a:ea typeface="CMU Bright Roman" panose="02000603000000000000" pitchFamily="2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GB" sz="1200" i="1" noProof="0" dirty="0" smtClean="0">
                              <a:latin typeface="Cambria Math" panose="02040503050406030204" pitchFamily="18" charset="0"/>
                              <a:ea typeface="CMU Bright Roman" panose="02000603000000000000" pitchFamily="2" charset="0"/>
                              <a:cs typeface="Courier New" panose="02070309020205020404" pitchFamily="49" charset="0"/>
                            </a:rPr>
                            <m:t>𝑛</m:t>
                          </m:r>
                        </m:e>
                        <m:sub>
                          <m:r>
                            <a:rPr lang="en-GB" sz="1200" i="1" noProof="0" dirty="0" smtClean="0">
                              <a:latin typeface="Cambria Math" panose="02040503050406030204" pitchFamily="18" charset="0"/>
                              <a:ea typeface="CMU Bright Roman" panose="02000603000000000000" pitchFamily="2" charset="0"/>
                              <a:cs typeface="Courier New" panose="02070309020205020404" pitchFamily="49" charset="0"/>
                            </a:rPr>
                            <m:t>𝑖</m:t>
                          </m:r>
                        </m:sub>
                      </m:sSub>
                      <m:r>
                        <a:rPr lang="en-GB" sz="1200" i="1" dirty="0" smtClean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:</m:t>
                      </m:r>
                      <m:r>
                        <a:rPr lang="en-GB" sz="1200" i="1" dirty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 </m:t>
                      </m:r>
                    </m:oMath>
                  </a14:m>
                  <a:r>
                    <a:rPr lang="en-GB" sz="1200" dirty="0">
                      <a:ea typeface="CMU Bright Roman" panose="02000603000000000000" pitchFamily="2" charset="0"/>
                      <a:cs typeface="Courier New" panose="02070309020205020404" pitchFamily="49" charset="0"/>
                    </a:rPr>
                    <a:t>sample size of group/level</a:t>
                  </a:r>
                  <a14:m>
                    <m:oMath xmlns:m="http://schemas.openxmlformats.org/officeDocument/2006/math">
                      <m:r>
                        <a:rPr lang="en-US" sz="1200" b="0" i="0" dirty="0" smtClean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𝑖</m:t>
                      </m:r>
                    </m:oMath>
                  </a14:m>
                  <a:endParaRPr lang="en-GB" sz="800" noProof="0" dirty="0">
                    <a:ea typeface="CMU Bright Roman" panose="02000603000000000000" pitchFamily="2" charset="0"/>
                    <a:cs typeface="CMU Bright Roman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457" name="Textfeld 456">
                  <a:extLst>
                    <a:ext uri="{FF2B5EF4-FFF2-40B4-BE49-F238E27FC236}">
                      <a16:creationId xmlns:a16="http://schemas.microsoft.com/office/drawing/2014/main" id="{E47FDE1A-B498-6B59-C66D-9D00864C4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673" y="1697309"/>
                  <a:ext cx="2326236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789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8" name="Gerade Verbindung mit Pfeil 457">
              <a:extLst>
                <a:ext uri="{FF2B5EF4-FFF2-40B4-BE49-F238E27FC236}">
                  <a16:creationId xmlns:a16="http://schemas.microsoft.com/office/drawing/2014/main" id="{FB594199-4842-336C-C6AB-F270575BA874}"/>
                </a:ext>
              </a:extLst>
            </p:cNvPr>
            <p:cNvCxnSpPr>
              <a:cxnSpLocks/>
            </p:cNvCxnSpPr>
            <p:nvPr/>
          </p:nvCxnSpPr>
          <p:spPr>
            <a:xfrm>
              <a:off x="5914511" y="3569617"/>
              <a:ext cx="0" cy="25570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Textfeld 507">
              <a:extLst>
                <a:ext uri="{FF2B5EF4-FFF2-40B4-BE49-F238E27FC236}">
                  <a16:creationId xmlns:a16="http://schemas.microsoft.com/office/drawing/2014/main" id="{F6D84C37-699D-500C-F36D-ECD7231CD95A}"/>
                </a:ext>
              </a:extLst>
            </p:cNvPr>
            <p:cNvSpPr txBox="1"/>
            <p:nvPr/>
          </p:nvSpPr>
          <p:spPr>
            <a:xfrm>
              <a:off x="306876" y="3784066"/>
              <a:ext cx="3307799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non-parametric tests </a:t>
              </a:r>
            </a:p>
          </p:txBody>
        </p:sp>
        <p:cxnSp>
          <p:nvCxnSpPr>
            <p:cNvPr id="511" name="Gerade Verbindung mit Pfeil 510">
              <a:extLst>
                <a:ext uri="{FF2B5EF4-FFF2-40B4-BE49-F238E27FC236}">
                  <a16:creationId xmlns:a16="http://schemas.microsoft.com/office/drawing/2014/main" id="{9840289F-EBDC-80F4-2B45-B5F2274B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6645" y="3577477"/>
              <a:ext cx="4417" cy="18048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450570A0-E57C-AAA8-B3DD-EEE2B1F40B40}"/>
                </a:ext>
              </a:extLst>
            </p:cNvPr>
            <p:cNvSpPr txBox="1"/>
            <p:nvPr/>
          </p:nvSpPr>
          <p:spPr>
            <a:xfrm>
              <a:off x="9798957" y="1358897"/>
              <a:ext cx="1579378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non-parametric tests </a:t>
              </a:r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DDFFE7DA-DB88-38E7-33BE-4F281C3F126B}"/>
                </a:ext>
              </a:extLst>
            </p:cNvPr>
            <p:cNvGrpSpPr/>
            <p:nvPr/>
          </p:nvGrpSpPr>
          <p:grpSpPr>
            <a:xfrm>
              <a:off x="1022643" y="4084526"/>
              <a:ext cx="1795871" cy="944792"/>
              <a:chOff x="3378041" y="2876116"/>
              <a:chExt cx="1795871" cy="542165"/>
            </a:xfrm>
          </p:grpSpPr>
          <p:cxnSp>
            <p:nvCxnSpPr>
              <p:cNvPr id="19" name="Gerade Verbindung mit Pfeil 18">
                <a:extLst>
                  <a:ext uri="{FF2B5EF4-FFF2-40B4-BE49-F238E27FC236}">
                    <a16:creationId xmlns:a16="http://schemas.microsoft.com/office/drawing/2014/main" id="{545CD492-C1A1-75D3-BE75-B9663E5A19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78041" y="2876116"/>
                <a:ext cx="890897" cy="542165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 Verbindung mit Pfeil 19">
                <a:extLst>
                  <a:ext uri="{FF2B5EF4-FFF2-40B4-BE49-F238E27FC236}">
                    <a16:creationId xmlns:a16="http://schemas.microsoft.com/office/drawing/2014/main" id="{94EC5588-4A68-7DDB-8F44-714614668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38" y="2876116"/>
                <a:ext cx="904974" cy="542165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9A3AE00-9BB2-C9E1-3306-F4DC55F07649}"/>
              </a:ext>
            </a:extLst>
          </p:cNvPr>
          <p:cNvCxnSpPr>
            <a:cxnSpLocks/>
          </p:cNvCxnSpPr>
          <p:nvPr/>
        </p:nvCxnSpPr>
        <p:spPr>
          <a:xfrm flipH="1">
            <a:off x="2746479" y="2421706"/>
            <a:ext cx="1416966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C20A78F-E4FB-C38A-458D-C8E8F7B160D2}"/>
              </a:ext>
            </a:extLst>
          </p:cNvPr>
          <p:cNvCxnSpPr>
            <a:cxnSpLocks/>
          </p:cNvCxnSpPr>
          <p:nvPr/>
        </p:nvCxnSpPr>
        <p:spPr>
          <a:xfrm>
            <a:off x="4163445" y="2421706"/>
            <a:ext cx="1439354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2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Macintosh PowerPoint</Application>
  <PresentationFormat>Breitbild</PresentationFormat>
  <Paragraphs>36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37</cp:revision>
  <dcterms:created xsi:type="dcterms:W3CDTF">2023-05-08T12:12:17Z</dcterms:created>
  <dcterms:modified xsi:type="dcterms:W3CDTF">2026-05-13T22:03:33Z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